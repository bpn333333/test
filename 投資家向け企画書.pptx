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177</c:v>
                </c:pt>
                <c:pt idx="2">
                  <c:v>468</c:v>
                </c:pt>
                <c:pt idx="3">
                  <c:v>958</c:v>
                </c:pt>
                <c:pt idx="4">
                  <c:v>1799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-42</c:v>
                </c:pt>
                <c:pt idx="1">
                  <c:v>-79</c:v>
                </c:pt>
                <c:pt idx="2">
                  <c:v>-67</c:v>
                </c:pt>
                <c:pt idx="3">
                  <c:v>59</c:v>
                </c:pt>
                <c:pt idx="4">
                  <c:v>384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"/>
          <c:min val="-2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東アジアを21世紀のハリウッドにするためのAI映像制作ハブとなるAI映像制作会社のシード投資のご案内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日本企業から映像制作を受注し、中国を中心とする登録クリエイターで作る。制作データを特許とモデルに変える。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国内の映像制作市場（実測）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矢野経済研究所。2027年度は5,400億円の予測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3本立て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収益の柱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映像制作（初日から）② 自社PFの課金・広告（6ヶ月目〜）③ ツール外販（3期〜）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15137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制作した作品と日本IPを、自社プラットフォームに載せて課金・広告で回収する。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溜まった制作データで生成AI関連の特許を取得し、チェックポイント・LoRA・モデル開発へ。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52544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1513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91456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91456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日本企業は中華圏に直接発注できない。言語・商習慣・品質保証・契約が壁。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その壁を引き受けることが商品。差別化は価格ではなく「発注側の管理コストをゼロにする」こと。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10728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0184" y="41513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49640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549640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1〜3年目は投資期間。4年目に通期黒字化、5年目に年商18億・営業利益3.8億。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売上の44%を「人手に比例しない収益」にする。ここが上場審査で効く。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自動車産業が輸入技術を4年で国産化したのと同じ道筋を、3年で。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収支は［仮置き］を含む計画値です。国内市場規模は矢野経済研究所の実測値。制作の単価・粗利率は業界相場からの設定で、1期に実測して差し替えます。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自社プラットフォーム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①で作った作品と日本IPを載せる出口。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課金と広告で回収し、視聴維持率のデータを制作側へ戻す。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6ヶ月目から。副次ライン。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②のプラットフォームは、①③で作った作品が無ければ載せるものがありません。プラットフォームが先ではなく、制作が先です。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1兆437億円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動画広告市場（2026年）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8,855億円から拡大。縦型動画広告は前年比155.9%【実測】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1,530億円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日本のショートドラマ市場（2026年予測）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自社PFが面する市場。中国発アプリがシェア9割超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1645920"/>
                <a:gridCol w="155448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当社の受注単価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 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40〜80万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フル生成AIが成立する。撮影が消えて原価が半分以下になる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 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30〜60万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 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10〜30万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量産前提。件数が出るのでデータが溜まる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制作原価の下落は、当社にとって追い風でもあり時限でもあります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米国では企業動画の制作費中央値が 1分あたり約63万円 → 約38万円 に下落済み。日本も追随します。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だから制作だけで終わらせず、3期からツール外販（P4）へ移します。時限は3年と見ています。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サイバーエージェント 国内動画広告の市場調査 ／ Vidico（米国の1分単価）／ nowhere film。AI後の単価は工程別削減率からの当社試算です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スキルシェア市場全体の2028年予測。動画編集はこのうちの一部にすぎず、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【直接の統計は存在しません】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5,000円〜30万円。簡易編集は1,000円台も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YouTuber・配信者・インフルエンサー・個人事業主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市場の性質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単価が高く件数が少ない。参入障壁が高い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単価が低く件数が多い。初級案件は完全な買い手市場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主戦場は法人です。個人案件は「取らない」のではなく「別の役割で取る」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個人が発注する市場は小さく、統計すら整備されていません。だから売上の主軸は法人（①）に置きます。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個人案件（③）は閑散期の調整弁であり、要求が定型的で件数が出るため学習データ源として取ります。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主軸は映像制作。自社プラットフォームは、作った作品の出口として副次的に置きます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①で作った作品＋日本IP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副次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パブリックドメインから着手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配信・課金・広告・分配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課金と広告で回収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プロダクト外販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企業価値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①が②のコールドスタートを解きます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両面市場の宿命は「クリエイターは視聴者がいないと来ない、視聴者はコンテンツがないと来ない」。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①は視聴者を必要としません。案件を配ればクリエイターは集まり、その作品が②の初期コンテンツになります。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アダルトは対象外です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受注する案件にも、自社PFに載せる作品にも含めません。理由は技術ではありません。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決済代行とアプリ内課金が通らず、年齢確認の義務が重くなります。単価は高い領域ですが、取りません。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そこを引き受けるのが商品です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日本語の要件定義・品質保証・契約・与信・請求。個人クリエイターには越えられない壁。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相見積 → 稟議 → 発注書 → 検収 → 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／ プラットフォームの収益設計は PLATFORM_PIVOT 第11章を参照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売上18億が何の積み上げなのかを、1本あたりと1人あたりで示します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1本あたり（平均単価50万円のとき）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20116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企業発注の中央値54万より保守的に設定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Bランク。有償テスト課題で確定させる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一次レビュー報酬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Aランクに委託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AIツール・素材・レンダリング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品質バッファ（作り直し）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ここを原価から外さないこと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31.5万（63%）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計画は保守的に60%で置く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自社プラットフォーム — 1MAUあたり年間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2679192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流通額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課金（課金率3%×ARPPU¥3,000）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¥1,080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¥324（30%）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リワード広告（eCPM¥1,200）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¥216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¥108（50%）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インタースティシャル（¥600）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¥65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¥32（50%）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¥1,361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¥464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期中平均MAU 107.5万人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4.99億円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4041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5期 売上18億の内訳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4389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 1,667本 × 60万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355848" y="4453128"/>
            <a:ext cx="192024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21208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10.0億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" y="47548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PF課金・広告 MAU107.5万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355848" y="4818888"/>
            <a:ext cx="960120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212080" y="47548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5.0億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51206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プロダクト外販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355848" y="5184648"/>
            <a:ext cx="576072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212080" y="51206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3.0億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355080" y="4041648"/>
            <a:ext cx="5239512" cy="16642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7"/>
          <p:cNvSpPr/>
          <p:nvPr/>
        </p:nvSpPr>
        <p:spPr>
          <a:xfrm>
            <a:off x="6355080" y="4041648"/>
            <a:ext cx="45720" cy="16642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611112" y="418795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最も弱い数字はMAUです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611112" y="4517136"/>
            <a:ext cx="47823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期末125万人は「PFを副次に留める」設計からの逆算で、実測でも他社比較でもありません。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MAUが計画の1/3（40万人）でも売上14.9億・営業利益1.2億で、事業は黒字を保ちます。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PFを畳んでも制作事業が残る構造にしてあります。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制作の単価・原価は BUSINESS_PLAN 7-1、PFの1MAU¥464は PLATFORM_PIVOT 11-3。課金率・ARPPU・eCPM・MAUはすべて未実測の［仮置き］です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3本の柱。人手に比例しない収益（P2〜P4）を5期に44%まで上げます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粗利率60%。売上が人手に比例する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自社PFの視聴課金（当社取り分30%）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待つ／広告／課金の3択。BUMPと同型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自社PFの広告（当社取り分50%）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非連動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非課金層の収益化。追加の獲得費用がゼロ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制作ツール・モデルの外販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粗利率80%。上場に必要な「読める収益」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1話の解放は3択にします（BUMP型）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1706880" cy="124358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048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待つ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048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24時間で1話無料。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収益はゼロだが、離脱を止める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84120" y="3584448"/>
            <a:ext cx="1706880" cy="124358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0"/>
          <p:cNvSpPr/>
          <p:nvPr/>
        </p:nvSpPr>
        <p:spPr>
          <a:xfrm>
            <a:off x="2703576" y="38404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23032" y="3749040"/>
            <a:ext cx="1048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広告を見る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923032" y="4096512"/>
            <a:ext cx="1048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リワード広告1本で1話。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1日3回まで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73880" y="3584448"/>
            <a:ext cx="1706880" cy="124358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4"/>
          <p:cNvSpPr/>
          <p:nvPr/>
        </p:nvSpPr>
        <p:spPr>
          <a:xfrm>
            <a:off x="4593336" y="384048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12792" y="3749040"/>
            <a:ext cx="1048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課金する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812792" y="4096512"/>
            <a:ext cx="1048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1話97円／コイン。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ここが主力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国内1位の BUMP（累計400万DL）が、すでにこの形で成立しています。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55080" y="3255264"/>
            <a:ext cx="5239512" cy="12070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2" name="Shape 19"/>
          <p:cNvSpPr/>
          <p:nvPr/>
        </p:nvSpPr>
        <p:spPr>
          <a:xfrm>
            <a:off x="6355080" y="3255264"/>
            <a:ext cx="45720" cy="12070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広告は「形式」を間違えると逆ざやになります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611112" y="3730752"/>
            <a:ext cx="47823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フィード型（RPM¥20〜80＝1話0.02〜0.08円）なら配信原価0.225円に負けます。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リワード型（1話0.60円＝原価の2.7倍）だから成立します。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355080" y="4590288"/>
            <a:ext cx="523951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6" name="Shape 23"/>
          <p:cNvSpPr/>
          <p:nvPr/>
        </p:nvSpPr>
        <p:spPr>
          <a:xfrm>
            <a:off x="635508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611112" y="473659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摩擦を入れないと課金を食います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611112" y="5065776"/>
            <a:ext cx="47823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リワードは1日3回まで。課金者には広告を出さない。この2つを仕様に必ず入れます。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BUMP公式（emole）／ Playio・Tenjin 2026年eCPMベンチマーク（日本のリワードeCPMは $17.35）。実効eCPM・課金率・カニバリ率は未実測です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4つの入口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版権コストの安い順に着手します。D から始め、課金収益が立ってから A へ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00400"/>
                <a:gridCol w="3108960"/>
                <a:gridCol w="1828800"/>
                <a:gridCol w="2221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座組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権利処理が不要。単独で制作できる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自社PFの初期コンテンツ・実績づくり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受託（①と同じ）。先方が権利者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作家と直接レベニューシェア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自社PFの課金コンテンツ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中小出版社の既刊マンガ（未映像化作品）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原作使用許諾＋レベニューシェア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着手の順序 — 版権コストの安い順に積み上げる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4114800"/>
            <a:ext cx="1207008" cy="7498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0664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4517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版権ゼロ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965960" y="3931920"/>
            <a:ext cx="1207008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112264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12264" y="433425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先方負担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337560" y="3749040"/>
            <a:ext cx="1207008" cy="11155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83864" y="3840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483864" y="415137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成功報酬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09160" y="3566160"/>
            <a:ext cx="1207008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55464" y="36576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855464" y="39684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数万〜数十万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355080" y="3218688"/>
            <a:ext cx="5239512" cy="12801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6355080" y="3218688"/>
            <a:ext cx="45720" cy="12801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611112" y="336499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11112" y="3694176"/>
            <a:ext cx="4782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D はPF公開前から積み上げられます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版権コストがゼロなので、開発期間中に作れます。公開日に「見るものがある」状態をつくる唯一の方法です。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 — 主戦場は国内の映像制作市場です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相手は国内の制作会社とフリーランス。中国PFはクリエイター獲得での競合です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91840"/>
                <a:gridCol w="2926080"/>
                <a:gridCol w="3685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主戦場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国内の映像制作会社（中小10〜80万／大手50〜300万）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国内フリーランス（3〜30万）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品質保証と納期管理。個人では受けきれない規模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クラウドソーシング経由の海外発注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日本語での要件定義と品質保証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中国の個人クリエイターへの直接発注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副戦場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クリエイター獲得（快手・抖音・Bilibili）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 最大80〜90%＋巨大トラフィック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分成率では戦わない（次ページ）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913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空白は「制作会社の品質を、フリーランスに近い価格で」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24281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07208" y="4297680"/>
            <a:ext cx="49377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12080" y="424281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572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807208" y="4626864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12080" y="4572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90118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07208" y="4956048"/>
            <a:ext cx="1357884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212080" y="490118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230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5285232"/>
            <a:ext cx="246888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212080" y="523036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355080" y="3913632"/>
            <a:ext cx="5239512" cy="179222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6355080" y="3913632"/>
            <a:ext cx="45720" cy="179222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611112" y="405993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視聴者側の競合には、正面から行きません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11112" y="4389120"/>
            <a:ext cx="47823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ほか最低8サービス。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中国発アプリが日本のアプリ市場シェア9割超。ここへ広告費で挑むのは消耗戦です。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当社のPFは、制作した作品と日本IPの出口として小さく回します。5期でもMAU125万・売上5億の規模です。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動画幹事・ムビサク（制作費相場）／ GOKKO ／ nowhere film ／ BUMP公式 ／ 36Kr Japan（中国発アプリの日本シェア）。詳細は COMPETITORS.md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68249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再生数ゼロでも収入がある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当社が日本企業から受注して配分するので、視聴者がいなくても報酬が出ます。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これが最大の差別化です。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68249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68249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346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各社が提示している分成率 — ここでは戦いません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6758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快手「灵感新纪元」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990088" y="3730752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最大90%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0050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抖音「漫画星河」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90088" y="4059936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12080" y="40050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純収益90%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3342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Bilibili「觉醒计划」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990088" y="4389120"/>
            <a:ext cx="18288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12080" y="433425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最大80%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6634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 AI実写短劇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90088" y="4718304"/>
            <a:ext cx="11430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21208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40〜60%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9926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990088" y="5047488"/>
            <a:ext cx="4572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212080" y="499262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3400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当社の行が空欄であることが、このページの主張です。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55080" y="3346704"/>
            <a:ext cx="523951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6" name="Shape 34"/>
          <p:cNvSpPr/>
          <p:nvPr/>
        </p:nvSpPr>
        <p:spPr>
          <a:xfrm>
            <a:off x="6355080" y="3346704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611112" y="349300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分成率では勝てません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611112" y="382219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トラフィックがゼロの新規PFが「うちに投稿してください」と言っても、経済合理性がありません。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快手1億／百度10億級のトラフィックプールとは桁が違います。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4718304"/>
            <a:ext cx="5239512" cy="9875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0" name="Shape 38"/>
          <p:cNvSpPr/>
          <p:nvPr/>
        </p:nvSpPr>
        <p:spPr>
          <a:xfrm>
            <a:off x="6355080" y="4718304"/>
            <a:ext cx="45720" cy="9875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611112" y="486460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ただし2026年、隙間が開きました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611112" y="519379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ここが唯一の入口です。ただし中国PFの方針が戻れば消える、時限付きの窓です。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Bilibili「2026熱門AI漫劇/短劇創作平台」／ 中伝英才「AI短劇制作平台 2026主流平台全解析」／ 网易「2026短劇分账新政」。条件は頻繁に変わるため、提携前に公式条件の確認が必要です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最大の課題は、受託のままでは上場しないことです。そこにP4を置いています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26464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426464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727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901952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労働集約型の受託は、売上が人手に比例するため成長性が評価されにくく、上場審査でも投資家評価でも「規模の割に伸びない事業」と読まれます。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だから追うべき指標は売上ではなく、人手に比例しない収益（P2〜P4）の比率です。5期で44%、6期で50%超を目指します。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70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人手に比例しない収益の比率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92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618488" y="3044952"/>
            <a:ext cx="84124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299923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23%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18488" y="3337560"/>
            <a:ext cx="1499616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32918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41%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5844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18488" y="3630168"/>
            <a:ext cx="1682496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35844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46%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8770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618488" y="3922776"/>
            <a:ext cx="1755648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12080" y="38770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48%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696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618488" y="4215384"/>
            <a:ext cx="160934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12080" y="416966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44%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517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5期に横ばうのは、制作（P1）が10億まで伸びるためです。50%超は6期の見込み。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670048"/>
          <a:ext cx="52395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278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3年の時限と見ている。P4（ツール外販）を3期から立ち上げて逃げ切る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ディレクターが先に詰まる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Aランクのクリエイターに一次レビューを移管し、1人あたり月8本→10本へ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クリエイターの離脱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登録は常に稼働数の1.5倍。春節（1〜2月）は稼働が2〜3週間落ちる前提で計画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PFの視聴者が集まらない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制作と日本IPで初期コンテンツを賄う。集まらなければPFを縮小し、制作とP4に集中する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中国本土から接続できない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設計段階で検証。国内向けミラーまたは提携PF経由の投稿導線を用意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BUSINESS_PLAN ／ MARKET_SIZING ／ MOAT_TIMELINE ／ CHINA_SOURCING に記載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（記入予定）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3483864" cy="15544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81051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71907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2066544"/>
            <a:ext cx="2825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経歴 ／ 実績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554480"/>
            <a:ext cx="3483864" cy="15544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81051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71907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2066544"/>
            <a:ext cx="2825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554480"/>
            <a:ext cx="3483864" cy="15544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81051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71907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制作ディレクター責任者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2066544"/>
            <a:ext cx="2825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401568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01568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5478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この章は記入予定です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877056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代表の経歴と実績 ／ これから採用する職種・時期・採用チャネル ／ アドバイザー・顧問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754880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1645920"/>
                <a:gridCol w="1645920"/>
                <a:gridCol w="167335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日本側 人員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中国側 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8〜10名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15〜18名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45〜55名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70名前後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1人あたり人件費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1期は6名（代表・エンジニア2・制作ディレクター1・クリエイター管理1・営業1）。制作事業のため、売上の伸びと人員の伸びが連動します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3期まで赤字が前提。通期黒字化は4期、上場申請は5期です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― 基盤をつくる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制作54本で2,700万。PF公開は6ヶ月目。営業利益 ▲4,200万は計画通りの投資です。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2〜3期 ― 投資期間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制作体制の拡大に投下。赤字は2期に最大化（▲7,900万）し、3期から縮小に転じます。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4期に通期黒字化。5期に年商18億・営業利益3.8億（21.3%）。時価総額64億の水準へ。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売上の内訳（百万円）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この期の到達点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制作27 ／ PF 8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制作54本・PF公開・登録100名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制作105 ／ PF 72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監査法人ショートレビュー／シリーズA 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制作252 ／ PF 186 ／ P4 30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監査開始。赤字が縮小に転じる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制作502 ／ PF 336 ／ P4 120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通期黒字化。内部管理体制の構築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制作1,000 ／ PF 499 ／ P4 300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売上18億・営業利益3.8億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計画値。制作の単価・粗利率、PFの課金率・ARPPU・eCPM、MAUはすべて未実測です。1期に実測して差し替えます。数字は financial_model.py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・ディレクター時間の実測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・P4の立ち上げ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ゴールは上場ではありません。そして上場時点では維持基準に届きません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当社の上場時の想定時価総額は64億で、届いていません。期限は2036年なので、上場後5年で1.55倍にする計画を示す必要があります。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5期の売上18億・営業利益3.8億を前提に、3手法で試算しています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51〜103億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当期純利益 約2.6億（実効税率33%）× PER 20〜40倍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36〜90億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PSR法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売上18億 × PSR 2〜5倍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38〜64億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EV/EBITDA法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EBITDA 約4.2億 × 8.9〜15倍（情報通信業の中央値8.9倍）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03580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中心値は 時価総額 64億円 ─ グロースの上場維持基準（2036年に100億円以上）に対し 36億円の不足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" y="37673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M&amp;A で売却する場合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3期（売上4.7億・赤字）… 10〜25億。買い手が評価するのはクリエイター網と技術。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4期（売上9.6億・営業利益0.6億）… 20〜45億 ／ 5期（売上18億）… 38〜64億。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戦略的買い手（大手代理店・制作会社・テレビ局）ならシナジー価格が乗ります。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31636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51092" y="37673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70548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創業者・投資家のリターン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670548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 42%前後 を想定。時価総額64億なら評価額 約27億。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シリーズBが不要になったため、経営権（50%超）は上場直前まで維持できます。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IPOはロックアップ（通常90〜180日）があり、現金化は数年かけて段階的になります。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4360" y="4992624"/>
            <a:ext cx="11000232" cy="7132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4992624"/>
            <a:ext cx="45720" cy="7132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0392" y="51389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すべて「成功した場合」の試算です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" y="5468112"/>
            <a:ext cx="10543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2025年のグロースIPOは18社（前年34社から半減）で、IPO市場そのものが縮んでいます。倍率は市況で変動します。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みつきコンサルティング（メディア・コンテンツ業界のM&amp;A）／ EY Japan（2026年以降のIPO市場）／ FiNX（グロース維持基準の制度化）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法人設立・PF要件定義・クリエイターに有償テスト課題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クリエイターのランク判定／PF仕様の確定／法務の見解書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制作の受注開始／PF開発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累計5本・粗利率60%／ディレクター時間 8時間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PF公開（6ヶ月目）・視聴者獲得の開始・D案IPの投入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1期54本／登録100名・公開作品500本／課金率とCPIの初回実測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制作体制の拡大・課金モデルの最適化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3億／監査法人ショートレビュー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赤字の縮小・P4（ツール外販）の立ち上げ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P4の売上が立つ／人手に比例しない収益45%以上／監査開始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通期黒字化・内部管理体制の構築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通期黒字化／プロダクト比率12%／流通株式25%の設計合意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売上18億・営業利益3.8億／時価総額64億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80560"/>
            <a:ext cx="1100023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480560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62686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最優先で実測するのは「1本あたりディレクター投下時間」です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956048"/>
            <a:ext cx="10543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［仮置き］8時間で人員計画の全部を置いています。実測が16時間なら必要人数が倍になり、5期の営業利益は3.8億→2.4億に落ちます。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最初の3案件で必ず測ってください。後で気づくより、2027年3月時点で直すほうが遥かに安く済みます。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11,680万）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190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47288" y="1764792"/>
            <a:ext cx="210312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1907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48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PF開発（アプリ・Web・課金）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47288" y="2093976"/>
            <a:ext cx="1752600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048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377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47288" y="2423160"/>
            <a:ext cx="105156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3774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706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447288" y="2752344"/>
            <a:ext cx="1051560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70662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0358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営業・マーケティング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47288" y="3081528"/>
            <a:ext cx="56083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0358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64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47288" y="3410712"/>
            <a:ext cx="336499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364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6941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47288" y="3739896"/>
            <a:ext cx="28041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69417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023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法務（資金決済法・UGC対応）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447288" y="4069080"/>
            <a:ext cx="21031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023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3525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分配原資の補填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47288" y="4398264"/>
            <a:ext cx="21031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3525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681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採用費・渡航費・特許・データ基盤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47288" y="4727448"/>
            <a:ext cx="4907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468172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資本金（創業者出資）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00400"/>
            <a:ext cx="4690872" cy="13533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00400"/>
            <a:ext cx="45720" cy="13533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4670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1.5億は「1年目の使途」ではありません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75888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1億1,680万。残り約3,320万は2期への持ち越しです。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1期末の手元は約1億300万で、2期の月次赤字660万に対して15ヶ月分のランウェイがあります。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シリーズA 3億は2期の実績を見てから臨めます。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663440"/>
            <a:ext cx="4690872" cy="104241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663440"/>
            <a:ext cx="45720" cy="104241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0974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38928"/>
            <a:ext cx="4233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旧計画はシリーズB 8億を含む累計12.5億でした。8億ぶん不要になり、創業者持分が42%まで厚く残ります。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08406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［仮置き］視聴者獲得のCPIが未実測のため、流量投放1,500万の精度が最も低い数字です。PF公開後に実測して増減させます。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影響度と発生確率で並べています。上の3つが、この事業の生死を分けます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291840"/>
                <a:gridCol w="55138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ディレクター時間が想定の倍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最初の3案件で実測。超えるなら一次レビューをAランクへ移管し、人員計画を引き直す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3年の時限と見ている。P4（ツール外販）を3期から立ち上げて逃げ切る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PFを止めて制作に全振り。2期の営業利益は▲7,900万→▲1,000万。単独で生き残れる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営業・ディレクターが採用できない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2次受け（代理店経由）を主軸に置けば律速がディレクターに移り、採用難易度が下がる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PFの視聴者が集まらない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MAUが計画の1/3でも営業利益率7.9%を維持。PFを縮小し制作とP4に集中する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資金決済法・UGC対応の義務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PF設計の前に弁護士へ確認。法務費用300万を初年度に計上済み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設計段階で検証。国内向けミラーまたは提携PF経由の投稿導線を用意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クリエイターの離脱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登録は常に稼働数の1.5倍。春節（1〜2月）の稼働低下も計画に織り込み済み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1と2は「制作事業そのもの」のリスクです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3〜7のプラットフォーム側が全部外れても、制作事業は残ります。ここが旧計画との決定的な違いです。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／ PLATFORM_PIVOT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この窓が開いている期間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12998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0274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4436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94360" y="4224528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594360" y="4224528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0392" y="43708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ポイントは国産化の速さではありません。その後の改善で世界一の品質を築いたことです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" y="470001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当社も同じです。内製化（3年）は出発点で、制作データで改善を回し続けることが模倣されない資産になります。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5431536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2026-09-22T10:32:39Z</dcterms:created>
  <dcterms:modified xsi:type="dcterms:W3CDTF">2026-09-22T10:32:39Z</dcterms:modified>
</cp:coreProperties>
</file>