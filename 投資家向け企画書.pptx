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161A"/>
                </a:solidFill>
                <a:latin typeface="Meiryo"/>
              </a:defRPr>
            </a:pPr>
            <a:r>
              <a:rPr sz="1300" b="0" i="0" u="none" strike="noStrike">
                <a:solidFill>
                  <a:srgbClr val="16161A"/>
                </a:solidFill>
                <a:latin typeface="Meiryo"/>
              </a:rPr>
              <a:t>1本あたりの構造(平均単価48万円)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金額(万円)</c:v>
                </c:pt>
              </c:strCache>
            </c:strRef>
          </c:tx>
          <c:spPr>
            <a:solidFill>
              <a:srgbClr val="2A3563"/>
            </a:solidFill>
            <a:effectLst/>
          </c:spPr>
          <c:invertIfNegative val="0"/>
          <c:dLbls>
            <c:numFmt formatCode="#,##0&quot;万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161A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356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E6E7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E6E7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E6E7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6E7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3121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売上</c:v>
                  </c:pt>
                  <c:pt idx="1">
                    <c:v>中国側支払</c:v>
                  </c:pt>
                  <c:pt idx="2">
                    <c:v>一次レビュー</c:v>
                  </c:pt>
                  <c:pt idx="3">
                    <c:v>ツール・素材</c:v>
                  </c:pt>
                  <c:pt idx="4">
                    <c:v>品質・為替バッファ</c:v>
                  </c:pt>
                  <c:pt idx="5">
                    <c:v>売上総利益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</c:v>
                </c:pt>
                <c:pt idx="1">
                  <c:v>13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26</c:v>
                </c:pt>
              </c:numCache>
            </c:numRef>
          </c:val>
        </c:ser>
        <c:dLbls>
          <c:numFmt formatCode="#,##0&quot;万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161A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A3A42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6"/>
        </c:scaling>
        <c:delete val="0"/>
        <c:axPos val="l"/>
        <c:majorGridlines>
          <c:spPr>
            <a:ln w="12700" cap="flat">
              <a:solidFill>
                <a:srgbClr val="DCD9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市場規模(億円)</c:v>
                </c:pt>
              </c:strCache>
            </c:strRef>
          </c:tx>
          <c:spPr>
            <a:solidFill>
              <a:srgbClr val="2A3563"/>
            </a:solidFill>
            <a:effectLst/>
          </c:spPr>
          <c:invertIfNegative val="0"/>
          <c:dLbls>
            <c:numFmt formatCode="#,##0.#&quot;億円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161A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356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3121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962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TAM 日本の映像制作市場</c:v>
                  </c:pt>
                  <c:pt idx="1">
                    <c:v>SAM 構造的に狙える範囲</c:v>
                  </c:pt>
                  <c:pt idx="2">
                    <c:v>SOM 3年後の当社売上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4580</c:v>
                </c:pt>
                <c:pt idx="1">
                  <c:v>1370</c:v>
                </c:pt>
                <c:pt idx="2">
                  <c:v>2.5</c:v>
                </c:pt>
              </c:numCache>
            </c:numRef>
          </c:val>
        </c:ser>
        <c:dLbls>
          <c:numFmt formatCode="#,##0.#&quot;億円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161A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3A42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00"/>
          <c:min val="0"/>
        </c:scaling>
        <c:delete val="0"/>
        <c:axPos val="b"/>
        <c:majorGridlines>
          <c:spPr>
            <a:ln w="12700" cap="flat">
              <a:solidFill>
                <a:srgbClr val="DCD9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6161A"/>
                </a:solidFill>
                <a:latin typeface="Meiryo"/>
              </a:defRPr>
            </a:pPr>
            <a:r>
              <a:rPr sz="1250" b="0" i="0" u="none" strike="noStrike">
                <a:solidFill>
                  <a:srgbClr val="16161A"/>
                </a:solidFill>
                <a:latin typeface="Meiryo"/>
              </a:rPr>
              <a:t>売上高と営業利益の推移(単位: 百万円 / 計画値)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2A35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42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
2027/9期</c:v>
                  </c:pt>
                  <c:pt idx="1">
                    <c:v>2年目
2028/9期</c:v>
                  </c:pt>
                  <c:pt idx="2">
                    <c:v>3年目
2029/9期</c:v>
                  </c:pt>
                  <c:pt idx="3">
                    <c:v>4年目
2030/9期</c:v>
                  </c:pt>
                  <c:pt idx="4">
                    <c:v>5年目
2031/9期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</c:v>
                </c:pt>
                <c:pt idx="1">
                  <c:v>100</c:v>
                </c:pt>
                <c:pt idx="2">
                  <c:v>250</c:v>
                </c:pt>
                <c:pt idx="3">
                  <c:v>500</c:v>
                </c:pt>
                <c:pt idx="4">
                  <c:v>1000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B3121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42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
2027/9期</c:v>
                  </c:pt>
                  <c:pt idx="1">
                    <c:v>2年目
2028/9期</c:v>
                  </c:pt>
                  <c:pt idx="2">
                    <c:v>3年目
2029/9期</c:v>
                  </c:pt>
                  <c:pt idx="3">
                    <c:v>4年目
2030/9期</c:v>
                  </c:pt>
                  <c:pt idx="4">
                    <c:v>5年目
2031/9期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-20</c:v>
                </c:pt>
                <c:pt idx="1">
                  <c:v>-8</c:v>
                </c:pt>
                <c:pt idx="2">
                  <c:v>10</c:v>
                </c:pt>
                <c:pt idx="3">
                  <c:v>50</c:v>
                </c:pt>
                <c:pt idx="4">
                  <c:v>120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A3A42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A3A42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CD9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A3A42"/>
              </a:solidFill>
              <a:latin typeface="Meiryo"/>
              <a:cs typeface="Meiry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6161A"/>
                </a:solidFill>
                <a:latin typeface="Meiryo"/>
              </a:defRPr>
            </a:pPr>
            <a:r>
              <a:rPr sz="1250" b="0" i="0" u="none" strike="noStrike">
                <a:solidFill>
                  <a:srgbClr val="16161A"/>
                </a:solidFill>
                <a:latin typeface="Meiryo"/>
              </a:rPr>
              <a:t>調達資金の使途(単位: 万円)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使途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A3563"/>
              </a:solidFill>
              <a:effectLst/>
            </c:spPr>
          </c:dPt>
          <c:dPt>
            <c:idx val="1"/>
            <c:bubble3D val="0"/>
            <c:spPr>
              <a:solidFill>
                <a:srgbClr val="4A5A8F"/>
              </a:solidFill>
              <a:effectLst/>
            </c:spPr>
          </c:dPt>
          <c:dPt>
            <c:idx val="2"/>
            <c:bubble3D val="0"/>
            <c:spPr>
              <a:solidFill>
                <a:srgbClr val="7A86AC"/>
              </a:solidFill>
              <a:effectLst/>
            </c:spPr>
          </c:dPt>
          <c:dPt>
            <c:idx val="3"/>
            <c:bubble3D val="0"/>
            <c:spPr>
              <a:solidFill>
                <a:srgbClr val="B3121B"/>
              </a:solidFill>
              <a:effectLst/>
            </c:spPr>
          </c:dPt>
          <c:dPt>
            <c:idx val="4"/>
            <c:bubble3D val="0"/>
            <c:spPr>
              <a:solidFill>
                <a:srgbClr val="C9962C"/>
              </a:solidFill>
              <a:effectLst/>
            </c:spPr>
          </c:dPt>
          <c:dPt>
            <c:idx val="5"/>
            <c:bubble3D val="0"/>
            <c:spPr>
              <a:solidFill>
                <a:srgbClr val="A88A3C"/>
              </a:solidFill>
              <a:effectLst/>
            </c:spPr>
          </c:dPt>
          <c:dPt>
            <c:idx val="6"/>
            <c:bubble3D val="0"/>
            <c:spPr>
              <a:solidFill>
                <a:srgbClr val="6E6E7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運転資金(外注費・人件費の立替)</c:v>
                </c:pt>
                <c:pt idx="1">
                  <c:v>採用・教育</c:v>
                </c:pt>
                <c:pt idx="2">
                  <c:v>サンプル制作・機材</c:v>
                </c:pt>
                <c:pt idx="3">
                  <c:v>特許出願</c:v>
                </c:pt>
                <c:pt idx="4">
                  <c:v>データ基盤・RAG構築</c:v>
                </c:pt>
                <c:pt idx="5">
                  <c:v>販売費・自社チャンネル</c:v>
                </c:pt>
                <c:pt idx="6">
                  <c:v>予備費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1400</c:v>
                </c:pt>
                <c:pt idx="1">
                  <c:v>300</c:v>
                </c:pt>
                <c:pt idx="2">
                  <c:v>250</c:v>
                </c:pt>
                <c:pt idx="3">
                  <c:v>150</c:v>
                </c:pt>
                <c:pt idx="4">
                  <c:v>200</c:v>
                </c:pt>
                <c:pt idx="5">
                  <c:v>700</c:v>
                </c:pt>
                <c:pt idx="6">
                  <c:v>700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>
              <a:solidFill>
                <a:srgbClr val="3A3A42"/>
              </a:solidFill>
              <a:latin typeface="Meiryo"/>
              <a:cs typeface="Meiry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1874520"/>
            <a:ext cx="566928" cy="5669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26974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AI映像制作事業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58444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日本で受注し、中国で制作する。そして日本の技術に変える。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51206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投資家向け企画書  ／  2026年9月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54498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新設法人(株式会社・仮称)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エグゼクティブサマリー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日本の発注と中国の制作力の間に立ち、その差益で技術を内製化する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3483864" cy="141732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50392" y="168249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4,580億円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50392" y="235915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TAM｜日本の映像制作市場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50392" y="2633472"/>
            <a:ext cx="29718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うち狙えるSAMは約1,370億円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52544" y="1481328"/>
            <a:ext cx="3483864" cy="141732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08576" y="168249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608576" y="235915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粗利率｜1本あたり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633472"/>
            <a:ext cx="29718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単価48万 − 原価22万 = 粗利26万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10728" y="1481328"/>
            <a:ext cx="3483864" cy="141732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66760" y="168249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3,700万円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235915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今回の調達目標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2633472"/>
            <a:ext cx="29718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資本金800万 + 融資2,200万 + 増資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94360" y="3154680"/>
            <a:ext cx="3483864" cy="2514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Shape 17"/>
          <p:cNvSpPr/>
          <p:nvPr/>
        </p:nvSpPr>
        <p:spPr>
          <a:xfrm>
            <a:off x="832104" y="3429000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69848" y="3337560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何をするか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069848" y="3703320"/>
            <a:ext cx="27706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日本企業のAI映像を受注し、中国の個人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クリエイター20名の体制で制作する。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AIで原価は9割下がったが、日本の発注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価格は下がっていない。この差が粗利。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52544" y="3154680"/>
            <a:ext cx="3483864" cy="2514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90288" y="3429000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28032" y="3337560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なぜ勝てるか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828032" y="3703320"/>
            <a:ext cx="27706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日本企業は中国へ直接発注できない。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言語・稟議・与信・下請法が壁になる。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中国側に余っているのは制作力で、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足りないのは日本市場を売る力。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10728" y="3154680"/>
            <a:ext cx="3483864" cy="2514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7" name="Shape 25"/>
          <p:cNvSpPr/>
          <p:nvPr/>
        </p:nvSpPr>
        <p:spPr>
          <a:xfrm>
            <a:off x="8348472" y="3429000"/>
            <a:ext cx="118872" cy="118872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586216" y="3337560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どこへ向かうか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586216" y="3703320"/>
            <a:ext cx="27706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受託で稼ぐ期間は3年と見ている。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その間に工程を内製化し、特許と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プロダクトへ移す。自動車産業が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4年で国産化したのと同じ道筋。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数値の出所は各章に記載。市場規模・収支は [仮置き] を含む計画値です。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なぜ今なのか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出遅れた日本、淘汰が始まった中国。その差が最も大きい今が入口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72768"/>
            <a:ext cx="2578608" cy="427939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8470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14016"/>
            <a:ext cx="20299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日本は出遅れている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00400"/>
            <a:ext cx="202996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政府がAI推進法を制定し、AI基本計画を閣議決定するほどの危機感。映像制作の現場にAIはまだ入っていない。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01568" y="1572768"/>
            <a:ext cx="2578608" cy="427939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75888" y="18470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3675888" y="2414016"/>
            <a:ext cx="20299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中国では淘汰が始まった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675888" y="3200400"/>
            <a:ext cx="202996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AI漫劇の制作会社は2026年Q1に1,216社→698社(−42%)。約90%が赤字。最大コストは制作費ではなく広告出稿で全体の約70%。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08776" y="1572768"/>
            <a:ext cx="2578608" cy="427939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83096" y="18470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2414016"/>
            <a:ext cx="20299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中国の制作力を日本で売る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3200400"/>
            <a:ext cx="202996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中国側に余っているのは「作る力」。足りないのは「売る力」。日本の発注をこちらが持ち込む。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15984" y="1572768"/>
            <a:ext cx="2578608" cy="4279392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90304" y="18470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9290304" y="2414016"/>
            <a:ext cx="20299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日本の技術として磨く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9290304" y="3200400"/>
            <a:ext cx="202996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受託で稼ぐ間に工程を内製化し、特許とプロダクトへ移す。自動車産業が歩んだ道と同じ。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内閣府 AI戦略 / 第一財経・搜狐(中国AI短劇の淘汰) / 経済産業省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日本は一度、これをやっている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輸入した技術を4年で国産化し、輸出産業に変えた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31520" y="2395728"/>
            <a:ext cx="10085832" cy="0"/>
          </a:xfrm>
          <a:prstGeom prst="line">
            <a:avLst/>
          </a:prstGeom>
          <a:noFill/>
          <a:ln w="25400">
            <a:solidFill>
              <a:srgbClr val="DCD9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" y="2295144"/>
            <a:ext cx="201168" cy="201168"/>
          </a:xfrm>
          <a:prstGeom prst="ellipse">
            <a:avLst/>
          </a:prstGeom>
          <a:solidFill>
            <a:srgbClr val="DCD9D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-45720" y="168249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1949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-228600" y="265176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GHQの生産制限が解除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52394" y="2295144"/>
            <a:ext cx="201168" cy="201168"/>
          </a:xfrm>
          <a:prstGeom prst="ellipse">
            <a:avLst/>
          </a:prstGeom>
          <a:solidFill>
            <a:srgbClr val="B3121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475738" y="168249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1952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292858" y="265176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日産＝オースチン技術提携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日野＝ルノー、いすゞ＝ルーツ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3852" y="2295144"/>
            <a:ext cx="201168" cy="201168"/>
          </a:xfrm>
          <a:prstGeom prst="ellipse">
            <a:avLst/>
          </a:prstGeom>
          <a:solidFill>
            <a:srgbClr val="DCD9D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997196" y="168249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1955-57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14316" y="265176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吸収した技術をダットサン110・210へ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95310" y="2295144"/>
            <a:ext cx="201168" cy="201168"/>
          </a:xfrm>
          <a:prstGeom prst="ellipse">
            <a:avLst/>
          </a:prstGeom>
          <a:solidFill>
            <a:srgbClr val="B3121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18654" y="168249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1956-57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35774" y="265176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4社が相次いで完全国産化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716768" y="2295144"/>
            <a:ext cx="201168" cy="201168"/>
          </a:xfrm>
          <a:prstGeom prst="ellipse">
            <a:avLst/>
          </a:prstGeom>
          <a:solidFill>
            <a:srgbClr val="DCD9D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40112" y="168249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その後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857232" y="265176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輸出産業へ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3822192"/>
            <a:ext cx="11000232" cy="2194560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05840" y="411480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提携から完全国産化まで 4年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4791456"/>
            <a:ext cx="10177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当社が見込む受託の優位期間は3年。ほぼ同じスケールです。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当時は政府の保護(輸入制限・関税・技術移転の後押し)がありました。今のAI映像にはありません。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だから当社は、より短い時間で内製化まで到達する必要があります。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日産自動車 企業情報 / トヨタ博物館 / GAZOO「ノックダウン生産の時代」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政策も同じ方向を向いている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国はコンテンツを輸出産業にすると決め、予算を3倍にした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600200"/>
            <a:ext cx="3483864" cy="15727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50392" y="1801368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20兆円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50392" y="247802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コンテンツ海外売上 目標(2033年)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50392" y="27523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経産省「エンタメ・クリエイティブ産業戦略2026」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52544" y="1600200"/>
            <a:ext cx="3483864" cy="15727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08576" y="1801368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3.5倍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608576" y="247802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経産省の財政支援規模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7523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令和6年度補正 101.1億円 → 令和7年度補正 350.2億円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10728" y="1600200"/>
            <a:ext cx="3483864" cy="15727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66760" y="1801368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+26%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247802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アニメの海外売上(2024年)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27523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2兆1,700億円。市場全体は3兆8,400億円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94360" y="3337560"/>
            <a:ext cx="5362956" cy="2057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Shape 17"/>
          <p:cNvSpPr/>
          <p:nvPr/>
        </p:nvSpPr>
        <p:spPr>
          <a:xfrm>
            <a:off x="832104" y="3611880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69848" y="3520440"/>
            <a:ext cx="464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AI政策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069848" y="3886200"/>
            <a:ext cx="46497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AI推進法(人工知能関連技術の研究開発及び活用の推進に関する法律)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2025年5月28日成立 / 6月4日公布。日本初のAI基本法。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AI基本計画を2025年12月23日に閣議決定。内閣にAI戦略本部を設置。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31636" y="3337560"/>
            <a:ext cx="5362956" cy="2057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69380" y="3611880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07124" y="3520440"/>
            <a:ext cx="464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当社が実際に狙える支援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6707124" y="3886200"/>
            <a:ext cx="46497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東京都 創業助成事業   上限400万円・助成率2/3・最長2年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特許料等の減免   設立10年未満・資本金3億円以下なら1/3に軽減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JLOX+   「制作の生産性向上に資するシステムの開発・実証」枠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5596128"/>
            <a:ext cx="11000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補助金はすべて後払い(精算払い)のため、本計画の資金繰りには一切算入していません。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経済産業省「エンタメ・クリエイティブ産業戦略2026」/ 内閣府 AI戦略 / 東京都中小企業振興公社 / 特許庁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ビジネスモデル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日本語で受注し、中国語で発注し、日本語で承認を取る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691640"/>
            <a:ext cx="2880360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87452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日本の発注者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414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事業会社・広告代理店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制作会社(2次受け)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39312" y="2194560"/>
            <a:ext cx="640080" cy="0"/>
          </a:xfrm>
          <a:prstGeom prst="line">
            <a:avLst/>
          </a:prstGeom>
          <a:noFill/>
          <a:ln w="28575">
            <a:solidFill>
              <a:srgbClr val="B3121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639312" y="2606040"/>
            <a:ext cx="640080" cy="0"/>
          </a:xfrm>
          <a:prstGeom prst="line">
            <a:avLst/>
          </a:prstGeom>
          <a:noFill/>
          <a:ln w="28575">
            <a:solidFill>
              <a:srgbClr val="DCD9D4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4434840" y="1691640"/>
            <a:ext cx="2880360" cy="1371600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63440" y="187452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4414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要件定義・品質保証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契約・与信・請求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79792" y="2194560"/>
            <a:ext cx="640080" cy="0"/>
          </a:xfrm>
          <a:prstGeom prst="line">
            <a:avLst/>
          </a:prstGeom>
          <a:noFill/>
          <a:ln w="28575">
            <a:solidFill>
              <a:srgbClr val="B3121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479792" y="2606040"/>
            <a:ext cx="640080" cy="0"/>
          </a:xfrm>
          <a:prstGeom prst="line">
            <a:avLst/>
          </a:prstGeom>
          <a:noFill/>
          <a:ln w="28575">
            <a:solidFill>
              <a:srgbClr val="DCD9D4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8275320" y="1691640"/>
            <a:ext cx="2880360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03920" y="187452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中国の個人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クリエイター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03920" y="24414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登録20〜25名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稼働14名 / 月3本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174650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発注 →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275234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納品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406640" y="174650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発注 →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275234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納品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4360" y="3401568"/>
            <a:ext cx="3483864" cy="20848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4" name="Shape 22"/>
          <p:cNvSpPr/>
          <p:nvPr/>
        </p:nvSpPr>
        <p:spPr>
          <a:xfrm>
            <a:off x="832104" y="3675888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69848" y="3584448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R1・R2  受託制作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069848" y="3950208"/>
            <a:ext cx="277063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事業会社・代理店から受注。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1年目は代理店の2次受けを主軸に置く。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営業1名が月12本(直販は月5本)。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リテイナー(月額)へ育てる。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352544" y="3401568"/>
            <a:ext cx="3483864" cy="20848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8" name="Shape 26"/>
          <p:cNvSpPr/>
          <p:nvPr/>
        </p:nvSpPr>
        <p:spPr>
          <a:xfrm>
            <a:off x="4590288" y="3675888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28032" y="3584448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R3  個人向け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4828032" y="3950208"/>
            <a:ext cx="277063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ウエディング・終活など。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単価は低いが件数とデータが取れる。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2年目から。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110728" y="3401568"/>
            <a:ext cx="3483864" cy="20848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32" name="Shape 30"/>
          <p:cNvSpPr/>
          <p:nvPr/>
        </p:nvSpPr>
        <p:spPr>
          <a:xfrm>
            <a:off x="8348472" y="3675888"/>
            <a:ext cx="118872" cy="118872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586216" y="3584448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R4  プロダクト外販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8586216" y="3950208"/>
            <a:ext cx="277063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蓄積データで作ったツールを外販。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粗利率80%以上、人数に比例しない。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上場に必要な「読める収益」はここ。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3年目から。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収益ラインの詳細は MARKET_SIZING / 中国側の調達設計は CHINA_SOURCING を参照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ユニットエコノミクス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1本あたりの内訳と、損益分岐に必要な本数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572768"/>
          <a:ext cx="57607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675120" y="1572768"/>
            <a:ext cx="4919472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931152" y="1773936"/>
            <a:ext cx="4407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54.2%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931152" y="2450592"/>
            <a:ext cx="4407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粗利率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931152" y="2724912"/>
            <a:ext cx="44074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個人契約により55%→60%へ改善。計画では保守的に54%で置く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675120" y="3090672"/>
            <a:ext cx="4919472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931152" y="3291840"/>
            <a:ext cx="4407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月10.6本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931152" y="3968496"/>
            <a:ext cx="4407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損益分岐(フル体制)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931152" y="4242816"/>
            <a:ext cx="4407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月次固定費276万 ÷ 粗利率 ÷ 平均単価。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自社チャンネル投資を除くと月8.9本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675120" y="4718304"/>
            <a:ext cx="4919472" cy="896112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931152" y="4846320"/>
            <a:ext cx="4407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利益率を決めるのは制作原価ではなく営業効率です。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6931152" y="513892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外注原価は契約で固定できますが、1本の受注に営業が使う時間はリピート率で2倍以上変わります。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[仮置き]。P0の有償テストとP2の最初の3案件で実測して差し替えます。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市場規模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市場は制約になりません。制約は営業・採用・中国側のキャパシティです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600200"/>
          <a:ext cx="640080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315200" y="1600200"/>
            <a:ext cx="4279392" cy="144475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Shape 5"/>
          <p:cNvSpPr/>
          <p:nvPr/>
        </p:nvSpPr>
        <p:spPr>
          <a:xfrm>
            <a:off x="7552944" y="1874520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790688" y="17830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追い風は実測できている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790688" y="2148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動画広告市場  2025年 8,855億円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                  → 2026年 1兆437億円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縦型動画広告は前年比 155.9%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315200" y="3218688"/>
            <a:ext cx="4279392" cy="144475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Shape 9"/>
          <p:cNvSpPr/>
          <p:nvPr/>
        </p:nvSpPr>
        <p:spPr>
          <a:xfrm>
            <a:off x="7552944" y="3493008"/>
            <a:ext cx="118872" cy="118872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90688" y="340156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3年後でもSAMの0.18%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790688" y="3767328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5年後に年商10億へ届いても0.7%。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市場の奪い合いにはなりません。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伸び方を決めるのは自社の実行力です。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94360" y="4864608"/>
            <a:ext cx="11000232" cy="11704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14400" y="5010912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 ただし「原価は下がったが発注価格は下がっていない」という前提には時限があります。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14400" y="5321808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米国では企業動画の制作費中央値がAI導入で $4,200 → $2,500/分 に下落済み。自己サービス型ツールは1本 $1〜30。見立ては3年程度で日本にも来ます。だから受託で稼ぐ期間に内製化とプロダクトへ移します(第5章・第8章)。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サイバーエージェント 国内動画広告の市場調査 / Vidico・agent-media(米国相場)。SAM・SOMは [仮置き]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競合と優位性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誰と戦い、なぜ負けないか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146304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950208" y="14630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相手の強み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693408" y="1463040"/>
            <a:ext cx="4828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当社が勝てる点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1828800"/>
            <a:ext cx="11000232" cy="80467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95528" y="1883664"/>
            <a:ext cx="2880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日本の映像制作会社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950208" y="1883664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制作力・信用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693408" y="1883664"/>
            <a:ext cx="4828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価格。原価構造が違う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688336"/>
            <a:ext cx="2880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クラウドソーシング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950208" y="2688336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693408" y="2688336"/>
            <a:ext cx="4828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日本語の要件定義と品質保証。発注側の管理コストが残る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4360" y="3438144"/>
            <a:ext cx="11000232" cy="80467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3493008"/>
            <a:ext cx="2880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AI動画生成ツール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(Creatify / Arcads 等)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950208" y="3493008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圧倒的な安さ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693408" y="3493008"/>
            <a:ext cx="4828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テンプレでは通らない案件を取る。要件定義と修正対応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4297680"/>
            <a:ext cx="2880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中国のスタジオ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950208" y="4297680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制作力・価格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693408" y="4297680"/>
            <a:ext cx="4828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日本語での受注・稟議・与信・請求。売る力が無い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4360" y="5047488"/>
            <a:ext cx="11000232" cy="80467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95528" y="5102352"/>
            <a:ext cx="2880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中国のショートドラマ企業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950208" y="5102352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日本市場の理解・資本力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693408" y="5102352"/>
            <a:ext cx="4828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当社はBtoC配信ではなくBtoB受託。突破すべき壁が違う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中国のショートドラマ企業はBtoC配信で日本市場に成功しています(アプリ市場シェア9割超)。BtoB受託は別の壁であるという整理は次頁。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「中国側が直接売り始めたら?」への回答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契約条項ではなく、構造で答えます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72768"/>
            <a:ext cx="3483864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50392" y="177393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14.7%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50392" y="2450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中国に「親しみを感じる」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50392" y="2724912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日中関係が良好=8.8%。稟議を通す上司・法務・調達の心理に効く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52544" y="1572768"/>
            <a:ext cx="3483864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08576" y="177393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−42%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608576" y="2450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中国AI漫劇の制作会社数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724912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2026年Q1に1,216社→698社。約90%が赤字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10728" y="1572768"/>
            <a:ext cx="3483864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66760" y="177393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70%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2450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短劇業界の最大コスト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2724912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制作費ではなく広告出稿。足りないのは売る力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94360" y="3273552"/>
            <a:ext cx="5362956" cy="2057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Shape 17"/>
          <p:cNvSpPr/>
          <p:nvPr/>
        </p:nvSpPr>
        <p:spPr>
          <a:xfrm>
            <a:off x="832104" y="3547872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69848" y="3456432"/>
            <a:ext cx="464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直接取引を阻む4つの実務障壁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069848" y="3822192"/>
            <a:ext cx="46497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日本語での要件定義と、修正のやり取り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社内稟議  ―  中国の個人に発注する決裁は通らない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与信・反社チェック・下請法・検収・秘密保持契約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請求書と支払サイト  ―  日本の商習慣に載せる必要がある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31636" y="3273552"/>
            <a:ext cx="5362956" cy="2057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69380" y="3547872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07124" y="3456432"/>
            <a:ext cx="464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正直に見ている点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6707124" y="3822192"/>
            <a:ext cx="46497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中国のショートドラマ企業は日本法人と日本人スタッフを持ち、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BtoC配信では日本市場を突破しています(アプリ市場シェア9割超)。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BtoB受託に来る足場はすでにある。「できない」ではなく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「まだ来ていない」が正確です。防壁は契約ではなく上記の構造。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5532120"/>
            <a:ext cx="11000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この障壁は定量データが存在しません。P2の商談20件で「中国制作であること」への反応を分類・記録し、自社データとして測ります。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内閣府「外交に関する世論調査」/ 第一財経・搜狐 / 36Kr Japan(中国発ショートドラマアプリの日本シェア)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課題と、その解決方法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把握している課題と、それぞれに割り当てた打ち手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72768"/>
            <a:ext cx="11000232" cy="72237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874520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69848" y="1627632"/>
            <a:ext cx="4114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受託の優位性は3年で侵食される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349240" y="1627632"/>
            <a:ext cx="60167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内製化・特許・プロダクト(R4)へ前倒しで移す。P3で特許③の実装に着手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13816" y="2596896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69848" y="2350008"/>
            <a:ext cx="4114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営業が最大のボトルネック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349240" y="2350008"/>
            <a:ext cx="60167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代理店の2次受けを1年目の主軸に。営業1名で月12本(直販は月5本)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3017520"/>
            <a:ext cx="11000232" cy="72237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4" name="Shape 12"/>
          <p:cNvSpPr/>
          <p:nvPr/>
        </p:nvSpPr>
        <p:spPr>
          <a:xfrm>
            <a:off x="813816" y="3319272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69848" y="3072384"/>
            <a:ext cx="4114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中国側の品質のばらつき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349240" y="3072384"/>
            <a:ext cx="60167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A/B/Cのランク制、一次レビュー報酬3万/本、品質バッファ2万/本を原価に固定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3816" y="4041648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69848" y="3794760"/>
            <a:ext cx="4114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中国本土から業務基盤に接続できない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349240" y="3794760"/>
            <a:ext cx="60167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日本側をハブにする運用。転記を最初の自動化対象にし、データを1か所に集約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94360" y="4462272"/>
            <a:ext cx="11000232" cy="72237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1" name="Shape 19"/>
          <p:cNvSpPr/>
          <p:nvPr/>
        </p:nvSpPr>
        <p:spPr>
          <a:xfrm>
            <a:off x="813816" y="4764024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69848" y="4517136"/>
            <a:ext cx="4114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「AIっぽさ」が広告効果を落とす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349240" y="4517136"/>
            <a:ext cx="60167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品質基準の自動判定を特許①として出願。視聴維持率データを学習側に回す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" y="5486400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69848" y="5239512"/>
            <a:ext cx="4114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中国側の原価は上昇局面にある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349240" y="5239512"/>
            <a:ext cx="60167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個人契約でプールを厚く(登録20〜25名)。淘汰で市場に出た人材を取り込む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各課題の詳細と数値根拠は MOAT_TIMELINE / SALES_COST / CHINA_SOURCING に記載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（記入予定）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691640"/>
            <a:ext cx="3483864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1924812" y="2039112"/>
            <a:ext cx="822960" cy="822960"/>
          </a:xfrm>
          <a:prstGeom prst="ellipse">
            <a:avLst/>
          </a:prstGeom>
          <a:solidFill>
            <a:srgbClr val="DCD9D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90088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代表取締役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337560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経歴 ／ 実績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52544" y="1691640"/>
            <a:ext cx="3483864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Shape 9"/>
          <p:cNvSpPr/>
          <p:nvPr/>
        </p:nvSpPr>
        <p:spPr>
          <a:xfrm>
            <a:off x="5682996" y="2039112"/>
            <a:ext cx="822960" cy="822960"/>
          </a:xfrm>
          <a:prstGeom prst="ellipse">
            <a:avLst/>
          </a:prstGeom>
          <a:solidFill>
            <a:srgbClr val="DCD9D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26864" y="2990088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制作ディレクター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3337560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採用計画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10728" y="1691640"/>
            <a:ext cx="3483864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Shape 13"/>
          <p:cNvSpPr/>
          <p:nvPr/>
        </p:nvSpPr>
        <p:spPr>
          <a:xfrm>
            <a:off x="9441180" y="2039112"/>
            <a:ext cx="822960" cy="822960"/>
          </a:xfrm>
          <a:prstGeom prst="ellipse">
            <a:avLst/>
          </a:prstGeom>
          <a:solidFill>
            <a:srgbClr val="DCD9D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85048" y="2990088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営業責任者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385048" y="3337560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採用計画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4360" y="4160520"/>
            <a:ext cx="11000232" cy="1600200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05840" y="4407408"/>
            <a:ext cx="10177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この章は記入予定です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864608"/>
            <a:ext cx="10177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代表の経歴と実績  ／  これから採用する職種・時期・採用チャネル  ／  アドバイザー・顧問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1年目は代表＋営業1名の2名体制。制作ディレクターは2027年4月から採用します。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事業計画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単月黒字化は日本側8〜10名になる3年目。それまでは投資期間です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572768"/>
          <a:ext cx="68580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772400" y="1572768"/>
            <a:ext cx="3822192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Shape 5"/>
          <p:cNvSpPr/>
          <p:nvPr/>
        </p:nvSpPr>
        <p:spPr>
          <a:xfrm>
            <a:off x="8010144" y="1847088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247888" y="17556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 ― 仕込みの年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247888" y="2121408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受注29本、売上1,400万。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代表＋営業1名の2名体制。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中国側は登録8〜10名で立ち上げる。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772400" y="3200400"/>
            <a:ext cx="3822192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Shape 9"/>
          <p:cNvSpPr/>
          <p:nvPr/>
        </p:nvSpPr>
        <p:spPr>
          <a:xfrm>
            <a:off x="8010144" y="3474720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47888" y="33832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 ― 単月黒字化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247888" y="374904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日本側8〜10名で損益分岐を越える。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年商1億を超え、リピートが受注の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30%以上を占める状態を目指す。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772400" y="4828032"/>
            <a:ext cx="3822192" cy="86868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Shape 13"/>
          <p:cNvSpPr/>
          <p:nvPr/>
        </p:nvSpPr>
        <p:spPr>
          <a:xfrm>
            <a:off x="8010144" y="5102352"/>
            <a:ext cx="118872" cy="118872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247888" y="501091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 ― 年商10億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8247888" y="5376672"/>
            <a:ext cx="3108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日本側35〜50名。プロダクト比率を上げる。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計画値。ROADMAP の各フェーズのゲート条件と対応。詳細な資金繰りは budget_model.xlsx(263数式)で連動計算しています。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上場までの流れ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東証グロース。流通株式比率25%・流通株式時価総額5億円が形式要件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627632"/>
            <a:ext cx="2017166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13816" y="1828800"/>
            <a:ext cx="1578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P1-P2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13816" y="2249424"/>
            <a:ext cx="1578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2026/10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-2027/3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13816" y="2862072"/>
            <a:ext cx="15782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法人設立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体制構築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最初の受注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657246" y="2702052"/>
            <a:ext cx="137160" cy="0"/>
          </a:xfrm>
          <a:prstGeom prst="line">
            <a:avLst/>
          </a:prstGeom>
          <a:noFill/>
          <a:ln w="25400">
            <a:solidFill>
              <a:srgbClr val="DCD9D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840126" y="1627632"/>
            <a:ext cx="2017166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059582" y="1828800"/>
            <a:ext cx="1578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059582" y="2249424"/>
            <a:ext cx="1578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2027/4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-2028/9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059582" y="2862072"/>
            <a:ext cx="15782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受注を積む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内製準備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シード調達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903013" y="2702052"/>
            <a:ext cx="137160" cy="0"/>
          </a:xfrm>
          <a:prstGeom prst="line">
            <a:avLst/>
          </a:prstGeom>
          <a:noFill/>
          <a:ln w="25400">
            <a:solidFill>
              <a:srgbClr val="DCD9D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085893" y="1627632"/>
            <a:ext cx="2017166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05349" y="1828800"/>
            <a:ext cx="1578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305349" y="2249424"/>
            <a:ext cx="1578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2028/10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-2031/9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305349" y="2862072"/>
            <a:ext cx="15782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内製・技術資産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シリーズA/B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プロダクト比率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148779" y="2702052"/>
            <a:ext cx="137160" cy="0"/>
          </a:xfrm>
          <a:prstGeom prst="line">
            <a:avLst/>
          </a:prstGeom>
          <a:noFill/>
          <a:ln w="25400">
            <a:solidFill>
              <a:srgbClr val="DCD9D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331659" y="1627632"/>
            <a:ext cx="2017166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551115" y="1828800"/>
            <a:ext cx="1578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551115" y="2249424"/>
            <a:ext cx="1578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2031/10-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551115" y="2862072"/>
            <a:ext cx="15782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監査法人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主幹事証券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N-2期から管理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394546" y="2702052"/>
            <a:ext cx="137160" cy="0"/>
          </a:xfrm>
          <a:prstGeom prst="line">
            <a:avLst/>
          </a:prstGeom>
          <a:noFill/>
          <a:ln w="25400">
            <a:solidFill>
              <a:srgbClr val="DCD9D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577426" y="1627632"/>
            <a:ext cx="2017166" cy="2148840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796882" y="1828800"/>
            <a:ext cx="1578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上場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796882" y="2249424"/>
            <a:ext cx="1578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2033年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前後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9796882" y="2862072"/>
            <a:ext cx="15782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東証グロース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を想定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94360" y="4041648"/>
            <a:ext cx="5362956" cy="15727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31" name="Shape 29"/>
          <p:cNvSpPr/>
          <p:nvPr/>
        </p:nvSpPr>
        <p:spPr>
          <a:xfrm>
            <a:off x="832104" y="4315968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69848" y="4224528"/>
            <a:ext cx="464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資本政策の想定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1069848" y="4590288"/>
            <a:ext cx="46497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シード20%  →  ESOP枠10%  →  シリーズA 20%  →  シリーズB 15%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IPO公募20%を経て、上場時の創業者持分は 37〜42% を想定。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1ラウンドで33%超は放出しません(特別決議の拒否権を渡さないため)。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31636" y="4041648"/>
            <a:ext cx="5362956" cy="15727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35" name="Shape 33"/>
          <p:cNvSpPr/>
          <p:nvPr/>
        </p:nvSpPr>
        <p:spPr>
          <a:xfrm>
            <a:off x="6469380" y="4315968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07124" y="4224528"/>
            <a:ext cx="464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前提として直視していること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6707124" y="4590288"/>
            <a:ext cx="46497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流通株式比率35%はプライムの基準です。グロースは25%。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グロースは2030年3月以降「上場5年経過後に時価総額100億円」の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維持基準が新設されます。ゴールは上場ではなく、その先です。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日本取引所グループ 上場維持基準。上場基準は改定が続くため、準備期に入る前に最新基準を再確認します。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マイルストーン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各フェーズを、次へ進むための「ゲート条件」で管理します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4630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14630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726680" y="14630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次へ進むゲート条件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1810512"/>
            <a:ext cx="11000232" cy="69494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1865376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1865376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2026/9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246120" y="1865376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有償テスト課題で個人15名を選考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1865376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A/B/Cランク付けを完了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2560320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2560320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2026/10-12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246120" y="2560320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法人設立・契約・サンプル4本・特許出願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560320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クリエイター5名以上と契約締結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4360" y="3200400"/>
            <a:ext cx="11000232" cy="69494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" y="3255264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325526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2027/1-3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246120" y="325526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2次受けを開始・最初の3案件で実測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726680" y="3255264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累計5本受注／粗利率55%以上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3950208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554480" y="3950208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2027/4-2028/9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246120" y="3950208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受注を積む・内製準備・シード調達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3950208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年商1億／リピート30%／ペアデータ300件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94360" y="4590288"/>
            <a:ext cx="11000232" cy="69494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4645152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P4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554480" y="4645152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2028/10-2031/9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246120" y="4645152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内製化・シリーズA/B・単月黒字化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4645152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プロダクト比率10%以上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5340096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P5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554480" y="5340096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2031/10-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3246120" y="5340096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監査法人・主幹事証券・内部管理体制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726680" y="5340096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N-2期からの管理体制を構築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ゲート条件を満たさない場合は次フェーズに進まず、前提を引き直します。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資金計画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調達目標 3,700万円。1年目末に固定費2ヶ月分を残す設計です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600200"/>
          <a:ext cx="50292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943600" y="1600200"/>
            <a:ext cx="2688336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199632" y="1801368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800万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199632" y="2478024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資本金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199632" y="2752344"/>
            <a:ext cx="217627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設立時。資本準備金への配分は税理士と確定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8906256" y="1600200"/>
            <a:ext cx="2688336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62288" y="1801368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2,200万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9162288" y="2478024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創業融資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9162288" y="2752344"/>
            <a:ext cx="217627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公庫1,200万 + 東京都制度融資1,000万の協調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943600" y="3127248"/>
            <a:ext cx="5650992" cy="190195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Shape 13"/>
          <p:cNvSpPr/>
          <p:nvPr/>
        </p:nvSpPr>
        <p:spPr>
          <a:xfrm>
            <a:off x="6181344" y="3401568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19088" y="331012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調達の条件と考え方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6419088" y="3675888"/>
            <a:ext cx="49377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フェーズ1〜2はデットで通します。実績がない時点でエクイティを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入れると、安く売ることになるためです。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エクイティはP2のゲート達成後(2027年春以降)に回します。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自己出資があれば放出20〜25%、なければJ-KISSで価格決定を先送り。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943600" y="5175504"/>
            <a:ext cx="5650992" cy="932688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5303520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補助金は資金計画に算入していません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217920" y="5596128"/>
            <a:ext cx="5102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すべて後払い(精算払い)で入金は1年以上先です。狙う制度は特定していますが、資金繰りの前提にはしません。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月次資金繰り・必要調達額は budget_model.xlsx で連動計算(数式263・エラー0)。前提を変えると全体が再計算されます。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リスクと対策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把握しているリスクを、影響度の高い順に開示します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72768"/>
            <a:ext cx="11000232" cy="72237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787652"/>
            <a:ext cx="329184" cy="2926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8765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271016" y="1618488"/>
            <a:ext cx="26791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受託の単価が市場全体で下落する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151376" y="1618488"/>
            <a:ext cx="309067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市場単価が2割強下がると本モデルは成立しない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443216" y="1618488"/>
            <a:ext cx="4041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四半期ごとに平均受注単価を記録。前年比▲15%を警戒ラインに設定し、内製化・R4へ前倒しで移行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31520" y="2510028"/>
            <a:ext cx="329184" cy="2926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251002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1271016" y="2340864"/>
            <a:ext cx="26791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営業が積み上がらない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151376" y="2340864"/>
            <a:ext cx="309067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損益分岐は月10.6本。1年目の供給上限は月8本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7443216" y="2340864"/>
            <a:ext cx="4041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代理店の2次受けを主軸に。営業1名で月12本。P2の商談20件で成約率を実測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4360" y="3017520"/>
            <a:ext cx="11000232" cy="72237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" y="3232404"/>
            <a:ext cx="329184" cy="2926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232404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271016" y="3063240"/>
            <a:ext cx="26791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中国側のキャパシティと品質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151376" y="3063240"/>
            <a:ext cx="309067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春節が日本の年度末納期と重なる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443216" y="3063240"/>
            <a:ext cx="4041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登録は稼働の1.5倍を確保。春節前後は納期を前倒し。A/B/Cランクで難度を割り当て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31520" y="3954780"/>
            <a:ext cx="329184" cy="29260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0" y="3954780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271016" y="3785616"/>
            <a:ext cx="26791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中国側の原価上昇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151376" y="3785616"/>
            <a:ext cx="309067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AI漫劇の原価は1分100元→200〜300元へ上昇中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443216" y="3785616"/>
            <a:ext cx="4041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個人契約でプールを厚く。淘汰で市場に出た人材を取り込む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94360" y="4462272"/>
            <a:ext cx="11000232" cy="72237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9" name="Shape 27"/>
          <p:cNvSpPr/>
          <p:nvPr/>
        </p:nvSpPr>
        <p:spPr>
          <a:xfrm>
            <a:off x="731520" y="4677156"/>
            <a:ext cx="329184" cy="29260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" y="4677156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1271016" y="4507992"/>
            <a:ext cx="26791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消費税の仕入税額控除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151376" y="4507992"/>
            <a:ext cx="309067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海外発注は控除が取れない可能性がある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443216" y="4507992"/>
            <a:ext cx="4041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設立前に税理士へ確認。取れない前提で原価に上乗せして計画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31520" y="5399532"/>
            <a:ext cx="329184" cy="29260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31520" y="539953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1271016" y="5230368"/>
            <a:ext cx="26791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特許の新規性喪失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4151376" y="5230368"/>
            <a:ext cx="309067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公開後は出願できない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7443216" y="5230368"/>
            <a:ext cx="4041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サンプル・LP・自社チャンネルの公開前に出願判断を完了(P1のゲート条件)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全リスクと対策は BUSINESS_PLAN 第10章 / MOAT_TIMELINE / CHINA_SOURCING に記載しています。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1417320"/>
            <a:ext cx="566928" cy="5669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22860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中国の制作力を、日本の技術に変える。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1546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受託で稼げる期間は3年。自動車産業は4年で国産化しました。同じことを、より短く。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" y="4114800"/>
            <a:ext cx="3483864" cy="1234440"/>
          </a:xfrm>
          <a:prstGeom prst="rect">
            <a:avLst/>
          </a:prstGeom>
          <a:solidFill>
            <a:srgbClr val="3A3A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4315968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3,700万円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864608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調達目標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52544" y="4114800"/>
            <a:ext cx="3483864" cy="1234440"/>
          </a:xfrm>
          <a:prstGeom prst="rect">
            <a:avLst/>
          </a:prstGeom>
          <a:solidFill>
            <a:srgbClr val="3A3A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26864" y="4315968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4626864" y="4864608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受託の優位期間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10728" y="4114800"/>
            <a:ext cx="3483864" cy="1234440"/>
          </a:xfrm>
          <a:prstGeom prst="rect">
            <a:avLst/>
          </a:prstGeom>
          <a:solidFill>
            <a:srgbClr val="3A3A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85048" y="4315968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2033年前後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8385048" y="4864608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東証グロース上場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投資家向け企画書</dc:title>
  <dc:subject>PptxGenJS Presentation</dc:subject>
  <dc:creator>AI映像制作事業</dc:creator>
  <cp:lastModifiedBy>AI映像制作事業</cp:lastModifiedBy>
  <cp:revision>1</cp:revision>
  <dcterms:created xsi:type="dcterms:W3CDTF">2026-09-07T08:44:58Z</dcterms:created>
  <dcterms:modified xsi:type="dcterms:W3CDTF">2026-09-07T08:44:58Z</dcterms:modified>
</cp:coreProperties>
</file>