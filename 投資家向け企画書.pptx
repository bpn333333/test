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6161A"/>
                </a:solidFill>
                <a:latin typeface="Yu Gothic"/>
                <a:ea typeface="Yu Gothic"/>
                <a:cs typeface="Yu Gothic"/>
              </a:defRPr>
            </a:pPr>
            <a:r>
              <a:rPr sz="1100" b="0" i="0" u="none" strike="noStrike">
                <a:solidFill>
                  <a:srgbClr val="16161A"/>
                </a:solidFill>
                <a:latin typeface="Yu Gothic"/>
                <a:ea typeface="Yu Gothic"/>
                <a:cs typeface="Yu Gothic"/>
              </a:rPr>
              <a:t>売上高と営業利益の推移（単位 百万円・計画値）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売上高</c:v>
                </c:pt>
              </c:strCache>
            </c:strRef>
          </c:tx>
          <c:spPr>
            <a:solidFill>
              <a:srgbClr val="2A35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A3A42"/>
                    </a:solidFill>
                    <a:latin typeface="Yu Gothic"/>
                    <a:ea typeface="Yu Gothic"/>
                    <a:cs typeface="Yu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1期 2027/9</c:v>
                  </c:pt>
                  <c:pt idx="1">
                    <c:v>2期 2028/9</c:v>
                  </c:pt>
                  <c:pt idx="2">
                    <c:v>3期 2029/9</c:v>
                  </c:pt>
                  <c:pt idx="3">
                    <c:v>4期 2030/9</c:v>
                  </c:pt>
                  <c:pt idx="4">
                    <c:v>5期 2031/9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</c:v>
                </c:pt>
                <c:pt idx="1">
                  <c:v>179</c:v>
                </c:pt>
                <c:pt idx="2">
                  <c:v>522</c:v>
                </c:pt>
                <c:pt idx="3">
                  <c:v>1148</c:v>
                </c:pt>
                <c:pt idx="4">
                  <c:v>2018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営業利益</c:v>
                </c:pt>
              </c:strCache>
            </c:strRef>
          </c:tx>
          <c:spPr>
            <a:solidFill>
              <a:srgbClr val="B3121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A3A42"/>
                    </a:solidFill>
                    <a:latin typeface="Yu Gothic"/>
                    <a:ea typeface="Yu Gothic"/>
                    <a:cs typeface="Yu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1期 2027/9</c:v>
                  </c:pt>
                  <c:pt idx="1">
                    <c:v>2期 2028/9</c:v>
                  </c:pt>
                  <c:pt idx="2">
                    <c:v>3期 2029/9</c:v>
                  </c:pt>
                  <c:pt idx="3">
                    <c:v>4期 2030/9</c:v>
                  </c:pt>
                  <c:pt idx="4">
                    <c:v>5期 2031/9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-32</c:v>
                </c:pt>
                <c:pt idx="1">
                  <c:v>-67</c:v>
                </c:pt>
                <c:pt idx="2">
                  <c:v>-4</c:v>
                </c:pt>
                <c:pt idx="3">
                  <c:v>235</c:v>
                </c:pt>
                <c:pt idx="4">
                  <c:v>613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3A3A42"/>
                  </a:solidFill>
                  <a:latin typeface="Yu Gothic"/>
                  <a:ea typeface="Yu Gothic"/>
                  <a:cs typeface="Yu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E76"/>
                </a:solidFill>
                <a:latin typeface="Yu Gothic"/>
                <a:ea typeface="Yu Gothic"/>
                <a:cs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100"/>
          <c:min val="-200"/>
        </c:scaling>
        <c:delete val="0"/>
        <c:axPos val="l"/>
        <c:majorGridlines>
          <c:spPr>
            <a:ln w="6350" cap="flat">
              <a:solidFill>
                <a:srgbClr val="DCD9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E76"/>
                </a:solidFill>
                <a:latin typeface="Yu Gothic"/>
                <a:ea typeface="Yu Gothic"/>
                <a:cs typeface="Yu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Yu Gothic"/>
              <a:ea typeface="Yu Gothic"/>
              <a:cs typeface="Yu Gothic"/>
              <a:cs typeface="Yu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24-2.jpg"/><Relationship Id="rId3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96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mage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6576" y="0"/>
            <a:ext cx="1228953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94360" y="1874520"/>
            <a:ext cx="566928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94360" y="2578608"/>
            <a:ext cx="10881360" cy="138074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50392" y="2578608"/>
            <a:ext cx="1062532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次世代AI映像制作会社の設立投資案件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421538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B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東アジアを21世紀のハリウッドにするためのAI映像制作ハブとするAI映像制作会社のシード投資のご案内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592531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E2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投資家向け企画書  ／  2026年9月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625449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E2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新設法人（株式会社・仮称）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エグゼクティブサマリー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中華圏の最先端技術に日本のクオリティーコントロールとIPを融合させ、世界市場を取りに行く企業を設立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371600"/>
            <a:ext cx="50292" cy="78638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371600"/>
            <a:ext cx="10771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5年後・2031年、東証グロース市場への上場を目指す。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中国を中心に世界のAIクリエイターを集め、企業案件と越境C2C発注で回すプラットフォームをつくる。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94360" y="2340864"/>
            <a:ext cx="3483864" cy="13898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32104" y="2505456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4,580億円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832104" y="3127248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国内の映像制作市場（実測）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32104" y="3401568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矢野経済研究所。2027年度は5,400億円の予測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52544" y="2340864"/>
            <a:ext cx="3483864" cy="13898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90288" y="2505456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3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3本立て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4590288" y="3127248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収益の柱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90288" y="3401568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AI映像制作 ② 越境C2C発注の手数料（6ヶ月目〜）③ 特許・制作用ツール外販（2期〜）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110728" y="2340864"/>
            <a:ext cx="3483864" cy="13898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48472" y="2505456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99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1.5億円</a:t>
            </a:r>
            <a:endParaRPr lang="en-US" sz="2700" dirty="0"/>
          </a:p>
        </p:txBody>
      </p:sp>
      <p:sp>
        <p:nvSpPr>
          <p:cNvPr id="18" name="Text 16"/>
          <p:cNvSpPr txBox="1"/>
          <p:nvPr/>
        </p:nvSpPr>
        <p:spPr>
          <a:xfrm>
            <a:off x="8348472" y="3127248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今回の調達目標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348472" y="3401568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追加はシリーズA 3億のみ。累計4.5億で上場まで届く設計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" y="3895344"/>
            <a:ext cx="3483864" cy="2084832"/>
          </a:xfrm>
          <a:prstGeom prst="rect">
            <a:avLst/>
          </a:prstGeom>
          <a:solidFill>
            <a:srgbClr val="FFF2CC"/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" y="4151376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33272" y="405993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何をするか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033272" y="4407408"/>
            <a:ext cx="28254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日本・海外の個人と中小事業者が、中国の映像クリエイターに直接発注できるプラットフォームを運営する。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企業案件は当社が受注し、登録クリエイターに配分する。再生数がゼロでも稼げる。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溜まった制作データで生成AI関連の特許を取得し、チェックポイント・LoRA・モデル開発へ。①の自動化機能をそのままツールとして外販する。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52544" y="3895344"/>
            <a:ext cx="3483864" cy="2084832"/>
          </a:xfrm>
          <a:prstGeom prst="rect">
            <a:avLst/>
          </a:prstGeom>
          <a:solidFill>
            <a:srgbClr val="FFF2CC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0" y="4151376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791456" y="405993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なぜ勝てるか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4791456" y="4407408"/>
            <a:ext cx="28254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生成AIで制作原価は下がったが、日本企業の発注価格は下がっていない。この差が粗利。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日本企業は中華圏に直接発注しない。言語・商習慣・品質保証・契約が壁。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その壁を引き受けることが商品。差別化は価格ではなく「発注側の管理コストをゼロにする」こと。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110728" y="3895344"/>
            <a:ext cx="3483864" cy="2084832"/>
          </a:xfrm>
          <a:prstGeom prst="rect">
            <a:avLst/>
          </a:prstGeom>
          <a:solidFill>
            <a:srgbClr val="FFF2CC"/>
          </a:solidFill>
          <a:ln/>
        </p:spPr>
      </p:sp>
      <p:sp>
        <p:nvSpPr>
          <p:cNvPr id="29" name="Shape 27"/>
          <p:cNvSpPr/>
          <p:nvPr/>
        </p:nvSpPr>
        <p:spPr>
          <a:xfrm>
            <a:off x="8330184" y="4151376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549640" y="405993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どこへ向かうか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8549640" y="4407408"/>
            <a:ext cx="28254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1年目に基盤を作り、2〜3年目は投資期間。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4年目に通期黒字化、5年目に年商20億・営業利益6.1億。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売上の76%が人手に比例しない収益。自動車産業が輸入技術を4年で国産化したのと同じ道筋を、3年で。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収支は［仮置き］を含む計画値です。国内市場規模は矢野経済研究所の実測値。制作の単価・粗利率は業界相場からの設定で、1期に実測して差し替えます。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なぜ今なのか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出遅れている日本、淘汰が始まった中国。そして優秀なAIクリエイターが行き場を失っている今がチャンス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335024"/>
            <a:ext cx="2544318" cy="13898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Shape 5"/>
          <p:cNvSpPr/>
          <p:nvPr/>
        </p:nvSpPr>
        <p:spPr>
          <a:xfrm>
            <a:off x="813816" y="1591056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33272" y="1499616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 日本は出遅れている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1847088"/>
            <a:ext cx="188595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政府がAI推進法を制定し、AI基本計画を閣議決定するほどの危機感。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映像制作の現場にAIはまだ入っていない。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12998" y="1335024"/>
            <a:ext cx="2544318" cy="13898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1" name="Shape 9"/>
          <p:cNvSpPr/>
          <p:nvPr/>
        </p:nvSpPr>
        <p:spPr>
          <a:xfrm>
            <a:off x="3632454" y="1591056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51910" y="1499616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 中国では淘汰が始まった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851910" y="1847088"/>
            <a:ext cx="188595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AI映像の制作会社は2026年Q1に 1,216社→698社（−42%）。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約90%が赤字。最大コストは広告出稿で約70%。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31636" y="1335024"/>
            <a:ext cx="2544318" cy="13898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5" name="Shape 13"/>
          <p:cNvSpPr/>
          <p:nvPr/>
        </p:nvSpPr>
        <p:spPr>
          <a:xfrm>
            <a:off x="6451092" y="1591056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0548" y="1499616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 制作力が余っている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670548" y="1847088"/>
            <a:ext cx="188595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中国PFは純AIコンテンツの分成を圧縮し、最低保証を廃止。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足りないのは「作る力」ではなく「売る力」。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050274" y="1335024"/>
            <a:ext cx="2544318" cy="13898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9" name="Shape 17"/>
          <p:cNvSpPr/>
          <p:nvPr/>
        </p:nvSpPr>
        <p:spPr>
          <a:xfrm>
            <a:off x="9269730" y="1591056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489186" y="1499616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  当社が売る力になる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489186" y="1847088"/>
            <a:ext cx="188595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日本の発注を取り、要件定義・品質保証・契約・請求を引き受ける。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彼らは作るだけでよくなる。</a:t>
            </a:r>
            <a:endParaRPr lang="en-US" sz="900" dirty="0"/>
          </a:p>
        </p:txBody>
      </p:sp>
      <p:pic>
        <p:nvPicPr>
          <p:cNvPr id="22" name="Image 0" descr="assets/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58184" y="2880360"/>
            <a:ext cx="1856232" cy="1389888"/>
          </a:xfrm>
          <a:prstGeom prst="rect">
            <a:avLst/>
          </a:prstGeom>
        </p:spPr>
      </p:pic>
      <p:pic>
        <p:nvPicPr>
          <p:cNvPr id="23" name="Image 1" descr="assets/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907792"/>
            <a:ext cx="1856232" cy="1335024"/>
          </a:xfrm>
          <a:prstGeom prst="rect">
            <a:avLst/>
          </a:prstGeom>
        </p:spPr>
      </p:pic>
      <p:pic>
        <p:nvPicPr>
          <p:cNvPr id="24" name="Image 2" descr="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36" y="2907792"/>
            <a:ext cx="2011680" cy="1335024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594360" y="4425696"/>
            <a:ext cx="11000232" cy="151790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960120" y="44897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中国のAI映像制作会社数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960120" y="4892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2025年 Q4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960120" y="514807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1,216社</a:t>
            </a:r>
            <a:endParaRPr lang="en-US" sz="2200" dirty="0"/>
          </a:p>
        </p:txBody>
      </p:sp>
      <p:sp>
        <p:nvSpPr>
          <p:cNvPr id="29" name="Text 24"/>
          <p:cNvSpPr txBox="1"/>
          <p:nvPr/>
        </p:nvSpPr>
        <p:spPr>
          <a:xfrm>
            <a:off x="3337560" y="514807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Text 25"/>
          <p:cNvSpPr txBox="1"/>
          <p:nvPr/>
        </p:nvSpPr>
        <p:spPr>
          <a:xfrm>
            <a:off x="4069080" y="4892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 Q1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4069080" y="514807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698社</a:t>
            </a:r>
            <a:endParaRPr lang="en-US" sz="2200" dirty="0"/>
          </a:p>
        </p:txBody>
      </p:sp>
      <p:sp>
        <p:nvSpPr>
          <p:cNvPr id="32" name="Text 27"/>
          <p:cNvSpPr txBox="1"/>
          <p:nvPr/>
        </p:nvSpPr>
        <p:spPr>
          <a:xfrm>
            <a:off x="6995160" y="4544568"/>
            <a:ext cx="41422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1四半期で −42%。制作力が市場に溢れ出しています。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ただし淘汰されているのは、広告出稿で視聴者を取りに行った会社です。作る力そのものは市場に残っています。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当社が取るのは制作力であって、彼らが負けた土俵（視聴者獲得の消耗戦）には乗りません。</a:t>
            </a:r>
            <a:endParaRPr lang="en-US" sz="950" dirty="0"/>
          </a:p>
        </p:txBody>
      </p:sp>
      <p:sp>
        <p:nvSpPr>
          <p:cNvPr id="33" name="Text 28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内閣府 AI戦略 ／ 第一財経・搜狐（中国AI短劇の淘汰）／ 网易「2026短劇分账新政」／ 経済産業省</a:t>
            </a:r>
            <a:endParaRPr lang="en-US" sz="850" dirty="0"/>
          </a:p>
        </p:txBody>
      </p:sp>
      <p:sp>
        <p:nvSpPr>
          <p:cNvPr id="34" name="Text 29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最終ゴール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日本に制作ハブを置き、中華圏の技術を束ねて世界市場を取りに行く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389888"/>
            <a:ext cx="50292" cy="78638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389888"/>
            <a:ext cx="10771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AI映像制作ハブを日本に置く。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中華圏の最先端技術に、日本のクオリティーコントロールとIPを載せて世界へ出す。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94360" y="2432304"/>
            <a:ext cx="3483864" cy="197510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" y="2688336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33272" y="259689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日本の企業案件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33272" y="2944368"/>
            <a:ext cx="28254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4,580億円の実測市場。法人が発注し、与信と請求が必要な領域。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個人クリエイターには越えられない壁を当社が引き受ける。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初日から現金を生む主軸。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52544" y="2432304"/>
            <a:ext cx="3483864" cy="197510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2688336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91456" y="259689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越境C2C発注プラットフォーム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791456" y="2944368"/>
            <a:ext cx="28254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日本・海外の個人と中小事業者が、中国のクリエイターに直接発注できる場。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言語・決済・品質保証・契約の壁を、システムで引き受ける。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6ヶ月目から。取引手数料で回収する。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10728" y="2432304"/>
            <a:ext cx="3483864" cy="197510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7" name="Shape 15"/>
          <p:cNvSpPr/>
          <p:nvPr/>
        </p:nvSpPr>
        <p:spPr>
          <a:xfrm>
            <a:off x="8330184" y="2688336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549640" y="259689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日本の個人案件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549640" y="2944368"/>
            <a:ext cx="28254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ウエディング・終活など、個人が発注する領域。単価5〜20万。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法人案件の閑散期を埋める調整弁。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要求が定型的で件数が出るため、最良の学習データ源になる。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" y="4590288"/>
            <a:ext cx="11000232" cy="111556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4590288"/>
            <a:ext cx="45720" cy="111556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50392" y="4736592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3つとも「制作」が土台です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50392" y="5065776"/>
            <a:ext cx="105430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②のプラットフォームは、①③で積んだクリエイターが無ければ受け手がいません。プラットフォームが先ではなく、制作が先です。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そして①②③で溜まった制作データが、内製化・特許・モデル外販（P4）の原料になります。ここが企業価値の本体です。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市場規模の出所は次ページ以降。個人案件は「個人が発注する市場」であり、クリエイターエコノミー（個人が受け取る市場）とは別物です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市場規模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市場は制約になりません。制約はクリエイター獲得と発注者獲得の資金です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444752"/>
            <a:ext cx="3483864" cy="13898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32104" y="1609344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4,580億円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832104" y="223113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国内 動画制作サービス市場（2025年度予測）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32104" y="2505456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2024年度 4,238億円 → 2027年度 5,400億円【実測・矢野経済研究所】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52544" y="1444752"/>
            <a:ext cx="3483864" cy="13898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0288" y="1609344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3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1兆437億円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223113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国内 動画広告市場（2026年）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2505456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2025年 8,855億円から拡大。縦型動画広告は前年比155.9%【実測】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110728" y="1444752"/>
            <a:ext cx="3483864" cy="13898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8472" y="1609344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99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6,800億円</a:t>
            </a:r>
            <a:endParaRPr lang="en-US" sz="2700" dirty="0"/>
          </a:p>
        </p:txBody>
      </p:sp>
      <p:sp>
        <p:nvSpPr>
          <p:cNvPr id="16" name="Text 14"/>
          <p:cNvSpPr txBox="1"/>
          <p:nvPr/>
        </p:nvSpPr>
        <p:spPr>
          <a:xfrm>
            <a:off x="8348472" y="223113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スキルシェア市場（2028年予測）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348472" y="2505456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②が面する市場。動画編集はこのうちの一部【推計】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017520"/>
          <a:ext cx="1100023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737360"/>
                <a:gridCol w="1920240"/>
                <a:gridCol w="1554480"/>
                <a:gridCol w="350215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当社が取りに行く帯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現状の制作費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AI導入後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なぜここか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★ 企業VP・会社紹介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法人が発注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50〜150万円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18〜52万円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フル生成AIが成立する。撮影が消えて原価が半分以下になる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★ 展示会・イベント映像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法人が発注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20〜100万円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6〜30万円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ループ素材は特に効く。閑散期を埋める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★ PR素材・SNS縦型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個人・中小が発注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10〜50万円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2〜10万円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②の主戦場。量産前提で件数が出る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映画・テレビCM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3〜5億／1,000万〜1億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▲20〜50%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桁は変わらない。当社は取りに行かない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594360" y="4773168"/>
            <a:ext cx="11000232" cy="93268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0" name="Shape 17"/>
          <p:cNvSpPr/>
          <p:nvPr/>
        </p:nvSpPr>
        <p:spPr>
          <a:xfrm>
            <a:off x="594360" y="4773168"/>
            <a:ext cx="45720" cy="9326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50392" y="4919472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制作原価の下落は、当社にとって追い風でもあり時限でもあります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50392" y="5248656"/>
            <a:ext cx="10543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米国では企業動画の制作費中央値が 1分あたり約63万円 → 約38万円 に下落済み。日本も追随します。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だから制作だけで終わらせず、①の自動化機能をツール外販（P4）へ移します。時限は3年と見ています。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矢野経済研究所（動画コンテンツビジネス調査2025）／ サイバーエージェント 国内動画広告の市場調査 ／ Business Insider Japan（スキルシェア市場2028年予測）／ Vidico（米国の1分単価）／ nowhere film。AI後の単価は工程別削減率からの当社試算です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企業案件と個人案件 — 発注市場の規模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「誰がお金を払うのか」で見ると、法人と個人では市場の性質がまったく違います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371600"/>
            <a:ext cx="3483864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32104" y="1536192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4,580億円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32104" y="2157984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企業案件｜法人が発注する市場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32104" y="2432304"/>
            <a:ext cx="3008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国内動画制作サービス市場（2025年度予測）。2024年度 4,238億円 → 2027年度 5,400億円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【実測値・矢野経済研究所】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52544" y="1371600"/>
            <a:ext cx="3483864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0288" y="1536192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3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6,800億円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2157984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個人案件｜個人が発注する市場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2432304"/>
            <a:ext cx="3008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スキルシェア市場全体の2028年予測。動画編集はこのうちの一部にすぎず、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【直接の統計は存在しません】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110728" y="1371600"/>
            <a:ext cx="3483864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8472" y="1536192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2兆894億円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348472" y="2157984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参考｜個人が「受け取る」市場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348472" y="2432304"/>
            <a:ext cx="3008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クリエイターエコノミー（2024年）。これは発注市場ではなく報酬市場です。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【混同しないこと】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2871216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同じ「1本の動画」でも、取引の形が違います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163824"/>
          <a:ext cx="1100023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663440"/>
                <a:gridCol w="459943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企業案件（法人が発注）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個人案件（個人が発注）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1件あたり単価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20万〜200万円（制作会社）／代理店経由は100万〜1,000万円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5,000円〜30万円。簡易編集は1,000円台も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発注者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事業会社の広報・マーケ部門／広告代理店／制作会社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YouTuber・配信者・インフルエンサー・個人事業主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取引の場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相見積 → 稟議 → 発注書 → 検収 → 請求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ココナラ・ランサーズ・クラウドワークス（PFが仲介）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与信・請求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必要。ここが個人クリエイターには越えられない壁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原則プラットフォームが代行するため不要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市場の性質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単価が高く件数が少ない。参入障壁が高い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単価が低く件数が多い。初級案件は完全な買い手市場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594360" y="5449824"/>
            <a:ext cx="11000232" cy="804672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1" name="Shape 18"/>
          <p:cNvSpPr/>
          <p:nvPr/>
        </p:nvSpPr>
        <p:spPr>
          <a:xfrm>
            <a:off x="594360" y="5449824"/>
            <a:ext cx="45720" cy="80467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50392" y="5596128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個人の発注市場は小さい。だから「国内で取る」のではなく「越境で開く」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50392" y="5925312"/>
            <a:ext cx="10543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個人が発注する市場は小さく、統計すら整備されていません。国内C2C（ココナラ等）で個人が中国のクリエイターに直接発注できないのは、言語・決済・品質保証・契約の壁があるからです。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当社はこの壁をシステムで引き受け、越境の発注を成立させます。法人案件（①）は従来どおり当社が受注して配分します。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矢野経済研究所（動画コンテンツビジネス調査2025）／ Business Insider Japan（スキルシェア市場2028年予測）／ クリエイターエコノミー協会（2025年版調査）／ ココナラ・ランサーズ公開単価。企業案件は実測値、個人案件は推計値です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AI導入で、制作費はいくらになり、いくら浮くのか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削減が効くのは「人が動く工程」です。撮影・機材・出演で費用の55%。ここが1/5になると単価が根本から変わります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353312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用途別｜現状の制作費 → AI導入後の制作費 → コストメリット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27632"/>
          <a:ext cx="1100023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783080"/>
                <a:gridCol w="1783080"/>
                <a:gridCol w="2057400"/>
                <a:gridCol w="868680"/>
                <a:gridCol w="240487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用途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現状の制作費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AI導入後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コストメリット（削減額）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削減率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AIの効き方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映画（実写）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3〜5億円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2.4〜4億円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▲6,000万〜1億円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▲20%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部分適用のみ。VFX・群衆・背景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アニメ映画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1〜20億円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7,000万〜14億円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▲3,000万〜6億円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▲30%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中割・背景・彩色の自動化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テレビCM（制作費）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1,000万〜1億円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500万〜5,000万円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▲500万〜5,000万円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▲50%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実写×生成AIのハイブリッド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★ 企業VP・会社紹介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50〜150万円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6F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18〜52万円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▲32〜98万円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▲65%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フル生成AIが成立。撮影が消える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★ 展示会・社内イベント映像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20〜100万円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6F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6〜30万円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▲14〜70万円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▲70%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同上。ループ素材は特に効く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★ PR素材・SNS縦型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10〜50万円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6F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2〜10万円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▲8〜40万円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▲80%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量産前提。1本あたりが最も下がる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94360" y="4224528"/>
            <a:ext cx="1100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 下3行がフル生成AIの成立帯です。当社が取りに行くのはこの帯です。映画・CMは部分適用にとどまり、桁は変わりません。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455371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内訳はこう変わる｜企業VP 1本　100万円 → 35万円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4882896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600200" y="4882896"/>
            <a:ext cx="569214" cy="274320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600200" y="4882896"/>
            <a:ext cx="5692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169414" y="4882896"/>
            <a:ext cx="1442009" cy="274320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169414" y="4882896"/>
            <a:ext cx="14420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611423" y="4882896"/>
            <a:ext cx="379476" cy="274320"/>
          </a:xfrm>
          <a:prstGeom prst="rect">
            <a:avLst/>
          </a:prstGeom>
          <a:solidFill>
            <a:srgbClr val="8C1F26"/>
          </a:solidFill>
          <a:ln/>
        </p:spPr>
      </p:sp>
      <p:sp>
        <p:nvSpPr>
          <p:cNvPr id="16" name="Shape 13"/>
          <p:cNvSpPr/>
          <p:nvPr/>
        </p:nvSpPr>
        <p:spPr>
          <a:xfrm>
            <a:off x="3990899" y="4882896"/>
            <a:ext cx="265633" cy="274320"/>
          </a:xfrm>
          <a:prstGeom prst="rect">
            <a:avLst/>
          </a:prstGeom>
          <a:solidFill>
            <a:srgbClr val="D9601A"/>
          </a:solidFill>
          <a:ln/>
        </p:spPr>
      </p:sp>
      <p:sp>
        <p:nvSpPr>
          <p:cNvPr id="17" name="Shape 14"/>
          <p:cNvSpPr/>
          <p:nvPr/>
        </p:nvSpPr>
        <p:spPr>
          <a:xfrm>
            <a:off x="4256532" y="4882896"/>
            <a:ext cx="758952" cy="274320"/>
          </a:xfrm>
          <a:prstGeom prst="rect">
            <a:avLst/>
          </a:prstGeom>
          <a:solidFill>
            <a:srgbClr val="1F6F6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256532" y="4882896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015484" y="4882896"/>
            <a:ext cx="379476" cy="274320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68112" y="48828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100万円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594360" y="5266944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AI後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1600200" y="5266944"/>
            <a:ext cx="284607" cy="274320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23" name="Shape 20"/>
          <p:cNvSpPr/>
          <p:nvPr/>
        </p:nvSpPr>
        <p:spPr>
          <a:xfrm>
            <a:off x="1884807" y="5266944"/>
            <a:ext cx="288402" cy="274320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4" name="Shape 21"/>
          <p:cNvSpPr/>
          <p:nvPr/>
        </p:nvSpPr>
        <p:spPr>
          <a:xfrm>
            <a:off x="2173209" y="5266944"/>
            <a:ext cx="75895" cy="274320"/>
          </a:xfrm>
          <a:prstGeom prst="rect">
            <a:avLst/>
          </a:prstGeom>
          <a:solidFill>
            <a:srgbClr val="8C1F26"/>
          </a:solidFill>
          <a:ln/>
        </p:spPr>
      </p:sp>
      <p:sp>
        <p:nvSpPr>
          <p:cNvPr id="25" name="Shape 22"/>
          <p:cNvSpPr/>
          <p:nvPr/>
        </p:nvSpPr>
        <p:spPr>
          <a:xfrm>
            <a:off x="2249104" y="5266944"/>
            <a:ext cx="26563" cy="274320"/>
          </a:xfrm>
          <a:prstGeom prst="rect">
            <a:avLst/>
          </a:prstGeom>
          <a:solidFill>
            <a:srgbClr val="D9601A"/>
          </a:solidFill>
          <a:ln/>
        </p:spPr>
      </p:sp>
      <p:sp>
        <p:nvSpPr>
          <p:cNvPr id="26" name="Shape 23"/>
          <p:cNvSpPr/>
          <p:nvPr/>
        </p:nvSpPr>
        <p:spPr>
          <a:xfrm>
            <a:off x="2275667" y="5266944"/>
            <a:ext cx="379476" cy="274320"/>
          </a:xfrm>
          <a:prstGeom prst="rect">
            <a:avLst/>
          </a:prstGeom>
          <a:solidFill>
            <a:srgbClr val="1F6F63"/>
          </a:solidFill>
          <a:ln/>
        </p:spPr>
      </p:sp>
      <p:sp>
        <p:nvSpPr>
          <p:cNvPr id="27" name="Shape 24"/>
          <p:cNvSpPr/>
          <p:nvPr/>
        </p:nvSpPr>
        <p:spPr>
          <a:xfrm>
            <a:off x="2655143" y="5266944"/>
            <a:ext cx="265633" cy="274320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2993928" y="52669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6F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35万円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94360" y="5669280"/>
            <a:ext cx="118872" cy="118872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68096" y="560527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企画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1490472" y="5669280"/>
            <a:ext cx="118872" cy="11887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664208" y="560527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撮影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2386584" y="5669280"/>
            <a:ext cx="118872" cy="118872"/>
          </a:xfrm>
          <a:prstGeom prst="rect">
            <a:avLst/>
          </a:prstGeom>
          <a:solidFill>
            <a:srgbClr val="8C1F26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2560320" y="560527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機材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3282696" y="5669280"/>
            <a:ext cx="118872" cy="118872"/>
          </a:xfrm>
          <a:prstGeom prst="rect">
            <a:avLst/>
          </a:prstGeom>
          <a:solidFill>
            <a:srgbClr val="D9601A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3456432" y="560527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出演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4178808" y="5669280"/>
            <a:ext cx="118872" cy="118872"/>
          </a:xfrm>
          <a:prstGeom prst="rect">
            <a:avLst/>
          </a:prstGeom>
          <a:solidFill>
            <a:srgbClr val="1F6F63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4352544" y="560527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編集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074920" y="5669280"/>
            <a:ext cx="118872" cy="118872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5248656" y="560527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諸経費</a:t>
            </a:r>
            <a:endParaRPr lang="en-US" sz="800" dirty="0"/>
          </a:p>
        </p:txBody>
      </p:sp>
      <p:sp>
        <p:nvSpPr>
          <p:cNvPr id="41" name="Text 38"/>
          <p:cNvSpPr txBox="1"/>
          <p:nvPr/>
        </p:nvSpPr>
        <p:spPr>
          <a:xfrm>
            <a:off x="594360" y="5888736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撮影38＋機材10＋出演7＝55%が 10.3 まで落ちます。編集と諸経費は残ります。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263640" y="4553712"/>
            <a:ext cx="5330952" cy="157276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43" name="Shape 40"/>
          <p:cNvSpPr/>
          <p:nvPr/>
        </p:nvSpPr>
        <p:spPr>
          <a:xfrm>
            <a:off x="6483096" y="4809744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6702552" y="4718304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実際に出ている削減幅（実例）</a:t>
            </a:r>
            <a:endParaRPr lang="en-US" sz="1250" dirty="0"/>
          </a:p>
        </p:txBody>
      </p:sp>
      <p:sp>
        <p:nvSpPr>
          <p:cNvPr id="45" name="Text 42"/>
          <p:cNvSpPr txBox="1"/>
          <p:nvPr/>
        </p:nvSpPr>
        <p:spPr>
          <a:xfrm>
            <a:off x="6702552" y="5065776"/>
            <a:ext cx="46725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大手保険のWeb広告動画　制作コスト ▲30〜50%／期間 ▲40%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Amazon Nova活用の広告　費用 ▲70%・効果 8倍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サイバーエージェント　1本 数千万円・3ヶ月 → 3本 300万円・1.5〜2週間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映画の群衆シーン　9,000万円 → 150万円（▲98%）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米国の企業動画　1分あたり 約63万円 → 約38万円（▲40%・実測）</a:t>
            </a:r>
            <a:endParaRPr lang="en-US" sz="950" dirty="0"/>
          </a:p>
        </p:txBody>
      </p:sp>
      <p:sp>
        <p:nvSpPr>
          <p:cNvPr id="46" name="Text 43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動画幹事・ムビサク・デジタルドロップ（制作費相場／撮影費は制作費の35〜40%）／ ムービーインパクト・各社プレスリリース（AI導入の削減事例）／ Vidico（米国の1分単価）。用途別の削減率は、工程別の削減率（企画▲50%・撮影▲80%・機材▲80%・出演▲90%・編集▲50%・諸経費▲30%）を費用構成に当てた当社試算です</a:t>
            </a:r>
            <a:endParaRPr lang="en-US" sz="850" dirty="0"/>
          </a:p>
        </p:txBody>
      </p:sp>
      <p:sp>
        <p:nvSpPr>
          <p:cNvPr id="47" name="Text 44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ビジネスモデル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両面市場です。ただし②があるため、発注がゼロの初日からクリエイターに報酬を出せます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44752"/>
          <a:ext cx="1100023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017520"/>
                <a:gridCol w="3200400"/>
                <a:gridCol w="2743200"/>
                <a:gridCol w="1399032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入口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当社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出口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位置づけ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日本・海外の個人と中小事業者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当社プラットフォーム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中国の映像クリエイター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取引手数料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映像を作りたいが、中国に直接発注できない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要件定義テンプレート・AI翻訳・成果物の自動チェック・決済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制作パートナー経由で受注し、報酬を受け取る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②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日本の発注企業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当社が受注し、配分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登録クリエイター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差益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事業会社・広告代理店・制作会社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要件定義・品質保証・契約・与信・請求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再生数ゼロでも稼げる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③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①②で溜まる制作データ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内製化してモデル開発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プロダクト外販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ライセンス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指示→初稿→修正→承認／修正回数・検収通過率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工程のツール化・生成AI関連の特許取得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粗利率80%以上・人数に比例しない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" y="3785616"/>
            <a:ext cx="5362956" cy="1133856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8" name="Shape 5"/>
          <p:cNvSpPr/>
          <p:nvPr/>
        </p:nvSpPr>
        <p:spPr>
          <a:xfrm>
            <a:off x="594360" y="3785616"/>
            <a:ext cx="45720" cy="1133856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50392" y="3931920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②が①のコールドスタートを解きます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50392" y="4261104"/>
            <a:ext cx="49057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両面市場の宿命は「クリエイターは発注がないと来ない、発注者はクリエイターがいないと来ない」。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②は発注者を必要としません。案件を配ればクリエイターは集まり、その登録クリエイターが①の初期供給になります。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31636" y="3785616"/>
            <a:ext cx="5362956" cy="1133856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12" name="Shape 9"/>
          <p:cNvSpPr/>
          <p:nvPr/>
        </p:nvSpPr>
        <p:spPr>
          <a:xfrm>
            <a:off x="6231636" y="3785616"/>
            <a:ext cx="45720" cy="1133856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87668" y="3931920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お金の流れ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487668" y="4261104"/>
            <a:ext cx="49057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発注者からの回収は Stripe。当社で資金を預からない収納代行型を前提としています。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中国のクリエイターへの支払いは、中国の映像制作パートナー企業を経由。第三者と同条件・証憑を残す運用です。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資金決済法の該当性は弁護士に確認中です。［確認事項］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4360" y="5084064"/>
            <a:ext cx="3483864" cy="877824"/>
          </a:xfrm>
          <a:prstGeom prst="rect">
            <a:avLst/>
          </a:prstGeom>
          <a:solidFill>
            <a:srgbClr val="FFF2CC"/>
          </a:solidFill>
          <a:ln/>
        </p:spPr>
      </p:sp>
      <p:sp>
        <p:nvSpPr>
          <p:cNvPr id="16" name="Shape 13"/>
          <p:cNvSpPr/>
          <p:nvPr/>
        </p:nvSpPr>
        <p:spPr>
          <a:xfrm>
            <a:off x="813816" y="5340096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33272" y="524865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アダルトは対象外です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5596128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受注する案件にも、①に載せる作品にも含めません。決済・法規制・ストア審査が理由です。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352544" y="5084064"/>
            <a:ext cx="3483864" cy="877824"/>
          </a:xfrm>
          <a:prstGeom prst="rect">
            <a:avLst/>
          </a:prstGeom>
          <a:solidFill>
            <a:srgbClr val="FFF2CC"/>
          </a:solidFill>
          <a:ln/>
        </p:spPr>
      </p:sp>
      <p:sp>
        <p:nvSpPr>
          <p:cNvPr id="20" name="Shape 17"/>
          <p:cNvSpPr/>
          <p:nvPr/>
        </p:nvSpPr>
        <p:spPr>
          <a:xfrm>
            <a:off x="4572000" y="5340096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791456" y="524865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差別化の核心は価格ではありません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4791456" y="5596128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海外に安く出せること自体は誰でも知っています。やらない理由は「管理しきれないから」です。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110728" y="5084064"/>
            <a:ext cx="3483864" cy="877824"/>
          </a:xfrm>
          <a:prstGeom prst="rect">
            <a:avLst/>
          </a:prstGeom>
          <a:solidFill>
            <a:srgbClr val="FFF2CC"/>
          </a:solidFill>
          <a:ln/>
        </p:spPr>
      </p:sp>
      <p:sp>
        <p:nvSpPr>
          <p:cNvPr id="24" name="Shape 21"/>
          <p:cNvSpPr/>
          <p:nvPr/>
        </p:nvSpPr>
        <p:spPr>
          <a:xfrm>
            <a:off x="8330184" y="5340096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549640" y="524865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発注側の管理コストがゼロになる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8549640" y="5596128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日本語の要件定義・品質保証・契約・与信・請求。この一式を当社が引き受けます。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クリエイター調達の設計は CHINA_SOURCING を参照</a:t>
            </a:r>
            <a:endParaRPr lang="en-US" sz="850" dirty="0"/>
          </a:p>
        </p:txBody>
      </p:sp>
      <p:sp>
        <p:nvSpPr>
          <p:cNvPr id="28" name="Text 25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ユニットエコノミクス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売上20億が何の積み上げなのかを、1本・1取引・1契約あたりで示します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3898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映像制作（②）— 1本あたり（平均単価50万円のとき）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19072"/>
          <a:ext cx="54864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188720"/>
                <a:gridCol w="20116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金額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備考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売上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50.0万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企業発注の中央値54万より保守的に設定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個人クリエイターへの支払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▲12.0万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Bランク。有償テスト課題で確定させる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一次レビュー報酬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▲3.0万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Aランクに委託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AIツール・素材・レンダリング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▲2.0万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品質バッファ（作り直し）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▲1.5万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ここを原価から外さないこと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売上総利益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31.5万（63%）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計画は保守的に60%で置く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355080" y="138988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越境C2C発注（①）— 1取引あたり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719072"/>
          <a:ext cx="5239512" cy="914400"/>
        </p:xfrm>
        <a:graphic>
          <a:graphicData uri="http://schemas.openxmlformats.org/drawingml/2006/table">
            <a:tbl>
              <a:tblPr/>
              <a:tblGrid>
                <a:gridCol w="2496312"/>
                <a:gridCol w="1188720"/>
                <a:gridCol w="15544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金額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備考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発注者が支払う額（GMV）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9.0万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個人案件の相場レンジの中位［仮置き］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当社の取引手数料 18%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1.62万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国内C2Cの約22%より低く置く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決済手数料・インフラ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▲0.24万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Stripe等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売上総利益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1.38万（85%）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人が介在しないので件数に比例しない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5期 年間3万件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→ 4.86億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GMV 27億 × 18%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94360" y="3767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ツール外販（③）— 1契約あたり</a:t>
            </a:r>
            <a:endParaRPr lang="en-US" sz="1100" dirty="0"/>
          </a:p>
        </p:txBody>
      </p:sp>
      <p:graphicFrame>
        <p:nvGraphicFramePr>
          <p:cNvPr id="2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096512"/>
          <a:ext cx="54864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188720"/>
                <a:gridCol w="1280160"/>
                <a:gridCol w="12801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年間単価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5期の契約数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5期の売上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制作会社（法人）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320万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250社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8.0億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個人クリエイター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12万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2,100人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2.5億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合計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10.5億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6355080" y="3767328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5期 売上20.2億の内訳</a:t>
            </a:r>
            <a:endParaRPr lang="en-US" sz="1150" dirty="0"/>
          </a:p>
        </p:txBody>
      </p:sp>
      <p:sp>
        <p:nvSpPr>
          <p:cNvPr id="13" name="Text 8"/>
          <p:cNvSpPr txBox="1"/>
          <p:nvPr/>
        </p:nvSpPr>
        <p:spPr>
          <a:xfrm>
            <a:off x="6355080" y="41148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ツール外販（③）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8659368" y="4169664"/>
            <a:ext cx="2130552" cy="20116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10725912" y="411480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10.5億</a:t>
            </a:r>
            <a:endParaRPr lang="en-US" sz="950" dirty="0"/>
          </a:p>
        </p:txBody>
      </p:sp>
      <p:sp>
        <p:nvSpPr>
          <p:cNvPr id="16" name="Text 11"/>
          <p:cNvSpPr txBox="1"/>
          <p:nvPr/>
        </p:nvSpPr>
        <p:spPr>
          <a:xfrm>
            <a:off x="6355080" y="446227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C2C手数料（①）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8659368" y="4517136"/>
            <a:ext cx="980054" cy="20116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10725912" y="446227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4.9億</a:t>
            </a:r>
            <a:endParaRPr lang="en-US" sz="950" dirty="0"/>
          </a:p>
        </p:txBody>
      </p:sp>
      <p:sp>
        <p:nvSpPr>
          <p:cNvPr id="19" name="Text 14"/>
          <p:cNvSpPr txBox="1"/>
          <p:nvPr/>
        </p:nvSpPr>
        <p:spPr>
          <a:xfrm>
            <a:off x="6355080" y="480974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制作受託（②）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8659368" y="4864608"/>
            <a:ext cx="980054" cy="20116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10725912" y="480974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4.8億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594360" y="5138928"/>
            <a:ext cx="11000232" cy="56692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3" name="Shape 18"/>
          <p:cNvSpPr/>
          <p:nvPr/>
        </p:nvSpPr>
        <p:spPr>
          <a:xfrm>
            <a:off x="594360" y="5138928"/>
            <a:ext cx="45720" cy="5669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850392" y="5285232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76%が「人手に比例しない収益」です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850392" y="5614416"/>
            <a:ext cx="10543032" cy="-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①の手数料と③の外販は、件数や契約数が増えても人員が比例して増えません。だからSaaS寄りの評価（PSR 6〜8倍）で見ています。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制作の単価・原価は BUSINESS_PLAN 7-1。C2Cの手数料率・平均単価・件数、ツール外販の単価と契約数は、すべて未実測の［仮置き］です</a:t>
            </a:r>
            <a:endParaRPr lang="en-US" sz="850" dirty="0"/>
          </a:p>
        </p:txBody>
      </p:sp>
      <p:sp>
        <p:nvSpPr>
          <p:cNvPr id="27" name="Text 22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収益モデル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3本の柱。人手に比例しない収益（①③）を5期に76%まで上げます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44752"/>
          <a:ext cx="1100023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657600"/>
                <a:gridCol w="914400"/>
                <a:gridCol w="1097280"/>
                <a:gridCol w="1188720"/>
                <a:gridCol w="350215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収益ライン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開始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5期の売上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備考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P1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映像制作の受注 → クリエイターへ配分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フロー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初日から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4.8億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粗利率60%。売上が人手に比例する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P2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越境C2C発注の取引手数料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ストック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6ヶ月目〜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4.9億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手数料率18%［仮置き］。仲介業務を自動化したもの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P4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制作ツール・モデルの外販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ストック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2期〜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10.5億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粗利率80%以上。①の自動化機能をそのまま外販する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94360" y="3200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①で自動化する4つの機能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94360" y="3529584"/>
            <a:ext cx="2606040" cy="84124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9" name="Shape 6"/>
          <p:cNvSpPr/>
          <p:nvPr/>
        </p:nvSpPr>
        <p:spPr>
          <a:xfrm>
            <a:off x="813816" y="3785616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33272" y="3694176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要件定義テンプレート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1033272" y="4041648"/>
            <a:ext cx="1947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日本語で答えるだけで発注仕様になる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474720" y="3529584"/>
            <a:ext cx="2606040" cy="84124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3" name="Shape 10"/>
          <p:cNvSpPr/>
          <p:nvPr/>
        </p:nvSpPr>
        <p:spPr>
          <a:xfrm>
            <a:off x="3694176" y="3785616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913632" y="3694176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AI翻訳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3913632" y="4041648"/>
            <a:ext cx="1947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発注者とクリエイターのやり取りを双方向で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94360" y="4553712"/>
            <a:ext cx="2606040" cy="84124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7" name="Shape 14"/>
          <p:cNvSpPr/>
          <p:nvPr/>
        </p:nvSpPr>
        <p:spPr>
          <a:xfrm>
            <a:off x="813816" y="4809744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33272" y="4718304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成果物の自動チェック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5065776"/>
            <a:ext cx="1947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尺・解像度・指示との整合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474720" y="4553712"/>
            <a:ext cx="2606040" cy="84124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21" name="Shape 18"/>
          <p:cNvSpPr/>
          <p:nvPr/>
        </p:nvSpPr>
        <p:spPr>
          <a:xfrm>
            <a:off x="3694176" y="4809744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3913632" y="4718304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決済・支払い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3913632" y="5065776"/>
            <a:ext cx="1947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Stripeで回収、制作パートナー経由で支払う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355080" y="3200400"/>
            <a:ext cx="5239512" cy="129844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5" name="Shape 22"/>
          <p:cNvSpPr/>
          <p:nvPr/>
        </p:nvSpPr>
        <p:spPr>
          <a:xfrm>
            <a:off x="6355080" y="3200400"/>
            <a:ext cx="45720" cy="129844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611112" y="3346704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この4機能が、そのままP4の商品になります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611112" y="3675888"/>
            <a:ext cx="47823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当社が仲介でやっている作業を、制作会社とクリエイターが自分で使える形にして売る。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だから①とP4は別物ではなく、同じシステムの内側と外側です。2期から外販を始めるのはこのためです。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355080" y="4626864"/>
            <a:ext cx="5239512" cy="1078992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9" name="Shape 26"/>
          <p:cNvSpPr/>
          <p:nvPr/>
        </p:nvSpPr>
        <p:spPr>
          <a:xfrm>
            <a:off x="6355080" y="4626864"/>
            <a:ext cx="45720" cy="107899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611112" y="4773168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手数料率18%は［仮置き］です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611112" y="5102352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国内C2C（ココナラ等）の約22%より低く置いています。越境の壁を引き受ける対価としていくら取れるかは、PF公開後に実測します。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手数料率・発注件数・平均単価、ツール外販の契約数と単価は、すべて未実測の［仮置き］です。1期に実測して差し替えます</a:t>
            </a:r>
            <a:endParaRPr lang="en-US" sz="850" dirty="0"/>
          </a:p>
        </p:txBody>
      </p:sp>
      <p:sp>
        <p:nvSpPr>
          <p:cNvPr id="33" name="Text 30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日本IPを使った作品制作 — 4つの入口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版権コストの安い順に着手します。D から始め、他社PFでの実績が出てから A へ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44752"/>
          <a:ext cx="1100023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200400"/>
                <a:gridCol w="3108960"/>
                <a:gridCol w="1828800"/>
                <a:gridCol w="222199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対象IP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座組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版権コスト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出口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パブリックドメイン（青空文庫・古典）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権利処理が不要。単独で制作できる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ゼロ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他社PFに投入し、実績づくり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B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自治体・企業のキャラクター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受託（②と同じ）。先方が権利者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ゼロ（先方負担）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自治体PR・企業広報・ふるさと納税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個人作家・Web小説（なろう系・pixiv）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作家と直接レベニューシェア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ほぼゼロ（成功報酬型）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他社PFの課金枠へ供給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中小出版社の既刊マンガ（未映像化作品）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原作使用許諾＋レベニューシェア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数万〜数十万／作品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他社PFの看板作品・海外展開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94360" y="32186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着手の順序 — 版権コストの安い順に積み上げる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94360" y="4114800"/>
            <a:ext cx="1207008" cy="74980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40664" y="420624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40664" y="45171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版権ゼロ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965960" y="3931920"/>
            <a:ext cx="1207008" cy="9326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112264" y="402336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3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2112264" y="4334256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先方負担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337560" y="3749040"/>
            <a:ext cx="1207008" cy="111556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483864" y="38404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3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3483864" y="4151376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成功報酬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709160" y="3566160"/>
            <a:ext cx="1207008" cy="129844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855464" y="365760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9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855464" y="3968496"/>
            <a:ext cx="914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数万〜数十万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355080" y="3218688"/>
            <a:ext cx="5239512" cy="1280160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1" name="Shape 18"/>
          <p:cNvSpPr/>
          <p:nvPr/>
        </p:nvSpPr>
        <p:spPr>
          <a:xfrm>
            <a:off x="6355080" y="3218688"/>
            <a:ext cx="45720" cy="1280160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611112" y="3364992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自社で配信面は持ちません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611112" y="3694176"/>
            <a:ext cx="4782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作った作品は他社のプラットフォーム（YouTube・TikTok・ショートドラマ各社）で稼ぎます。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この作品群からの収益は5年計画に計上していません。①③の制作力とデータを作るための投資という位置づけです。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355080" y="4626864"/>
            <a:ext cx="5239512" cy="1078992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5" name="Shape 22"/>
          <p:cNvSpPr/>
          <p:nvPr/>
        </p:nvSpPr>
        <p:spPr>
          <a:xfrm>
            <a:off x="6355080" y="4626864"/>
            <a:ext cx="45720" cy="107899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611112" y="4773168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IPホルダーはAI生成を警戒します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611112" y="5102352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契約に「AI利用の可否と開示方法」を必ず明記します。JIAA調査でも受容条件1位は「AI利用が明記されている」37.6%。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日本動画協会 アニメ産業レポート（制作市場4,662億円・海外売上2兆1,700億円）／ JIAA「2026年インターネット広告に関するユーザー意識調査」</a:t>
            </a:r>
            <a:endParaRPr 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政策も同じ方向を向いている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国はコンテンツを輸出産業にすると決め、予算を3倍にした</a:t>
            </a:r>
            <a:endParaRPr lang="en-US" sz="1200" dirty="0"/>
          </a:p>
        </p:txBody>
      </p:sp>
      <p:pic>
        <p:nvPicPr>
          <p:cNvPr id="6" name="Image 0" descr="assets/image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2" y="155448"/>
            <a:ext cx="2203704" cy="14721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1627632"/>
            <a:ext cx="3483864" cy="131673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32104" y="1792224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20兆円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832104" y="241401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コンテンツ海外売上 目標（2033年）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32104" y="2688336"/>
            <a:ext cx="3008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経産省「エンタメ・クリエイティブ産業戦略2026」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352544" y="1627632"/>
            <a:ext cx="3483864" cy="131673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90288" y="1792224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3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3.5倍</a:t>
            </a:r>
            <a:endParaRPr lang="en-US" sz="2700" dirty="0"/>
          </a:p>
        </p:txBody>
      </p:sp>
      <p:sp>
        <p:nvSpPr>
          <p:cNvPr id="13" name="Text 10"/>
          <p:cNvSpPr txBox="1"/>
          <p:nvPr/>
        </p:nvSpPr>
        <p:spPr>
          <a:xfrm>
            <a:off x="4590288" y="241401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経産省の財政支援規模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590288" y="2688336"/>
            <a:ext cx="3008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令和6年度補正 101.1億円 → 令和7年度補正 350.2億円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110728" y="1627632"/>
            <a:ext cx="3483864" cy="131673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348472" y="1792224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99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+26%</a:t>
            </a:r>
            <a:endParaRPr lang="en-US" sz="2700" dirty="0"/>
          </a:p>
        </p:txBody>
      </p:sp>
      <p:sp>
        <p:nvSpPr>
          <p:cNvPr id="17" name="Text 14"/>
          <p:cNvSpPr txBox="1"/>
          <p:nvPr/>
        </p:nvSpPr>
        <p:spPr>
          <a:xfrm>
            <a:off x="8348472" y="241401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アニメの海外売上（2024年）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348472" y="2688336"/>
            <a:ext cx="3008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2兆1,700億円。市場全体は3兆8,400億円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94360" y="3127248"/>
            <a:ext cx="5362956" cy="146304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20" name="Shape 17"/>
          <p:cNvSpPr/>
          <p:nvPr/>
        </p:nvSpPr>
        <p:spPr>
          <a:xfrm>
            <a:off x="813816" y="3383280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033272" y="3291840"/>
            <a:ext cx="47045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AI政策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1033272" y="3639312"/>
            <a:ext cx="47045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AI推進法（人工知能関連技術の研究開発及び活用の推進に関する法律）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2025年5月28日成立 ／ 6月4日公布。日本初のAI基本法。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AI基本計画を2025年12月23日に閣議決定。内閣にAI戦略本部を設置。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231636" y="3127248"/>
            <a:ext cx="5362956" cy="146304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24" name="Shape 21"/>
          <p:cNvSpPr/>
          <p:nvPr/>
        </p:nvSpPr>
        <p:spPr>
          <a:xfrm>
            <a:off x="6451092" y="3383280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670548" y="3291840"/>
            <a:ext cx="47045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当社が実際に狙える支援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6670548" y="3639312"/>
            <a:ext cx="47045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東京都 創業助成事業 — 上限400万円・助成率2/3・最長2年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特許料等の減免 — 設立10年未満・資本金3億円以下なら1/3に軽減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JLOX+ — 「制作の生産性向上に資するシステムの開発・実証」枠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94360" y="4773168"/>
            <a:ext cx="11000232" cy="93268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8" name="Shape 25"/>
          <p:cNvSpPr/>
          <p:nvPr/>
        </p:nvSpPr>
        <p:spPr>
          <a:xfrm>
            <a:off x="594360" y="4773168"/>
            <a:ext cx="45720" cy="9326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50392" y="4919472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補助金は資金計画に算入していません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850392" y="5248656"/>
            <a:ext cx="10543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いずれも後払い（精算払い）で、入金が1年以上先になります。資金繰りの当てにはできません。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取れた場合は上振れとして扱います。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経済産業省「エンタメ・クリエイティブ産業戦略2026」／ 内閣府 AI戦略 ／ 東京都中小企業振興公社 ／ 特許庁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 — 相手は2種類います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クリエイター側は中国PF、発注者側は国内C2C。どちらとも正面からは戦いません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4264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クリエイター側 — 各社が提示している分成率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7739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快手「灵感新纪元」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990088" y="1819656"/>
            <a:ext cx="2057400" cy="201168"/>
          </a:xfrm>
          <a:prstGeom prst="rect">
            <a:avLst/>
          </a:prstGeom>
          <a:solidFill>
            <a:srgbClr val="D9D2E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212080" y="177393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最大90%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1031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抖音「漫画星河」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990088" y="2148840"/>
            <a:ext cx="2057400" cy="201168"/>
          </a:xfrm>
          <a:prstGeom prst="rect">
            <a:avLst/>
          </a:prstGeom>
          <a:solidFill>
            <a:srgbClr val="D9D2E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212080" y="210312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純収益90%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243230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Bilibili「觉醒计划」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990088" y="2478024"/>
            <a:ext cx="1828800" cy="201168"/>
          </a:xfrm>
          <a:prstGeom prst="rect">
            <a:avLst/>
          </a:prstGeom>
          <a:solidFill>
            <a:srgbClr val="D9D2E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212080" y="243230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最大80%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27614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抖音 AI実写短劇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990088" y="2807208"/>
            <a:ext cx="1143000" cy="201168"/>
          </a:xfrm>
          <a:prstGeom prst="rect">
            <a:avLst/>
          </a:prstGeom>
          <a:solidFill>
            <a:srgbClr val="D9D2E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212080" y="276148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40〜60%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30906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当社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990088" y="3136392"/>
            <a:ext cx="45720" cy="20116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212080" y="309067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―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343814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当社の行が空欄であることが、このページの主張です。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355080" y="1426464"/>
            <a:ext cx="5239512" cy="1225296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4" name="Shape 22"/>
          <p:cNvSpPr/>
          <p:nvPr/>
        </p:nvSpPr>
        <p:spPr>
          <a:xfrm>
            <a:off x="6355080" y="1426464"/>
            <a:ext cx="45720" cy="1225296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611112" y="1572768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分成率では勝てません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611112" y="1901952"/>
            <a:ext cx="4782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トラフィックがゼロの新規PFが「うちに投稿してください」と言っても、経済合理性がありません。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快手1億／百度10億級のトラフィックプールとは桁が違います。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55080" y="2798064"/>
            <a:ext cx="5239512" cy="1133856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8" name="Shape 26"/>
          <p:cNvSpPr/>
          <p:nvPr/>
        </p:nvSpPr>
        <p:spPr>
          <a:xfrm>
            <a:off x="6355080" y="2798064"/>
            <a:ext cx="45720" cy="1133856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2944368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ただし2026年、隙間が開きました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611112" y="3273552"/>
            <a:ext cx="4782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中国のPFは純AIコンテンツの分成を圧縮し、最低保証を廃止。リソースは実写短劇へ移りました。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ここが唯一の入口です。ただし方針が戻れば消える時限付きです。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94360" y="3968496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発注者側 — 国内C2Cが開けていない側を取ります</a:t>
            </a:r>
            <a:endParaRPr lang="en-US" sz="11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261104"/>
          <a:ext cx="1100023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754880"/>
                <a:gridCol w="469087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ココナラ・ランサーズ・クラウドワークス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当社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発注先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国内のフリーランス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中国の映像クリエイター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越境発注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E6E7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導線が無い。言語・決済・品質保証・契約が壁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その壁をシステムで引き受ける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手数料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約22%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18%［仮置き］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3" name="Text 30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Bilibili「2026熱門AI漫劇/短劇創作平台」／ 网易「2026短劇分账新政」／ ココナラ・ランサーズ公開単価。条件は頻繁に変わるため、提携前に公式条件の確認が必要です</a:t>
            </a:r>
            <a:endParaRPr lang="en-US" sz="850" dirty="0"/>
          </a:p>
        </p:txBody>
      </p:sp>
      <p:sp>
        <p:nvSpPr>
          <p:cNvPr id="34" name="Text 31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では、なぜクリエイターは当社に来るのか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分成率ではなく、3つの別の理由で選ばれる設計にします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481328"/>
            <a:ext cx="3483864" cy="179222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Shape 5"/>
          <p:cNvSpPr/>
          <p:nvPr/>
        </p:nvSpPr>
        <p:spPr>
          <a:xfrm>
            <a:off x="813816" y="1737360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33272" y="1645920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再生数に関係なく収入がある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1993392"/>
            <a:ext cx="2825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大手PFには無い仕組みです。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当社が受注して配分するので、再生数に関係なく報酬が出ます。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①の越境発注が立てば、個人からの発注も同じ導線で受けられます。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52544" y="1481328"/>
            <a:ext cx="3483864" cy="179222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1737360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91456" y="1645920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AIを冷遇しない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791456" y="1993392"/>
            <a:ext cx="2825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2026年、中国PFは純AIコンテンツの分成を圧縮し、最低保証を廃止しました。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リソースは実写短劇へ移っています。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AI専業のクリエイターは相対的に冷遇され始めています。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10728" y="1481328"/>
            <a:ext cx="3483864" cy="179222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5" name="Shape 13"/>
          <p:cNvSpPr/>
          <p:nvPr/>
        </p:nvSpPr>
        <p:spPr>
          <a:xfrm>
            <a:off x="8330184" y="1737360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49640" y="1645920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日本市場への窓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549640" y="1993392"/>
            <a:ext cx="2825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日本語の要件定義・稟議・与信・請求。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個人では越えられない壁を当社が代行します。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日本の発注は単価が高く、支払いが確実です。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4360" y="3474720"/>
            <a:ext cx="11000232" cy="1188720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3474720"/>
            <a:ext cx="45720" cy="1188720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50392" y="3621024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発注者側は、国内C2Cが開けていない市場です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50392" y="395020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ココナラ・ランサーズ・クラウドワークスに、中国のクリエイターへ発注する導線はありません。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言語・決済・品質保証・契約の4つが壁で、個人同士の直接取引が成立しないからです。当社はその4つを機能として持ちます。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" y="4791456"/>
            <a:ext cx="11000232" cy="914400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" y="4791456"/>
            <a:ext cx="45720" cy="914400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50392" y="493776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だから、発注者は「後から」取ります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50392" y="5266944"/>
            <a:ext cx="1054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初日はクリエイター側だけを取りに行きます。②の企業案件が、その口実と原資になります。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発注者の獲得は6ヶ月目のPF公開以降です。①②で取引のある相手から載せるので、広告費を先に張る必要がありません。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ココナラ・ランサーズ公開単価 ／ 36Kr Japan（中国発アプリの日本シェア）。詳細は COMPETITORS.md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課題と、その解決方法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最大の課題は両面市場のコールドスタート。②の企業案件が、この輪を回り始める前に断ちます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444752"/>
            <a:ext cx="2103120" cy="713232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0664" y="153619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発注がない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88920" y="1636776"/>
            <a:ext cx="384048" cy="329184"/>
          </a:xfrm>
          <a:prstGeom prst="rightArrow">
            <a:avLst/>
          </a:prstGeom>
          <a:solidFill>
            <a:srgbClr val="DCD9D4"/>
          </a:solidFill>
          <a:ln/>
        </p:spPr>
      </p:sp>
      <p:sp>
        <p:nvSpPr>
          <p:cNvPr id="9" name="Shape 7"/>
          <p:cNvSpPr/>
          <p:nvPr/>
        </p:nvSpPr>
        <p:spPr>
          <a:xfrm>
            <a:off x="3264408" y="1444752"/>
            <a:ext cx="2103120" cy="713232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10712" y="153619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分配の原資が出ない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58968" y="1636776"/>
            <a:ext cx="384048" cy="329184"/>
          </a:xfrm>
          <a:prstGeom prst="rightArrow">
            <a:avLst/>
          </a:prstGeom>
          <a:solidFill>
            <a:srgbClr val="DCD9D4"/>
          </a:solidFill>
          <a:ln/>
        </p:spPr>
      </p:sp>
      <p:sp>
        <p:nvSpPr>
          <p:cNvPr id="12" name="Shape 10"/>
          <p:cNvSpPr/>
          <p:nvPr/>
        </p:nvSpPr>
        <p:spPr>
          <a:xfrm>
            <a:off x="5934456" y="1444752"/>
            <a:ext cx="2103120" cy="713232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80760" y="153619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クリエイターが去る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29016" y="1636776"/>
            <a:ext cx="384048" cy="329184"/>
          </a:xfrm>
          <a:prstGeom prst="rightArrow">
            <a:avLst/>
          </a:prstGeom>
          <a:solidFill>
            <a:srgbClr val="DCD9D4"/>
          </a:solidFill>
          <a:ln/>
        </p:spPr>
      </p:sp>
      <p:sp>
        <p:nvSpPr>
          <p:cNvPr id="15" name="Shape 13"/>
          <p:cNvSpPr/>
          <p:nvPr/>
        </p:nvSpPr>
        <p:spPr>
          <a:xfrm>
            <a:off x="8604504" y="1444752"/>
            <a:ext cx="2103120" cy="713232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750808" y="153619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供給が減る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2267712"/>
            <a:ext cx="11000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この輪が回り続けるのが、両面市場のコールドスタートです。② は発注者を必要としません。案件を配ればクリエイターは集まり、その登録クリエイターが①の初期供給になります。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670048"/>
          <a:ext cx="1100023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07415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残りの課題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解決方法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分成率で大手に勝てない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分成率では戦わない。企業案件・AIを冷遇しない方針・日本市場への窓の3点で選ばれる設計にする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発注者を集められない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PF公開（6ヶ月目）まで投下しない。①②で取引のある制作会社・クリエイターを先に載せ、供給がある状態で開く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制作の市場単価が下がる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3年の時限と見ている。①の自動化機能をツール外販（P4）へ移して逃げ切る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中国本土から当社PFに接続できない可能性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投稿・決済の経路を設計段階で検証。国内向けミラーまたは提携PF経由の導線を用意する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成果物の品質が担保できない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審査基準に組み込み、品質判定の自動化を特許①として出願。検収通過率と修正回数のデータを学習側に回す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594360" y="4846320"/>
            <a:ext cx="11000232" cy="859536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0" name="Shape 17"/>
          <p:cNvSpPr/>
          <p:nvPr/>
        </p:nvSpPr>
        <p:spPr>
          <a:xfrm>
            <a:off x="594360" y="4846320"/>
            <a:ext cx="45720" cy="859536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50392" y="4992624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受託制作のままでは上場しません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50392" y="5321808"/>
            <a:ext cx="10543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労働集約型の受託は、売上が人手に比例するため「規模の割に伸びない事業」と読まれます。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だから追うべき指標は売上ではなく、人手に比例しない収益（①③）の比率です。5期で76%。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各課題の詳細と数値根拠は COMPETITORS ／ MOAT_TIMELINE ／ CHINA_SOURCING に記載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チーム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（記入予定）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481328"/>
            <a:ext cx="3483864" cy="148132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Shape 5"/>
          <p:cNvSpPr/>
          <p:nvPr/>
        </p:nvSpPr>
        <p:spPr>
          <a:xfrm>
            <a:off x="813816" y="1737360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33272" y="1645920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代表取締役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1993392"/>
            <a:ext cx="28254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会社経営・コンサルティング経験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日本・中国・台湾をまたぐ越境実務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（詳細は［記入予定］）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52544" y="1481328"/>
            <a:ext cx="3483864" cy="148132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1737360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91456" y="1645920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CTO／開発責任者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791456" y="1993392"/>
            <a:ext cx="28254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採用計画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10728" y="1481328"/>
            <a:ext cx="3483864" cy="148132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5" name="Shape 13"/>
          <p:cNvSpPr/>
          <p:nvPr/>
        </p:nvSpPr>
        <p:spPr>
          <a:xfrm>
            <a:off x="8330184" y="1737360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49640" y="1645920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プラットフォーム責任者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549640" y="1993392"/>
            <a:ext cx="28254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採用計画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" y="3145536"/>
            <a:ext cx="5362956" cy="1188720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3145536"/>
            <a:ext cx="45720" cy="1188720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50392" y="3291840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中国の制作パートナー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50392" y="3621024"/>
            <a:ext cx="49057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［記入予定］（実在の映像制作会社と提携）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クリエイターへの発注・支払いはこのパートナーを経由します。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制作データと成果物の権利は、契約により日本側（当社）に帰属させます。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31636" y="3145536"/>
            <a:ext cx="5362956" cy="1188720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3" name="Shape 21"/>
          <p:cNvSpPr/>
          <p:nvPr/>
        </p:nvSpPr>
        <p:spPr>
          <a:xfrm>
            <a:off x="6231636" y="3145536"/>
            <a:ext cx="45720" cy="1188720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87668" y="3291840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この章は記入予定です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87668" y="3621024"/>
            <a:ext cx="49057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代表の経歴と実績 ／ これから採用する職種・時期・採用チャネル ／ アドバイザー・顧問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越境C2C発注PFとツール外販を同じシステムで作るため、1年目からエンジニアが必要です。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553712"/>
          <a:ext cx="1100023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645920"/>
                <a:gridCol w="1645920"/>
                <a:gridCol w="1645920"/>
                <a:gridCol w="1645920"/>
                <a:gridCol w="1673352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日本側 人員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6名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16名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30名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44名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60名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中国側 登録クリエイター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8〜10名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15〜18名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25〜30名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45〜55名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70名前後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1人あたり人件費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500万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700万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800万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900万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1,000万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Text 24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1年目は6名体制（代表・エンジニア2・運営2・営業1）を想定しています</a:t>
            </a:r>
            <a:endParaRPr lang="en-US" sz="850" dirty="0"/>
          </a:p>
        </p:txBody>
      </p:sp>
      <p:sp>
        <p:nvSpPr>
          <p:cNvPr id="28" name="Text 25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事業計画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3期まで赤字が前提。通期黒字化は4期、上場申請は5期です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94360" y="1463040"/>
          <a:ext cx="60350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903720" y="1463040"/>
            <a:ext cx="4690872" cy="9326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8" name="Shape 5"/>
          <p:cNvSpPr/>
          <p:nvPr/>
        </p:nvSpPr>
        <p:spPr>
          <a:xfrm>
            <a:off x="7123176" y="1719072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42632" y="1627632"/>
            <a:ext cx="4032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1期 ― 基盤をつくる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342632" y="1975104"/>
            <a:ext cx="4032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PF開発と公開（6ヶ月目）。企業案件で2,700万、C2C手数料で900万。営業利益 ▲3,200万は計画通りの投資です。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903720" y="2505456"/>
            <a:ext cx="4690872" cy="82296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2" name="Shape 9"/>
          <p:cNvSpPr/>
          <p:nvPr/>
        </p:nvSpPr>
        <p:spPr>
          <a:xfrm>
            <a:off x="7123176" y="2761488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342632" y="2670048"/>
            <a:ext cx="4032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2〜3期 ― 投資期間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7342632" y="3017520"/>
            <a:ext cx="4032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制作体制とツール外販に投下。赤字は2期に最大化（▲6,700万）し、3期はほぼ均衡（▲400万）まで戻ります。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903720" y="3438144"/>
            <a:ext cx="4690872" cy="104241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6" name="Shape 13"/>
          <p:cNvSpPr/>
          <p:nvPr/>
        </p:nvSpPr>
        <p:spPr>
          <a:xfrm>
            <a:off x="7123176" y="3694176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342632" y="3602736"/>
            <a:ext cx="4032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4〜5期 ― 回収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7342632" y="3950208"/>
            <a:ext cx="4032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4期に通期黒字化。5期に年商20億・営業利益6.1億（30.4%）。時価総額121〜161億の水準へ。</a:t>
            </a:r>
            <a:endParaRPr lang="en-US" sz="9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626864"/>
          <a:ext cx="1100023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414223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売上の内訳（百万円）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この期の到達点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1期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制作27 ／ C2C 9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制作54本・PF公開・登録100名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2期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制作105 ／ C2C 54 ／ 外販20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ツール外販の初期契約／シリーズA 3億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3期（N-2期）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制作200 ／ C2C 162 ／ 外販160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監査開始。赤字がほぼ均衡まで戻る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4期（N-1期）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制作320 ／ C2C 324 ／ 外販504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通期黒字化。内部管理体制の構築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5期（N期）→ 2031年 上場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制作480 ／ C2C 486 ／ 外販1,052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売上20億・営業利益6.1億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6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計画値。C2Cの手数料率・発注件数、ツール外販の契約数はすべて未実測の［仮置き］です。1期に実測して差し替えます。数字は plan_c2c.py が計算しています</a:t>
            </a:r>
            <a:endParaRPr lang="en-US" sz="850" dirty="0"/>
          </a:p>
        </p:txBody>
      </p:sp>
      <p:sp>
        <p:nvSpPr>
          <p:cNvPr id="21" name="Text 17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上場までの流れ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5期（2031年）での上場を逆算。N-2期の監査開始は3期・2028年10月です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481328"/>
            <a:ext cx="1980590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Shape 5"/>
          <p:cNvSpPr/>
          <p:nvPr/>
        </p:nvSpPr>
        <p:spPr>
          <a:xfrm>
            <a:off x="813816" y="1737360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33272" y="1645920"/>
            <a:ext cx="13222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1期  2026/10-2027/9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1993392"/>
            <a:ext cx="132222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・制作の受注開始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・PF開発と公開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・C2Cの手数料率を実測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849270" y="1481328"/>
            <a:ext cx="1980590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1" name="Shape 9"/>
          <p:cNvSpPr/>
          <p:nvPr/>
        </p:nvSpPr>
        <p:spPr>
          <a:xfrm>
            <a:off x="3068726" y="1737360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288182" y="1645920"/>
            <a:ext cx="13222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2期  2027/10-2028/9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288182" y="1993392"/>
            <a:ext cx="132222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・制作体制の拡大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・ツール外販の初期契約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・シリーズA 3億／監査法人SR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104181" y="1481328"/>
            <a:ext cx="1980590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5" name="Shape 13"/>
          <p:cNvSpPr/>
          <p:nvPr/>
        </p:nvSpPr>
        <p:spPr>
          <a:xfrm>
            <a:off x="5323637" y="1737360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543093" y="1645920"/>
            <a:ext cx="13222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3期 N-2  2028/10-2029/9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543093" y="1993392"/>
            <a:ext cx="132222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・監査開始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・ツール外販の本格展開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・主幹事証券の選定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59091" y="1481328"/>
            <a:ext cx="1980590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9" name="Shape 17"/>
          <p:cNvSpPr/>
          <p:nvPr/>
        </p:nvSpPr>
        <p:spPr>
          <a:xfrm>
            <a:off x="7578547" y="1737360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98003" y="1645920"/>
            <a:ext cx="13222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4期 N-1  2029/10-2030/9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798003" y="1993392"/>
            <a:ext cx="132222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・通期黒字化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・内部管理体制の構築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・資本政策の確定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614002" y="1481328"/>
            <a:ext cx="1980590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23" name="Shape 21"/>
          <p:cNvSpPr/>
          <p:nvPr/>
        </p:nvSpPr>
        <p:spPr>
          <a:xfrm>
            <a:off x="9833458" y="1737360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052914" y="1645920"/>
            <a:ext cx="13222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5期 N期  2030/10-2031/9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0052914" y="1993392"/>
            <a:ext cx="132222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・上場申請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・2031年・東証グロース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4360" y="3054096"/>
            <a:ext cx="5362956" cy="129844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27" name="Shape 25"/>
          <p:cNvSpPr/>
          <p:nvPr/>
        </p:nvSpPr>
        <p:spPr>
          <a:xfrm>
            <a:off x="813816" y="3310128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33272" y="3218688"/>
            <a:ext cx="47045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資本政策の想定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033272" y="3566160"/>
            <a:ext cx="47045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シード1.5億（今回）→ ESOP枠10% → シリーズA 3億（2期）。累計4.5億。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IPO公募20%を経て、上場時の創業者持分は 42%前後 を想定。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1ラウンドで33%超は放出しません（特別決議の拒否権を渡さないため）。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31636" y="3054096"/>
            <a:ext cx="5362956" cy="129844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31" name="Shape 29"/>
          <p:cNvSpPr/>
          <p:nvPr/>
        </p:nvSpPr>
        <p:spPr>
          <a:xfrm>
            <a:off x="6231636" y="3054096"/>
            <a:ext cx="45720" cy="129844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87668" y="3200400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5年で上場するための最初の関門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487668" y="3529584"/>
            <a:ext cx="49057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2期（2028年）に監査法人のショートレビューを受ける必要があります。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赤字が最大化する期に監査法人を確保できるかが関門です。シリーズAの契約書を持って臨みます。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94360" y="4535424"/>
            <a:ext cx="11000232" cy="1170432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35" name="Shape 33"/>
          <p:cNvSpPr/>
          <p:nvPr/>
        </p:nvSpPr>
        <p:spPr>
          <a:xfrm>
            <a:off x="594360" y="4535424"/>
            <a:ext cx="45720" cy="117043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50392" y="4681728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ゴールは上場ではありません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50392" y="5010912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グロースは2030年3月以降「上場5年経過後に時価総額100億円」の維持基準が新設されました。2031年上場なら2036年に100億円。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当社の想定時価総額は121〜161億（中心141億）で、維持基準に対して41%のバッファがあります。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日本取引所グループ 上場維持基準。上場基準は改定が続くため、準備期に入る前に最新基準を再確認します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出口とリターン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5期の売上20億・営業利益6.1億を前提に、3手法で試算しています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481328"/>
            <a:ext cx="3483864" cy="13898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32104" y="1645920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82〜164億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832104" y="2267712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PER法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32104" y="2542032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当期純利益 約4.1億（実効税率33%）× PER 20〜40倍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52544" y="1481328"/>
            <a:ext cx="3483864" cy="13898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0288" y="1645920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3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121〜161億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2267712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PSR法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2542032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売上20億 × PSR 6〜8倍。売上の76%が人手に比例しない収益なのでSaaS寄りで見る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110728" y="1481328"/>
            <a:ext cx="3483864" cy="13898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8472" y="1645920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99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60〜101億</a:t>
            </a:r>
            <a:endParaRPr lang="en-US" sz="2700" dirty="0"/>
          </a:p>
        </p:txBody>
      </p:sp>
      <p:sp>
        <p:nvSpPr>
          <p:cNvPr id="16" name="Text 14"/>
          <p:cNvSpPr txBox="1"/>
          <p:nvPr/>
        </p:nvSpPr>
        <p:spPr>
          <a:xfrm>
            <a:off x="8348472" y="2267712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EV/EBITDA法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348472" y="2542032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EBITDA 約6.7億 × 8.9〜15倍（情報通信業の中央値8.9倍）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3035808"/>
            <a:ext cx="11000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中心値は 時価総額 141億円 ─ グロースの上場維持基準（2036年に100億円以上）に対し 41% のバッファ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4360" y="3511296"/>
            <a:ext cx="5362956" cy="1335024"/>
          </a:xfrm>
          <a:prstGeom prst="rect">
            <a:avLst/>
          </a:prstGeom>
          <a:solidFill>
            <a:srgbClr val="FFF2CC"/>
          </a:solidFill>
          <a:ln/>
        </p:spPr>
      </p:sp>
      <p:sp>
        <p:nvSpPr>
          <p:cNvPr id="20" name="Shape 18"/>
          <p:cNvSpPr/>
          <p:nvPr/>
        </p:nvSpPr>
        <p:spPr>
          <a:xfrm>
            <a:off x="813816" y="3767328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33272" y="3675888"/>
            <a:ext cx="47045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M&amp;A で売却する場合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033272" y="4023360"/>
            <a:ext cx="47045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3期（売上5.2億・ほぼ均衡）… 10〜25億。買い手が評価するのはクリエイター網と技術。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4期（売上11.5億・営業利益2.4億）… 30〜60億 ／ 5期（売上20億）… 121〜161億。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戦略的買い手（大手代理店・制作会社・テレビ局）ならシナジー価格が乗ります。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31636" y="3511296"/>
            <a:ext cx="5362956" cy="1335024"/>
          </a:xfrm>
          <a:prstGeom prst="rect">
            <a:avLst/>
          </a:prstGeom>
          <a:solidFill>
            <a:srgbClr val="FFF2CC"/>
          </a:solidFill>
          <a:ln/>
        </p:spPr>
      </p:sp>
      <p:sp>
        <p:nvSpPr>
          <p:cNvPr id="24" name="Shape 22"/>
          <p:cNvSpPr/>
          <p:nvPr/>
        </p:nvSpPr>
        <p:spPr>
          <a:xfrm>
            <a:off x="6451092" y="3767328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670548" y="3675888"/>
            <a:ext cx="47045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シード投資家のリターン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670548" y="4023360"/>
            <a:ext cx="47045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ESOP10%・シリーズA・IPO公募20%で希薄化後、上場後のシード持分は 14.5%。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時価総額121億 → 12.4倍 ／ 141億 → 14.4倍 ／ 161億 → 16.5倍（出資から約4.9年）。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上場時の創業者持分は 42%前後。時価総額141億なら評価額 約59億。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94360" y="4992624"/>
            <a:ext cx="11000232" cy="713232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4992624"/>
            <a:ext cx="45720" cy="71323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50392" y="5138928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すべて「成功した場合」の試算です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50392" y="5468112"/>
            <a:ext cx="10543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2025年のグロースIPOは18社（前年34社から半減）で、IPO市場そのものが縮んでいます。倍率は市況で変動します。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M&amp;A総研（業種別EV/EBITDA倍率）／ みつきコンサルティング（メディア・コンテンツ業界のM&amp;A）／ EY Japan（2026年以降のIPO市場）／ FiNX（グロース維持基準の制度化）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マイルストーン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各フェーズは「ゲート条件」で区切ります。満たさない限り、次へは進みません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44752"/>
          <a:ext cx="1100023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206240"/>
                <a:gridCol w="533095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時期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やること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◆ 次へ進むゲート条件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〜2026/12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法人設立・PF要件定義・中国パートナーとの契約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PF仕様の確定／法務の見解書（資金決済法）／パートナー契約の締結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2027/1-3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制作の受注開始／PF開発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 累計5本・粗利率60%／ディレクター時間 8時間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2027/4-9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PF公開（6ヶ月目）・発注者の獲得開始・D案IPの投入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 1期54本／登録100名・成約100件／手数料率と平均単価の初回実測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制作体制の拡大・ツール外販の立ち上げ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ツール外販 法人8社／シリーズA 3億／監査法人ショートレビュー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赤字の縮小・ツール外販の本格展開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人手に比例しない収益62%以上／監査開始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通期黒字化・内部管理体制の構築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通期黒字化／人手に比例しない収益72%／流通株式25%の設計合意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上場申請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年商20億・営業利益6.1億／時価総額141億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" y="4480560"/>
            <a:ext cx="11000232" cy="1225296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8" name="Shape 5"/>
          <p:cNvSpPr/>
          <p:nvPr/>
        </p:nvSpPr>
        <p:spPr>
          <a:xfrm>
            <a:off x="594360" y="4480560"/>
            <a:ext cx="45720" cy="1225296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50392" y="4626864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最優先で実測するのは「手数料率と平均単価」です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50392" y="4956048"/>
            <a:ext cx="10543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［仮置き］手数料率18%・平均単価9万円で、5期のC2C売上4.9億を置いています。ここが半分なら2.5億です。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PF公開直後（2027/4-9）に必ず測ってください。以降のすべての売上計画が、この2つの数字に乗っています。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ゲート条件を満たさない場合は次フェーズに進まず、前提を引き直します。詳細は ROADMAP.md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資金計画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調達目標 1.5億円。融資を使わず、全額をエクイティで調達します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38988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1年目の使途（単位 万円・合計 9,380万）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7190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人件費（6名）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30168" y="1755648"/>
            <a:ext cx="1920240" cy="20116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0" y="17190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3000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0208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PF開発（越境C2C発注 初期版）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30168" y="2057400"/>
            <a:ext cx="960120" cy="20116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0" y="202082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1500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23225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ツール外販の開発着手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30168" y="2359152"/>
            <a:ext cx="768096" cy="20116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0" y="232257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1200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2624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制作事業の運転資金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30168" y="2660904"/>
            <a:ext cx="512064" cy="20116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0" y="26243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800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2926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営業・マーケティング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30168" y="2962656"/>
            <a:ext cx="384048" cy="20116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0" y="29260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600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32278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オフィス・SaaS・その他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30168" y="3264408"/>
            <a:ext cx="307238" cy="201168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0" y="32278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480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35295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法務（資金決済法・越境契約）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30168" y="3566160"/>
            <a:ext cx="256032" cy="201168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0" y="352958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400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94360" y="38313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設立・機材・その他初期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30168" y="3867912"/>
            <a:ext cx="256032" cy="201168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486400" y="383133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400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594360" y="41330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中国パートナー提携・渡航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30168" y="4169664"/>
            <a:ext cx="192024" cy="201168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486400" y="413308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300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594360" y="4434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採用費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30168" y="4471416"/>
            <a:ext cx="192024" cy="201168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486400" y="44348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300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594360" y="47365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インフラ・決済（Stripe等）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630168" y="4773168"/>
            <a:ext cx="128016" cy="201168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486400" y="473659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200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594360" y="50383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特許出願（2件）・データ基盤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630168" y="5074920"/>
            <a:ext cx="128016" cy="201168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5486400" y="503834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200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903720" y="1719072"/>
            <a:ext cx="2208276" cy="131673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141464" y="1883664"/>
            <a:ext cx="17327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99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800万</a:t>
            </a:r>
            <a:endParaRPr lang="en-US" sz="2700" dirty="0"/>
          </a:p>
        </p:txBody>
      </p:sp>
      <p:sp>
        <p:nvSpPr>
          <p:cNvPr id="45" name="Text 43"/>
          <p:cNvSpPr txBox="1"/>
          <p:nvPr/>
        </p:nvSpPr>
        <p:spPr>
          <a:xfrm>
            <a:off x="7141464" y="2505456"/>
            <a:ext cx="17327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資本金（代表個人が直接出資）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7141464" y="2779776"/>
            <a:ext cx="17327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1,000万未満に抑え、初年度の消費税課税事業者化を回避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9386316" y="1719072"/>
            <a:ext cx="2208276" cy="131673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624060" y="1883664"/>
            <a:ext cx="17327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3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1.42億</a:t>
            </a:r>
            <a:endParaRPr lang="en-US" sz="2700" dirty="0"/>
          </a:p>
        </p:txBody>
      </p:sp>
      <p:sp>
        <p:nvSpPr>
          <p:cNvPr id="49" name="Text 47"/>
          <p:cNvSpPr txBox="1"/>
          <p:nvPr/>
        </p:nvSpPr>
        <p:spPr>
          <a:xfrm>
            <a:off x="9624060" y="2505456"/>
            <a:ext cx="17327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シード（創業時）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9624060" y="2779776"/>
            <a:ext cx="17327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放出20〜27%を想定。J-KISSでの価格先送りも選択肢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903720" y="3200400"/>
            <a:ext cx="4690872" cy="1353312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52" name="Shape 50"/>
          <p:cNvSpPr/>
          <p:nvPr/>
        </p:nvSpPr>
        <p:spPr>
          <a:xfrm>
            <a:off x="6903720" y="3200400"/>
            <a:ext cx="45720" cy="135331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7159752" y="3346704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1.5億は「1年目の使途」ではありません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7159752" y="3675888"/>
            <a:ext cx="4233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1年目に使うのは 9,380万。残り約5,600万は2期への持ち越しです。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PF開発を初期版に絞り、広告費を先に張らない設計にしたぶん、2期へ厚く回せています。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シリーズA 3億は2期の実績を見てから臨めます。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903720" y="4663440"/>
            <a:ext cx="4690872" cy="1042416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56" name="Shape 54"/>
          <p:cNvSpPr/>
          <p:nvPr/>
        </p:nvSpPr>
        <p:spPr>
          <a:xfrm>
            <a:off x="6903720" y="4663440"/>
            <a:ext cx="45720" cy="1042416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7159752" y="4809744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追加調達はシリーズA 3億のみ。累計4.5億です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7159752" y="5138928"/>
            <a:ext cx="4233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①③は人手に比例しないので、規模を追うための大型調達が要りません。シリーズB以降は想定していません。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594360" y="5394960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［仮置き］C2C発注の件数と手数料率が未実測のため、P2の売上の精度が最も低い数字です。PF公開後に実測して増減させます。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融資は使いません。補助金は後払いのため資金繰りに算入していません。全額をエクイティで調達します</a:t>
            </a:r>
            <a:endParaRPr lang="en-US" sz="850" dirty="0"/>
          </a:p>
        </p:txBody>
      </p:sp>
      <p:sp>
        <p:nvSpPr>
          <p:cNvPr id="61" name="Text 59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リスクと対策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影響度と発生確率で並べています。上の3つが、この事業の生死を分けます</a:t>
            </a:r>
            <a:endParaRPr lang="en-US" sz="1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44752"/>
          <a:ext cx="1100023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822960"/>
                <a:gridCol w="914400"/>
                <a:gridCol w="3291840"/>
                <a:gridCol w="551383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#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影響度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発生確率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リスク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対策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制作の市場単価が下がる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3年の時限と見ている。①の自動化機能をツール外販（P4）へ移して逃げ切る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発注者が集まらない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PF公開まで投下しない。①②で取引のある相手を先に載せ、供給がある状態で開く。伸びなければ企業案件に軸足を戻す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シリーズA 3億が入らない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ツール外販の開発を止めて制作に全振り。2期の赤字は▲6,700万→▲1,000万台まで縮む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資金決済法の該当性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収納代行型（当社で預からない）を前提にPF設計の前に弁護士へ確認。法務費用400万を初年度に計上済み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低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営業・エンジニアが採用できない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2次受け（代理店経由）を主軸に置けば律速がディレクターに移り、採用難易度が下がる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中国の制作パートナーへの依存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支払いと品質保証を1社に依存しない。2社目の提携を2期までに確保する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中国本土から当社PFに接続できない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設計段階で検証。国内向けミラーまたは提携PF経由の導線を用意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低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クリエイターの離脱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登録は常に稼働数の1.5倍。春節（1〜2月）の稼働低下も計画に織り込み済み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" y="4956048"/>
            <a:ext cx="11000232" cy="74980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8" name="Shape 5"/>
          <p:cNvSpPr/>
          <p:nvPr/>
        </p:nvSpPr>
        <p:spPr>
          <a:xfrm>
            <a:off x="594360" y="4956048"/>
            <a:ext cx="45720" cy="74980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50392" y="5102352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1と2は「事業そのもの」のリスクです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50392" y="5431536"/>
            <a:ext cx="10543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3〜8が全部外れても、制作受託（②）は残ります。プラットフォームが伸びなくても事業が消えない構造にしてあります。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全リスクと対策は BUSINESS_PLAN ／ MOAT_TIMELINE ／ CHINA_SOURCING に記載しています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D96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1031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制作力が余っている場所と、発注が余っている場所をつなぐ。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2926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B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中国では制作会社の42%が1四半期で消え、日本の映像制作市場は4,580億円で伸び続けています。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3931920"/>
            <a:ext cx="3483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1.5億円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4498848"/>
            <a:ext cx="3483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E2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今回の調達目標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352544" y="3931920"/>
            <a:ext cx="3483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3年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4352544" y="4498848"/>
            <a:ext cx="3483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E2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制作単価が下がり切るまでの時限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110728" y="3931920"/>
            <a:ext cx="3483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2031年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8110728" y="4498848"/>
            <a:ext cx="3483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E2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東証グロース上場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日本は一度、これをやっている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輸入した技術を4年で国産化し、その後20年以上の改善で世界一の品質に到達した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335024"/>
            <a:ext cx="2544318" cy="106070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Shape 5"/>
          <p:cNvSpPr/>
          <p:nvPr/>
        </p:nvSpPr>
        <p:spPr>
          <a:xfrm>
            <a:off x="813816" y="1591056"/>
            <a:ext cx="109728" cy="109728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33272" y="1499616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1952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1847088"/>
            <a:ext cx="1885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日産＝オースチン技術提携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日野＝ルノー、いすゞ＝ルーツ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12998" y="1335024"/>
            <a:ext cx="2544318" cy="106070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1" name="Shape 9"/>
          <p:cNvSpPr/>
          <p:nvPr/>
        </p:nvSpPr>
        <p:spPr>
          <a:xfrm>
            <a:off x="3632454" y="1591056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51910" y="1499616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1956-57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851910" y="1847088"/>
            <a:ext cx="1885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4社が相次いで完全国産化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ここまで4年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31636" y="1335024"/>
            <a:ext cx="2544318" cy="106070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5" name="Shape 13"/>
          <p:cNvSpPr/>
          <p:nvPr/>
        </p:nvSpPr>
        <p:spPr>
          <a:xfrm>
            <a:off x="6451092" y="1591056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0548" y="1499616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1960s-70s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670548" y="1847088"/>
            <a:ext cx="1885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QCサークル・トヨタ生産方式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改善を20年以上回し続ける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050274" y="1335024"/>
            <a:ext cx="2544318" cy="106070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9" name="Shape 17"/>
          <p:cNvSpPr/>
          <p:nvPr/>
        </p:nvSpPr>
        <p:spPr>
          <a:xfrm>
            <a:off x="9269730" y="1591056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489186" y="1499616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1980s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489186" y="1847088"/>
            <a:ext cx="1885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品質と燃費で世界市場を取る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米国メーカーが学びに来る側へ</a:t>
            </a:r>
            <a:endParaRPr lang="en-US" sz="900" dirty="0"/>
          </a:p>
        </p:txBody>
      </p:sp>
      <p:pic>
        <p:nvPicPr>
          <p:cNvPr id="22" name="Image 0" descr="assets/austin195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560320"/>
            <a:ext cx="2231136" cy="118872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2935224" y="2990088"/>
            <a:ext cx="402336" cy="329184"/>
          </a:xfrm>
          <a:prstGeom prst="rightArrow">
            <a:avLst/>
          </a:prstGeom>
          <a:solidFill>
            <a:srgbClr val="DCD9D4"/>
          </a:solidFill>
          <a:ln/>
        </p:spPr>
      </p:sp>
      <p:pic>
        <p:nvPicPr>
          <p:cNvPr id="24" name="Image 1" descr="assets/corolla19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2560320"/>
            <a:ext cx="2231136" cy="118872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594360" y="3785616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1959 日産オースチン A50</a:t>
            </a:r>
            <a:endParaRPr lang="en-US" sz="850" dirty="0"/>
          </a:p>
        </p:txBody>
      </p:sp>
      <p:sp>
        <p:nvSpPr>
          <p:cNvPr id="26" name="Text 22"/>
          <p:cNvSpPr txBox="1"/>
          <p:nvPr/>
        </p:nvSpPr>
        <p:spPr>
          <a:xfrm>
            <a:off x="3447288" y="3785616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1986 トヨタ カローラ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5952744" y="2560320"/>
            <a:ext cx="5641848" cy="1444752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8" name="Shape 24"/>
          <p:cNvSpPr/>
          <p:nvPr/>
        </p:nvSpPr>
        <p:spPr>
          <a:xfrm>
            <a:off x="5952744" y="2560320"/>
            <a:ext cx="45720" cy="144475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208776" y="2706624"/>
            <a:ext cx="5184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ポイントは国産化の速さではありません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6208776" y="3035808"/>
            <a:ext cx="5184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日産・トヨタは国産化をゴールにせず、以後20年以上かけて生産方式と品質管理を磨き続けました。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1980年代には米国メーカーが日本の生産方式を学びに来る側に回ります。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内製化（3年）は出発点にすぎません。制作データで改善を回し続けることが、模倣されない資産になります。</a:t>
            </a:r>
            <a:endParaRPr lang="en-US" sz="9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133088"/>
          <a:ext cx="1100023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651760"/>
                <a:gridCol w="914400"/>
                <a:gridCol w="2651760"/>
                <a:gridCol w="731520"/>
                <a:gridCol w="240487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持っている側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修得する側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期間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到達点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1952 → 1956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オースチン（英）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技術 →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日産・日野・いすゞ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4年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完全国産化。ただしこれは入口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2026 → 2029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世界のAIクリエイター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制作力 →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当社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3年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内製化。ここから改善を回す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2" name="Text 27"/>
          <p:cNvSpPr txBox="1"/>
          <p:nvPr/>
        </p:nvSpPr>
        <p:spPr>
          <a:xfrm>
            <a:off x="594360" y="5358384"/>
            <a:ext cx="11000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当時は政府の保護（輸入制限・関税）がありました。今のAI映像にはありません。だから改善のサイクルをより速く回す必要があります。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日産自動車 企業情報 ／ トヨタ博物館 ／ GAZOO「ノックダウン生産の時代」／ 日本科学技術連盟（QCサークル・デミング賞）。写真: 1959 Nissan Austin Cambridge Deluxe（CC0 / TTTNIS）、1986-1989 Toyota Corolla AE82（Public domain / OSX）いずれも Wikimedia Commons</a:t>
            </a:r>
            <a:endParaRPr lang="en-US" sz="850" dirty="0"/>
          </a:p>
        </p:txBody>
      </p:sp>
      <p:sp>
        <p:nvSpPr>
          <p:cNvPr id="34" name="Text 29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投資家向け企画書</dc:title>
  <dc:subject>PptxGenJS Presentation</dc:subject>
  <dc:creator>AI映像制作事業</dc:creator>
  <cp:lastModifiedBy>AI映像制作事業</cp:lastModifiedBy>
  <cp:revision>1</cp:revision>
  <dcterms:created xsi:type="dcterms:W3CDTF">2026-09-22T12:48:29Z</dcterms:created>
  <dcterms:modified xsi:type="dcterms:W3CDTF">2026-09-22T12:48:29Z</dcterms:modified>
</cp:coreProperties>
</file>