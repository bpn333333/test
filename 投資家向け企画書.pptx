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3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4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市場規模(億円)</c:v>
                </c:pt>
              </c:strCache>
            </c:strRef>
          </c:tx>
          <c:spPr>
            <a:solidFill>
              <a:srgbClr val="2A3563"/>
            </a:solidFill>
            <a:effectLst/>
          </c:spPr>
          <c:invertIfNegative val="0"/>
          <c:dLbls>
            <c:numFmt formatCode="#,##0.#&quot;億円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161A"/>
                    </a:solidFill>
                    <a:latin typeface="Meiry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A356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B3121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9962C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TAM 日本の映像制作市場</c:v>
                  </c:pt>
                  <c:pt idx="1">
                    <c:v>SAM 構造的に狙える範囲</c:v>
                  </c:pt>
                  <c:pt idx="2">
                    <c:v>SOM 3年後の当社売上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4580</c:v>
                </c:pt>
                <c:pt idx="1">
                  <c:v>1370</c:v>
                </c:pt>
                <c:pt idx="2">
                  <c:v>2.5</c:v>
                </c:pt>
              </c:numCache>
            </c:numRef>
          </c:val>
        </c:ser>
        <c:dLbls>
          <c:numFmt formatCode="#,##0.#&quot;億円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6161A"/>
                  </a:solidFill>
                  <a:latin typeface="Meiry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A3A42"/>
                </a:solidFill>
                <a:latin typeface="Meiry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200"/>
          <c:min val="0"/>
        </c:scaling>
        <c:delete val="0"/>
        <c:axPos val="b"/>
        <c:majorGridlines>
          <c:spPr>
            <a:ln w="12700" cap="flat">
              <a:solidFill>
                <a:srgbClr val="DCD9D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E6E76"/>
                </a:solidFill>
                <a:latin typeface="Meiry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161A"/>
                </a:solidFill>
                <a:latin typeface="Meiryo"/>
              </a:defRPr>
            </a:pPr>
            <a:r>
              <a:rPr sz="1300" b="0" i="0" u="none" strike="noStrike">
                <a:solidFill>
                  <a:srgbClr val="16161A"/>
                </a:solidFill>
                <a:latin typeface="Meiryo"/>
              </a:rPr>
              <a:t>1本あたりの構造(平均単価48万円)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金額(万円)</c:v>
                </c:pt>
              </c:strCache>
            </c:strRef>
          </c:tx>
          <c:spPr>
            <a:solidFill>
              <a:srgbClr val="2A3563"/>
            </a:solidFill>
            <a:effectLst/>
          </c:spPr>
          <c:invertIfNegative val="0"/>
          <c:dLbls>
            <c:numFmt formatCode="#,##0&quot;万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161A"/>
                    </a:solidFill>
                    <a:latin typeface="Meiry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A356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6E6E7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6E6E7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E6E76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6E6E76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B3121B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売上</c:v>
                  </c:pt>
                  <c:pt idx="1">
                    <c:v>中国側支払</c:v>
                  </c:pt>
                  <c:pt idx="2">
                    <c:v>一次レビュー</c:v>
                  </c:pt>
                  <c:pt idx="3">
                    <c:v>ツール・素材</c:v>
                  </c:pt>
                  <c:pt idx="4">
                    <c:v>品質・為替バッファ</c:v>
                  </c:pt>
                  <c:pt idx="5">
                    <c:v>売上総利益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48</c:v>
                </c:pt>
                <c:pt idx="1">
                  <c:v>13</c:v>
                </c:pt>
                <c:pt idx="2">
                  <c:v>3</c:v>
                </c:pt>
                <c:pt idx="3">
                  <c:v>3</c:v>
                </c:pt>
                <c:pt idx="4">
                  <c:v>3</c:v>
                </c:pt>
                <c:pt idx="5">
                  <c:v>26</c:v>
                </c:pt>
              </c:numCache>
            </c:numRef>
          </c:val>
        </c:ser>
        <c:dLbls>
          <c:numFmt formatCode="#,##0&quot;万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6161A"/>
                  </a:solidFill>
                  <a:latin typeface="Meiry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3A3A42"/>
                </a:solidFill>
                <a:latin typeface="Meiry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6"/>
        </c:scaling>
        <c:delete val="0"/>
        <c:axPos val="l"/>
        <c:majorGridlines>
          <c:spPr>
            <a:ln w="12700" cap="flat">
              <a:solidFill>
                <a:srgbClr val="DCD9D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E6E76"/>
                </a:solidFill>
                <a:latin typeface="Meiry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6161A"/>
                </a:solidFill>
                <a:latin typeface="Meiryo"/>
              </a:defRPr>
            </a:pPr>
            <a:r>
              <a:rPr sz="1250" b="0" i="0" u="none" strike="noStrike">
                <a:solidFill>
                  <a:srgbClr val="16161A"/>
                </a:solidFill>
                <a:latin typeface="Meiryo"/>
              </a:rPr>
              <a:t>売上高と営業利益の推移(単位: 百万円 / 楽観ケース)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売上高</c:v>
                </c:pt>
              </c:strCache>
            </c:strRef>
          </c:tx>
          <c:spPr>
            <a:solidFill>
              <a:srgbClr val="2A356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A3A42"/>
                    </a:solidFill>
                    <a:latin typeface="Meiry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1年目
2027/9期</c:v>
                  </c:pt>
                  <c:pt idx="1">
                    <c:v>2年目
2028/9期</c:v>
                  </c:pt>
                  <c:pt idx="2">
                    <c:v>3年目
2029/9期</c:v>
                  </c:pt>
                  <c:pt idx="3">
                    <c:v>4年目
2030/9期</c:v>
                  </c:pt>
                  <c:pt idx="4">
                    <c:v>5年目
2031/9期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27</c:v>
                </c:pt>
                <c:pt idx="1">
                  <c:v>105</c:v>
                </c:pt>
                <c:pt idx="2">
                  <c:v>250</c:v>
                </c:pt>
                <c:pt idx="3">
                  <c:v>550</c:v>
                </c:pt>
                <c:pt idx="4">
                  <c:v>1000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営業利益</c:v>
                </c:pt>
              </c:strCache>
            </c:strRef>
          </c:tx>
          <c:spPr>
            <a:solidFill>
              <a:srgbClr val="B3121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A3A42"/>
                    </a:solidFill>
                    <a:latin typeface="Meiry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1年目
2027/9期</c:v>
                  </c:pt>
                  <c:pt idx="1">
                    <c:v>2年目
2028/9期</c:v>
                  </c:pt>
                  <c:pt idx="2">
                    <c:v>3年目
2029/9期</c:v>
                  </c:pt>
                  <c:pt idx="3">
                    <c:v>4年目
2030/9期</c:v>
                  </c:pt>
                  <c:pt idx="4">
                    <c:v>5年目
2031/9期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-10</c:v>
                </c:pt>
                <c:pt idx="1">
                  <c:v>11</c:v>
                </c:pt>
                <c:pt idx="2">
                  <c:v>30</c:v>
                </c:pt>
                <c:pt idx="3">
                  <c:v>80</c:v>
                </c:pt>
                <c:pt idx="4">
                  <c:v>180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A3A42"/>
                  </a:solidFill>
                  <a:latin typeface="Meiry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3A3A42"/>
                </a:solidFill>
                <a:latin typeface="Meiry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CD9D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E6E76"/>
                </a:solidFill>
                <a:latin typeface="Meiry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3A3A42"/>
              </a:solidFill>
              <a:latin typeface="Meiryo"/>
              <a:cs typeface="Meiryo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6161A"/>
                </a:solidFill>
                <a:latin typeface="Meiryo"/>
              </a:defRPr>
            </a:pPr>
            <a:r>
              <a:rPr sz="1250" b="0" i="0" u="none" strike="noStrike">
                <a:solidFill>
                  <a:srgbClr val="16161A"/>
                </a:solidFill>
                <a:latin typeface="Meiryo"/>
              </a:rPr>
              <a:t>調達資金の使途(単位: 万円 / 合計5,000万)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使途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A3563"/>
              </a:solidFill>
              <a:effectLst/>
            </c:spPr>
          </c:dPt>
          <c:dPt>
            <c:idx val="1"/>
            <c:bubble3D val="0"/>
            <c:spPr>
              <a:solidFill>
                <a:srgbClr val="4A5A8F"/>
              </a:solidFill>
              <a:effectLst/>
            </c:spPr>
          </c:dPt>
          <c:dPt>
            <c:idx val="2"/>
            <c:bubble3D val="0"/>
            <c:spPr>
              <a:solidFill>
                <a:srgbClr val="7A86AC"/>
              </a:solidFill>
              <a:effectLst/>
            </c:spPr>
          </c:dPt>
          <c:dPt>
            <c:idx val="3"/>
            <c:bubble3D val="0"/>
            <c:spPr>
              <a:solidFill>
                <a:srgbClr val="B3121B"/>
              </a:solidFill>
              <a:effectLst/>
            </c:spPr>
          </c:dPt>
          <c:dPt>
            <c:idx val="4"/>
            <c:bubble3D val="0"/>
            <c:spPr>
              <a:solidFill>
                <a:srgbClr val="C9962C"/>
              </a:solidFill>
              <a:effectLst/>
            </c:spPr>
          </c:dPt>
          <c:dPt>
            <c:idx val="5"/>
            <c:bubble3D val="0"/>
            <c:spPr>
              <a:solidFill>
                <a:srgbClr val="A88A3C"/>
              </a:solidFill>
              <a:effectLst/>
            </c:spPr>
          </c:dPt>
          <c:dPt>
            <c:idx val="6"/>
            <c:bubble3D val="0"/>
            <c:spPr>
              <a:solidFill>
                <a:srgbClr val="6E6E7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Meiryo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Meiryo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Meiryo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Meiryo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Meiryo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Meiryo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Meiryo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Sheet1!$A$2:$A$8</c:f>
              <c:strCache>
                <c:ptCount val="7"/>
                <c:pt idx="0">
                  <c:v>運転資金(外注費・人件費の立替)</c:v>
                </c:pt>
                <c:pt idx="1">
                  <c:v>採用・教育</c:v>
                </c:pt>
                <c:pt idx="2">
                  <c:v>サンプル制作・機材</c:v>
                </c:pt>
                <c:pt idx="3">
                  <c:v>特許出願</c:v>
                </c:pt>
                <c:pt idx="4">
                  <c:v>データ基盤・RAG構築</c:v>
                </c:pt>
                <c:pt idx="5">
                  <c:v>販売費・自社チャンネル</c:v>
                </c:pt>
                <c:pt idx="6">
                  <c:v>予備費</c:v>
                </c:pt>
              </c:strCache>
            </c:strRef>
          </c:cat>
          <c:val>
            <c:numRef>
              <c:f>Sheet1!$B$2:$B$8</c:f>
              <c:numCache>
                <c:ptCount val="7"/>
                <c:pt idx="0">
                  <c:v>2000</c:v>
                </c:pt>
                <c:pt idx="1">
                  <c:v>450</c:v>
                </c:pt>
                <c:pt idx="2">
                  <c:v>300</c:v>
                </c:pt>
                <c:pt idx="3">
                  <c:v>150</c:v>
                </c:pt>
                <c:pt idx="4">
                  <c:v>250</c:v>
                </c:pt>
                <c:pt idx="5">
                  <c:v>900</c:v>
                </c:pt>
                <c:pt idx="6">
                  <c:v>950</c:v>
                </c:pt>
              </c:numCache>
            </c:numRef>
          </c:val>
        </c:ser>
        <c:firstSliceAng val="0"/>
        <c:holeSize val="52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00">
              <a:solidFill>
                <a:srgbClr val="3A3A42"/>
              </a:solidFill>
              <a:latin typeface="Meiryo"/>
              <a:cs typeface="Meiryo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1874520"/>
            <a:ext cx="566928" cy="5669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26974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AI映像制作事業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358444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DEBE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日本で受注し、中国で制作する。そして日本の技術に変える。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5120640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投資家向け企画書  ／  2026年9月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5449824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新設法人(株式会社・仮称)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02336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エグゼクティブサマリー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69264"/>
            <a:ext cx="10387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日本の発注と中国の制作力の間に立ち、その差益で技術を内製化する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417320"/>
            <a:ext cx="50292" cy="786384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1417320"/>
            <a:ext cx="1077163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2000"/>
              </a:lnSpc>
              <a:buNone/>
            </a:pPr>
            <a:r>
              <a:rPr lang="en-US" sz="165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2033年、東証グロース市場への上場を目指す。</a:t>
            </a:r>
            <a:endParaRPr lang="en-US" sz="16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6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受託で稼ぐ3年のうちに、中国の制作力を自社の技術資産に置き換える。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594360" y="2395728"/>
            <a:ext cx="3483864" cy="129844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50392" y="2596896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4,580億円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850392" y="3273552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TAM｜日本の映像制作市場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850392" y="3547872"/>
            <a:ext cx="29718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うち狙えるSAMは約1,370億円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352544" y="2395728"/>
            <a:ext cx="3483864" cy="129844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608576" y="2596896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35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54%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4608576" y="3273552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粗利率｜1本あたり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4608576" y="3547872"/>
            <a:ext cx="29718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単価48万 − 原価22万 = 粗利26万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8110728" y="2395728"/>
            <a:ext cx="3483864" cy="129844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366760" y="2596896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96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5,000万円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8366760" y="3273552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今回の調達目標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8366760" y="3547872"/>
            <a:ext cx="29718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資本金800万 + 創業融資2,200万 + シード2,000万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94360" y="3822192"/>
            <a:ext cx="3483864" cy="212140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1" name="Shape 19"/>
          <p:cNvSpPr/>
          <p:nvPr/>
        </p:nvSpPr>
        <p:spPr>
          <a:xfrm>
            <a:off x="832104" y="4096512"/>
            <a:ext cx="118872" cy="11887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069848" y="4005072"/>
            <a:ext cx="2770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何をするか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1069848" y="4370832"/>
            <a:ext cx="2770632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日本企業のAI映像を受注し、中国の個人クリエイター20名の体制で制作する。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日本IPを利用した作品制作。国内IPホルダーと組み、中国の制作力で映像化する。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生成AI関連の特許取得。制作工程そのものを権利化する。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352544" y="3822192"/>
            <a:ext cx="3483864" cy="212140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5" name="Shape 23"/>
          <p:cNvSpPr/>
          <p:nvPr/>
        </p:nvSpPr>
        <p:spPr>
          <a:xfrm>
            <a:off x="4590288" y="4096512"/>
            <a:ext cx="118872" cy="118872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828032" y="4005072"/>
            <a:ext cx="2770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なぜ勝てるか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4828032" y="4370832"/>
            <a:ext cx="2770632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日本に、中国資本のBtoB映像制作会社が見当たらない。日本に来ている中国勢はBtoC配信専業で、受託する法人格を持たない。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日本企業は中国へ直接発注できない。稟議・与信・反社チェック・下請法が壁になる。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8110728" y="3822192"/>
            <a:ext cx="3483864" cy="212140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9" name="Shape 27"/>
          <p:cNvSpPr/>
          <p:nvPr/>
        </p:nvSpPr>
        <p:spPr>
          <a:xfrm>
            <a:off x="8348472" y="4096512"/>
            <a:ext cx="118872" cy="118872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586216" y="4005072"/>
            <a:ext cx="2770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どこへ向かうか</a:t>
            </a:r>
            <a:endParaRPr lang="en-US" sz="1350" dirty="0"/>
          </a:p>
        </p:txBody>
      </p:sp>
      <p:sp>
        <p:nvSpPr>
          <p:cNvPr id="31" name="Text 29"/>
          <p:cNvSpPr txBox="1"/>
          <p:nvPr/>
        </p:nvSpPr>
        <p:spPr>
          <a:xfrm>
            <a:off x="8586216" y="4370832"/>
            <a:ext cx="2770632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受託で稼ぐ期間は3年と見ている。その間に工程を内製化し、特許とプロダクトへ移す。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自動車産業が4年で国産化したのと同じ道筋。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594360" y="6336792"/>
            <a:ext cx="9902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数値の出所は各章に記載。市場規模・収支は [仮置き] を含む計画値です。</a:t>
            </a:r>
            <a:endParaRPr lang="en-US" sz="850" dirty="0"/>
          </a:p>
        </p:txBody>
      </p:sp>
      <p:sp>
        <p:nvSpPr>
          <p:cNvPr id="33" name="Text 31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02336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なぜ今なのか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69264"/>
            <a:ext cx="10387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出遅れた日本、淘汰が始まった中国。その差が最も大きい今が入口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572768"/>
            <a:ext cx="2578608" cy="285292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68680" y="184708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414016"/>
            <a:ext cx="20299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日本は出遅れている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200400"/>
            <a:ext cx="202996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政府がAI推進法を制定し、AI基本計画を閣議決定するほどの危機感。映像制作の現場にAIはまだ入っていない。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401568" y="1572768"/>
            <a:ext cx="2578608" cy="285292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75888" y="184708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3675888" y="2414016"/>
            <a:ext cx="20299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中国では淘汰が始まった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3675888" y="3200400"/>
            <a:ext cx="202996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AI漫劇の制作会社は2026年Q1に1,216社→698社(−42%)。約90%が赤字。最大コストは制作費ではなく広告出稿で全体の約70%。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08776" y="1572768"/>
            <a:ext cx="2578608" cy="285292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83096" y="184708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6483096" y="2414016"/>
            <a:ext cx="20299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中国の制作力を日本で売る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6483096" y="3200400"/>
            <a:ext cx="202996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中国側に余っているのは「作る力」。足りないのは「売る力」。日本の発注をこちらが持ち込む。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015984" y="1572768"/>
            <a:ext cx="2578608" cy="2852928"/>
          </a:xfrm>
          <a:prstGeom prst="rect">
            <a:avLst/>
          </a:prstGeom>
          <a:solidFill>
            <a:srgbClr val="16161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290304" y="184708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996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9290304" y="2414016"/>
            <a:ext cx="20299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日本の技術として磨く</a:t>
            </a:r>
            <a:endParaRPr lang="en-US" sz="1450" dirty="0"/>
          </a:p>
        </p:txBody>
      </p:sp>
      <p:sp>
        <p:nvSpPr>
          <p:cNvPr id="21" name="Text 19"/>
          <p:cNvSpPr txBox="1"/>
          <p:nvPr/>
        </p:nvSpPr>
        <p:spPr>
          <a:xfrm>
            <a:off x="9290304" y="3200400"/>
            <a:ext cx="202996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EDEBE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受託で稼ぐ間に工程を内製化し、特許とプロダクトへ移す。自動車産業が歩んだ道と同じ。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94360" y="4553712"/>
            <a:ext cx="11000232" cy="138988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86968" y="4700016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中国のAI漫劇 制作会社数(活躍承制方)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886968" y="501091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2025年 Q4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1819656" y="5038344"/>
            <a:ext cx="4663440" cy="201168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911096" y="5038344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1,216社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886968" y="5321808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 Q1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1819656" y="5349240"/>
            <a:ext cx="2679192" cy="20116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1911096" y="534924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698社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886968" y="5632704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1四半期で ▲42%。制作力が市場に溢れ出しています。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7040880" y="4736592"/>
            <a:ext cx="50292" cy="10241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251192" y="4736592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約90%</a:t>
            </a:r>
            <a:endParaRPr lang="en-US" sz="1900" dirty="0"/>
          </a:p>
        </p:txBody>
      </p:sp>
      <p:sp>
        <p:nvSpPr>
          <p:cNvPr id="33" name="Text 31"/>
          <p:cNvSpPr txBox="1"/>
          <p:nvPr/>
        </p:nvSpPr>
        <p:spPr>
          <a:xfrm>
            <a:off x="7251192" y="5175504"/>
            <a:ext cx="4050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が赤字。最大コストは制作費ではなく広告出稿で全体の約70%。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彼らに足りないのは「作る力」ではなく「売る力」です。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594360" y="6336792"/>
            <a:ext cx="9902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出所: 内閣府 AI戦略 / 第一財経・搜狐(中国AI短劇の淘汰) / 経済産業省</a:t>
            </a:r>
            <a:endParaRPr lang="en-US" sz="850" dirty="0"/>
          </a:p>
        </p:txBody>
      </p:sp>
      <p:sp>
        <p:nvSpPr>
          <p:cNvPr id="35" name="Text 33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02336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日本は一度、これをやっている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69264"/>
            <a:ext cx="10387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輸入した技術を4年で国産化し、輸出産業に変えた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731520" y="2212848"/>
            <a:ext cx="10085832" cy="0"/>
          </a:xfrm>
          <a:prstGeom prst="line">
            <a:avLst/>
          </a:prstGeom>
          <a:noFill/>
          <a:ln w="25400">
            <a:solidFill>
              <a:srgbClr val="DCD9D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30936" y="2112264"/>
            <a:ext cx="201168" cy="201168"/>
          </a:xfrm>
          <a:prstGeom prst="ellipse">
            <a:avLst/>
          </a:prstGeom>
          <a:solidFill>
            <a:srgbClr val="DCD9D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-45720" y="149961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1949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-228600" y="2468880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GHQの生産制限が解除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152394" y="2112264"/>
            <a:ext cx="201168" cy="201168"/>
          </a:xfrm>
          <a:prstGeom prst="ellipse">
            <a:avLst/>
          </a:prstGeom>
          <a:solidFill>
            <a:srgbClr val="B3121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475738" y="149961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1952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292858" y="2468880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日産＝オースチン技術提携</a:t>
            </a:r>
            <a:endParaRPr lang="en-US" sz="10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日野＝ルノー、いすゞ＝ルーツ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73852" y="2112264"/>
            <a:ext cx="201168" cy="201168"/>
          </a:xfrm>
          <a:prstGeom prst="ellipse">
            <a:avLst/>
          </a:prstGeom>
          <a:solidFill>
            <a:srgbClr val="DCD9D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997196" y="149961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1955-57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814316" y="2468880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吸収した技術をダットサン110・210へ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195310" y="2112264"/>
            <a:ext cx="201168" cy="201168"/>
          </a:xfrm>
          <a:prstGeom prst="ellipse">
            <a:avLst/>
          </a:prstGeom>
          <a:solidFill>
            <a:srgbClr val="B3121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518654" y="149961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1956-57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335774" y="2468880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4社が相次いで完全国産化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10716768" y="2112264"/>
            <a:ext cx="201168" cy="201168"/>
          </a:xfrm>
          <a:prstGeom prst="ellipse">
            <a:avLst/>
          </a:prstGeom>
          <a:solidFill>
            <a:srgbClr val="DCD9D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0040112" y="149961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その後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9857232" y="2468880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輸出産業へ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3401568"/>
            <a:ext cx="11000232" cy="84124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68680" y="3401568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1952 → 1956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2377440" y="3547872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オースチン(英)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2377440" y="3840480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完成した技術を持つ側</a:t>
            </a:r>
            <a:endParaRPr lang="en-US" sz="880" dirty="0"/>
          </a:p>
        </p:txBody>
      </p:sp>
      <p:sp>
        <p:nvSpPr>
          <p:cNvPr id="26" name="Text 24"/>
          <p:cNvSpPr txBox="1"/>
          <p:nvPr/>
        </p:nvSpPr>
        <p:spPr>
          <a:xfrm>
            <a:off x="5943600" y="3547872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日産・日野・いすゞ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5943600" y="3840480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ノックダウン生産で修得</a:t>
            </a:r>
            <a:endParaRPr lang="en-US" sz="880" dirty="0"/>
          </a:p>
        </p:txBody>
      </p:sp>
      <p:sp>
        <p:nvSpPr>
          <p:cNvPr id="28" name="Text 26"/>
          <p:cNvSpPr txBox="1"/>
          <p:nvPr/>
        </p:nvSpPr>
        <p:spPr>
          <a:xfrm>
            <a:off x="9509760" y="354787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ダットサン110・210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509760" y="3840480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完全国産化。のちに輸出産業へ</a:t>
            </a:r>
            <a:endParaRPr lang="en-US" sz="880" dirty="0"/>
          </a:p>
        </p:txBody>
      </p:sp>
      <p:sp>
        <p:nvSpPr>
          <p:cNvPr id="30" name="Shape 28"/>
          <p:cNvSpPr/>
          <p:nvPr/>
        </p:nvSpPr>
        <p:spPr>
          <a:xfrm>
            <a:off x="5276088" y="3730752"/>
            <a:ext cx="475488" cy="0"/>
          </a:xfrm>
          <a:prstGeom prst="line">
            <a:avLst/>
          </a:prstGeom>
          <a:noFill/>
          <a:ln w="25400">
            <a:solidFill>
              <a:srgbClr val="B3121B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5221224" y="3858768"/>
            <a:ext cx="585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技術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8823960" y="3730752"/>
            <a:ext cx="475488" cy="0"/>
          </a:xfrm>
          <a:prstGeom prst="line">
            <a:avLst/>
          </a:prstGeom>
          <a:noFill/>
          <a:ln w="25400">
            <a:solidFill>
              <a:srgbClr val="B3121B"/>
            </a:solidFill>
            <a:prstDash val="solid"/>
            <a:tailEnd type="triangle"/>
          </a:ln>
        </p:spPr>
      </p:sp>
      <p:sp>
        <p:nvSpPr>
          <p:cNvPr id="33" name="Text 31"/>
          <p:cNvSpPr txBox="1"/>
          <p:nvPr/>
        </p:nvSpPr>
        <p:spPr>
          <a:xfrm>
            <a:off x="8769096" y="3858768"/>
            <a:ext cx="585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4年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94360" y="4352544"/>
            <a:ext cx="11000232" cy="841248"/>
          </a:xfrm>
          <a:prstGeom prst="rect">
            <a:avLst/>
          </a:prstGeom>
          <a:solidFill>
            <a:srgbClr val="16161A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868680" y="4352544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996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 → 2029</a:t>
            </a:r>
            <a:endParaRPr 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2377440" y="4498848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中国の個人クリエイター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2377440" y="4791456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A8A49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制作力が余っている側</a:t>
            </a:r>
            <a:endParaRPr lang="en-US" sz="880" dirty="0"/>
          </a:p>
        </p:txBody>
      </p:sp>
      <p:sp>
        <p:nvSpPr>
          <p:cNvPr id="38" name="Text 36"/>
          <p:cNvSpPr txBox="1"/>
          <p:nvPr/>
        </p:nvSpPr>
        <p:spPr>
          <a:xfrm>
            <a:off x="5943600" y="4498848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5943600" y="4791456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A8A49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受注・要件定義・品質保証で修得</a:t>
            </a:r>
            <a:endParaRPr lang="en-US" sz="880" dirty="0"/>
          </a:p>
        </p:txBody>
      </p:sp>
      <p:sp>
        <p:nvSpPr>
          <p:cNvPr id="40" name="Text 38"/>
          <p:cNvSpPr txBox="1"/>
          <p:nvPr/>
        </p:nvSpPr>
        <p:spPr>
          <a:xfrm>
            <a:off x="9509760" y="4498848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自社モデル・特許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9509760" y="4791456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A8A49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内製化。プロダクトとして外販へ</a:t>
            </a:r>
            <a:endParaRPr lang="en-US" sz="880" dirty="0"/>
          </a:p>
        </p:txBody>
      </p:sp>
      <p:sp>
        <p:nvSpPr>
          <p:cNvPr id="42" name="Shape 40"/>
          <p:cNvSpPr/>
          <p:nvPr/>
        </p:nvSpPr>
        <p:spPr>
          <a:xfrm>
            <a:off x="5276088" y="4681728"/>
            <a:ext cx="475488" cy="0"/>
          </a:xfrm>
          <a:prstGeom prst="line">
            <a:avLst/>
          </a:prstGeom>
          <a:noFill/>
          <a:ln w="25400">
            <a:solidFill>
              <a:srgbClr val="C9962C"/>
            </a:solidFill>
            <a:prstDash val="solid"/>
            <a:tailEnd type="triangle"/>
          </a:ln>
        </p:spPr>
      </p:sp>
      <p:sp>
        <p:nvSpPr>
          <p:cNvPr id="43" name="Text 41"/>
          <p:cNvSpPr txBox="1"/>
          <p:nvPr/>
        </p:nvSpPr>
        <p:spPr>
          <a:xfrm>
            <a:off x="5221224" y="4809744"/>
            <a:ext cx="585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8A49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制作力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8823960" y="4681728"/>
            <a:ext cx="475488" cy="0"/>
          </a:xfrm>
          <a:prstGeom prst="line">
            <a:avLst/>
          </a:prstGeom>
          <a:noFill/>
          <a:ln w="25400">
            <a:solidFill>
              <a:srgbClr val="C9962C"/>
            </a:solidFill>
            <a:prstDash val="solid"/>
            <a:tailEnd type="triangle"/>
          </a:ln>
        </p:spPr>
      </p:sp>
      <p:sp>
        <p:nvSpPr>
          <p:cNvPr id="45" name="Text 43"/>
          <p:cNvSpPr txBox="1"/>
          <p:nvPr/>
        </p:nvSpPr>
        <p:spPr>
          <a:xfrm>
            <a:off x="8769096" y="4809744"/>
            <a:ext cx="585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8A49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3年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594360" y="5394960"/>
            <a:ext cx="11000232" cy="786384"/>
          </a:xfrm>
          <a:prstGeom prst="rect">
            <a:avLst/>
          </a:prstGeom>
          <a:solidFill>
            <a:srgbClr val="16161A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960120" y="5468112"/>
            <a:ext cx="10268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96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提携から完全国産化まで 4年 ―― 当社が見込む受託の優位期間は3年。ほぼ同じスケールです。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960120" y="5779008"/>
            <a:ext cx="10268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DEBE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ただし当時は政府の保護(輸入制限・関税・技術移転の後押し)がありました。今のAI映像にはありません。だからより短い時間で内製化まで到達する必要があります。</a:t>
            </a:r>
            <a:endParaRPr lang="en-US" sz="1000" dirty="0"/>
          </a:p>
        </p:txBody>
      </p:sp>
      <p:sp>
        <p:nvSpPr>
          <p:cNvPr id="49" name="Text 47"/>
          <p:cNvSpPr txBox="1"/>
          <p:nvPr/>
        </p:nvSpPr>
        <p:spPr>
          <a:xfrm>
            <a:off x="594360" y="6336792"/>
            <a:ext cx="9902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出所: 日産自動車 企業情報 / トヨタ博物館 / GAZOO「ノックダウン生産の時代」</a:t>
            </a:r>
            <a:endParaRPr lang="en-US" sz="850" dirty="0"/>
          </a:p>
        </p:txBody>
      </p:sp>
      <p:sp>
        <p:nvSpPr>
          <p:cNvPr id="50" name="Text 48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02336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政策も同じ方向を向いている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69264"/>
            <a:ext cx="10387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国はコンテンツを輸出産業にすると決め、予算を3倍にした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600200"/>
            <a:ext cx="3483864" cy="157276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50392" y="1801368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20兆円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850392" y="247802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コンテンツ海外売上 目標(2033年)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850392" y="275234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経産省「エンタメ・クリエイティブ産業戦略2026」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352544" y="1600200"/>
            <a:ext cx="3483864" cy="157276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08576" y="1801368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35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3.5倍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4608576" y="247802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経産省の財政支援規模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4608576" y="275234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令和6年度補正 101.1億円 → 令和7年度補正 350.2億円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110728" y="1600200"/>
            <a:ext cx="3483864" cy="157276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66760" y="1801368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96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+26%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8366760" y="247802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アニメの海外売上(2024年)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8366760" y="275234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2兆1,700億円。市場全体は3兆8,400億円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94360" y="3337560"/>
            <a:ext cx="5362956" cy="205740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9" name="Shape 17"/>
          <p:cNvSpPr/>
          <p:nvPr/>
        </p:nvSpPr>
        <p:spPr>
          <a:xfrm>
            <a:off x="832104" y="3611880"/>
            <a:ext cx="118872" cy="11887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069848" y="3520440"/>
            <a:ext cx="46497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AI政策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1069848" y="3886200"/>
            <a:ext cx="464972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AI推進法(人工知能関連技術の研究開発及び活用の推進に関する法律)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2025年5月28日成立 / 6月4日公布。日本初のAI基本法。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AI基本計画を2025年12月23日に閣議決定。内閣にAI戦略本部を設置。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231636" y="3337560"/>
            <a:ext cx="5362956" cy="205740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3" name="Shape 21"/>
          <p:cNvSpPr/>
          <p:nvPr/>
        </p:nvSpPr>
        <p:spPr>
          <a:xfrm>
            <a:off x="6469380" y="3611880"/>
            <a:ext cx="118872" cy="118872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707124" y="3520440"/>
            <a:ext cx="46497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当社が実際に狙える支援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6707124" y="3886200"/>
            <a:ext cx="464972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東京都 創業助成事業   上限400万円・助成率2/3・最長2年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特許料等の減免   設立10年未満・資本金3億円以下なら1/3に軽減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JLOX+   「制作の生産性向上に資するシステムの開発・実証」枠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94360" y="5596128"/>
            <a:ext cx="11000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補助金はすべて後払い(精算払い)のため、本計画の資金繰りには一切算入していません。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594360" y="6336792"/>
            <a:ext cx="9902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出所: 経済産業省「エンタメ・クリエイティブ産業戦略2026」/ 内閣府 AI戦略 / 東京都中小企業振興公社 / 特許庁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02336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市場規模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69264"/>
            <a:ext cx="10387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市場は制約になりません。制約は営業・採用・中国側のキャパシティです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94360" y="1600200"/>
          <a:ext cx="6400800" cy="3063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7315200" y="1600200"/>
            <a:ext cx="4279392" cy="1444752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8" name="Shape 5"/>
          <p:cNvSpPr/>
          <p:nvPr/>
        </p:nvSpPr>
        <p:spPr>
          <a:xfrm>
            <a:off x="7552944" y="1874520"/>
            <a:ext cx="118872" cy="118872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790688" y="178308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追い風は実測できている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7790688" y="2148840"/>
            <a:ext cx="3566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動画広告市場  2025年 8,855億円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                  → 2026年 1兆437億円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縦型動画広告は前年比 155.9%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7315200" y="3218688"/>
            <a:ext cx="4279392" cy="1444752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2" name="Shape 9"/>
          <p:cNvSpPr/>
          <p:nvPr/>
        </p:nvSpPr>
        <p:spPr>
          <a:xfrm>
            <a:off x="7552944" y="3493008"/>
            <a:ext cx="118872" cy="118872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790688" y="3401568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3年後でもSAMの0.18%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7790688" y="3767328"/>
            <a:ext cx="3566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5年後に年商10億へ届いても0.7%。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市場の奪い合いにはなりません。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伸び方を決めるのは自社の実行力です。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594360" y="4864608"/>
            <a:ext cx="11000232" cy="1170432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914400" y="5010912"/>
            <a:ext cx="10360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⚠  ただし「原価は下がったが発注価格は下がっていない」という前提には時限があります。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914400" y="5321808"/>
            <a:ext cx="10360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米国では企業動画の制作費中央値がAI導入で $4,200 → $2,500/分 に下落済み。自己サービス型ツールは1本 $1〜30。見立ては3年程度で日本にも来ます。だから受託で稼ぐ期間に内製化とプロダクトへ移します(第5章・第8章)。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594360" y="6336792"/>
            <a:ext cx="9902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出所: サイバーエージェント 国内動画広告の市場調査 / Vidico・agent-media(米国相場)。SAM・SOMは [仮置き]</a:t>
            </a:r>
            <a:endParaRPr lang="en-US" sz="850" dirty="0"/>
          </a:p>
        </p:txBody>
      </p:sp>
      <p:sp>
        <p:nvSpPr>
          <p:cNvPr id="19" name="Text 16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02336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ビジネスモデル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69264"/>
            <a:ext cx="10387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3つの軸で構成します。②が現在の主軸、①が売上の初速、③が企業価値の源泉です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572768"/>
            <a:ext cx="420624" cy="93268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94360" y="1572768"/>
            <a:ext cx="420624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軸①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124712" y="1572768"/>
            <a:ext cx="10469880" cy="93268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380744" y="17373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中国の完成作品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1380744" y="202996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短劇・アニメ・PR映像</a:t>
            </a:r>
            <a:endParaRPr lang="en-US" sz="880" dirty="0"/>
          </a:p>
        </p:txBody>
      </p:sp>
      <p:sp>
        <p:nvSpPr>
          <p:cNvPr id="11" name="Text 9"/>
          <p:cNvSpPr txBox="1"/>
          <p:nvPr/>
        </p:nvSpPr>
        <p:spPr>
          <a:xfrm>
            <a:off x="4818888" y="17373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35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日本語化して販売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4818888" y="2029968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翻訳・吹替・編集・権利処理・考査対応</a:t>
            </a:r>
            <a:endParaRPr lang="en-US" sz="880" dirty="0"/>
          </a:p>
        </p:txBody>
      </p:sp>
      <p:sp>
        <p:nvSpPr>
          <p:cNvPr id="13" name="Text 11"/>
          <p:cNvSpPr txBox="1"/>
          <p:nvPr/>
        </p:nvSpPr>
        <p:spPr>
          <a:xfrm>
            <a:off x="8732520" y="17373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日本の配信・放送・企業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8732520" y="2029968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ライセンス販売</a:t>
            </a:r>
            <a:endParaRPr lang="en-US" sz="880" dirty="0"/>
          </a:p>
        </p:txBody>
      </p:sp>
      <p:sp>
        <p:nvSpPr>
          <p:cNvPr id="15" name="Shape 13"/>
          <p:cNvSpPr/>
          <p:nvPr/>
        </p:nvSpPr>
        <p:spPr>
          <a:xfrm>
            <a:off x="4306824" y="2039112"/>
            <a:ext cx="384048" cy="0"/>
          </a:xfrm>
          <a:prstGeom prst="line">
            <a:avLst/>
          </a:prstGeom>
          <a:noFill/>
          <a:ln w="22225">
            <a:solidFill>
              <a:srgbClr val="6E6E76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8220456" y="2039112"/>
            <a:ext cx="384048" cy="0"/>
          </a:xfrm>
          <a:prstGeom prst="line">
            <a:avLst/>
          </a:prstGeom>
          <a:noFill/>
          <a:ln w="22225">
            <a:solidFill>
              <a:srgbClr val="6E6E76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594360" y="2633472"/>
            <a:ext cx="420624" cy="9326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94360" y="2633472"/>
            <a:ext cx="420624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軸②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124712" y="2633472"/>
            <a:ext cx="10469880" cy="932688"/>
          </a:xfrm>
          <a:prstGeom prst="rect">
            <a:avLst/>
          </a:prstGeom>
          <a:solidFill>
            <a:srgbClr val="EAE7E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380744" y="279806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日本の発注者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1380744" y="309067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事業会社・広告代理店・制作会社(2次受け)</a:t>
            </a:r>
            <a:endParaRPr lang="en-US" sz="880" dirty="0"/>
          </a:p>
        </p:txBody>
      </p:sp>
      <p:sp>
        <p:nvSpPr>
          <p:cNvPr id="22" name="Text 20"/>
          <p:cNvSpPr txBox="1"/>
          <p:nvPr/>
        </p:nvSpPr>
        <p:spPr>
          <a:xfrm>
            <a:off x="4818888" y="279806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受注制作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4818888" y="3090672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要件定義・品質保証・契約・与信・請求</a:t>
            </a:r>
            <a:endParaRPr lang="en-US" sz="880" dirty="0"/>
          </a:p>
        </p:txBody>
      </p:sp>
      <p:sp>
        <p:nvSpPr>
          <p:cNvPr id="24" name="Text 22"/>
          <p:cNvSpPr txBox="1"/>
          <p:nvPr/>
        </p:nvSpPr>
        <p:spPr>
          <a:xfrm>
            <a:off x="8732520" y="279806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中国の個人クリエイター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8732520" y="309067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登録20〜25名 / 稼働14名・月3本</a:t>
            </a:r>
            <a:endParaRPr lang="en-US" sz="880" dirty="0"/>
          </a:p>
        </p:txBody>
      </p:sp>
      <p:sp>
        <p:nvSpPr>
          <p:cNvPr id="26" name="Shape 24"/>
          <p:cNvSpPr/>
          <p:nvPr/>
        </p:nvSpPr>
        <p:spPr>
          <a:xfrm>
            <a:off x="4306824" y="3099816"/>
            <a:ext cx="384048" cy="0"/>
          </a:xfrm>
          <a:prstGeom prst="line">
            <a:avLst/>
          </a:prstGeom>
          <a:noFill/>
          <a:ln w="22225">
            <a:solidFill>
              <a:srgbClr val="6E6E76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8220456" y="3099816"/>
            <a:ext cx="384048" cy="0"/>
          </a:xfrm>
          <a:prstGeom prst="line">
            <a:avLst/>
          </a:prstGeom>
          <a:noFill/>
          <a:ln w="22225">
            <a:solidFill>
              <a:srgbClr val="6E6E76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594360" y="3694176"/>
            <a:ext cx="420624" cy="93268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94360" y="3694176"/>
            <a:ext cx="420624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軸③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124712" y="3694176"/>
            <a:ext cx="10469880" cy="93268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1380744" y="38587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①②で溜まる制作データ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1380744" y="415137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指示→初稿→修正→承認のペア / 視聴維持率</a:t>
            </a:r>
            <a:endParaRPr lang="en-US" sz="880" dirty="0"/>
          </a:p>
        </p:txBody>
      </p:sp>
      <p:sp>
        <p:nvSpPr>
          <p:cNvPr id="33" name="Text 31"/>
          <p:cNvSpPr txBox="1"/>
          <p:nvPr/>
        </p:nvSpPr>
        <p:spPr>
          <a:xfrm>
            <a:off x="4818888" y="385876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996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内製化してモデル開発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4818888" y="4151376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工程のツール化・生成AI関連の特許取得</a:t>
            </a:r>
            <a:endParaRPr lang="en-US" sz="880" dirty="0"/>
          </a:p>
        </p:txBody>
      </p:sp>
      <p:sp>
        <p:nvSpPr>
          <p:cNvPr id="35" name="Text 33"/>
          <p:cNvSpPr txBox="1"/>
          <p:nvPr/>
        </p:nvSpPr>
        <p:spPr>
          <a:xfrm>
            <a:off x="8732520" y="385876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プロダクト外販(R4)</a:t>
            </a:r>
            <a:endParaRPr 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8732520" y="41513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粗利率80%以上・人数に比例しない</a:t>
            </a:r>
            <a:endParaRPr lang="en-US" sz="880" dirty="0"/>
          </a:p>
        </p:txBody>
      </p:sp>
      <p:sp>
        <p:nvSpPr>
          <p:cNvPr id="37" name="Shape 35"/>
          <p:cNvSpPr/>
          <p:nvPr/>
        </p:nvSpPr>
        <p:spPr>
          <a:xfrm>
            <a:off x="4306824" y="4160520"/>
            <a:ext cx="384048" cy="0"/>
          </a:xfrm>
          <a:prstGeom prst="line">
            <a:avLst/>
          </a:prstGeom>
          <a:noFill/>
          <a:ln w="22225">
            <a:solidFill>
              <a:srgbClr val="6E6E76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8220456" y="4160520"/>
            <a:ext cx="384048" cy="0"/>
          </a:xfrm>
          <a:prstGeom prst="line">
            <a:avLst/>
          </a:prstGeom>
          <a:noFill/>
          <a:ln w="22225">
            <a:solidFill>
              <a:srgbClr val="6E6E76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594360" y="4882896"/>
            <a:ext cx="3483864" cy="91440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40" name="Shape 38"/>
          <p:cNvSpPr/>
          <p:nvPr/>
        </p:nvSpPr>
        <p:spPr>
          <a:xfrm>
            <a:off x="832104" y="5157216"/>
            <a:ext cx="118872" cy="118872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1069848" y="5065776"/>
            <a:ext cx="2770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軸① 中国作品の日本語化販売</a:t>
            </a:r>
            <a:endParaRPr lang="en-US" sz="1350" dirty="0"/>
          </a:p>
        </p:txBody>
      </p:sp>
      <p:sp>
        <p:nvSpPr>
          <p:cNvPr id="42" name="Text 40"/>
          <p:cNvSpPr txBox="1"/>
          <p:nvPr/>
        </p:nvSpPr>
        <p:spPr>
          <a:xfrm>
            <a:off x="1069848" y="5431536"/>
            <a:ext cx="2770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開始 2年目 / 初期投資は版権前払い。受託の粗利が出てから着手します。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4352544" y="4882896"/>
            <a:ext cx="3483864" cy="91440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44" name="Shape 42"/>
          <p:cNvSpPr/>
          <p:nvPr/>
        </p:nvSpPr>
        <p:spPr>
          <a:xfrm>
            <a:off x="4590288" y="5157216"/>
            <a:ext cx="118872" cy="11887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4828032" y="5065776"/>
            <a:ext cx="2770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軸② 日本企業からの受注制作</a:t>
            </a:r>
            <a:endParaRPr lang="en-US" sz="1350" dirty="0"/>
          </a:p>
        </p:txBody>
      </p:sp>
      <p:sp>
        <p:nvSpPr>
          <p:cNvPr id="46" name="Text 44"/>
          <p:cNvSpPr txBox="1"/>
          <p:nvPr/>
        </p:nvSpPr>
        <p:spPr>
          <a:xfrm>
            <a:off x="4828032" y="5431536"/>
            <a:ext cx="2770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開始 1年目・主軸 / 単価48万・粗利率54%。1年目は代理店の2次受けが中心。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8110728" y="4882896"/>
            <a:ext cx="3483864" cy="91440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48" name="Shape 46"/>
          <p:cNvSpPr/>
          <p:nvPr/>
        </p:nvSpPr>
        <p:spPr>
          <a:xfrm>
            <a:off x="8348472" y="5157216"/>
            <a:ext cx="118872" cy="118872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8586216" y="5065776"/>
            <a:ext cx="2770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軸③ 内製化・モデル開発</a:t>
            </a:r>
            <a:endParaRPr lang="en-US" sz="1350" dirty="0"/>
          </a:p>
        </p:txBody>
      </p:sp>
      <p:sp>
        <p:nvSpPr>
          <p:cNvPr id="50" name="Text 48"/>
          <p:cNvSpPr txBox="1"/>
          <p:nvPr/>
        </p:nvSpPr>
        <p:spPr>
          <a:xfrm>
            <a:off x="8586216" y="5431536"/>
            <a:ext cx="2770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開始 3年目 / 上場に必要な「読める収益」はここ。①②がデータの源。</a:t>
            </a:r>
            <a:endParaRPr lang="en-US" sz="1050" dirty="0"/>
          </a:p>
        </p:txBody>
      </p:sp>
      <p:sp>
        <p:nvSpPr>
          <p:cNvPr id="51" name="Text 49"/>
          <p:cNvSpPr txBox="1"/>
          <p:nvPr/>
        </p:nvSpPr>
        <p:spPr>
          <a:xfrm>
            <a:off x="594360" y="6336792"/>
            <a:ext cx="9902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収益ラインの詳細は MARKET_SIZING / 中国側の調達設計は CHINA_SOURCING を参照</a:t>
            </a:r>
            <a:endParaRPr lang="en-US" sz="850" dirty="0"/>
          </a:p>
        </p:txBody>
      </p:sp>
      <p:sp>
        <p:nvSpPr>
          <p:cNvPr id="52" name="Text 50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02336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ユニットエコノミクス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69264"/>
            <a:ext cx="10387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1本あたりの内訳と、損益分岐に必要な本数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94360" y="1572768"/>
          <a:ext cx="576072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6675120" y="1572768"/>
            <a:ext cx="4919472" cy="137160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931152" y="1773936"/>
            <a:ext cx="4407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54.2%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6931152" y="2450592"/>
            <a:ext cx="4407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粗利率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6931152" y="2724912"/>
            <a:ext cx="440740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個人契約により55%→60%へ改善。計画では保守的に54%で置く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675120" y="3090672"/>
            <a:ext cx="4919472" cy="148132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931152" y="3291840"/>
            <a:ext cx="4407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35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月10.6本</a:t>
            </a:r>
            <a:endParaRPr lang="en-US" sz="3000" dirty="0"/>
          </a:p>
        </p:txBody>
      </p:sp>
      <p:sp>
        <p:nvSpPr>
          <p:cNvPr id="13" name="Text 10"/>
          <p:cNvSpPr txBox="1"/>
          <p:nvPr/>
        </p:nvSpPr>
        <p:spPr>
          <a:xfrm>
            <a:off x="6931152" y="3968496"/>
            <a:ext cx="4407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損益分岐(フル体制)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6931152" y="4242816"/>
            <a:ext cx="4407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月次固定費276万 ÷ 粗利率 ÷ 平均単価。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自社チャンネル投資を除くと月8.9本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675120" y="4718304"/>
            <a:ext cx="4919472" cy="896112"/>
          </a:xfrm>
          <a:prstGeom prst="rect">
            <a:avLst/>
          </a:prstGeom>
          <a:solidFill>
            <a:srgbClr val="16161A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931152" y="4846320"/>
            <a:ext cx="4407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996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利益率を決めるのは制作原価ではなく営業効率です。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6931152" y="5138928"/>
            <a:ext cx="4407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EDEBE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外注原価は契約で固定できますが、1本の受注に営業が使う時間はリピート率で2倍以上変わります。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594360" y="6336792"/>
            <a:ext cx="9902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 [仮置き]。P0の有償テストとP2の最初の3案件で実測して差し替えます。</a:t>
            </a:r>
            <a:endParaRPr lang="en-US" sz="850" dirty="0"/>
          </a:p>
        </p:txBody>
      </p:sp>
      <p:sp>
        <p:nvSpPr>
          <p:cNvPr id="19" name="Text 16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02336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競合と優位性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69264"/>
            <a:ext cx="10387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誰と戦い、なぜ負けないか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1463040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競合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3950208" y="1463040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相手の強み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693408" y="1463040"/>
            <a:ext cx="4828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当社が勝てる点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94360" y="1828800"/>
            <a:ext cx="11000232" cy="804672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95528" y="1883664"/>
            <a:ext cx="2880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日本の映像制作会社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3950208" y="1883664"/>
            <a:ext cx="24688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制作力・信用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693408" y="1883664"/>
            <a:ext cx="482803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価格。原価構造が違う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795528" y="2688336"/>
            <a:ext cx="2880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クラウドソーシング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950208" y="2688336"/>
            <a:ext cx="24688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6693408" y="2688336"/>
            <a:ext cx="482803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日本語の要件定義と品質保証。発注側の管理コストが残る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94360" y="3438144"/>
            <a:ext cx="11000232" cy="804672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95528" y="3493008"/>
            <a:ext cx="2880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AI動画生成ツール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(Creatify / Arcads 等)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3950208" y="3493008"/>
            <a:ext cx="24688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圧倒的な安さ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6693408" y="3493008"/>
            <a:ext cx="482803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テンプレでは通らない案件を取る。要件定義と修正対応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795528" y="4297680"/>
            <a:ext cx="2880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中国のスタジオ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3950208" y="4297680"/>
            <a:ext cx="24688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制作力・価格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693408" y="4297680"/>
            <a:ext cx="482803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日本語での受注・稟議・与信・請求。売る力が無い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94360" y="5047488"/>
            <a:ext cx="11000232" cy="804672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95528" y="5102352"/>
            <a:ext cx="2880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中国のショートドラマ企業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3950208" y="5102352"/>
            <a:ext cx="24688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日本市場の理解・資本力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6693408" y="5102352"/>
            <a:ext cx="482803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当社はBtoC配信ではなくBtoB受託。突破すべき壁が違う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594360" y="6336792"/>
            <a:ext cx="9902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中国のショートドラマ企業はBtoC配信で日本市場に成功しています(アプリ市場シェア9割超)。BtoB受託は別の壁であるという整理は次頁。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02336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「中国側が直接売り始めたら?」への回答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69264"/>
            <a:ext cx="10387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契約条項ではなく、構造で答えます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572768"/>
            <a:ext cx="3483864" cy="148132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50392" y="1773936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14.7%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850392" y="2450592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中国に「親しみを感じる」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850392" y="2724912"/>
            <a:ext cx="2971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日中関係が良好=8.8%。稟議を通す上司・法務・調達の心理に効く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352544" y="1572768"/>
            <a:ext cx="3483864" cy="148132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08576" y="1773936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35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−42%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4608576" y="2450592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中国AI漫劇の制作会社数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4608576" y="2724912"/>
            <a:ext cx="2971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2026年Q1に1,216社→698社。約90%が赤字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110728" y="1572768"/>
            <a:ext cx="3483864" cy="148132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66760" y="1773936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96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70%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8366760" y="2450592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短劇業界の最大コスト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8366760" y="2724912"/>
            <a:ext cx="2971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制作費ではなく広告出稿。足りないのは売る力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94360" y="3273552"/>
            <a:ext cx="5362956" cy="205740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9" name="Shape 17"/>
          <p:cNvSpPr/>
          <p:nvPr/>
        </p:nvSpPr>
        <p:spPr>
          <a:xfrm>
            <a:off x="832104" y="3547872"/>
            <a:ext cx="118872" cy="11887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069848" y="3456432"/>
            <a:ext cx="46497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直接取引を阻む4つの実務障壁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1069848" y="3822192"/>
            <a:ext cx="464972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日本語での要件定義と、修正のやり取り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社内稟議  ―  中国の個人に発注する決裁は通らない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与信・反社チェック・下請法・検収・秘密保持契約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請求書と支払サイト  ―  日本の商習慣に載せる必要がある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231636" y="3273552"/>
            <a:ext cx="5362956" cy="205740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3" name="Shape 21"/>
          <p:cNvSpPr/>
          <p:nvPr/>
        </p:nvSpPr>
        <p:spPr>
          <a:xfrm>
            <a:off x="6469380" y="3547872"/>
            <a:ext cx="118872" cy="11887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707124" y="3456432"/>
            <a:ext cx="46497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⚠ 正直に見ている点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6707124" y="3822192"/>
            <a:ext cx="464972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中国のショートドラマ企業は日本法人と日本人スタッフを持ち、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BtoC配信では日本市場を突破しています(アプリ市場シェア9割超)。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BtoB受託に来る足場はすでにある。「できない」ではなく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「まだ来ていない」が正確です。防壁は契約ではなく上記の構造。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94360" y="5532120"/>
            <a:ext cx="110002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この障壁は定量データが存在しません。P2の商談20件で「中国制作であること」への反応を分類・記録し、自社データとして測ります。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594360" y="6336792"/>
            <a:ext cx="9902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出所: 内閣府「外交に関する世論調査」/ 第一財経・搜狐 / 36Kr Japan(中国発ショートドラマアプリの日本シェア)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02336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課題と、その解決方法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69264"/>
            <a:ext cx="10387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把握している課題と、それぞれに割り当てた打ち手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572768"/>
            <a:ext cx="11000232" cy="722376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7" name="Shape 5"/>
          <p:cNvSpPr/>
          <p:nvPr/>
        </p:nvSpPr>
        <p:spPr>
          <a:xfrm>
            <a:off x="813816" y="1874520"/>
            <a:ext cx="118872" cy="11887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69848" y="1627632"/>
            <a:ext cx="411480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受託の優位性は3年で侵食される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5349240" y="1627632"/>
            <a:ext cx="601675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内製化・特許・プロダクト(R4)へ前倒しで移す。P3で特許③の実装に着手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13816" y="2596896"/>
            <a:ext cx="118872" cy="11887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069848" y="2350008"/>
            <a:ext cx="411480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営業が最大のボトルネック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5349240" y="2350008"/>
            <a:ext cx="601675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代理店の2次受けを1年目の主軸に。営業1名で月12本(直販は月5本)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94360" y="3017520"/>
            <a:ext cx="11000232" cy="722376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4" name="Shape 12"/>
          <p:cNvSpPr/>
          <p:nvPr/>
        </p:nvSpPr>
        <p:spPr>
          <a:xfrm>
            <a:off x="813816" y="3319272"/>
            <a:ext cx="118872" cy="11887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069848" y="3072384"/>
            <a:ext cx="411480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中国側の品質のばらつき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349240" y="3072384"/>
            <a:ext cx="601675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A/B/Cのランク制、一次レビュー報酬3万/本、品質バッファ2万/本を原価に固定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13816" y="4041648"/>
            <a:ext cx="118872" cy="11887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69848" y="3794760"/>
            <a:ext cx="411480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中国本土から業務基盤に接続できない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349240" y="3794760"/>
            <a:ext cx="601675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日本側をハブにする運用。転記を最初の自動化対象にし、データを1か所に集約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94360" y="4462272"/>
            <a:ext cx="11000232" cy="722376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1" name="Shape 19"/>
          <p:cNvSpPr/>
          <p:nvPr/>
        </p:nvSpPr>
        <p:spPr>
          <a:xfrm>
            <a:off x="813816" y="4764024"/>
            <a:ext cx="118872" cy="11887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069848" y="4517136"/>
            <a:ext cx="411480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「AIっぽさ」が広告効果を落とす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5349240" y="4517136"/>
            <a:ext cx="601675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品質基準の自動判定を特許①として出願。視聴維持率データを学習側に回す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13816" y="5486400"/>
            <a:ext cx="118872" cy="11887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069848" y="5239512"/>
            <a:ext cx="411480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中国側の原価は上昇局面にある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5349240" y="5239512"/>
            <a:ext cx="601675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個人契約でプールを厚く(登録20〜25名)。淘汰で市場に出た人材を取り込む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594360" y="6336792"/>
            <a:ext cx="9902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各課題の詳細と数値根拠は MOAT_TIMELINE / SALES_COST / CHINA_SOURCING に記載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02336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69264"/>
            <a:ext cx="10387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（記入予定）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691640"/>
            <a:ext cx="3483864" cy="214884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7" name="Shape 5"/>
          <p:cNvSpPr/>
          <p:nvPr/>
        </p:nvSpPr>
        <p:spPr>
          <a:xfrm>
            <a:off x="1924812" y="2039112"/>
            <a:ext cx="822960" cy="822960"/>
          </a:xfrm>
          <a:prstGeom prst="ellipse">
            <a:avLst/>
          </a:prstGeom>
          <a:solidFill>
            <a:srgbClr val="DCD9D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990088"/>
            <a:ext cx="29352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代表取締役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337560"/>
            <a:ext cx="29352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経歴 ／ 実績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52544" y="1691640"/>
            <a:ext cx="3483864" cy="214884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1" name="Shape 9"/>
          <p:cNvSpPr/>
          <p:nvPr/>
        </p:nvSpPr>
        <p:spPr>
          <a:xfrm>
            <a:off x="5682996" y="2039112"/>
            <a:ext cx="822960" cy="822960"/>
          </a:xfrm>
          <a:prstGeom prst="ellipse">
            <a:avLst/>
          </a:prstGeom>
          <a:solidFill>
            <a:srgbClr val="DCD9D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626864" y="2990088"/>
            <a:ext cx="29352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制作ディレクター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4626864" y="3337560"/>
            <a:ext cx="29352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採用計画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110728" y="1691640"/>
            <a:ext cx="3483864" cy="214884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5" name="Shape 13"/>
          <p:cNvSpPr/>
          <p:nvPr/>
        </p:nvSpPr>
        <p:spPr>
          <a:xfrm>
            <a:off x="9441180" y="2039112"/>
            <a:ext cx="822960" cy="822960"/>
          </a:xfrm>
          <a:prstGeom prst="ellipse">
            <a:avLst/>
          </a:prstGeom>
          <a:solidFill>
            <a:srgbClr val="DCD9D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85048" y="2990088"/>
            <a:ext cx="29352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営業責任者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8385048" y="3337560"/>
            <a:ext cx="29352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採用計画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94360" y="4160520"/>
            <a:ext cx="11000232" cy="1600200"/>
          </a:xfrm>
          <a:prstGeom prst="rect">
            <a:avLst/>
          </a:prstGeom>
          <a:solidFill>
            <a:srgbClr val="16161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005840" y="4407408"/>
            <a:ext cx="10177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996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この章は記入予定です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1005840" y="4864608"/>
            <a:ext cx="10177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EDEBE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代表の経歴と実績  ／  これから採用する職種・時期・採用チャネル  ／  アドバイザー・顧問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EDEBE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1年目は代表＋営業1名の2名体制。制作ディレクターは2027年4月から採用します。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02336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事業計画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69264"/>
            <a:ext cx="10387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楽観ケースを採用。単月黒字化は2年目、各年が上場のどのゲートに当たるかを下段に併記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94360" y="1572768"/>
          <a:ext cx="6858000" cy="3703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7772400" y="1536192"/>
            <a:ext cx="3822192" cy="141732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8" name="Shape 5"/>
          <p:cNvSpPr/>
          <p:nvPr/>
        </p:nvSpPr>
        <p:spPr>
          <a:xfrm>
            <a:off x="8010144" y="1810512"/>
            <a:ext cx="118872" cy="11887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247888" y="171907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1年目 ― 仕込みの年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8247888" y="2084832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受注54本・売上2,700万。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代表＋営業1名の2名体制。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中国側は登録8〜10名で立ち上げる。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7772400" y="3054096"/>
            <a:ext cx="3822192" cy="141732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2" name="Shape 9"/>
          <p:cNvSpPr/>
          <p:nvPr/>
        </p:nvSpPr>
        <p:spPr>
          <a:xfrm>
            <a:off x="8010144" y="3328416"/>
            <a:ext cx="118872" cy="118872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247888" y="3236976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2年目 ― 単月黒字化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8247888" y="3602736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受注190本・年商1億。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日本側8名で損益分岐を越える。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リピートが受注の30%以上へ。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7772400" y="4572000"/>
            <a:ext cx="3822192" cy="804672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6" name="Shape 13"/>
          <p:cNvSpPr/>
          <p:nvPr/>
        </p:nvSpPr>
        <p:spPr>
          <a:xfrm>
            <a:off x="8010144" y="4846320"/>
            <a:ext cx="118872" cy="118872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247888" y="475488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5年目 ― 年商10億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8247888" y="5120640"/>
            <a:ext cx="310896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日本側35〜50名。上場申請の水準へ。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94360" y="5468112"/>
            <a:ext cx="2126894" cy="676656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740664" y="5513832"/>
            <a:ext cx="18342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1年目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740664" y="5724144"/>
            <a:ext cx="183428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P2ゲート / 累計5本・粗利率55%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2812694" y="5468112"/>
            <a:ext cx="2126894" cy="676656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2958998" y="5513832"/>
            <a:ext cx="18342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2年目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2958998" y="5724144"/>
            <a:ext cx="183428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P3ゲート・単月黒字化 / 年商1億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5031029" y="5468112"/>
            <a:ext cx="2126894" cy="676656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177333" y="5513832"/>
            <a:ext cx="18342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3年目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5177333" y="5724144"/>
            <a:ext cx="183428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P4ゲート / プロダクト比率10%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7249363" y="5468112"/>
            <a:ext cx="2126894" cy="676656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7395667" y="5513832"/>
            <a:ext cx="18342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4〜5年目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7395667" y="5724144"/>
            <a:ext cx="183428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N-2期の監査開始 / 内部管理体制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9467698" y="5468112"/>
            <a:ext cx="2126894" cy="676656"/>
          </a:xfrm>
          <a:prstGeom prst="rect">
            <a:avLst/>
          </a:prstGeom>
          <a:solidFill>
            <a:srgbClr val="16161A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9614002" y="5513832"/>
            <a:ext cx="18342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996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7年目(2033年) → 上場</a:t>
            </a:r>
            <a:endParaRPr lang="en-US" sz="950" dirty="0"/>
          </a:p>
        </p:txBody>
      </p:sp>
      <p:sp>
        <p:nvSpPr>
          <p:cNvPr id="33" name="Text 30"/>
          <p:cNvSpPr txBox="1"/>
          <p:nvPr/>
        </p:nvSpPr>
        <p:spPr>
          <a:xfrm>
            <a:off x="9614002" y="5724144"/>
            <a:ext cx="183428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EDEBE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流通株式時価総額5億円 / 比率25%</a:t>
            </a:r>
            <a:endParaRPr lang="en-US" sz="850" dirty="0"/>
          </a:p>
        </p:txBody>
      </p:sp>
      <p:sp>
        <p:nvSpPr>
          <p:cNvPr id="34" name="Text 31"/>
          <p:cNvSpPr txBox="1"/>
          <p:nvPr/>
        </p:nvSpPr>
        <p:spPr>
          <a:xfrm>
            <a:off x="594360" y="6336792"/>
            <a:ext cx="9902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楽観ケースを採用(MARKET_SIZING 9-1 の受注本数54/190/420本を基礎)。保守ケースは1年目29本・売上1,400万で、単月黒字化は3年目にずれます。</a:t>
            </a:r>
            <a:endParaRPr lang="en-US" sz="850" dirty="0"/>
          </a:p>
        </p:txBody>
      </p:sp>
      <p:sp>
        <p:nvSpPr>
          <p:cNvPr id="35" name="Text 32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02336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上場までの流れ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69264"/>
            <a:ext cx="10387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東証グロース。流通株式比率25%・流通株式時価総額5億円が形式要件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627632"/>
            <a:ext cx="2017166" cy="214884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13816" y="1828800"/>
            <a:ext cx="157825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P1-P2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13816" y="2249424"/>
            <a:ext cx="157825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2026/10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-2027/3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13816" y="2862072"/>
            <a:ext cx="157825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法人設立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体制構築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最初の受注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657246" y="2702052"/>
            <a:ext cx="137160" cy="0"/>
          </a:xfrm>
          <a:prstGeom prst="line">
            <a:avLst/>
          </a:prstGeom>
          <a:noFill/>
          <a:ln w="25400">
            <a:solidFill>
              <a:srgbClr val="DCD9D4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840126" y="1627632"/>
            <a:ext cx="2017166" cy="214884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059582" y="1828800"/>
            <a:ext cx="157825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059582" y="2249424"/>
            <a:ext cx="157825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2027/4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-2028/9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3059582" y="2862072"/>
            <a:ext cx="157825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受注を積む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内製準備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シード調達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903013" y="2702052"/>
            <a:ext cx="137160" cy="0"/>
          </a:xfrm>
          <a:prstGeom prst="line">
            <a:avLst/>
          </a:prstGeom>
          <a:noFill/>
          <a:ln w="25400">
            <a:solidFill>
              <a:srgbClr val="DCD9D4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085893" y="1627632"/>
            <a:ext cx="2017166" cy="214884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05349" y="1828800"/>
            <a:ext cx="157825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305349" y="2249424"/>
            <a:ext cx="157825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2028/10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-2031/9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5305349" y="2862072"/>
            <a:ext cx="157825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内製・技術資産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シリーズA/B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プロダクト比率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148779" y="2702052"/>
            <a:ext cx="137160" cy="0"/>
          </a:xfrm>
          <a:prstGeom prst="line">
            <a:avLst/>
          </a:prstGeom>
          <a:noFill/>
          <a:ln w="25400">
            <a:solidFill>
              <a:srgbClr val="DCD9D4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7331659" y="1627632"/>
            <a:ext cx="2017166" cy="214884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551115" y="1828800"/>
            <a:ext cx="157825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P5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7551115" y="2249424"/>
            <a:ext cx="157825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2031/10-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7551115" y="2862072"/>
            <a:ext cx="157825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監査法人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主幹事証券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N-2期から管理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9394546" y="2702052"/>
            <a:ext cx="137160" cy="0"/>
          </a:xfrm>
          <a:prstGeom prst="line">
            <a:avLst/>
          </a:prstGeom>
          <a:noFill/>
          <a:ln w="25400">
            <a:solidFill>
              <a:srgbClr val="DCD9D4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9577426" y="1627632"/>
            <a:ext cx="2017166" cy="2148840"/>
          </a:xfrm>
          <a:prstGeom prst="rect">
            <a:avLst/>
          </a:prstGeom>
          <a:solidFill>
            <a:srgbClr val="16161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9796882" y="1828800"/>
            <a:ext cx="157825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996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上場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9796882" y="2249424"/>
            <a:ext cx="157825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DEBE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2033年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DEBE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前後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9796882" y="2862072"/>
            <a:ext cx="157825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東証グロース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を想定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94360" y="4041648"/>
            <a:ext cx="5362956" cy="157276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31" name="Shape 29"/>
          <p:cNvSpPr/>
          <p:nvPr/>
        </p:nvSpPr>
        <p:spPr>
          <a:xfrm>
            <a:off x="832104" y="4315968"/>
            <a:ext cx="118872" cy="118872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1069848" y="4224528"/>
            <a:ext cx="46497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資本政策の想定</a:t>
            </a:r>
            <a:endParaRPr lang="en-US" sz="1350" dirty="0"/>
          </a:p>
        </p:txBody>
      </p:sp>
      <p:sp>
        <p:nvSpPr>
          <p:cNvPr id="33" name="Text 31"/>
          <p:cNvSpPr txBox="1"/>
          <p:nvPr/>
        </p:nvSpPr>
        <p:spPr>
          <a:xfrm>
            <a:off x="1069848" y="4590288"/>
            <a:ext cx="464972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シード20%  →  ESOP枠10%  →  シリーズA 20%  →  シリーズB 15%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IPO公募20%を経て、上場時の創業者持分は 37〜42% を想定。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1ラウンドで33%超は放出しません(特別決議の拒否権を渡さないため)。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231636" y="4041648"/>
            <a:ext cx="5362956" cy="157276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35" name="Shape 33"/>
          <p:cNvSpPr/>
          <p:nvPr/>
        </p:nvSpPr>
        <p:spPr>
          <a:xfrm>
            <a:off x="6469380" y="4315968"/>
            <a:ext cx="118872" cy="11887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707124" y="4224528"/>
            <a:ext cx="46497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⚠ 前提として直視していること</a:t>
            </a:r>
            <a:endParaRPr lang="en-US" sz="1350" dirty="0"/>
          </a:p>
        </p:txBody>
      </p:sp>
      <p:sp>
        <p:nvSpPr>
          <p:cNvPr id="37" name="Text 35"/>
          <p:cNvSpPr txBox="1"/>
          <p:nvPr/>
        </p:nvSpPr>
        <p:spPr>
          <a:xfrm>
            <a:off x="6707124" y="4590288"/>
            <a:ext cx="464972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流通株式比率35%はプライムの基準です。グロースは25%。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グロースは2030年3月以降「上場5年経過後に時価総額100億円」の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維持基準が新設されます。ゴールは上場ではなく、その先です。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594360" y="6336792"/>
            <a:ext cx="9902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出所: 日本取引所グループ 上場維持基準。上場基準は改定が続くため、準備期に入る前に最新基準を再確認します。</a:t>
            </a:r>
            <a:endParaRPr lang="en-US" sz="850" dirty="0"/>
          </a:p>
        </p:txBody>
      </p:sp>
      <p:sp>
        <p:nvSpPr>
          <p:cNvPr id="39" name="Text 37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02336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マイルストーン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69264"/>
            <a:ext cx="10387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各フェーズを、次へ進むための「ゲート条件」で管理します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1554480" y="146304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期間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3246120" y="146304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やること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7726680" y="146304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次へ進むゲート条件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94360" y="1810512"/>
            <a:ext cx="11000232" cy="694944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" y="1865376"/>
            <a:ext cx="548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P0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554480" y="1865376"/>
            <a:ext cx="1417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2026/9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3246120" y="1865376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有償テスト課題で個人15名を選考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7726680" y="1865376"/>
            <a:ext cx="368503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A35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A/B/Cランク付けを完了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2560320"/>
            <a:ext cx="548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P1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554480" y="2560320"/>
            <a:ext cx="1417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2026/10-12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3246120" y="2560320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法人設立・契約・サンプル4本・特許出願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7726680" y="2560320"/>
            <a:ext cx="368503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A35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クリエイター5名以上と契約締結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94360" y="3200400"/>
            <a:ext cx="11000232" cy="694944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77240" y="3255264"/>
            <a:ext cx="548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P2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554480" y="3255264"/>
            <a:ext cx="1417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2027/1-3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3246120" y="3255264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2次受けを開始・最初の3案件で実測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7726680" y="3255264"/>
            <a:ext cx="368503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A35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累計5本受注／粗利率55%以上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777240" y="3950208"/>
            <a:ext cx="548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P3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554480" y="3950208"/>
            <a:ext cx="1417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2027/4-2028/9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3246120" y="3950208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受注を積む・内製準備・シード調達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7726680" y="3950208"/>
            <a:ext cx="368503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A35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年商1億／リピート30%／ペアデータ300件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94360" y="4590288"/>
            <a:ext cx="11000232" cy="694944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77240" y="4645152"/>
            <a:ext cx="548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P4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1554480" y="4645152"/>
            <a:ext cx="1417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2028/10-2031/9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3246120" y="4645152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内製化・シリーズA/B・単月黒字化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7726680" y="4645152"/>
            <a:ext cx="368503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A35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プロダクト比率10%以上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777240" y="5340096"/>
            <a:ext cx="548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P5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1554480" y="5340096"/>
            <a:ext cx="1417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2031/10-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3246120" y="5340096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監査法人・主幹事証券・内部管理体制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7726680" y="5340096"/>
            <a:ext cx="368503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A35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N-2期からの管理体制を構築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594360" y="6336792"/>
            <a:ext cx="9902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ゲート条件を満たさない場合は次フェーズに進まず、前提を引き直します。</a:t>
            </a:r>
            <a:endParaRPr lang="en-US" sz="850" dirty="0"/>
          </a:p>
        </p:txBody>
      </p:sp>
      <p:sp>
        <p:nvSpPr>
          <p:cNvPr id="37" name="Text 35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02336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資金計画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69264"/>
            <a:ext cx="10387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調達目標 5,000万円。デットで立ち上げ、実績が出てからエクイティを入れます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94360" y="1600200"/>
          <a:ext cx="502920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943600" y="1600200"/>
            <a:ext cx="2688336" cy="148132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199632" y="1801368"/>
            <a:ext cx="21762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800万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6199632" y="2478024"/>
            <a:ext cx="2176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資本金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6199632" y="2752344"/>
            <a:ext cx="2176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設立時。資本準備金への配分は税理士と確定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8906256" y="1600200"/>
            <a:ext cx="2688336" cy="148132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9162288" y="1801368"/>
            <a:ext cx="21762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35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2,200万</a:t>
            </a:r>
            <a:endParaRPr lang="en-US" sz="3000" dirty="0"/>
          </a:p>
        </p:txBody>
      </p:sp>
      <p:sp>
        <p:nvSpPr>
          <p:cNvPr id="13" name="Text 10"/>
          <p:cNvSpPr txBox="1"/>
          <p:nvPr/>
        </p:nvSpPr>
        <p:spPr>
          <a:xfrm>
            <a:off x="9162288" y="2478024"/>
            <a:ext cx="2176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創業融資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9162288" y="2752344"/>
            <a:ext cx="2176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公庫1,200万 + 制度融資1,000万の協調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943600" y="3218688"/>
            <a:ext cx="5650992" cy="141732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199632" y="3419856"/>
            <a:ext cx="51389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96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2,000万</a:t>
            </a:r>
            <a:endParaRPr lang="en-US" sz="3000" dirty="0"/>
          </a:p>
        </p:txBody>
      </p:sp>
      <p:sp>
        <p:nvSpPr>
          <p:cNvPr id="17" name="Text 14"/>
          <p:cNvSpPr txBox="1"/>
          <p:nvPr/>
        </p:nvSpPr>
        <p:spPr>
          <a:xfrm>
            <a:off x="6199632" y="4096512"/>
            <a:ext cx="5138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シード(エクイティ)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4370832"/>
            <a:ext cx="513892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2027年春・P2のゲート達成後に実施。放出20〜25%を想定します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943600" y="4754880"/>
            <a:ext cx="5650992" cy="1060704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0" name="Shape 17"/>
          <p:cNvSpPr/>
          <p:nvPr/>
        </p:nvSpPr>
        <p:spPr>
          <a:xfrm>
            <a:off x="6181344" y="5029200"/>
            <a:ext cx="118872" cy="118872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419088" y="493776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調達の条件と考え方</a:t>
            </a:r>
            <a:endParaRPr lang="en-US" sz="1350" dirty="0"/>
          </a:p>
        </p:txBody>
      </p:sp>
      <p:sp>
        <p:nvSpPr>
          <p:cNvPr id="22" name="Text 19"/>
          <p:cNvSpPr txBox="1"/>
          <p:nvPr/>
        </p:nvSpPr>
        <p:spPr>
          <a:xfrm>
            <a:off x="6419088" y="530352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フェーズ1〜2はデットで通す。実績がない時点のエクイティは安く売ることになる。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自己出資があれば放出20〜25%、なければJ-KISSで価格決定を先送り。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594360" y="594360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⚠ 補助金は資金計画に算入していません。すべて後払い(精算払い)で入金は1年以上先のため、資金繰りの前提にはしません。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594360" y="6336792"/>
            <a:ext cx="9902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月次資金繰り・必要調達額は budget_model.xlsx で連動計算(数式263・エラー0)。前提を変えると全体が再計算されます。</a:t>
            </a:r>
            <a:endParaRPr lang="en-US" sz="850" dirty="0"/>
          </a:p>
        </p:txBody>
      </p:sp>
      <p:sp>
        <p:nvSpPr>
          <p:cNvPr id="25" name="Text 22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02336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リスクと対策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69264"/>
            <a:ext cx="10387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把握しているリスクを、影響度の高い順に開示します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572768"/>
            <a:ext cx="11000232" cy="722376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0" y="1787652"/>
            <a:ext cx="329184" cy="29260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787652"/>
            <a:ext cx="329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1271016" y="1618488"/>
            <a:ext cx="267919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受託の単価が市場全体で下落する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4151376" y="1618488"/>
            <a:ext cx="309067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市場単価が2割強下がると本モデルは成立しない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7443216" y="1618488"/>
            <a:ext cx="404164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A35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四半期ごとに平均受注単価を記録。前年比▲15%を警戒ラインに設定し、内製化・R4へ前倒しで移行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731520" y="2510028"/>
            <a:ext cx="329184" cy="29260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31520" y="2510028"/>
            <a:ext cx="329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1271016" y="2340864"/>
            <a:ext cx="267919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営業が積み上がらない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4151376" y="2340864"/>
            <a:ext cx="309067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損益分岐は月10.6本。1年目の供給上限は月8本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7443216" y="2340864"/>
            <a:ext cx="404164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A35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代理店の2次受けを主軸に。営業1名で月12本。P2の商談20件で成約率を実測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94360" y="3017520"/>
            <a:ext cx="11000232" cy="722376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8" name="Shape 16"/>
          <p:cNvSpPr/>
          <p:nvPr/>
        </p:nvSpPr>
        <p:spPr>
          <a:xfrm>
            <a:off x="731520" y="3232404"/>
            <a:ext cx="329184" cy="29260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31520" y="3232404"/>
            <a:ext cx="329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1271016" y="3063240"/>
            <a:ext cx="267919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中国側のキャパシティと品質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4151376" y="3063240"/>
            <a:ext cx="309067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春節が日本の年度末納期と重なる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7443216" y="3063240"/>
            <a:ext cx="404164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A35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登録は稼働の1.5倍を確保。春節前後は納期を前倒し。A/B/Cランクで難度を割り当て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731520" y="3954780"/>
            <a:ext cx="329184" cy="292608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0" y="3954780"/>
            <a:ext cx="329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1271016" y="3785616"/>
            <a:ext cx="267919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中国側の原価上昇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4151376" y="3785616"/>
            <a:ext cx="309067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AI漫劇の原価は1分100元→200〜300元へ上昇中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7443216" y="3785616"/>
            <a:ext cx="404164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A35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個人契約でプールを厚く。淘汰で市場に出た人材を取り込む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594360" y="4462272"/>
            <a:ext cx="11000232" cy="722376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9" name="Shape 27"/>
          <p:cNvSpPr/>
          <p:nvPr/>
        </p:nvSpPr>
        <p:spPr>
          <a:xfrm>
            <a:off x="731520" y="4677156"/>
            <a:ext cx="329184" cy="292608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0" y="4677156"/>
            <a:ext cx="329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1271016" y="4507992"/>
            <a:ext cx="267919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消費税の仕入税額控除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4151376" y="4507992"/>
            <a:ext cx="309067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海外発注は控除が取れない可能性がある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7443216" y="4507992"/>
            <a:ext cx="404164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A35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設立前に税理士へ確認。取れない前提で原価に上乗せして計画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731520" y="5399532"/>
            <a:ext cx="329184" cy="292608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731520" y="5399532"/>
            <a:ext cx="329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</a:t>
            </a:r>
            <a:endParaRPr lang="en-US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1271016" y="5230368"/>
            <a:ext cx="267919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特許の新規性喪失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4151376" y="5230368"/>
            <a:ext cx="309067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公開後は出願できない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7443216" y="5230368"/>
            <a:ext cx="404164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A35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サンプル・LP・自社チャンネルの公開前に出願判断を完了(P1のゲート条件)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594360" y="6336792"/>
            <a:ext cx="9902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全リスクと対策は BUSINESS_PLAN 第10章 / MOAT_TIMELINE / CHINA_SOURCING に記載しています。</a:t>
            </a:r>
            <a:endParaRPr lang="en-US" sz="850" dirty="0"/>
          </a:p>
        </p:txBody>
      </p:sp>
      <p:sp>
        <p:nvSpPr>
          <p:cNvPr id="40" name="Text 38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6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1417320"/>
            <a:ext cx="566928" cy="5669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228600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中国の制作力を、日本の技術に変える。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315468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DEBE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受託で稼げる期間は3年。自動車産業は4年で国産化しました。同じことを、より短く。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94360" y="4114800"/>
            <a:ext cx="3483864" cy="1234440"/>
          </a:xfrm>
          <a:prstGeom prst="rect">
            <a:avLst/>
          </a:prstGeom>
          <a:solidFill>
            <a:srgbClr val="3A3A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4315968"/>
            <a:ext cx="29352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96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5,000万円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4864608"/>
            <a:ext cx="29352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DEBE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調達目標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52544" y="4114800"/>
            <a:ext cx="3483864" cy="1234440"/>
          </a:xfrm>
          <a:prstGeom prst="rect">
            <a:avLst/>
          </a:prstGeom>
          <a:solidFill>
            <a:srgbClr val="3A3A4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626864" y="4315968"/>
            <a:ext cx="29352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96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3年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4626864" y="4864608"/>
            <a:ext cx="29352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DEBE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受託の優位期間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110728" y="4114800"/>
            <a:ext cx="3483864" cy="1234440"/>
          </a:xfrm>
          <a:prstGeom prst="rect">
            <a:avLst/>
          </a:prstGeom>
          <a:solidFill>
            <a:srgbClr val="3A3A4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385048" y="4315968"/>
            <a:ext cx="29352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96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2033年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8385048" y="4864608"/>
            <a:ext cx="29352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DEBE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東証グロース上場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投資家向け企画書</dc:title>
  <dc:subject>PptxGenJS Presentation</dc:subject>
  <dc:creator>AI映像制作事業</dc:creator>
  <cp:lastModifiedBy>AI映像制作事業</cp:lastModifiedBy>
  <cp:revision>1</cp:revision>
  <dcterms:created xsi:type="dcterms:W3CDTF">2026-09-08T02:30:09Z</dcterms:created>
  <dcterms:modified xsi:type="dcterms:W3CDTF">2026-09-08T02:30:09Z</dcterms:modified>
</cp:coreProperties>
</file>