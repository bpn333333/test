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100" b="0" i="0" u="none" strike="noStrike">
                <a:solidFill>
                  <a:srgbClr val="16161A"/>
                </a:solidFill>
                <a:latin typeface="Meiryo"/>
              </a:rPr>
              <a:t>売上高と営業利益の推移（単位 百万円・計画値）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180</c:v>
                </c:pt>
                <c:pt idx="2">
                  <c:v>500</c:v>
                </c:pt>
                <c:pt idx="3">
                  <c:v>1500</c:v>
                </c:pt>
                <c:pt idx="4">
                  <c:v>3300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-113</c:v>
                </c:pt>
                <c:pt idx="1">
                  <c:v>-140</c:v>
                </c:pt>
                <c:pt idx="2">
                  <c:v>-80</c:v>
                </c:pt>
                <c:pt idx="3">
                  <c:v>100</c:v>
                </c:pt>
                <c:pt idx="4">
                  <c:v>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3A42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00"/>
          <c:min val="-200"/>
        </c:scaling>
        <c:delete val="0"/>
        <c:axPos val="l"/>
        <c:majorGridlines>
          <c:spPr>
            <a:ln w="635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26974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AI映像プラットフォーム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6393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世界のクリエイターが作り、稼ぐ場所をつくる。企業案件は、私たちが取ってくる。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51206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新設法人（株式会社・仮称）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クリエイターに「再生数ゼロでも稼げる理由」を先に渡し、そこからプラットフォームを立ち上げます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71600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5年後・2031年、東証グロース市場への上場を目指す。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中国を中心に世界のAIクリエイターを集め、課金とマッチングの両輪で回すプラットフォームをつくる。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340864"/>
            <a:ext cx="3483864" cy="12618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2,400億元〜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AI短劇の市場規模（推計）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401568"/>
            <a:ext cx="300837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海外市場は500億ドル超との推計。ユーザー28億人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52544" y="2340864"/>
            <a:ext cx="3483864" cy="12618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2本立て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収益の柱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401568"/>
            <a:ext cx="300837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企業案件の仲介（初日から）＋ 視聴課金の分配（6ヶ月目〜）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10728" y="2340864"/>
            <a:ext cx="3483864" cy="12618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1.5億円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48472" y="3401568"/>
            <a:ext cx="300837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資本金800万 + シード1.42億。融資は使いません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3767328"/>
            <a:ext cx="3483864" cy="22128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13816" y="4023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3272" y="3931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何をするか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279392"/>
            <a:ext cx="28254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クリエイターが自由に投稿し、課金と視聴で稼げるプラットフォームを運営する。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企業案件は当社が受注し、登録クリエイターに配分する。再生数がゼロでも稼げる。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溜まった制作データで生成AI関連の特許を取得し、モデル開発へ。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52544" y="3767328"/>
            <a:ext cx="3483864" cy="22128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0" y="4023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91456" y="3931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なぜ勝てるか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791456" y="4279392"/>
            <a:ext cx="28254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2026年、中国の大手PFは純AIコンテンツの分成を圧縮し、最低保証を廃止した。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AI専業のクリエイターは行き場を探している。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②があるので、トラフィックがゼロの初日からクリエイターに報酬を出せる。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分成率で殴り合わずに済む唯一の設計。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10728" y="3767328"/>
            <a:ext cx="3483864" cy="22128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30184" y="4023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49640" y="3931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どこへ向かうか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549640" y="4279392"/>
            <a:ext cx="28254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1年目に基盤を作り、2〜3年目は投資期間。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4年目に単月黒字化、5年目に年商33億・営業利益5億。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自動車産業が輸入技術を4年で国産化したのと同じ道筋を、3年で。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数値の出所は各章に記載。市場規模・収支は［仮置き］を含む計画値です。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なぜ今なのか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出遅れた日本、淘汰が始まった中国。そしてAIクリエイターが行き場を失った瞬間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2544318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64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39696"/>
            <a:ext cx="20688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日本は出遅れている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761488"/>
            <a:ext cx="20688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政府がAI推進法を制定し、AI基本計画を閣議決定するほどの危機感。映像制作の現場にAIはまだ入っていない。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12998" y="1481328"/>
            <a:ext cx="2544318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0742" y="1664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50742" y="2139696"/>
            <a:ext cx="20688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中国では淘汰が始まった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650742" y="2761488"/>
            <a:ext cx="20688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AI漫劇の制作会社は2026年Q1に1,216社→698社（−42%）。約90%が赤字。最大コストは制作費ではなく広告出稿で全体の約70%。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31636" y="1481328"/>
            <a:ext cx="2544318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69380" y="1664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69380" y="2139696"/>
            <a:ext cx="20688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AIクリエイターが行き場を失った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69380" y="2761488"/>
            <a:ext cx="20688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2026年、中国の大手PFは純AIコンテンツの分成を圧縮し、最低保証を廃止。リソースは実写へ移った。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50274" y="1481328"/>
            <a:ext cx="2544318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8018" y="1664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6F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88018" y="2139696"/>
            <a:ext cx="20688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受け皿をつくる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88018" y="2761488"/>
            <a:ext cx="20688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彼らに「AIを冷遇しない場所」と「再生数ゼロでも稼げる企業案件」を渡す。そこから日本の技術資産へ。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" y="3858768"/>
            <a:ext cx="11000232" cy="2084832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0120" y="4041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中国のAI漫劇 制作会社数（活躍承制方）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4439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 Q4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470001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1,216社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3337560" y="4700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4069080" y="44439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 Q1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470001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698社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995160" y="4297680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1四半期で −42%。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制作力が市場に溢れ出しています。約90%が赤字。最大コストは制作費ではなく広告出稿で全体の約70%。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彼らに足りないのは「作る力」ではなく「売る力」です。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内閣府 AI戦略 ／ 第一財経・搜狐（中国AI短劇の淘汰）／ 网易「2026短劇分账新政」／ 経済産業省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日本は一度、これをやっている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輸入した技術を4年で国産化し、輸出産業に変えた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572768"/>
            <a:ext cx="16148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1949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883664"/>
            <a:ext cx="161483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GHQの生産制限が解除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49270" y="1481328"/>
            <a:ext cx="1980590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32150" y="1572768"/>
            <a:ext cx="16148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032150" y="1883664"/>
            <a:ext cx="161483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日産＝オースチン技術提携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日野＝ルノー、いすゞ＝ルーツ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104181" y="1481328"/>
            <a:ext cx="1980590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87061" y="1572768"/>
            <a:ext cx="16148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1955-57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287061" y="1883664"/>
            <a:ext cx="161483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吸収した技術を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ダットサン110・210へ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359091" y="1481328"/>
            <a:ext cx="1980590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541971" y="1572768"/>
            <a:ext cx="16148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1956-57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541971" y="1883664"/>
            <a:ext cx="161483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4社が相次いで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完全国産化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614002" y="1481328"/>
            <a:ext cx="1980590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796882" y="1572768"/>
            <a:ext cx="16148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796882" y="1883664"/>
            <a:ext cx="161483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輸出産業へ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743200"/>
          <a:ext cx="110002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914400"/>
                <a:gridCol w="2468880"/>
                <a:gridCol w="731520"/>
                <a:gridCol w="322783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持っている側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修得する側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期間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到達点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1952 → 1956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オースチン（英）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完成した技術を持つ側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技術 →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日産・日野・いすゞ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ノックダウン生産で修得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ダットサン110・210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完全国産化。のちに輸出産業へ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2026 → 2029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世界のAIクリエイター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行き場を失っている側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制作力 →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当社プラットフォーム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案件・課金・データで抱える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自社モデル・特許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内製化。プロダクトとして外販へ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94360" y="4846320"/>
            <a:ext cx="11000232" cy="128016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0"/>
          <p:cNvSpPr/>
          <p:nvPr/>
        </p:nvSpPr>
        <p:spPr>
          <a:xfrm>
            <a:off x="594360" y="4846320"/>
            <a:ext cx="45720" cy="128016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50392" y="49926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提携から完全国産化まで4年。当社が見込む優位期間は3年。ほぼ同じスケールです。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50392" y="5321808"/>
            <a:ext cx="10543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ただし当時は政府の保護（輸入制限・関税・技術移転の後押し）がありました。今のAI映像にはありません。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だからより短い時間で内製化まで到達する必要があります。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日産自動車 企業情報 ／ トヨタ博物館 ／ GAZOO「ノックダウン生産の時代」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政策も同じ方向を向いている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国はコンテンツを輸出産業にすると決め、予算を3倍にした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2763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20兆円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4942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コンテンツ海外売上 目標（2033年）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2374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経産省「エンタメ・クリエイティブ産業戦略2026」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6304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2763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3.5倍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4942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経産省の財政支援規模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2374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令和6年度補正 101.1億円 → 令和7年度補正 350.2億円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6304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2763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+26%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4942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アニメの海外売上（2024年）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2374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2兆1,700億円。市場全体は3兆8,400億円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3054096"/>
            <a:ext cx="5362956" cy="19202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" y="33101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33272" y="32186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AI政策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" y="3566160"/>
            <a:ext cx="470458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AI推進法（人工知能関連技術の研究開発及び活用の推進に関する法律）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2025年5月28日成立 ／ 6月4日公布。日本初のAI基本法。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AI基本計画を2025年12月23日に閣議決定。内閣にAI戦略本部を設置。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1636" y="3054096"/>
            <a:ext cx="5362956" cy="19202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51092" y="331012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0548" y="32186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当社が実際に狙える支援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670548" y="3566160"/>
            <a:ext cx="470458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東京都 創業助成事業 — 上限400万円・助成率2/3・最長2年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特許料等の減免 — 設立10年未満・資本金3億円以下なら1/3に軽減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JLOX+ — 「制作の生産性向上に資するシステムの開発・実証」枠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5138928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補助金はすべて後払い（精算払い）のため、本計画の資金繰りには一切算入していません。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経済産業省「エンタメ・クリエイティブ産業戦略2026」／ 内閣府 AI戦略 ／ 東京都中小企業振興公社 ／ 特許庁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市場は制約になりません。制約はクリエイター獲得と視聴者獲得の資金です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200400"/>
                <a:gridCol w="39593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規模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性質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AI短劇 市場規模（中国・推計）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2,400〜5,200億元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推計。出所により幅が大きい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 海外市場（推計）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500億ドル超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ユーザー28億人との推計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日本のショートドラマ市場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35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1,530億円（2026年予測）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中国発アプリがシェア9割超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日本の映像制作市場（企業案件）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35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4,580億円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実測値。②の対象市場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401568"/>
            <a:ext cx="5362956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813816" y="365760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3272" y="356616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追い風は実測できている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3913632"/>
            <a:ext cx="47045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動画広告市場 2025年 8,855億円 → 2026年 1兆437億円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縦型動画広告は前年比 155.9%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31636" y="3401568"/>
            <a:ext cx="5362956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51092" y="365760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70548" y="356616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当社が取りに行く順序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670548" y="3913632"/>
            <a:ext cx="47045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初日は 企業案件（4,580億円の市場）。ここは実測値があります。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6ヶ月目から 視聴課金。ここは推計値の世界です。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94360" y="4937760"/>
            <a:ext cx="11000232" cy="124358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6" name="Shape 13"/>
          <p:cNvSpPr/>
          <p:nvPr/>
        </p:nvSpPr>
        <p:spPr>
          <a:xfrm>
            <a:off x="594360" y="4937760"/>
            <a:ext cx="45720" cy="12435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0392" y="508406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制作原価の下落は、プラットフォーム側にとっては追い風です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" y="5413248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米国では企業動画の制作費中央値がAI導入で $4,200 → $2,500/分 に下落済み。受託事業にとっては単価下落の脅威です。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しかし投稿されるコンテンツの量が増えるという意味では、プラットフォームにとっては供給が厚くなるということです。だから受託ではなくプラットフォームを主軸に据えます。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サイバーエージェント 国内動画広告の市場調査 ／ TVtalk「AI短劇深度調研報告」／ nowhere film ／ Vidico（米国相場）。推計値は幅が大きく参考値です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両面市場です。ただし②があるため、視聴者がゼロの初日からクリエイターに報酬を出せます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63040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337560"/>
                <a:gridCol w="3566160"/>
                <a:gridCol w="3456432"/>
              </a:tblGrid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入口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出口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世界のクリエイター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中国を中心に、自由に投稿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当社プラットフォーム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配信・課金・分配・審査・権利処理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視聴者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課金・視聴 → 収益をクリエイターへ分配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②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日本の発注企業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事業会社・広告代理店・制作会社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当社が受注し、配分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要件定義・品質保証・契約・与信・請求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登録クリエイター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再生数ゼロでも稼げる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9962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①②で溜まる制作データ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指示→初稿→修正→承認／視聴維持率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内製化してモデル開発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工程のツール化・生成AI関連の特許取得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プロダクト外販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粗利率80%以上・人数に比例しない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718304"/>
            <a:ext cx="11000232" cy="137160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718304"/>
            <a:ext cx="45720" cy="137160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86460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②が①のコールドスタートを解きます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19379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両面市場の宿命は「クリエイターは視聴者がいないと来ない、視聴者はコンテンツがないと来ない」。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②は視聴者を必要としません。案件を配ればクリエイターは集まり、その作品が①の初期コンテンツになります。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だから②を先に、①と並走させます。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クリエイター調達の設計は CHINA_SOURCING ／ プラットフォームの設計判断は PLATFORM_PIVOT を参照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収益モデルと、最初の設計判断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分配の原資を「広告」ではなく「課金」に置きます。理由は下段の試算です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66160"/>
                <a:gridCol w="1371600"/>
                <a:gridCol w="1188720"/>
                <a:gridCol w="42336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収益ライン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備考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企業案件の受注 → クリエイターへ配分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フロー・差益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初日から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単価48万・粗利率54%。実測前提が使える唯一のライン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視聴課金の当社取り分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ストック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6ヶ月目〜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数話無料＋以降は都度課金。ReelShort・DramaBox と同型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E6E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広告収益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非連動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補助的に置く。主にしない理由は下段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962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制作ツール・モデルの外販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ストック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粗利率80%以上。上場に必要な「読める収益」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639312"/>
            <a:ext cx="5362956" cy="219456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639312"/>
            <a:ext cx="45720" cy="219456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378561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広告分配だと、再生が伸びるほど赤字が膨らみうる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114800"/>
            <a:ext cx="49057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1再生あたりの配信コスト（縦型1分・約20MB）… 0.06〜0.24円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1再生あたりの広告収益（ショートRPM ¥20〜80）… 0.02〜0.08円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広告単価が配信コストを下回る領域があります。だから課金を主に置きます。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639312"/>
            <a:ext cx="5362956" cy="21945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51092" y="3895344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70548" y="3803904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先行例も、分配開始には時間をかけている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670548" y="4151376"/>
            <a:ext cx="47045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YouTube 2005年創業 → 2007年 にパートナープログラム開始（2年後）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TikTok Creator Fund は $2億のコミット で立ち上げ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だから当社は、分配原資を調達額に明示的に積んでいます（第10章）。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配信コストは CDN $0.02〜0.08/GB からの概算［仮置き］。課金率・ARPPU は未実測で、1年目に実測して差し替えます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日本IPを使った作品制作 — 4つの入口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プラットフォームに載せる「当社発の看板コンテンツ」の作り方。版権コストの安い順に着手します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26464"/>
          <a:ext cx="11000232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2743200"/>
                <a:gridCol w="3520440"/>
                <a:gridCol w="1828800"/>
                <a:gridCol w="2340864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対象IP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座組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版権コスト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出口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パブリックドメイン（青空文庫・古典）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権利処理が不要。単独で制作できる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ゼロ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自社PFの初期コンテンツ・実績づくり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自治体・企業のキャラクター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受託（②と同じ）。先方が権利者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ゼロ（先方負担）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自治体PR・企業広報・ふるさと納税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個人作家・Web小説（なろう系・pixiv）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作家と直接レベニューシェア。権利者が1人で交渉が速い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ほぼゼロ（成功報酬型）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自社PFの課金コンテンツ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中小出版社の既刊マンガ（未映像化作品）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原作使用許諾＋レベニューシェア。制作費は当社負担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数万〜数十万／作品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自社PFの看板作品・海外展開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407408"/>
            <a:ext cx="5362956" cy="16093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813816" y="4663440"/>
            <a:ext cx="109728" cy="109728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3272" y="457200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着手の順序は D → B → C → A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4919472"/>
            <a:ext cx="47045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 は版権コストがゼロなので、プラットフォーム公開前から積み上げられます。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ローンチ時に「見るものがある」状態をつくる唯一の方法です。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は看板になりますが前払いが必要なため、課金収益が立ってから。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31636" y="4407408"/>
            <a:ext cx="5362956" cy="160934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6231636" y="4407408"/>
            <a:ext cx="45720" cy="160934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7668" y="455371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IPホルダーはAI生成を警戒します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7668" y="4882896"/>
            <a:ext cx="49057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原作ファンの反発が、原作そのものの価値を毀損しかねません。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契約に「AI利用の可否と開示方法」を必ず明記します。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JIAA調査でも受容条件1位は「AI利用が明記されている」37.6%。開示を前提に設計します。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日本動画協会 アニメ産業レポート（制作市場4,662億円・海外売上2兆1,700億円）／ JIAA「2026年インターネット広告に関するユーザー意識調査」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— クリエイター側の相手は TikTok ではありません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快手・抖音・Bilibili・百度が、いまAIクリエイター獲得競争をしています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26464"/>
          <a:ext cx="110002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2377440"/>
                <a:gridCol w="24048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プラットフォーム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プログラム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分成率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トラフィック支援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快手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「灵感新纪元」AIGC投資計画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最大 90%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抖音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「漫画星河」計画（IP改編）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純収益の 90%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抖音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AI漫劇 ／ AI実写短劇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30〜50% ／ 40〜60%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上位作品は月10万〜50万元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Bilibili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「觉醒计划」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最大 80%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数百万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百度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「AI星河計画」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3倍分成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10億級のトラフィックプール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968496"/>
            <a:ext cx="5362956" cy="20116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968496"/>
            <a:ext cx="45720" cy="20116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分成率では勝てません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443984"/>
            <a:ext cx="490575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トラフィックがゼロの新規PFが「うちに投稿してください」と言っても、経済合理性がありません。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正面から分成率で殴り合う設計にはしません。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968496"/>
            <a:ext cx="5362956" cy="201168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51092" y="422452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70548" y="41330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ただし2026年、隙間が開きました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670548" y="4480560"/>
            <a:ext cx="470458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中国のPFは純AIコンテンツの分成を圧縮し、最低保証を廃止。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リソースは実写短劇へ（有料実写は70%→80%に引き上げ）。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AI専業のクリエイターは相対的に冷遇され始めています。</a:t>
            </a:r>
            <a:endParaRPr lang="en-US" sz="10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ここが唯一の入口です。ただし方針が戻れば消える時限付きです。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Bilibili「2026熱門AI漫劇/短劇創作平台」／ 中伝英才「AI短劇制作平台 2026主流平台全解析」／ 网易「2026短劇分账新政」。条件は頻繁に変わるため、提携前に公式条件の確認が必要です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では、なぜクリエイターは当社に来るのか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分成率ではなく、3つの別の理由で選ばれる設計にします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483864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463040"/>
            <a:ext cx="45720" cy="173736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645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再生数ゼロでも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195681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企業案件という別の収入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大手PFには無い。当社が受注して配分するので、視聴者がいなくても報酬が出ます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52544" y="1463040"/>
            <a:ext cx="3483864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10"/>
          <p:cNvSpPr/>
          <p:nvPr/>
        </p:nvSpPr>
        <p:spPr>
          <a:xfrm>
            <a:off x="4352544" y="1463040"/>
            <a:ext cx="45720" cy="173736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26864" y="1645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AIを冷遇しない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195681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2026年の分成圧縮への受け皿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26864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中国PFが下げた分成と廃止した最低保証。そこを埋めます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10728" y="1463040"/>
            <a:ext cx="3483864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Shape 15"/>
          <p:cNvSpPr/>
          <p:nvPr/>
        </p:nvSpPr>
        <p:spPr>
          <a:xfrm>
            <a:off x="8110728" y="1463040"/>
            <a:ext cx="45720" cy="1737360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85048" y="1645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日本市場への窓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85048" y="195681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個人では越えられない壁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85048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日本語の要件定義・稟議・与信・請求。当社が代行します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3438144"/>
            <a:ext cx="5362956" cy="219456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360" y="3438144"/>
            <a:ext cx="45720" cy="219456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0392" y="358444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視聴者側の競合は、さらに厳しい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50392" y="3913632"/>
            <a:ext cx="49057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BUMP（DL400万・国内1位）／POPCORN（累計120億再生）／FANY:D／FOD SHORT／SWIPEDRAMA／UniReel など最低8サービス。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中国発アプリが日本のアプリ市場シェア9割超。市場は1,530億円規模（2026年予測）で、民放キー局も参入を模索。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31636" y="3438144"/>
            <a:ext cx="5362956" cy="21945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6" name="Shape 24"/>
          <p:cNvSpPr/>
          <p:nvPr/>
        </p:nvSpPr>
        <p:spPr>
          <a:xfrm>
            <a:off x="6451092" y="36941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70548" y="3602736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だから、視聴者は「後から」取ります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670548" y="3950208"/>
            <a:ext cx="47045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初日はクリエイター側だけを取りに行きます。②の企業案件が、その口実と原資になります。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視聴者獲得（流量投放）は6ヶ月目のPF公開以降に集中投下します。ここが最大の支出項目です（第10章）。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GOKKO ／ nowhere film ／ BUMP公式 ／ 36Kr Japan（中国発アプリの日本シェア）。詳細は COMPETITORS.md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課題と、その解決方法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プラットフォーム事業に転換したことで生じた課題を含めて開示します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63040"/>
          <a:ext cx="11000232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06831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課題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解決方法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6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両面市場のコールドスタート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②の企業案件を先に回す。視聴者ゼロでもクリエイターに報酬が出る状態を初日から作る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6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分成率で大手に勝てない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分成率では戦わない。企業案件・AIを冷遇しない方針・日本市場への窓の3点で選ばれる設計にする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6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分配の原資が初期はゼロ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調達額に分配原資を明示的に積む（1年目1,500万）。課金モデルを主にし、広告分配は補助に置く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6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視聴者獲得が最大の支出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PF公開（6ヶ月目）まで投下しない。公開後に集中投下し、CPIを実測してから増減させる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6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中国本土から当社PFに接続できない可能性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投稿・決済の経路を設計段階で検証。国内向けミラーまたは提携PF経由の投稿導線を用意する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6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「AIっぽさ」が視聴維持率を下げる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審査基準に組み込み、品質判定の自動化を特許①として出願。視聴維持率データを学習側に回す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各課題の詳細と数値根拠は PLATFORM_PIVOT ／ COMPETITORS ／ MOAT_TIMELINE ／ CHINA_SOURCING に記載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（記入予定）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3483864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9D4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68680" y="1847088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代表取締役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267712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経歴 ／ 実績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52544" y="1554480"/>
            <a:ext cx="3483864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9D4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626864" y="1847088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CTO／開発責任者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2267712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採用計画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10728" y="1554480"/>
            <a:ext cx="3483864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9D4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8385048" y="1847088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クリエイター獲得責任者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267712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採用計画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3931920"/>
            <a:ext cx="11000232" cy="19202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4"/>
          <p:cNvSpPr/>
          <p:nvPr/>
        </p:nvSpPr>
        <p:spPr>
          <a:xfrm>
            <a:off x="813816" y="4187952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33272" y="4096512"/>
            <a:ext cx="10341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この章は記入予定です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33272" y="4443984"/>
            <a:ext cx="1034186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代表の経歴と実績 ／ これから採用する職種・時期・採用チャネル ／ アドバイザー・顧問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プラットフォーム事業への転換により、1年目からエンジニアが必要になりました。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1年目は6名体制（代表・エンジニア2・運営2・営業1）を想定しています。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プラットフォーム型のため3年目まで赤字が前提。単月黒字化は4年目、上場申請は5期です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463040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463040"/>
            <a:ext cx="4690872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7123176" y="17190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42632" y="1627632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1期 ― 基盤をつくる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42632" y="19751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PF開発と公開（6ヶ月目）。企業案件で2,700万、課金で300万。営業利益 ▲1.1億は計画通りの投資です。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505456"/>
            <a:ext cx="4690872" cy="8229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7123176" y="276148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42632" y="2670048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2〜3期 ― 投資期間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42632" y="3017520"/>
            <a:ext cx="4032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視聴者獲得に集中投下。赤字は2期に最大化し、3期から縮小に転じます。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03720" y="3438144"/>
            <a:ext cx="4690872" cy="104241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7123176" y="369417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42632" y="360273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4〜5期 ― 回収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950208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4期に単月黒字化、5期に年商33億・営業利益5億。時価総額100億の水準へ。</a:t>
            </a:r>
            <a:endParaRPr lang="en-US" sz="9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26864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142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この期にやること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この期の到達点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PF公開・登録100名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企業案件 月300万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MAU・課金率の実測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監査法人ショートレビュー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3期（N-2期）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監査開始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赤字が縮小に転じる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4期（N-1期）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単月黒字化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内部管理体制の構築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5期（N期）→ 2031年 上場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年商33億・営業利益5億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想定時価総額100億円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計画値。P2（課金）の課金率・ARPPU は未実測です。1期に実測して差し替えます。プラットフォーム型のため赤字期間が長く、追加調達を前提としています（第10章）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上場までの流れ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5期（2031年）での上場を逆算。N-2期の監査開始は3期・2028年10月です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481328"/>
            <a:ext cx="1980590" cy="548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3816" y="1664208"/>
            <a:ext cx="15416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1期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1975104"/>
            <a:ext cx="15416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2026/10-2027/9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2304288"/>
            <a:ext cx="15416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・PF開発・公開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・クリエイター100名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・企業案件の立ち上げ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849270" y="1481328"/>
            <a:ext cx="1980590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10"/>
          <p:cNvSpPr/>
          <p:nvPr/>
        </p:nvSpPr>
        <p:spPr>
          <a:xfrm>
            <a:off x="2849270" y="1481328"/>
            <a:ext cx="1980590" cy="548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68726" y="1664208"/>
            <a:ext cx="15416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068726" y="1975104"/>
            <a:ext cx="15416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2027/10-2028/9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068726" y="2304288"/>
            <a:ext cx="15416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・視聴者獲得に集中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・課金率の実測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・監査法人SR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104181" y="1481328"/>
            <a:ext cx="1980590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Shape 15"/>
          <p:cNvSpPr/>
          <p:nvPr/>
        </p:nvSpPr>
        <p:spPr>
          <a:xfrm>
            <a:off x="5104181" y="1481328"/>
            <a:ext cx="1980590" cy="54864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23637" y="1664208"/>
            <a:ext cx="15416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3期 N-2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323637" y="1975104"/>
            <a:ext cx="15416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2028/10-2029/9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323637" y="2304288"/>
            <a:ext cx="15416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・監査開始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・赤字が縮小へ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・主幹事証券の選定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59091" y="1481328"/>
            <a:ext cx="1980590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2" name="Shape 20"/>
          <p:cNvSpPr/>
          <p:nvPr/>
        </p:nvSpPr>
        <p:spPr>
          <a:xfrm>
            <a:off x="7359091" y="1481328"/>
            <a:ext cx="1980590" cy="54864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578547" y="1664208"/>
            <a:ext cx="15416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4期 N-1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78547" y="1975104"/>
            <a:ext cx="15416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2029/10-2030/9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578547" y="2304288"/>
            <a:ext cx="15416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・単月黒字化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・内部管理体制の構築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・資本政策の確定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614002" y="1481328"/>
            <a:ext cx="1980590" cy="17373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7" name="Shape 25"/>
          <p:cNvSpPr/>
          <p:nvPr/>
        </p:nvSpPr>
        <p:spPr>
          <a:xfrm>
            <a:off x="9614002" y="1481328"/>
            <a:ext cx="1980590" cy="54864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33458" y="1664208"/>
            <a:ext cx="15416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5期 N期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833458" y="1975104"/>
            <a:ext cx="15416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2030/10-2031/9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9833458" y="2304288"/>
            <a:ext cx="15416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・上場申請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・2031年・東証グロース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" y="3438144"/>
            <a:ext cx="5362956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2" name="Shape 30"/>
          <p:cNvSpPr/>
          <p:nvPr/>
        </p:nvSpPr>
        <p:spPr>
          <a:xfrm>
            <a:off x="813816" y="36941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33272" y="3602736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資本政策の想定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033272" y="3950208"/>
            <a:ext cx="47045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シード1.5億（今回）→ ESOP枠10% → シリーズA 3億（2期）→ シリーズB 8億（4期）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IPO公募20%を経て、上場時の創業者持分は 35%前後 を想定。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1ラウンドで33%超は放出しません（特別決議の拒否権を渡さないため）。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31636" y="3438144"/>
            <a:ext cx="5362956" cy="14813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6" name="Shape 34"/>
          <p:cNvSpPr/>
          <p:nvPr/>
        </p:nvSpPr>
        <p:spPr>
          <a:xfrm>
            <a:off x="6231636" y="3438144"/>
            <a:ext cx="45720" cy="14813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87668" y="358444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5年で上場するための条件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487668" y="3913632"/>
            <a:ext cx="49057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2期目（2028年）に監査法人のショートレビューを受ける必要があります。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赤字が最大化する期に監査法人を確保できるかが最初の関門です。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94360" y="5084064"/>
            <a:ext cx="11000232" cy="841248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5256" y="5138928"/>
            <a:ext cx="10378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ゴールは上場ではありません。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グロースは2030年3月以降「上場5年経過後に時価総額100億円」の維持基準が新設。2031年上場なら2036年に100億円。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日本取引所グループ 上場維持基準。上場基準は改定が続くため、準備期に入る前に最新基準を再確認します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出口とリターン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5期の売上33億・営業利益5億を前提に、3手法で試算しています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483864" cy="13350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2763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67〜134億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4942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23744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当期純利益 約3.3億（実効税率33%）× PER 20〜40倍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63040"/>
            <a:ext cx="3483864" cy="13350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2763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66〜165億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4942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PSR法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23744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売上33億 × PSR 2〜5倍。プラットフォーム型はこちらで見られやすい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63040"/>
            <a:ext cx="3483864" cy="13350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2763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58〜98億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4942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EV/EBITDA法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23744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EBITDA 約6.5億 × 8.9〜15倍（情報通信業の中央値8.9倍）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962656"/>
            <a:ext cx="11000232" cy="530352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5256" y="2962656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中心値は 時価総額 100億円 ─ グロースの上場維持基準「上場5年経過後に100億円以上」から逆算しています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" y="3639312"/>
            <a:ext cx="5362956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13816" y="3895344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3272" y="3803904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M&amp;A で売却する場合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151376"/>
            <a:ext cx="47045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3期（売上5億・赤字）… 10〜30億。買い手が評価するのはクリエイターネットワークと技術。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4期（売上15億・営業利益1億）… 25〜55億 ／ 5期（売上33億）… 58〜98億。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戦略的買い手（中国PF・テレビ局・大手代理店）ならシナジー価格が乗ります。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31636" y="3639312"/>
            <a:ext cx="5362956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5" name="Shape 23"/>
          <p:cNvSpPr/>
          <p:nvPr/>
        </p:nvSpPr>
        <p:spPr>
          <a:xfrm>
            <a:off x="6451092" y="38953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0548" y="3803904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創業者・投資家のリターン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670548" y="4151376"/>
            <a:ext cx="47045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上場時の創業者持分は 35%前後 を想定（CAP_TABLE.md）。時価総額100億なら評価額 約35億。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IPOは上場直後に全株を売れません。ロックアップ（通常90〜180日）があり、現金化は数年かけて段階的になります。M&amp;Aは一括で現金化できる点が違います。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4360" y="5248656"/>
            <a:ext cx="11000232" cy="8412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9" name="Shape 27"/>
          <p:cNvSpPr/>
          <p:nvPr/>
        </p:nvSpPr>
        <p:spPr>
          <a:xfrm>
            <a:off x="594360" y="5248656"/>
            <a:ext cx="45720" cy="8412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0392" y="53949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すべて「成功した場合」の試算です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50392" y="5724144"/>
            <a:ext cx="10543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プラットフォーム型は勝者総取りになりやすく、2位以下の評価は急落します。2025年のグロースIPOは18社（前年34社から半減）で、IPO市場そのものが縮んでいます。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M&amp;A総研（業種別EV/EBITDA倍率）／ みつきコンサルティング（メディア・コンテンツ業界のM&amp;A）／ EY Japan（2026年以降のIPO市場）／ FiNX（グロース維持基準の制度化）。倍率は市況で変動します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各フェーズを、次へ進むための「ゲート条件」で管理します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63040"/>
          <a:ext cx="110002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937760"/>
                <a:gridCol w="45994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やること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次へ進むゲート条件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〜2026/12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法人設立・PF要件定義・クリエイター20名と先行契約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クリエイター20名の登録／PF仕様の確定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2027/1-3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PF開発（アプリ・Web・課金・分配）／企業案件の受注開始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企業案件 累計5本／粗利率55%以上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2027/4-9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PF公開（6ヶ月目）・視聴者獲得の開始・D案IPの投入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121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登録100名／公開作品500本／課金率の初回実測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視聴者獲得に集中投下・課金モデルの最適化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MAUとCPIの実測／監査法人ショートレビュー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赤字の縮小・プロダクト（P4）の開発着手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監査開始／赤字が縮小に転じる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単月黒字化・内部管理体制の構築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単月黒字化／プロダクト比率10%以上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962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上場申請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年商33億・営業利益5億／時価総額100億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230368"/>
            <a:ext cx="11000232" cy="8595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813816" y="548640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3272" y="5394960"/>
            <a:ext cx="10341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ゲート条件を満たさない場合は次フェーズに進まず、前提を引き直します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5742432"/>
            <a:ext cx="10341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とくに「課金率の初回実測」（2027/4-9）は、以降のすべての売上計画が乗る数字です。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調達目標 1.5億円。融資を使わず、全額をエクイティで調達します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40817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1年目の使途（単位 万円・合計 14,280万）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739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視聴者獲得（流量投放）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828800"/>
            <a:ext cx="2286000" cy="1737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824728" y="177393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4800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276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PF開発（アプリ・Web・課金）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74720" y="2331720"/>
            <a:ext cx="1666875" cy="173736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24728" y="227685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3500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7797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人件費（6名）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74720" y="2834640"/>
            <a:ext cx="1428750" cy="173736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24728" y="277977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3000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282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分配原資の補填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4720" y="3337560"/>
            <a:ext cx="714375" cy="1737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24728" y="328269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1500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7856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オフィス・SaaS・その他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74720" y="3840480"/>
            <a:ext cx="228600" cy="173736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824728" y="378561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480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42885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設立・機材・その他初期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74720" y="4343400"/>
            <a:ext cx="190500" cy="173736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24728" y="428853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400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7914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法務（資金決済法・規約・UGC対応）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4720" y="4846320"/>
            <a:ext cx="142875" cy="173736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24728" y="479145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52943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インフラ（配信・ストレージ）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74720" y="5349240"/>
            <a:ext cx="142875" cy="173736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24728" y="5294376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03720" y="1737360"/>
            <a:ext cx="2208276" cy="142646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41464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800万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7141464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資本金（創業者出資）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41464" y="2798064"/>
            <a:ext cx="17327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1,000万未満に抑え、初年度の消費税課税事業者化を回避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86316" y="1737360"/>
            <a:ext cx="2208276" cy="142646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624060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1.42億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9624060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シード（創業時）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624060" y="2798064"/>
            <a:ext cx="17327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放出20〜27%を想定。J-KISSでの価格先送りも選択肢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903720" y="3346704"/>
            <a:ext cx="4690872" cy="170078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40" name="Shape 38"/>
          <p:cNvSpPr/>
          <p:nvPr/>
        </p:nvSpPr>
        <p:spPr>
          <a:xfrm>
            <a:off x="6903720" y="3346704"/>
            <a:ext cx="45720" cy="17007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159752" y="3493008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追加調達を前提にしています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159752" y="3822192"/>
            <a:ext cx="423367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1.5億は1年目を賄う額です。2期は視聴者獲得が通年になるため、支出は1年目を上回ります。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2期にシリーズA 3億、4期にシリーズB 8億。累計調達は12.5億規模です。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プラットフォーム型は数年の赤字が構造的な前提であり、それを織り込んだ資本政策にしています。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903720" y="5175504"/>
            <a:ext cx="4690872" cy="914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4" name="Shape 42"/>
          <p:cNvSpPr/>
          <p:nvPr/>
        </p:nvSpPr>
        <p:spPr>
          <a:xfrm>
            <a:off x="7123176" y="5431536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342632" y="534009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補助金は資金繰りに算入していません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7342632" y="5687568"/>
            <a:ext cx="4032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後払い（精算払い）で入金が1年以上先のためです。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94360" y="56692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融資は使いません。全額をエクイティで調達します。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［仮置き］視聴者獲得のCPIが未実測のため、最大費目である流量投放4,800万の精度が最も低い数字です。PF公開後に実測して増減させます。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リスクと対策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把握しているリスクを、影響度の高い順に開示します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63040"/>
          <a:ext cx="1100023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3291840"/>
                <a:gridCol w="464515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12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視聴者が集まらない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中国発アプリが日本のシェア9割超。CPIが未実測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PF公開まで流量投放を投下しない。公開後にCPIを実測し、閾値を超えたら企業案件（②）に軸足を戻す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12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クリエイターが集まらない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快手は最大90%分成＋1億トラフィックを提示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分成率で戦わない。企業案件・AIを冷遇しない方針・日本市場への窓の3点で選ばれる設計にする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12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中国PFが分成圧縮を撤回する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2026年の隙間は時限付き。方針が戻れば消える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四半期ごとに各PFの分成条件を追跡。撤回の兆候が出たら獲得を前倒しする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12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追加調達が続かない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3期まで赤字。シリーズA・Bが前提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企業案件（②）を単独で黒字化できる水準まで育て、最悪ケースでも事業が止まらない構造にする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資金決済法・UGC対応の義務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前払式支払手段の届出／登録、削除要請・発信者情報開示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PF設計の前に弁護士へ確認。法務費用300万を初年度に計上済み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中国本土から当社PFに接続できない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投稿・決済の経路がGFWの影響を受けうる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設計段階で検証。国内向けミラーまたは提携PF経由の投稿導線を用意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全リスクと対策は PLATFORM_PIVOT ／ COMPETITORS ／ MOAT_TIMELINE ／ CHINA_SOURCING に記載しています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737360"/>
            <a:ext cx="566928" cy="5669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2560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行き場を失ったクリエイターに、稼ぐ場所を。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5295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中国の大手がAIを冷遇し始めた今が、受け皿をつくる唯一の窓です。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4480560"/>
            <a:ext cx="45720" cy="91440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2104" y="4498848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32104" y="5029200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2544" y="4480560"/>
            <a:ext cx="45720" cy="914400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90288" y="4498848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5029200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この窓が開いている期間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10728" y="4480560"/>
            <a:ext cx="45720" cy="914400"/>
          </a:xfrm>
          <a:prstGeom prst="rect">
            <a:avLst/>
          </a:prstGeom>
          <a:solidFill>
            <a:srgbClr val="EDEBE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48472" y="4498848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2031年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348472" y="5029200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AI映像プラットフォーム事業</dc:creator>
  <cp:lastModifiedBy>AI映像プラットフォーム事業</cp:lastModifiedBy>
  <cp:revision>1</cp:revision>
  <dcterms:created xsi:type="dcterms:W3CDTF">2026-09-08T23:53:30Z</dcterms:created>
  <dcterms:modified xsi:type="dcterms:W3CDTF">2026-09-08T23:53:30Z</dcterms:modified>
</cp:coreProperties>
</file>