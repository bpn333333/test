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企業案件と個人案件 — 発注市場の規模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「誰がお金を払うのか」で見ると、法人と個人では市場の性質がまったく違います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51790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1031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企業案件｜法人が発注する市場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37744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国内動画制作サービス市場（2025年度予測）。2024年度 4,238億円 → 2027年度 5,400億円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【実測値・矢野経済研究所】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51790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1031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個人案件｜個人が発注する市場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37744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スキルシェア市場全体の2028年予測。動画編集はこのうちの一部にすぎず、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【直接の統計は存在しません】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51790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2兆894億円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1031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参考｜個人が「受け取る」市場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37744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クリエイターエコノミー（2024年）。これは発注市場ではなく報酬市場です。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【混同しないこと】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712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同じ「1本の動画」でも、取引の形が違います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63824"/>
          <a:ext cx="11000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599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企業案件（法人が発注）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個人案件（個人が発注）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1件あたり単価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20万〜200万円（制作会社）／代理店経由は100万〜1,000万円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5,000円〜30万円。簡易編集は1,000円台も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事業会社の広報・マーケ部門／広告代理店／制作会社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YouTuber・配信者・インフルエンサー・個人事業主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取引の場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相見積 → 稟議 → 発注書 → 検収 → 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ココナラ・ランサーズ・クラウドワークス（PFが仲介）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必要。ここが個人クリエイターには越えられない壁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原則プラットフォームが代行するため不要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市場の性質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単価が高く件数が少ない。参入障壁が高い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単価が低く件数が多い。初級案件は完全な買い手市場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5449824"/>
            <a:ext cx="11000232" cy="78638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5449824"/>
            <a:ext cx="45720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55778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個人は「発注者」ではなく「稼ぎ手」です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907024"/>
            <a:ext cx="10543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個人が発注する市場は小さく、統計すら整備されていません。一方、個人が受け取る市場は2兆円規模です。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だから当社は、法人を発注側（P1）、個人を供給側（登録クリエイター）として扱います。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630936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矢野経済研究所（動画コンテンツビジネス調査2025）／ Business Insider Japan（スキルシェア市場2028年予測）／ クリエイターエコノミー協会（2025年版調査）／ ココナラ・ランサーズ公開単価。企業案件は実測値、個人案件は推計値です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制作費の相場と内訳、そしてAIによる削減効果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削減が効くのは「人が動く工程」です。撮影と出演が消えると、単価の桁が変わります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用途別の制作費レンジ（対数目盛）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03120" y="1755648"/>
            <a:ext cx="0" cy="2395728"/>
          </a:xfrm>
          <a:prstGeom prst="line">
            <a:avLst/>
          </a:prstGeom>
          <a:noFill/>
          <a:ln w="9525">
            <a:solidFill>
              <a:srgbClr val="DCD9D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783080" y="41330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10万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34393" y="1755648"/>
            <a:ext cx="0" cy="2395728"/>
          </a:xfrm>
          <a:prstGeom prst="line">
            <a:avLst/>
          </a:prstGeom>
          <a:noFill/>
          <a:ln w="9525">
            <a:solidFill>
              <a:srgbClr val="DCD9D4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2614353" y="41330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65665" y="1755648"/>
            <a:ext cx="0" cy="2395728"/>
          </a:xfrm>
          <a:prstGeom prst="line">
            <a:avLst/>
          </a:prstGeom>
          <a:noFill/>
          <a:ln w="9525">
            <a:solidFill>
              <a:srgbClr val="DCD9D4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445625" y="41330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96938" y="1755648"/>
            <a:ext cx="0" cy="2395728"/>
          </a:xfrm>
          <a:prstGeom prst="line">
            <a:avLst/>
          </a:prstGeom>
          <a:noFill/>
          <a:ln w="9525">
            <a:solidFill>
              <a:srgbClr val="DCD9D4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276898" y="41330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1億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28211" y="1755648"/>
            <a:ext cx="0" cy="2395728"/>
          </a:xfrm>
          <a:prstGeom prst="line">
            <a:avLst/>
          </a:prstGeom>
          <a:noFill/>
          <a:ln w="9525">
            <a:solidFill>
              <a:srgbClr val="DCD9D4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108171" y="41330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10億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1847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映画（実写）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93556" y="1892808"/>
            <a:ext cx="184417" cy="16459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32837" y="18470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3〜5億円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22311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アニメ映画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96938" y="2276856"/>
            <a:ext cx="1081511" cy="16459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733313" y="22311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1〜20億円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2615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テレビCM（制作費のみ）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65665" y="2660904"/>
            <a:ext cx="831273" cy="16459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51802" y="26151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1,000万〜1億円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29992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企業VP・会社紹介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84155" y="3044952"/>
            <a:ext cx="396618" cy="164592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35637" y="29992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50〜150万円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3383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展示会・社内イベント映像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53358" y="3429000"/>
            <a:ext cx="581035" cy="164592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989257" y="33832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20〜100万円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3767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PR素材・SNS縦型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03120" y="3813048"/>
            <a:ext cx="581035" cy="164592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739019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10〜50万円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137160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費用の内訳｜企業VP 1本 100万円の例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903720" y="1755648"/>
            <a:ext cx="703631" cy="402336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903720" y="1755648"/>
            <a:ext cx="7036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607351" y="1755648"/>
            <a:ext cx="1782531" cy="4023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607351" y="1755648"/>
            <a:ext cx="17825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389882" y="1755648"/>
            <a:ext cx="469087" cy="402336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89882" y="1755648"/>
            <a:ext cx="469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858969" y="1755648"/>
            <a:ext cx="328361" cy="402336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87330" y="1755648"/>
            <a:ext cx="938174" cy="402336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187330" y="1755648"/>
            <a:ext cx="9381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1125505" y="1755648"/>
            <a:ext cx="469087" cy="402336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1125505" y="1755648"/>
            <a:ext cx="469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903720" y="2359152"/>
            <a:ext cx="146304" cy="146304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141464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企画・構成・ディレクション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10195560" y="22860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03720" y="2670048"/>
            <a:ext cx="146304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141464" y="2596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撮影（スタッフ人件費）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10195560" y="25968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03720" y="2980944"/>
            <a:ext cx="146304" cy="146304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141464" y="2907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機材・スタジオ・ロケ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0195560" y="29077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03720" y="3291840"/>
            <a:ext cx="146304" cy="146304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141464" y="3218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出演・キャスティング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10195560" y="3218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03720" y="3602736"/>
            <a:ext cx="146304" cy="146304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141464" y="35295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編集・MA・音楽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10195560" y="35295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03720" y="3913632"/>
            <a:ext cx="146304" cy="146304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141464" y="3840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諸経費・管理費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10195560" y="38404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10%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7141464" y="4169664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撮影費は制作費の35〜40%が目安（業界相場）。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 撮影＋機材＋出演で 55%。ここが人の動く工程です。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594360" y="46268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AI導入による工程別の削減率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594360" y="497433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企画・構成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642616" y="5020056"/>
            <a:ext cx="914400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544568" y="49743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▲40〜60%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5385816" y="497433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AI台本・絵コンテ生成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594360" y="524865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撮影（人件費）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642616" y="5294376"/>
            <a:ext cx="1463040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544568" y="52486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▲70〜90%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5385816" y="524865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撮影自体が不要になる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594360" y="552297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機材・スタジオ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642616" y="5568696"/>
            <a:ext cx="1463040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4544568" y="55229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▲70〜90%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5385816" y="552297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ロケ・スタジオが消える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594360" y="579729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出演・キャスティング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642616" y="5843016"/>
            <a:ext cx="1645920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4544568" y="57972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▲80〜100%</a:t>
            </a:r>
            <a:endParaRPr lang="en-US" sz="850" dirty="0"/>
          </a:p>
        </p:txBody>
      </p:sp>
      <p:sp>
        <p:nvSpPr>
          <p:cNvPr id="82" name="Text 80"/>
          <p:cNvSpPr txBox="1"/>
          <p:nvPr/>
        </p:nvSpPr>
        <p:spPr>
          <a:xfrm>
            <a:off x="5385816" y="57972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AIアバター（※肖像権）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594360" y="60716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編集・MA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642616" y="6117336"/>
            <a:ext cx="914400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4544568" y="607161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▲40〜60%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5385816" y="607161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自動編集・AI音声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903720" y="4626864"/>
            <a:ext cx="4690872" cy="1517904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88" name="Shape 86"/>
          <p:cNvSpPr/>
          <p:nvPr/>
        </p:nvSpPr>
        <p:spPr>
          <a:xfrm>
            <a:off x="7123176" y="48828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7342632" y="479145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実際に出ている削減幅</a:t>
            </a:r>
            <a:endParaRPr lang="en-US" sz="1250" dirty="0"/>
          </a:p>
        </p:txBody>
      </p:sp>
      <p:sp>
        <p:nvSpPr>
          <p:cNvPr id="90" name="Text 88"/>
          <p:cNvSpPr txBox="1"/>
          <p:nvPr/>
        </p:nvSpPr>
        <p:spPr>
          <a:xfrm>
            <a:off x="7342632" y="5138928"/>
            <a:ext cx="4032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大手保険のWeb広告動画　制作コスト ▲30〜50%／期間 ▲40%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Nova活用の広告　費用 ▲70%・効果 8倍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サイバーエージェント　1本 数千万円・3ヶ月 → 3本 300万円・1.5〜2週間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映画の群衆シーン　9,000万円 → 150万円（▲98%）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594360" y="630936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動画幹事・ムビサク・デジタルドロップ（制作費相場／撮影費は制作費の35〜40%）／ ムービーインパクト（AI導入の削減事例）／ 各社プレスリリース。相場はレンジで、案件条件により大きく変動します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市場規模と制作費の構造</dc:title>
  <dc:subject>PptxGenJS Presentation</dc:subject>
  <dc:creator>AI映像プラットフォーム事業</dc:creator>
  <cp:lastModifiedBy>AI映像プラットフォーム事業</cp:lastModifiedBy>
  <cp:revision>1</cp:revision>
  <dcterms:created xsi:type="dcterms:W3CDTF">2026-09-22T07:58:13Z</dcterms:created>
  <dcterms:modified xsi:type="dcterms:W3CDTF">2026-09-22T07:58:13Z</dcterms:modified>
</cp:coreProperties>
</file>