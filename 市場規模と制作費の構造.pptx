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企業案件と個人案件 — 発注市場の規模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「誰がお金を払うのか」で見ると、法人と個人では市場の性質がまったく違います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3483864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517904"/>
            <a:ext cx="3008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103120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企業案件｜法人が発注する市場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377440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国内動画制作サービス市場（2025年度予測）。2024年度 4,238億円 → 2027年度 5,400億円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【実測値・矢野経済研究所】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371600"/>
            <a:ext cx="3483864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517904"/>
            <a:ext cx="3008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103120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個人案件｜個人が発注する市場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377440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スキルシェア市場全体の2028年予測。動画編集はこのうちの一部にすぎず、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【直接の統計は存在しません】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371600"/>
            <a:ext cx="3483864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517904"/>
            <a:ext cx="3008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2兆894億円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103120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参考｜個人が「受け取る」市場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377440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クリエイターエコノミー（2024年）。これは発注市場ではなく報酬市場です。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【混同しないこと】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8712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同じ「1本の動画」でも、取引の形が違います</a:t>
            </a:r>
            <a:endParaRPr lang="en-US" sz="11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163824"/>
          <a:ext cx="110002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663440"/>
                <a:gridCol w="45994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企業案件（法人が発注）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個人案件（個人が発注）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1件あたり単価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20万〜200万円（制作会社）／代理店経由は100万〜1,000万円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5,000円〜30万円。簡易編集は1,000円台も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事業会社の広報・マーケ部門／広告代理店／制作会社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YouTuber・配信者・インフルエンサー・個人事業主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取引の場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相見積 → 稟議 → 発注書 → 検収 → 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ココナラ・ランサーズ・クラウドワークス（PFが仲介）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必要。ここが個人クリエイターには越えられない壁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原則プラットフォームが代行するため不要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市場の性質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単価が高く件数が少ない。参入障壁が高い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単価が低く件数が多い。初級案件は完全な買い手市場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94360" y="5449824"/>
            <a:ext cx="11000232" cy="78638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594360" y="5449824"/>
            <a:ext cx="45720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0392" y="557784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個人は「発注者」ではなく「稼ぎ手」です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" y="5907024"/>
            <a:ext cx="10543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個人が発注する市場は小さく、統計すら整備されていません。一方、個人が受け取る市場は2兆円規模です。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だから当社は、法人を発注側（P1）、個人を供給側（登録クリエイター）として扱います。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6309360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矢野経済研究所（動画コンテンツビジネス調査2025）／ Business Insider Japan（スキルシェア市場2028年予測）／ クリエイターエコノミー協会（2025年版調査）／ ココナラ・ランサーズ公開単価。企業案件は実測値、個人案件は推計値です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AI導入で、制作費はいくらになり、いくら浮くのか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削減が効くのは「人が動く工程」です。撮影・機材・出演で費用の55%。ここが消えると単価の桁が変わります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53312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用途別｜現状の制作費 → AI導入後の制作費 → コストメリット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27632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83080"/>
                <a:gridCol w="1783080"/>
                <a:gridCol w="2057400"/>
                <a:gridCol w="86868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コストメリット（削減額）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削減率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AIの効き方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映画（実写）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2.4〜4億円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部分適用のみ。VFX・群衆・背景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アニメ映画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1〜20億円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7,000万〜14億円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▲3,000万〜6億円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中割・背景・彩色の自動化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テレビCM（制作費）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実写×生成AIのハイブリッド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▲32〜98万円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▲65%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フル生成AIが成立。撮影が消える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展示会・社内イベント映像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▲14〜70万円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▲70%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同上。ループ素材は特に効く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▲8〜40万円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量産前提。1本あたりが最も下がる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94360" y="4224528"/>
            <a:ext cx="11000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下3行がフル生成AIの成立帯です。当社の企業案件（P1）は、この帯を取りに行きます。映画・CMは部分適用にとどまり、桁は変わりません。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45537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内訳はこう変わる｜企業VP 1本　100万円 → 35万円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882896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611423" y="4882896"/>
            <a:ext cx="379476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16" name="Shape 13"/>
          <p:cNvSpPr/>
          <p:nvPr/>
        </p:nvSpPr>
        <p:spPr>
          <a:xfrm>
            <a:off x="3990899" y="4882896"/>
            <a:ext cx="26563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17" name="Shape 14"/>
          <p:cNvSpPr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015484" y="4882896"/>
            <a:ext cx="379476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68112" y="48828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100万円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526694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1600200" y="5266944"/>
            <a:ext cx="284607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3" name="Shape 20"/>
          <p:cNvSpPr/>
          <p:nvPr/>
        </p:nvSpPr>
        <p:spPr>
          <a:xfrm>
            <a:off x="1884807" y="5266944"/>
            <a:ext cx="288402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3209" y="5266944"/>
            <a:ext cx="75895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25" name="Shape 22"/>
          <p:cNvSpPr/>
          <p:nvPr/>
        </p:nvSpPr>
        <p:spPr>
          <a:xfrm>
            <a:off x="2249104" y="5266944"/>
            <a:ext cx="2656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26" name="Shape 23"/>
          <p:cNvSpPr/>
          <p:nvPr/>
        </p:nvSpPr>
        <p:spPr>
          <a:xfrm>
            <a:off x="2275667" y="5266944"/>
            <a:ext cx="379476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27" name="Shape 24"/>
          <p:cNvSpPr/>
          <p:nvPr/>
        </p:nvSpPr>
        <p:spPr>
          <a:xfrm>
            <a:off x="2655143" y="5266944"/>
            <a:ext cx="265633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93928" y="52669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F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35万円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94360" y="566928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809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1490472" y="566928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664208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2386584" y="5669280"/>
            <a:ext cx="118872" cy="118872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560320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機材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282696" y="5669280"/>
            <a:ext cx="118872" cy="118872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3456432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出演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4178808" y="5669280"/>
            <a:ext cx="118872" cy="118872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352544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5074920" y="5669280"/>
            <a:ext cx="118872" cy="118872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24865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諸経費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5888736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消えるのは 撮影38＋機材10＋出演7＝55%。編集と諸経費は残ります。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263640" y="4553712"/>
            <a:ext cx="5330952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3" name="Shape 40"/>
          <p:cNvSpPr/>
          <p:nvPr/>
        </p:nvSpPr>
        <p:spPr>
          <a:xfrm>
            <a:off x="6483096" y="4809744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702552" y="4718304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実際に出ている削減幅（実例）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6702552" y="5065776"/>
            <a:ext cx="467258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大手保険のWeb広告動画　制作コスト ▲30〜50%／期間 ▲40%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Amazon Nova活用の広告　費用 ▲70%・効果 8倍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サイバーエージェント　1本 数千万円・3ヶ月 → 3本 300万円・1.5〜2週間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映画の群衆シーン　9,000万円 → 150万円（▲98%）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米国の企業動画　1分あたり 約63万円 → 約38万円（▲40%・実測）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594360" y="6309360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動画幹事・ムビサク・デジタルドロップ（制作費相場／撮影費は制作費の35〜40%）／ ムービーインパクト・各社プレスリリース（AI導入の削減事例）／ Vidico（米国の1分単価）。用途別の削減率は、工程別の削減率（企画▲50%・撮影▲80%・機材▲80%・出演▲90%・編集▲50%・諸経費▲30%）を費用構成に当てた当社試算です</a:t>
            </a:r>
            <a:endParaRPr lang="en-US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市場規模と制作費の構造</dc:title>
  <dc:subject>PptxGenJS Presentation</dc:subject>
  <dc:creator>AI映像プラットフォーム事業</dc:creator>
  <cp:lastModifiedBy>AI映像プラットフォーム事業</cp:lastModifiedBy>
  <cp:revision>1</cp:revision>
  <dcterms:created xsi:type="dcterms:W3CDTF">2026-09-22T08:14:59Z</dcterms:created>
  <dcterms:modified xsi:type="dcterms:W3CDTF">2026-09-22T08:14:59Z</dcterms:modified>
</cp:coreProperties>
</file>