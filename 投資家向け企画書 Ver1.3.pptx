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1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6161A"/>
                </a:solidFill>
                <a:latin typeface="Yu Gothic"/>
                <a:ea typeface="Yu Gothic"/>
                <a:cs typeface="Yu Gothic"/>
              </a:defRPr>
            </a:pPr>
            <a:r>
              <a:rPr sz="1100" b="0" i="0" u="none" strike="noStrike">
                <a:solidFill>
                  <a:srgbClr val="16161A"/>
                </a:solidFill>
                <a:latin typeface="Yu Gothic"/>
                <a:ea typeface="Yu Gothic"/>
                <a:cs typeface="Yu Gothic"/>
              </a:rPr>
              <a:t>売上高と営業利益の推移（単位 百万円・計画値）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売上高</c:v>
                </c:pt>
              </c:strCache>
            </c:strRef>
          </c:tx>
          <c:spPr>
            <a:solidFill>
              <a:srgbClr val="2A356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A3A42"/>
                    </a:solidFill>
                    <a:latin typeface="Yu Gothic"/>
                    <a:ea typeface="Yu Gothic"/>
                    <a:cs typeface="Yu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1期 2027/9</c:v>
                  </c:pt>
                  <c:pt idx="1">
                    <c:v>2期 2028/9</c:v>
                  </c:pt>
                  <c:pt idx="2">
                    <c:v>3期 2029/9</c:v>
                  </c:pt>
                  <c:pt idx="3">
                    <c:v>4期 2030/9</c:v>
                  </c:pt>
                  <c:pt idx="4">
                    <c:v>5期 2031/9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36</c:v>
                </c:pt>
                <c:pt idx="1">
                  <c:v>294</c:v>
                </c:pt>
                <c:pt idx="2">
                  <c:v>1402</c:v>
                </c:pt>
                <c:pt idx="3">
                  <c:v>3828</c:v>
                </c:pt>
                <c:pt idx="4">
                  <c:v>8251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営業利益</c:v>
                </c:pt>
              </c:strCache>
            </c:strRef>
          </c:tx>
          <c:spPr>
            <a:solidFill>
              <a:srgbClr val="B3121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A3A42"/>
                    </a:solidFill>
                    <a:latin typeface="Yu Gothic"/>
                    <a:ea typeface="Yu Gothic"/>
                    <a:cs typeface="Yu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1期 2027/9</c:v>
                  </c:pt>
                  <c:pt idx="1">
                    <c:v>2期 2028/9</c:v>
                  </c:pt>
                  <c:pt idx="2">
                    <c:v>3期 2029/9</c:v>
                  </c:pt>
                  <c:pt idx="3">
                    <c:v>4期 2030/9</c:v>
                  </c:pt>
                  <c:pt idx="4">
                    <c:v>5期 2031/9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-76</c:v>
                </c:pt>
                <c:pt idx="1">
                  <c:v>-94</c:v>
                </c:pt>
                <c:pt idx="2">
                  <c:v>45</c:v>
                </c:pt>
                <c:pt idx="3">
                  <c:v>554</c:v>
                </c:pt>
                <c:pt idx="4">
                  <c:v>2055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3A3A42"/>
                  </a:solidFill>
                  <a:latin typeface="Yu Gothic"/>
                  <a:ea typeface="Yu Gothic"/>
                  <a:cs typeface="Yu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E6E76"/>
                </a:solidFill>
                <a:latin typeface="Yu Gothic"/>
                <a:ea typeface="Yu Gothic"/>
                <a:cs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600"/>
          <c:min val="-200"/>
        </c:scaling>
        <c:delete val="0"/>
        <c:axPos val="l"/>
        <c:majorGridlines>
          <c:spPr>
            <a:ln w="6350" cap="flat">
              <a:solidFill>
                <a:srgbClr val="DCD9D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E6E76"/>
                </a:solidFill>
                <a:latin typeface="Yu Gothic"/>
                <a:ea typeface="Yu Gothic"/>
                <a:cs typeface="Yu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Yu Gothic"/>
              <a:ea typeface="Yu Gothic"/>
              <a:cs typeface="Yu Gothic"/>
              <a:cs typeface="Yu Gothic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image" Target="../media/image-26-2.jpg"/><Relationship Id="rId3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96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mage5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6576" y="0"/>
            <a:ext cx="1228953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8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94360" y="1874520"/>
            <a:ext cx="566928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594360" y="2578608"/>
            <a:ext cx="10881360" cy="138074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50392" y="2578608"/>
            <a:ext cx="10625328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次世代AI映像制作会社の設立投資案件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4215384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BE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東アジアを21世紀のハリウッドにするためのAI映像制作ハブとするAI映像制作会社のシード投資のご案内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5925312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BE2D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投資家向け企画書  ／  2026年9月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6254496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BE2D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新設法人（株式会社・仮称）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エグゼクティブサマリー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中華圏の最先端技術に日本のクオリティーコントロールとIPを融合させ、世界市場を取りに行く企業を設立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316736"/>
            <a:ext cx="50292" cy="786384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316736"/>
            <a:ext cx="107716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5年後・2031年、東証グロース市場への上場を目指す。</a:t>
            </a:r>
            <a:endParaRPr lang="en-US" sz="15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日本企業から映像制作を受注し、中国を中心とする登録クリエイターで作る。制作データを特許とモデルに変える。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94360" y="2249424"/>
            <a:ext cx="3483864" cy="1280160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32104" y="2414016"/>
            <a:ext cx="3008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社員54名</a:t>
            </a:r>
            <a:endParaRPr lang="en-US" sz="2700" dirty="0"/>
          </a:p>
        </p:txBody>
      </p:sp>
      <p:sp>
        <p:nvSpPr>
          <p:cNvPr id="10" name="Text 8"/>
          <p:cNvSpPr txBox="1"/>
          <p:nvPr/>
        </p:nvSpPr>
        <p:spPr>
          <a:xfrm>
            <a:off x="832104" y="3035808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5期の体制で、年商82.5億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32104" y="3310128"/>
            <a:ext cx="30083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売上/社員 1.53億。制作は業務委託と自動化で回す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352544" y="2249424"/>
            <a:ext cx="3483864" cy="1280160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90288" y="2414016"/>
            <a:ext cx="3008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3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3本立て</a:t>
            </a:r>
            <a:endParaRPr lang="en-US" sz="2700" dirty="0"/>
          </a:p>
        </p:txBody>
      </p:sp>
      <p:sp>
        <p:nvSpPr>
          <p:cNvPr id="14" name="Text 12"/>
          <p:cNvSpPr txBox="1"/>
          <p:nvPr/>
        </p:nvSpPr>
        <p:spPr>
          <a:xfrm>
            <a:off x="4590288" y="3035808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収益の柱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590288" y="3310128"/>
            <a:ext cx="30083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AI映像制作 ② 特許・制作用ツールの外販（2期〜）③ 越境C2C発注の手数料（6ヶ月目〜）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110728" y="2249424"/>
            <a:ext cx="3483864" cy="1280160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48472" y="2414016"/>
            <a:ext cx="3008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996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1.5億円</a:t>
            </a:r>
            <a:endParaRPr lang="en-US" sz="2700" dirty="0"/>
          </a:p>
        </p:txBody>
      </p:sp>
      <p:sp>
        <p:nvSpPr>
          <p:cNvPr id="18" name="Text 16"/>
          <p:cNvSpPr txBox="1"/>
          <p:nvPr/>
        </p:nvSpPr>
        <p:spPr>
          <a:xfrm>
            <a:off x="8348472" y="3035808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今回の調達目標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348472" y="3310128"/>
            <a:ext cx="30083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追加はシリーズA 3億のみ。累計4.5億で上場まで届く設計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94360" y="3657600"/>
            <a:ext cx="11000232" cy="841248"/>
          </a:xfrm>
          <a:prstGeom prst="rect">
            <a:avLst/>
          </a:prstGeom>
          <a:solidFill>
            <a:srgbClr val="FFF2C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32104" y="37124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投資の期待値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32104" y="402336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シード1.42億 → 上場後持分14.5%（ESOP10%・シリーズA・IPO公募20%で希薄化後）。出資から約4.9年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3246120" y="371246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18.7倍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3246120" y="41148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183億（ライン別倍率・保守）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6035040" y="371246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23.7倍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6035040" y="41148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232億（ライン別倍率）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8823960" y="371246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25.3倍</a:t>
            </a:r>
            <a:endParaRPr lang="en-US" sz="1900" dirty="0"/>
          </a:p>
        </p:txBody>
      </p:sp>
      <p:sp>
        <p:nvSpPr>
          <p:cNvPr id="28" name="Text 26"/>
          <p:cNvSpPr txBox="1"/>
          <p:nvPr/>
        </p:nvSpPr>
        <p:spPr>
          <a:xfrm>
            <a:off x="8823960" y="41148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248億（全社PSR3倍）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94360" y="4626864"/>
            <a:ext cx="3483864" cy="1078992"/>
          </a:xfrm>
          <a:prstGeom prst="rect">
            <a:avLst/>
          </a:prstGeom>
          <a:solidFill>
            <a:srgbClr val="FFF2CC"/>
          </a:solidFill>
          <a:ln/>
        </p:spPr>
      </p:sp>
      <p:sp>
        <p:nvSpPr>
          <p:cNvPr id="30" name="Shape 28"/>
          <p:cNvSpPr/>
          <p:nvPr/>
        </p:nvSpPr>
        <p:spPr>
          <a:xfrm>
            <a:off x="813816" y="4882896"/>
            <a:ext cx="109728" cy="10972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033272" y="4791456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何をするか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1033272" y="5138928"/>
            <a:ext cx="2825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日本企業から映像制作を受注し、中国を中心とする登録クリエイターに配分する。</a:t>
            </a:r>
            <a:endParaRPr lang="en-US" sz="8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溜まった制作データで特許を取得し、チェックポイント・LoRA・制作用ツールを外販する。</a:t>
            </a:r>
            <a:endParaRPr lang="en-US" sz="8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個人・中小の越境発注を、自動化したプラットフォームで受ける。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352544" y="4626864"/>
            <a:ext cx="3483864" cy="1078992"/>
          </a:xfrm>
          <a:prstGeom prst="rect">
            <a:avLst/>
          </a:prstGeom>
          <a:solidFill>
            <a:srgbClr val="FFF2CC"/>
          </a:solidFill>
          <a:ln/>
        </p:spPr>
      </p:sp>
      <p:sp>
        <p:nvSpPr>
          <p:cNvPr id="34" name="Shape 32"/>
          <p:cNvSpPr/>
          <p:nvPr/>
        </p:nvSpPr>
        <p:spPr>
          <a:xfrm>
            <a:off x="4572000" y="4882896"/>
            <a:ext cx="109728" cy="109728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4791456" y="4791456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なぜ勝てるか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4791456" y="5138928"/>
            <a:ext cx="2825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生成AIで制作原価は下がったが、日本企業の発注価格は下がっていない。この差が粗利。</a:t>
            </a:r>
            <a:endParaRPr lang="en-US" sz="8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日本企業は中華圏に直接発注しない。言語・商習慣・品質保証・契約が壁。</a:t>
            </a:r>
            <a:endParaRPr lang="en-US" sz="8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その壁を引き受けることが商品。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8110728" y="4626864"/>
            <a:ext cx="3483864" cy="1078992"/>
          </a:xfrm>
          <a:prstGeom prst="rect">
            <a:avLst/>
          </a:prstGeom>
          <a:solidFill>
            <a:srgbClr val="FFF2CC"/>
          </a:solidFill>
          <a:ln/>
        </p:spPr>
      </p:sp>
      <p:sp>
        <p:nvSpPr>
          <p:cNvPr id="38" name="Shape 36"/>
          <p:cNvSpPr/>
          <p:nvPr/>
        </p:nvSpPr>
        <p:spPr>
          <a:xfrm>
            <a:off x="8330184" y="4882896"/>
            <a:ext cx="109728" cy="109728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8549640" y="4791456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どこへ向かうか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8549640" y="5138928"/>
            <a:ext cx="2825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3期に黒字化、5年目に年商82.5億・営業利益20.6億（24.9%）。</a:t>
            </a:r>
            <a:endParaRPr lang="en-US" sz="8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売上の80%を「人手に比例しない収益」にする。社員を増やさずに伸びる形をつくる。</a:t>
            </a:r>
            <a:endParaRPr lang="en-US" sz="850" dirty="0"/>
          </a:p>
        </p:txBody>
      </p:sp>
      <p:sp>
        <p:nvSpPr>
          <p:cNvPr id="41" name="Text 39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収支は［仮置き］を含む計画値です。投資の期待値は計画達成時の試算であり、利回りの保証ではありません。倍率は市況で変動します</a:t>
            </a:r>
            <a:endParaRPr lang="en-US" sz="850" dirty="0"/>
          </a:p>
        </p:txBody>
      </p:sp>
      <p:sp>
        <p:nvSpPr>
          <p:cNvPr id="42" name="Text 40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なぜ今なのか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出遅れている日本、淘汰が始まった中国。そして優秀なAIクリエイターが行き場を失っている今がチャンス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335024"/>
            <a:ext cx="2544318" cy="1389888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7" name="Shape 5"/>
          <p:cNvSpPr/>
          <p:nvPr/>
        </p:nvSpPr>
        <p:spPr>
          <a:xfrm>
            <a:off x="813816" y="1591056"/>
            <a:ext cx="109728" cy="10972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33272" y="1499616"/>
            <a:ext cx="18859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  日本は出遅れている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033272" y="1847088"/>
            <a:ext cx="188595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政府がAI推進法を制定し、AI基本計画を閣議決定するほどの危機感。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映像制作の現場にAIはまだ入っていない。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412998" y="1335024"/>
            <a:ext cx="2544318" cy="1389888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1" name="Shape 9"/>
          <p:cNvSpPr/>
          <p:nvPr/>
        </p:nvSpPr>
        <p:spPr>
          <a:xfrm>
            <a:off x="3632454" y="1591056"/>
            <a:ext cx="109728" cy="10972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851910" y="1499616"/>
            <a:ext cx="18859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  中国では淘汰が始まった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851910" y="1847088"/>
            <a:ext cx="188595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AI映像の制作会社は2026年Q1に 1,216社→698社（−42%）。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約90%が赤字。最大コストは広告出稿で約70%。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31636" y="1335024"/>
            <a:ext cx="2544318" cy="1389888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5" name="Shape 13"/>
          <p:cNvSpPr/>
          <p:nvPr/>
        </p:nvSpPr>
        <p:spPr>
          <a:xfrm>
            <a:off x="6451092" y="1591056"/>
            <a:ext cx="109728" cy="109728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70548" y="1499616"/>
            <a:ext cx="18859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  制作力が余っている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670548" y="1847088"/>
            <a:ext cx="188595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中国PFは純AIコンテンツの分成を圧縮し、最低保証を廃止。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足りないのは「作る力」ではなく「売る力」。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050274" y="1335024"/>
            <a:ext cx="2544318" cy="1389888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9" name="Shape 17"/>
          <p:cNvSpPr/>
          <p:nvPr/>
        </p:nvSpPr>
        <p:spPr>
          <a:xfrm>
            <a:off x="9269730" y="1591056"/>
            <a:ext cx="109728" cy="109728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489186" y="1499616"/>
            <a:ext cx="18859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  当社が売る力になる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9489186" y="1847088"/>
            <a:ext cx="188595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日本の発注を取り、要件定義・品質保証・契約・請求を引き受ける。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彼らは作るだけでよくなる。</a:t>
            </a:r>
            <a:endParaRPr lang="en-US" sz="900" dirty="0"/>
          </a:p>
        </p:txBody>
      </p:sp>
      <p:pic>
        <p:nvPicPr>
          <p:cNvPr id="22" name="Image 0" descr="assets/image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58184" y="2880360"/>
            <a:ext cx="1856232" cy="1389888"/>
          </a:xfrm>
          <a:prstGeom prst="rect">
            <a:avLst/>
          </a:prstGeom>
        </p:spPr>
      </p:pic>
      <p:pic>
        <p:nvPicPr>
          <p:cNvPr id="23" name="Image 1" descr="assets/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907792"/>
            <a:ext cx="1856232" cy="1335024"/>
          </a:xfrm>
          <a:prstGeom prst="rect">
            <a:avLst/>
          </a:prstGeom>
        </p:spPr>
      </p:pic>
      <p:pic>
        <p:nvPicPr>
          <p:cNvPr id="24" name="Image 2" descr="asset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7736" y="2907792"/>
            <a:ext cx="2011680" cy="1335024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594360" y="4425696"/>
            <a:ext cx="11000232" cy="1517904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960120" y="44897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中国のAI映像制作会社数</a:t>
            </a:r>
            <a:endParaRPr lang="en-US" sz="1100" dirty="0"/>
          </a:p>
        </p:txBody>
      </p:sp>
      <p:sp>
        <p:nvSpPr>
          <p:cNvPr id="27" name="Text 22"/>
          <p:cNvSpPr txBox="1"/>
          <p:nvPr/>
        </p:nvSpPr>
        <p:spPr>
          <a:xfrm>
            <a:off x="960120" y="48920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2025年 Q4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960120" y="514807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1,216社</a:t>
            </a:r>
            <a:endParaRPr lang="en-US" sz="2200" dirty="0"/>
          </a:p>
        </p:txBody>
      </p:sp>
      <p:sp>
        <p:nvSpPr>
          <p:cNvPr id="29" name="Text 24"/>
          <p:cNvSpPr txBox="1"/>
          <p:nvPr/>
        </p:nvSpPr>
        <p:spPr>
          <a:xfrm>
            <a:off x="3337560" y="514807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30" name="Text 25"/>
          <p:cNvSpPr txBox="1"/>
          <p:nvPr/>
        </p:nvSpPr>
        <p:spPr>
          <a:xfrm>
            <a:off x="4069080" y="48920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2026年 Q1</a:t>
            </a:r>
            <a:endParaRPr lang="en-US" sz="1000" dirty="0"/>
          </a:p>
        </p:txBody>
      </p:sp>
      <p:sp>
        <p:nvSpPr>
          <p:cNvPr id="31" name="Text 26"/>
          <p:cNvSpPr txBox="1"/>
          <p:nvPr/>
        </p:nvSpPr>
        <p:spPr>
          <a:xfrm>
            <a:off x="4069080" y="514807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698社</a:t>
            </a:r>
            <a:endParaRPr lang="en-US" sz="2200" dirty="0"/>
          </a:p>
        </p:txBody>
      </p:sp>
      <p:sp>
        <p:nvSpPr>
          <p:cNvPr id="32" name="Text 27"/>
          <p:cNvSpPr txBox="1"/>
          <p:nvPr/>
        </p:nvSpPr>
        <p:spPr>
          <a:xfrm>
            <a:off x="6995160" y="4544568"/>
            <a:ext cx="41422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1四半期で −42%。制作力が市場に溢れ出しています。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ただし淘汰されているのは、広告出稿で視聴者を取りに行った会社です。作る力そのものは市場に残っています。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当社が取るのは制作力であって、彼らが負けた土俵（視聴者獲得の消耗戦）には乗りません。</a:t>
            </a:r>
            <a:endParaRPr lang="en-US" sz="950" dirty="0"/>
          </a:p>
        </p:txBody>
      </p:sp>
      <p:sp>
        <p:nvSpPr>
          <p:cNvPr id="33" name="Text 28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出所: 内閣府 AI戦略 ／ 第一財経・搜狐（中国AI短劇の淘汰）／ 网易「2026短劇分账新政」／ 経済産業省</a:t>
            </a:r>
            <a:endParaRPr lang="en-US" sz="850" dirty="0"/>
          </a:p>
        </p:txBody>
      </p:sp>
      <p:sp>
        <p:nvSpPr>
          <p:cNvPr id="34" name="Text 29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最終ゴール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日本に制作ハブを置き、中華圏の技術を束ねて世界市場を取りに行く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389888"/>
            <a:ext cx="50292" cy="786384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389888"/>
            <a:ext cx="107716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AI映像制作ハブを日本に置く。</a:t>
            </a:r>
            <a:endParaRPr lang="en-US" sz="15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中華圏の最先端技術に、日本のクオリティーコントロールとIPを載せて世界へ出す。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94360" y="2432304"/>
            <a:ext cx="3483864" cy="1975104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9" name="Shape 7"/>
          <p:cNvSpPr/>
          <p:nvPr/>
        </p:nvSpPr>
        <p:spPr>
          <a:xfrm>
            <a:off x="813816" y="2688336"/>
            <a:ext cx="109728" cy="10972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33272" y="2596896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日本の企業案件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033272" y="2944368"/>
            <a:ext cx="28254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4,580億円の実測市場。法人が発注し、与信と請求が必要な領域。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個人クリエイターには越えられない壁を当社が引き受ける。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初日から現金を生む主軸。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52544" y="2432304"/>
            <a:ext cx="3483864" cy="1975104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0" y="2688336"/>
            <a:ext cx="109728" cy="109728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791456" y="2596896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越境C2C発注プラットフォーム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791456" y="2944368"/>
            <a:ext cx="28254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日本・海外の個人と中小事業者が、中国のクリエイターに直接発注できる場。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言語・決済・品質保証・契約の壁を、システムで引き受ける。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6ヶ月目から。取引手数料で回収する。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110728" y="2432304"/>
            <a:ext cx="3483864" cy="1975104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7" name="Shape 15"/>
          <p:cNvSpPr/>
          <p:nvPr/>
        </p:nvSpPr>
        <p:spPr>
          <a:xfrm>
            <a:off x="8330184" y="2688336"/>
            <a:ext cx="109728" cy="109728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549640" y="2596896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日本の個人案件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549640" y="2944368"/>
            <a:ext cx="28254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ウエディング・終活など、個人が発注する領域。単価5〜20万。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法人案件の閑散期を埋める調整弁。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要求が定型的で件数が出るため、最良の学習データ源になる。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4360" y="4590288"/>
            <a:ext cx="11000232" cy="1115568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360" y="4590288"/>
            <a:ext cx="45720" cy="111556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50392" y="4736592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3つとも「制作」が土台です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50392" y="5065776"/>
            <a:ext cx="105430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②のプラットフォームは、①③で積んだクリエイターが無ければ受け手がいません。プラットフォームが先ではなく、制作が先です。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そして①②③で溜まった制作データが、内製化・特許・モデル外販（P4）の原料になります。ここが企業価値の本体です。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市場規模の出所は次ページ以降。個人案件は「個人が発注する市場」であり、クリエイターエコノミー（個人が受け取る市場）とは別物です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市場規模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本丸は国内の映像制作市場です。ここは推計ではなく実測値があります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444752"/>
            <a:ext cx="3483864" cy="1389888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32104" y="1609344"/>
            <a:ext cx="3008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4,580億円</a:t>
            </a:r>
            <a:endParaRPr lang="en-US" sz="2700" dirty="0"/>
          </a:p>
        </p:txBody>
      </p:sp>
      <p:sp>
        <p:nvSpPr>
          <p:cNvPr id="8" name="Text 6"/>
          <p:cNvSpPr txBox="1"/>
          <p:nvPr/>
        </p:nvSpPr>
        <p:spPr>
          <a:xfrm>
            <a:off x="832104" y="223113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国内 動画制作サービス市場（2025年度予測）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32104" y="2505456"/>
            <a:ext cx="3008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2024年度 4,238億円 → 2027年度 5,400億円【実測・矢野経済研究所】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352544" y="1444752"/>
            <a:ext cx="3483864" cy="1389888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90288" y="1609344"/>
            <a:ext cx="3008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3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6,300億円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4590288" y="223113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動画コンテンツビジネス市場（2025年度予測）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90288" y="2505456"/>
            <a:ext cx="3008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動画編集ソフト・配信PF・ライブ配信・アニメ制作。①とは別枠。ツール外販が面する市場【実測・矢野経済研究所】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110728" y="1444752"/>
            <a:ext cx="3483864" cy="1389888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48472" y="1609344"/>
            <a:ext cx="3008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996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6,800億円</a:t>
            </a:r>
            <a:endParaRPr lang="en-US" sz="2700" dirty="0"/>
          </a:p>
        </p:txBody>
      </p:sp>
      <p:sp>
        <p:nvSpPr>
          <p:cNvPr id="16" name="Text 14"/>
          <p:cNvSpPr txBox="1"/>
          <p:nvPr/>
        </p:nvSpPr>
        <p:spPr>
          <a:xfrm>
            <a:off x="8348472" y="223113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スキルシェア市場（2028年予測）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348472" y="2505456"/>
            <a:ext cx="3008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個人の発注が集まる場。C2Cが面する市場【推計・動画の内訳は非開示】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3017520"/>
          <a:ext cx="11000232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286000"/>
                <a:gridCol w="1280160"/>
                <a:gridCol w="1920240"/>
                <a:gridCol w="1463040"/>
                <a:gridCol w="3502152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当社が取りに行く帯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発注者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現状の制作費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AI導入後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なぜここか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①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企業VP・会社紹介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法人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50〜150万円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18〜52万円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フル生成AIが成立。撮影が消えて原価が半分以下になる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①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展示会・イベント映像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法人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20〜100万円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6〜30万円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ループ素材は特に効く。閑散期を埋める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996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③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PR素材・SNS縦型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個人・中小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10〜50万円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2〜10万円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C2Cの主戦場。量産前提で件数が出る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映画・テレビCM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—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3〜5億／1,000万〜1億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▲20〜50%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桁は変わらない。当社は取りに行かない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594360" y="4773168"/>
            <a:ext cx="5362956" cy="932688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20" name="Shape 17"/>
          <p:cNvSpPr/>
          <p:nvPr/>
        </p:nvSpPr>
        <p:spPr>
          <a:xfrm>
            <a:off x="594360" y="4773168"/>
            <a:ext cx="45720" cy="9326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850392" y="4919472"/>
            <a:ext cx="4905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動画広告市場は載せていません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850392" y="5248656"/>
            <a:ext cx="49057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広告の出稿額であって、映像制作の発注額ではありません。当社の対象市場ではないので外しました。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231636" y="4773168"/>
            <a:ext cx="5362956" cy="932688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24" name="Shape 21"/>
          <p:cNvSpPr/>
          <p:nvPr/>
        </p:nvSpPr>
        <p:spPr>
          <a:xfrm>
            <a:off x="6231636" y="4773168"/>
            <a:ext cx="45720" cy="9326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6487668" y="4919472"/>
            <a:ext cx="4905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③のうち動画が何割かは、公表されていません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487668" y="5248656"/>
            <a:ext cx="49057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ココナラ・ランサーズとも、カテゴリ別の流通高を開示していません。6,800億円を当社の対象市場として使わないこと。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個人案件は件数と単価を1期に実測して置き換えます。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出所: 矢野経済研究所（動画コンテンツビジネスに関する調査2025。①のBtoB動画制作サービスは②の6,300億円に含まれません）／ Business Insider Japan（スキルシェア市場2028年予測）／ Vidico（米国の1分単価）。AI後の単価は工程別削減率からの当社試算です</a:t>
            </a:r>
            <a:endParaRPr lang="en-US" sz="850" dirty="0"/>
          </a:p>
        </p:txBody>
      </p:sp>
      <p:sp>
        <p:nvSpPr>
          <p:cNvPr id="28" name="Text 25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企業案件と個人案件 — 発注市場の規模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「誰がお金を払うのか」で見ると、法人と個人では市場の性質がまったく違います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371600"/>
            <a:ext cx="3483864" cy="1371600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32104" y="1536192"/>
            <a:ext cx="3008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4,580億円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832104" y="2157984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企業案件｜法人が発注する市場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32104" y="2432304"/>
            <a:ext cx="3008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国内動画制作サービス市場（2025年度予測）。2024年度 4,238億円 → 2027年度 5,400億円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【実測値・矢野経済研究所】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352544" y="1371600"/>
            <a:ext cx="3483864" cy="1371600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90288" y="1536192"/>
            <a:ext cx="3008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96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6,800億円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4590288" y="2157984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個人案件｜個人が発注する市場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90288" y="2432304"/>
            <a:ext cx="3008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スキルシェア市場全体の2028年予測。動画がこのうち何割かは公表されていません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【推計・内訳は非開示】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110728" y="1371600"/>
            <a:ext cx="3483864" cy="1371600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48472" y="1536192"/>
            <a:ext cx="3008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2兆894億円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8348472" y="2157984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参考｜個人が「受け取る」市場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348472" y="2432304"/>
            <a:ext cx="3008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クリエイターエコノミー（2024年）。これは発注市場ではなく報酬市場です。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【混同しないこと】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" y="2871216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同じ「1本の動画」でも、取引の形が違います</a:t>
            </a:r>
            <a:endParaRPr lang="en-US" sz="11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3163824"/>
          <a:ext cx="1100023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663440"/>
                <a:gridCol w="459943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① 企業案件（法人が発注）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③ 個人案件（個人が発注）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1件あたり単価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20万〜200万円（制作会社）／代理店経由は100万〜1,000万円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996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5,000円〜100万円。簡易編集は1,000円台も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発注者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事業会社の広報・マーケ部門／広告代理店／制作会社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個人事業主・小規模店舗・YouTuber・配信者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取引の場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相見積 → 稟議 → 発注書 → 検収 → 請求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ココナラ・ランサーズ・クラウドワークス（PFが仲介）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与信・請求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必要。ここが個人クリエイターには越えられない壁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原則プラットフォームが代行するため不要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当社の位置づけ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主軸。当社が受注して配分する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996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第3の柱。自動化したPFで受ける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594360" y="5449824"/>
            <a:ext cx="11000232" cy="804672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21" name="Shape 18"/>
          <p:cNvSpPr/>
          <p:nvPr/>
        </p:nvSpPr>
        <p:spPr>
          <a:xfrm>
            <a:off x="594360" y="5449824"/>
            <a:ext cx="45720" cy="804672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50392" y="5596128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個人の発注市場は「小さい」のではなく「測られていない」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850392" y="5925312"/>
            <a:ext cx="10543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ココナラ・ランサーズとも、動画カテゴリの流通高を開示していません。6,800億円はスキルシェア全体の数字です。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だから売上の主軸は法人（①）に置き、個人（③）は自動化したPFで薄く広く取ります。件数と単価は1期に実測します。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出所: 矢野経済研究所（動画コンテンツビジネス調査2025）／ Business Insider Japan（スキルシェア市場2028年予測）／ クリエイターエコノミー協会（2025年版調査）／ ココナラ・ランサーズ公開単価。企業案件は実測値、個人案件は推計値です</a:t>
            </a:r>
            <a:endParaRPr lang="en-US" sz="850" dirty="0"/>
          </a:p>
        </p:txBody>
      </p:sp>
      <p:sp>
        <p:nvSpPr>
          <p:cNvPr id="25" name="Text 22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どんな場面で発注が起きるのか — Where the demand comes from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法人と個人で、依頼される映像はまったく違います。単価も尺も頻度も違います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3716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企業案件｜法人が発注する — Corporate</a:t>
            </a:r>
            <a:endParaRPr lang="en-US" sz="11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64208"/>
          <a:ext cx="53949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005840"/>
                <a:gridCol w="822960"/>
                <a:gridCol w="118872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場面 / Scene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単価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尺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頻度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会社紹介  Company profile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50〜150万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2〜5分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数年に1回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採用  Recruiting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40〜120万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2〜3分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毎年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商品・サービス紹介  Product demo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30〜100万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1〜3分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製品ごと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展示会ループ  Trade show loop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20〜60万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30秒〜2分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催事ごと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社内研修・マニュアル  Training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20〜80万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3〜10分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随時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IR・株主向け  Investor relations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50〜200万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3〜8分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年1回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6263640" y="1371600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個人案件｜個人・中小が発注する — Individual &amp; SMB</a:t>
            </a:r>
            <a:endParaRPr lang="en-US" sz="115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664208"/>
          <a:ext cx="5330952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005840"/>
                <a:gridCol w="822960"/>
                <a:gridCol w="9418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場面 / Scene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単価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尺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頻度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SNS広告・縦型  Social ads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996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1〜30万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15〜60秒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毎月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店舗紹介  Shop introduction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3〜30万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1〜2分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開業時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ウエディング  Wedding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5〜20万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3〜7分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一生に1回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終活・記念  Memorial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5〜20万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3〜10分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一生に1回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教材・オンライン講座  Course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3〜50万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5〜30分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講座ごと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クラウドファンディング  Crowdfunding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996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10〜100万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2〜4分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企画ごと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94360" y="3968496"/>
            <a:ext cx="5362956" cy="969264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11" name="Shape 7"/>
          <p:cNvSpPr/>
          <p:nvPr/>
        </p:nvSpPr>
        <p:spPr>
          <a:xfrm>
            <a:off x="594360" y="3968496"/>
            <a:ext cx="45720" cy="969264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850392" y="4114800"/>
            <a:ext cx="4905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法人は「高く・少なく・止まらない」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850392" y="4443984"/>
            <a:ext cx="49057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単価が高く件数が少ない。稟議と検収があるぶん発注は途切れにくい。当社が受注して配分します。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231636" y="3968496"/>
            <a:ext cx="5362956" cy="969264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15" name="Shape 11"/>
          <p:cNvSpPr/>
          <p:nvPr/>
        </p:nvSpPr>
        <p:spPr>
          <a:xfrm>
            <a:off x="6231636" y="3968496"/>
            <a:ext cx="45720" cy="969264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6487668" y="4114800"/>
            <a:ext cx="4905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個人は「安く・多く・波がある」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6487668" y="4443984"/>
            <a:ext cx="49057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単価は低いが件数が出る。上限は100万円まで。人が介在すると採算が合わないので、自動化したPFで受けます。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594360" y="5120640"/>
            <a:ext cx="2544318" cy="585216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9" name="Shape 15"/>
          <p:cNvSpPr/>
          <p:nvPr/>
        </p:nvSpPr>
        <p:spPr>
          <a:xfrm>
            <a:off x="813816" y="5376672"/>
            <a:ext cx="109728" cy="10972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1033272" y="5285232"/>
            <a:ext cx="18859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共通するのは「尺が短い」</a:t>
            </a:r>
            <a:endParaRPr lang="en-US" sz="1250" dirty="0"/>
          </a:p>
        </p:txBody>
      </p:sp>
      <p:sp>
        <p:nvSpPr>
          <p:cNvPr id="21" name="Text 17"/>
          <p:cNvSpPr txBox="1"/>
          <p:nvPr/>
        </p:nvSpPr>
        <p:spPr>
          <a:xfrm>
            <a:off x="1033272" y="5632704"/>
            <a:ext cx="1885950" cy="-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3412998" y="5120640"/>
            <a:ext cx="2544318" cy="585216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23" name="Shape 19"/>
          <p:cNvSpPr/>
          <p:nvPr/>
        </p:nvSpPr>
        <p:spPr>
          <a:xfrm>
            <a:off x="3632454" y="5376672"/>
            <a:ext cx="109728" cy="109728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3851910" y="5285232"/>
            <a:ext cx="18859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実写が要らない場面が多い</a:t>
            </a:r>
            <a:endParaRPr lang="en-US" sz="1250" dirty="0"/>
          </a:p>
        </p:txBody>
      </p:sp>
      <p:sp>
        <p:nvSpPr>
          <p:cNvPr id="25" name="Text 21"/>
          <p:cNvSpPr txBox="1"/>
          <p:nvPr/>
        </p:nvSpPr>
        <p:spPr>
          <a:xfrm>
            <a:off x="3851910" y="5632704"/>
            <a:ext cx="1885950" cy="-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endParaRPr lang="en-US" sz="850" dirty="0"/>
          </a:p>
        </p:txBody>
      </p:sp>
      <p:sp>
        <p:nvSpPr>
          <p:cNvPr id="26" name="Shape 22"/>
          <p:cNvSpPr/>
          <p:nvPr/>
        </p:nvSpPr>
        <p:spPr>
          <a:xfrm>
            <a:off x="6231636" y="5120640"/>
            <a:ext cx="2544318" cy="585216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27" name="Shape 23"/>
          <p:cNvSpPr/>
          <p:nvPr/>
        </p:nvSpPr>
        <p:spPr>
          <a:xfrm>
            <a:off x="6451092" y="5376672"/>
            <a:ext cx="109728" cy="109728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6670548" y="5285232"/>
            <a:ext cx="18859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だからフル生成AIが効く</a:t>
            </a:r>
            <a:endParaRPr lang="en-US" sz="1250" dirty="0"/>
          </a:p>
        </p:txBody>
      </p:sp>
      <p:sp>
        <p:nvSpPr>
          <p:cNvPr id="29" name="Text 25"/>
          <p:cNvSpPr txBox="1"/>
          <p:nvPr/>
        </p:nvSpPr>
        <p:spPr>
          <a:xfrm>
            <a:off x="6670548" y="5632704"/>
            <a:ext cx="1885950" cy="-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9050274" y="5120640"/>
            <a:ext cx="2544318" cy="585216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31" name="Shape 27"/>
          <p:cNvSpPr/>
          <p:nvPr/>
        </p:nvSpPr>
        <p:spPr>
          <a:xfrm>
            <a:off x="9269730" y="5376672"/>
            <a:ext cx="109728" cy="10972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9489186" y="5285232"/>
            <a:ext cx="18859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修正のやり取りが資産になる</a:t>
            </a:r>
            <a:endParaRPr lang="en-US" sz="1250" dirty="0"/>
          </a:p>
        </p:txBody>
      </p:sp>
      <p:sp>
        <p:nvSpPr>
          <p:cNvPr id="33" name="Text 29"/>
          <p:cNvSpPr txBox="1"/>
          <p:nvPr/>
        </p:nvSpPr>
        <p:spPr>
          <a:xfrm>
            <a:off x="9489186" y="5632704"/>
            <a:ext cx="1885950" cy="-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endParaRPr lang="en-US" sz="850" dirty="0"/>
          </a:p>
        </p:txBody>
      </p:sp>
      <p:sp>
        <p:nvSpPr>
          <p:cNvPr id="34" name="Text 30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単価・尺・頻度は業界相場と公開単価からの［仮置き］です。1期に実測して差し替えます。出所: 動画幹事・ムビサク（法人相場）／ ココナラ・ランサーズ公開単価（個人相場）</a:t>
            </a:r>
            <a:endParaRPr lang="en-US" sz="850" dirty="0"/>
          </a:p>
        </p:txBody>
      </p:sp>
      <p:sp>
        <p:nvSpPr>
          <p:cNvPr id="35" name="Text 31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AI導入で、制作費はいくらになり、いくら浮くのか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削減が効くのは「人が動く工程」です。撮影・機材・出演で費用の55%。ここが1/5になると単価が根本から変わります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353312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用途別｜現状の制作費 → AI導入後の制作費 → コストメリット</a:t>
            </a:r>
            <a:endParaRPr lang="en-US" sz="11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27632"/>
          <a:ext cx="1100023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783080"/>
                <a:gridCol w="1783080"/>
                <a:gridCol w="2057400"/>
                <a:gridCol w="868680"/>
                <a:gridCol w="240487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用途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現状の制作費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AI導入後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コストメリット（削減額）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削減率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AIの効き方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映画（実写）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3〜5億円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2.4〜4億円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▲6,000万〜1億円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▲20%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部分適用のみ。VFX・群衆・背景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アニメ映画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1〜20億円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7,000万〜14億円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▲3,000万〜6億円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▲30%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中割・背景・彩色の自動化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テレビCM（制作費）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1,000万〜1億円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500万〜5,000万円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▲500万〜5,000万円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▲50%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実写×生成AIのハイブリッド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★ 企業VP・会社紹介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50〜150万円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6F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18〜52万円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▲32〜98万円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▲65%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フル生成AIが成立。撮影が消える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★ 展示会・社内イベント映像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20〜100万円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6F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6〜30万円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▲14〜70万円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▲70%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同上。ループ素材は特に効く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★ PR素材・SNS縦型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10〜50万円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6F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2〜10万円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▲8〜40万円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▲80%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量産前提。1本あたりが最も下がる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94360" y="4224528"/>
            <a:ext cx="11000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★ 下3行がフル生成AIの成立帯です。当社が取りに行くのはこの帯です。映画・CMは部分適用にとどまり、桁は変わりません。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455371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内訳はこう変わる｜企業VP 1本　100万円 → 35万円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4882896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現状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1600200" y="4882896"/>
            <a:ext cx="569214" cy="274320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600200" y="4882896"/>
            <a:ext cx="5692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2169414" y="4882896"/>
            <a:ext cx="1442009" cy="274320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2169414" y="4882896"/>
            <a:ext cx="14420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611423" y="4882896"/>
            <a:ext cx="379476" cy="274320"/>
          </a:xfrm>
          <a:prstGeom prst="rect">
            <a:avLst/>
          </a:prstGeom>
          <a:solidFill>
            <a:srgbClr val="8C1F26"/>
          </a:solidFill>
          <a:ln/>
        </p:spPr>
      </p:sp>
      <p:sp>
        <p:nvSpPr>
          <p:cNvPr id="16" name="Shape 13"/>
          <p:cNvSpPr/>
          <p:nvPr/>
        </p:nvSpPr>
        <p:spPr>
          <a:xfrm>
            <a:off x="3990899" y="4882896"/>
            <a:ext cx="265633" cy="274320"/>
          </a:xfrm>
          <a:prstGeom prst="rect">
            <a:avLst/>
          </a:prstGeom>
          <a:solidFill>
            <a:srgbClr val="D9601A"/>
          </a:solidFill>
          <a:ln/>
        </p:spPr>
      </p:sp>
      <p:sp>
        <p:nvSpPr>
          <p:cNvPr id="17" name="Shape 14"/>
          <p:cNvSpPr/>
          <p:nvPr/>
        </p:nvSpPr>
        <p:spPr>
          <a:xfrm>
            <a:off x="4256532" y="4882896"/>
            <a:ext cx="758952" cy="274320"/>
          </a:xfrm>
          <a:prstGeom prst="rect">
            <a:avLst/>
          </a:prstGeom>
          <a:solidFill>
            <a:srgbClr val="1F6F63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256532" y="4882896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015484" y="4882896"/>
            <a:ext cx="379476" cy="274320"/>
          </a:xfrm>
          <a:prstGeom prst="rect">
            <a:avLst/>
          </a:prstGeom>
          <a:solidFill>
            <a:srgbClr val="6E6E76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468112" y="48828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100万円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594360" y="5266944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AI後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1600200" y="5266944"/>
            <a:ext cx="284607" cy="274320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23" name="Shape 20"/>
          <p:cNvSpPr/>
          <p:nvPr/>
        </p:nvSpPr>
        <p:spPr>
          <a:xfrm>
            <a:off x="1884807" y="5266944"/>
            <a:ext cx="288402" cy="274320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4" name="Shape 21"/>
          <p:cNvSpPr/>
          <p:nvPr/>
        </p:nvSpPr>
        <p:spPr>
          <a:xfrm>
            <a:off x="2173209" y="5266944"/>
            <a:ext cx="75895" cy="274320"/>
          </a:xfrm>
          <a:prstGeom prst="rect">
            <a:avLst/>
          </a:prstGeom>
          <a:solidFill>
            <a:srgbClr val="8C1F26"/>
          </a:solidFill>
          <a:ln/>
        </p:spPr>
      </p:sp>
      <p:sp>
        <p:nvSpPr>
          <p:cNvPr id="25" name="Shape 22"/>
          <p:cNvSpPr/>
          <p:nvPr/>
        </p:nvSpPr>
        <p:spPr>
          <a:xfrm>
            <a:off x="2249104" y="5266944"/>
            <a:ext cx="26563" cy="274320"/>
          </a:xfrm>
          <a:prstGeom prst="rect">
            <a:avLst/>
          </a:prstGeom>
          <a:solidFill>
            <a:srgbClr val="D9601A"/>
          </a:solidFill>
          <a:ln/>
        </p:spPr>
      </p:sp>
      <p:sp>
        <p:nvSpPr>
          <p:cNvPr id="26" name="Shape 23"/>
          <p:cNvSpPr/>
          <p:nvPr/>
        </p:nvSpPr>
        <p:spPr>
          <a:xfrm>
            <a:off x="2275667" y="5266944"/>
            <a:ext cx="379476" cy="274320"/>
          </a:xfrm>
          <a:prstGeom prst="rect">
            <a:avLst/>
          </a:prstGeom>
          <a:solidFill>
            <a:srgbClr val="1F6F63"/>
          </a:solidFill>
          <a:ln/>
        </p:spPr>
      </p:sp>
      <p:sp>
        <p:nvSpPr>
          <p:cNvPr id="27" name="Shape 24"/>
          <p:cNvSpPr/>
          <p:nvPr/>
        </p:nvSpPr>
        <p:spPr>
          <a:xfrm>
            <a:off x="2655143" y="5266944"/>
            <a:ext cx="265633" cy="274320"/>
          </a:xfrm>
          <a:prstGeom prst="rect">
            <a:avLst/>
          </a:prstGeom>
          <a:solidFill>
            <a:srgbClr val="6E6E76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2993928" y="526694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6F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35万円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94360" y="5669280"/>
            <a:ext cx="118872" cy="118872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768096" y="560527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企画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1490472" y="5669280"/>
            <a:ext cx="118872" cy="118872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1664208" y="560527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撮影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2386584" y="5669280"/>
            <a:ext cx="118872" cy="118872"/>
          </a:xfrm>
          <a:prstGeom prst="rect">
            <a:avLst/>
          </a:prstGeom>
          <a:solidFill>
            <a:srgbClr val="8C1F26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2560320" y="560527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機材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3282696" y="5669280"/>
            <a:ext cx="118872" cy="118872"/>
          </a:xfrm>
          <a:prstGeom prst="rect">
            <a:avLst/>
          </a:prstGeom>
          <a:solidFill>
            <a:srgbClr val="D9601A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3456432" y="560527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出演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4178808" y="5669280"/>
            <a:ext cx="118872" cy="118872"/>
          </a:xfrm>
          <a:prstGeom prst="rect">
            <a:avLst/>
          </a:prstGeom>
          <a:solidFill>
            <a:srgbClr val="1F6F63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4352544" y="560527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編集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5074920" y="5669280"/>
            <a:ext cx="118872" cy="118872"/>
          </a:xfrm>
          <a:prstGeom prst="rect">
            <a:avLst/>
          </a:prstGeom>
          <a:solidFill>
            <a:srgbClr val="6E6E76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5248656" y="560527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諸経費</a:t>
            </a:r>
            <a:endParaRPr lang="en-US" sz="800" dirty="0"/>
          </a:p>
        </p:txBody>
      </p:sp>
      <p:sp>
        <p:nvSpPr>
          <p:cNvPr id="41" name="Text 38"/>
          <p:cNvSpPr txBox="1"/>
          <p:nvPr/>
        </p:nvSpPr>
        <p:spPr>
          <a:xfrm>
            <a:off x="594360" y="5888736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撮影38＋機材10＋出演7＝55%が 10.3 まで落ちます。編集と諸経費は残ります。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6263640" y="4553712"/>
            <a:ext cx="5330952" cy="1572768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43" name="Shape 40"/>
          <p:cNvSpPr/>
          <p:nvPr/>
        </p:nvSpPr>
        <p:spPr>
          <a:xfrm>
            <a:off x="6483096" y="4809744"/>
            <a:ext cx="109728" cy="109728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6702552" y="4718304"/>
            <a:ext cx="4672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実際に出ている削減幅（実例）</a:t>
            </a:r>
            <a:endParaRPr lang="en-US" sz="1250" dirty="0"/>
          </a:p>
        </p:txBody>
      </p:sp>
      <p:sp>
        <p:nvSpPr>
          <p:cNvPr id="45" name="Text 42"/>
          <p:cNvSpPr txBox="1"/>
          <p:nvPr/>
        </p:nvSpPr>
        <p:spPr>
          <a:xfrm>
            <a:off x="6702552" y="5065776"/>
            <a:ext cx="467258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大手保険のWeb広告動画　制作コスト ▲30〜50%／期間 ▲40%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Amazon Nova活用の広告　費用 ▲70%・効果 8倍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サイバーエージェント　1本 数千万円・3ヶ月 → 3本 300万円・1.5〜2週間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映画の群衆シーン　9,000万円 → 150万円（▲98%）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米国の企業動画　1分あたり 約63万円 → 約38万円（▲40%・実測）</a:t>
            </a:r>
            <a:endParaRPr lang="en-US" sz="950" dirty="0"/>
          </a:p>
        </p:txBody>
      </p:sp>
      <p:sp>
        <p:nvSpPr>
          <p:cNvPr id="46" name="Text 43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出所: 動画幹事・ムビサク・デジタルドロップ（制作費相場／撮影費は制作費の35〜40%）／ ムービーインパクト・各社プレスリリース（AI導入の削減事例）／ Vidico（米国の1分単価）。用途別の削減率は、工程別の削減率（企画▲50%・撮影▲80%・機材▲80%・出演▲90%・編集▲50%・諸経費▲30%）を費用構成に当てた当社試算です</a:t>
            </a:r>
            <a:endParaRPr lang="en-US" sz="850" dirty="0"/>
          </a:p>
        </p:txBody>
      </p:sp>
      <p:sp>
        <p:nvSpPr>
          <p:cNvPr id="47" name="Text 44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ビジネスモデル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主軸は映像制作。そこで溜まるデータをツールに変え、余力を越境C2Cで受けます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444752"/>
          <a:ext cx="11000232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3017520"/>
                <a:gridCol w="3200400"/>
                <a:gridCol w="2743200"/>
                <a:gridCol w="1399032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入口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当社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出口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位置づけ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①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日本の発注企業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当社が受注し、配分する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登録クリエイター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主軸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事業会社・広告代理店・制作会社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要件定義・品質保証・契約・与信・請求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中国を中心に、案件で稼ぐ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996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②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①で溜まる制作データ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内製化してツール化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チェックポイント・LoRA・制作ツール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996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第2の柱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指示→初稿→修正→承認／検収通過率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工程の自動化・生成AI関連の特許取得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粗利率80%・人数に比例しない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A35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③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日本・海外の個人と中小事業者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越境C2C発注プラットフォーム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中国の映像クリエイター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A35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第3の柱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中国に直接発注しない／できない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②のツールをそのまま発注導線に使う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制作パートナー経由で受注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94360" y="3785616"/>
            <a:ext cx="5362956" cy="1133856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8" name="Shape 5"/>
          <p:cNvSpPr/>
          <p:nvPr/>
        </p:nvSpPr>
        <p:spPr>
          <a:xfrm>
            <a:off x="594360" y="3785616"/>
            <a:ext cx="45720" cy="1133856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50392" y="3931920"/>
            <a:ext cx="4905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②と③は、同じシステムの内側と外側です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50392" y="4261104"/>
            <a:ext cx="49057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①の仲介で当社がやっている作業（要件定義・翻訳・自動チェック・決済）をツール化したものが②。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そのツールを外部の発注者に開放したものが③。先に①があるから、②も③も成立します。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231636" y="3785616"/>
            <a:ext cx="5362956" cy="1133856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12" name="Shape 9"/>
          <p:cNvSpPr/>
          <p:nvPr/>
        </p:nvSpPr>
        <p:spPr>
          <a:xfrm>
            <a:off x="6231636" y="3785616"/>
            <a:ext cx="45720" cy="1133856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487668" y="3931920"/>
            <a:ext cx="4905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お金の流れ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487668" y="4261104"/>
            <a:ext cx="49057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③の回収は Stripe。当社で資金を預からない収納代行型を前提としています。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中国のクリエイターへの支払いは、中国の映像制作パートナー企業を経由。第三者と同条件・証憑を残す運用です。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資金決済法の該当性は弁護士に確認中です。［確認事項］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94360" y="5084064"/>
            <a:ext cx="3483864" cy="877824"/>
          </a:xfrm>
          <a:prstGeom prst="rect">
            <a:avLst/>
          </a:prstGeom>
          <a:solidFill>
            <a:srgbClr val="FFF2CC"/>
          </a:solidFill>
          <a:ln/>
        </p:spPr>
      </p:sp>
      <p:sp>
        <p:nvSpPr>
          <p:cNvPr id="16" name="Shape 13"/>
          <p:cNvSpPr/>
          <p:nvPr/>
        </p:nvSpPr>
        <p:spPr>
          <a:xfrm>
            <a:off x="813816" y="5340096"/>
            <a:ext cx="109728" cy="10972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033272" y="5248656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アダルトは対象外です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5596128"/>
            <a:ext cx="2825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受注する案件にも、③に載せる作品にも含めません。決済・法規制・ストア審査が理由です。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352544" y="5084064"/>
            <a:ext cx="3483864" cy="877824"/>
          </a:xfrm>
          <a:prstGeom prst="rect">
            <a:avLst/>
          </a:prstGeom>
          <a:solidFill>
            <a:srgbClr val="FFF2CC"/>
          </a:solidFill>
          <a:ln/>
        </p:spPr>
      </p:sp>
      <p:sp>
        <p:nvSpPr>
          <p:cNvPr id="20" name="Shape 17"/>
          <p:cNvSpPr/>
          <p:nvPr/>
        </p:nvSpPr>
        <p:spPr>
          <a:xfrm>
            <a:off x="4572000" y="5340096"/>
            <a:ext cx="109728" cy="109728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4791456" y="5248656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差別化の核心は価格ではありません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4791456" y="5596128"/>
            <a:ext cx="2825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海外に安く出せること自体は誰でも知っています。やらない理由は「管理しきれないから」です。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8110728" y="5084064"/>
            <a:ext cx="3483864" cy="877824"/>
          </a:xfrm>
          <a:prstGeom prst="rect">
            <a:avLst/>
          </a:prstGeom>
          <a:solidFill>
            <a:srgbClr val="FFF2CC"/>
          </a:solidFill>
          <a:ln/>
        </p:spPr>
      </p:sp>
      <p:sp>
        <p:nvSpPr>
          <p:cNvPr id="24" name="Shape 21"/>
          <p:cNvSpPr/>
          <p:nvPr/>
        </p:nvSpPr>
        <p:spPr>
          <a:xfrm>
            <a:off x="8330184" y="5340096"/>
            <a:ext cx="109728" cy="109728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549640" y="5248656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発注側の管理コストがゼロになる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8549640" y="5596128"/>
            <a:ext cx="2825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日本語の要件定義・品質保証・契約・与信・請求。この一式を当社が引き受けます。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クリエイター調達の設計は CHINA_SOURCING を参照</a:t>
            </a:r>
            <a:endParaRPr lang="en-US" sz="850" dirty="0"/>
          </a:p>
        </p:txBody>
      </p:sp>
      <p:sp>
        <p:nvSpPr>
          <p:cNvPr id="28" name="Text 25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AXが、この事業の利益率を作ります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同じ売上・同じ人数でも、1本あたりのディレクション時間が1/4になれば、原価が変わります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335024"/>
            <a:ext cx="50292" cy="786384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335024"/>
            <a:ext cx="107716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制作ディレクションは業務委託。成果物単位の支払です。</a:t>
            </a:r>
            <a:endParaRPr lang="en-US" sz="15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だから作業時間が1/4になれば、1本あたりの支払も1/4になります。人を減らす話ではなく、原価の話です。</a:t>
            </a:r>
            <a:endParaRPr lang="en-US" sz="15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395728"/>
          <a:ext cx="1100023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377440"/>
                <a:gridCol w="1737360"/>
                <a:gridCol w="1371600"/>
                <a:gridCol w="1737360"/>
                <a:gridCol w="1764792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AX倍率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ディレクション費／本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1本あたり原価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粗利率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5期の営業利益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営業利益率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1.0倍（AXなし）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20.0万（8時間相当）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35.5万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40.8%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+3.8億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E6E7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4.6%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2.0倍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10.0万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25.5万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57.5%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+15.0億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18.1%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3.0倍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6.7万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22.2万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63.1%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+18.7億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22.6%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4.0倍（計画）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5.0万（2時間相当）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20.5万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65.8%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+20.6億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24.9%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594360" y="42611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1本あたりの原価（単価60万・AX4倍）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459028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中国クリエイターへの支払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447288" y="4636008"/>
            <a:ext cx="1097280" cy="201168"/>
          </a:xfrm>
          <a:prstGeom prst="rect">
            <a:avLst/>
          </a:prstGeom>
          <a:solidFill>
            <a:srgbClr val="D9D2E9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212080" y="459028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12.0万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594360" y="49194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制作ディレクション（業務委託）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447288" y="4965192"/>
            <a:ext cx="457200" cy="20116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212080" y="4919472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5.0万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594360" y="524865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ツール・素材・バッファ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447288" y="5294376"/>
            <a:ext cx="182880" cy="201168"/>
          </a:xfrm>
          <a:prstGeom prst="rect">
            <a:avLst/>
          </a:prstGeom>
          <a:solidFill>
            <a:srgbClr val="D9D2E9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212080" y="5248656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3.5万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355080" y="4261104"/>
            <a:ext cx="5239512" cy="1444752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20" name="Shape 17"/>
          <p:cNvSpPr/>
          <p:nvPr/>
        </p:nvSpPr>
        <p:spPr>
          <a:xfrm>
            <a:off x="6355080" y="4261104"/>
            <a:ext cx="45720" cy="1444752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611112" y="4407408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浮いた分は、研究開発に戻します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6611112" y="4736592"/>
            <a:ext cx="47823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AXなしとの差は5期で約17億。これを人件費の節約として持たず、研究開発（5期13億・売上の16%）へ入れます。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モデルが強くなる → AX倍率が上がる → 原価が下がる → さらに研究開発に回せる。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この循環が、他社が同じ年数をかけないと追いつけない理由です。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AX倍率4倍は未実証の［仮置き］です。3倍なら営業利益率22.6%、2倍なら18.1%。1期の最初の3案件で必ず実測します（マイルストーン参照）</a:t>
            </a:r>
            <a:endParaRPr lang="en-US" sz="850" dirty="0"/>
          </a:p>
        </p:txBody>
      </p:sp>
      <p:sp>
        <p:nvSpPr>
          <p:cNvPr id="24" name="Text 21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ユニットエコノミクス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売上82.5億が何の積み上げなのかを、1本・1契約・1取引あたりで示します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3898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映像制作 — 1本あたり（単価60万・AX4倍）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719072"/>
          <a:ext cx="54864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280160"/>
                <a:gridCol w="201168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金額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誰が受け取るか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売上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60.0万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—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中国クリエイターへの支払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▲12.0万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業務委託（中国・制作パートナー経由）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制作ディレクション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▲5.0万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業務委託。AXで8時間→2時間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AIツール・素材・レンダリング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▲2.0万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—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品質バッファ（作り直し）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▲1.5万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業務委託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売上総利益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39.5万（65.8%）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社員は1人も原価に入らない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6355080" y="138988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96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ツール外販 — 1契約あたり</a:t>
            </a:r>
            <a:endParaRPr lang="en-US" sz="11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1719072"/>
          <a:ext cx="5239512" cy="914400"/>
        </p:xfrm>
        <a:graphic>
          <a:graphicData uri="http://schemas.openxmlformats.org/drawingml/2006/table">
            <a:tbl>
              <a:tblPr/>
              <a:tblGrid>
                <a:gridCol w="1673352"/>
                <a:gridCol w="1188720"/>
                <a:gridCol w="1188720"/>
                <a:gridCol w="11887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年間単価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5期の契約数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5期の売上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996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制作会社（法人）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320万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250社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996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8.0億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個人クリエイター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12万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2,100人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2.5億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合計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996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10.5億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売るもの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996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チェックポイント・LoRA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996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要件定義テンプレート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996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自動チェック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594360" y="37673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3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越境C2C発注 — 1取引あたり</a:t>
            </a:r>
            <a:endParaRPr lang="en-US" sz="1100" dirty="0"/>
          </a:p>
        </p:txBody>
      </p:sp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4096512"/>
          <a:ext cx="54864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05840"/>
                <a:gridCol w="246888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金額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備考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発注者が支払う額（GMV）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9.0万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単価帯は5,000円〜100万円。平均は中位に置く［仮置き］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A35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当社の取引手数料 18%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A35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1.62万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国内C2Cの約22%より低く置く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決済手数料・インフラ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▲0.24万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Stripe等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A35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売上総利益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A35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1.38万（85%）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人が介在しないので件数に比例しない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7"/>
          <p:cNvSpPr txBox="1"/>
          <p:nvPr/>
        </p:nvSpPr>
        <p:spPr>
          <a:xfrm>
            <a:off x="6355080" y="3767328"/>
            <a:ext cx="5239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5期 売上82.5億の内訳</a:t>
            </a:r>
            <a:endParaRPr lang="en-US" sz="1150" dirty="0"/>
          </a:p>
        </p:txBody>
      </p:sp>
      <p:sp>
        <p:nvSpPr>
          <p:cNvPr id="13" name="Text 8"/>
          <p:cNvSpPr txBox="1"/>
          <p:nvPr/>
        </p:nvSpPr>
        <p:spPr>
          <a:xfrm>
            <a:off x="6355080" y="411480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映像制作 11,189本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8659368" y="4169664"/>
            <a:ext cx="2130552" cy="20116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15" name="Text 10"/>
          <p:cNvSpPr txBox="1"/>
          <p:nvPr/>
        </p:nvSpPr>
        <p:spPr>
          <a:xfrm>
            <a:off x="10725912" y="411480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67.1億</a:t>
            </a:r>
            <a:endParaRPr lang="en-US" sz="950" dirty="0"/>
          </a:p>
        </p:txBody>
      </p:sp>
      <p:sp>
        <p:nvSpPr>
          <p:cNvPr id="16" name="Text 11"/>
          <p:cNvSpPr txBox="1"/>
          <p:nvPr/>
        </p:nvSpPr>
        <p:spPr>
          <a:xfrm>
            <a:off x="6355080" y="446227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ツール外販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8659368" y="4517136"/>
            <a:ext cx="340888" cy="201168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18" name="Text 13"/>
          <p:cNvSpPr txBox="1"/>
          <p:nvPr/>
        </p:nvSpPr>
        <p:spPr>
          <a:xfrm>
            <a:off x="10725912" y="446227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10.5億</a:t>
            </a:r>
            <a:endParaRPr lang="en-US" sz="950" dirty="0"/>
          </a:p>
        </p:txBody>
      </p:sp>
      <p:sp>
        <p:nvSpPr>
          <p:cNvPr id="19" name="Text 14"/>
          <p:cNvSpPr txBox="1"/>
          <p:nvPr/>
        </p:nvSpPr>
        <p:spPr>
          <a:xfrm>
            <a:off x="6355080" y="480974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C2C手数料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8659368" y="4864608"/>
            <a:ext cx="149139" cy="201168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10725912" y="480974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4.9億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6355080" y="5138928"/>
            <a:ext cx="5239512" cy="566928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23" name="Shape 18"/>
          <p:cNvSpPr/>
          <p:nvPr/>
        </p:nvSpPr>
        <p:spPr>
          <a:xfrm>
            <a:off x="6355080" y="5138928"/>
            <a:ext cx="45720" cy="56692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6611112" y="5285232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原価に社員は1人も入りません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6611112" y="5614416"/>
            <a:ext cx="4782312" cy="-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クリエイターもディレクションも業務委託。社員54名は、モデル開発と統括だけです。</a:t>
            </a:r>
            <a:endParaRPr lang="en-US" sz="1000" dirty="0"/>
          </a:p>
        </p:txBody>
      </p:sp>
      <p:sp>
        <p:nvSpPr>
          <p:cNvPr id="26" name="Text 21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制作の単価・原価は BUSINESS_PLAN 7-1 をAX前提で組み直したもの。ツール外販の単価と契約数、C2Cの手数料率・件数は、すべて未実測の［仮置き］です</a:t>
            </a:r>
            <a:endParaRPr lang="en-US" sz="850" dirty="0"/>
          </a:p>
        </p:txBody>
      </p:sp>
      <p:sp>
        <p:nvSpPr>
          <p:cNvPr id="27" name="Text 22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収益モデル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主軸は①の映像制作。②のツール外販が企業価値を作り、③のC2Cが裾野を広げます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444752"/>
          <a:ext cx="11000232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3657600"/>
                <a:gridCol w="914400"/>
                <a:gridCol w="1097280"/>
                <a:gridCol w="1188720"/>
                <a:gridCol w="3502152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収益ライン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開始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5期の売上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備考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①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AI映像制作の受注 → クリエイターへ配分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フロー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初日から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67.1億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粗利率66%。事業の主体。ここでデータが溜まる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996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②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特許・制作用ツールの外販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ストック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2期〜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996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10.5億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チェックポイント・LoRA・工程ツール。粗利率80%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A35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③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越境C2C発注の取引手数料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ストック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6ヶ月目〜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A35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4.9億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手数料率18%［仮置き］。②のツールを外部に開放したもの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94360" y="32552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②で売るもの — ①の制作で溜まったデータから作る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94360" y="3584448"/>
            <a:ext cx="2606040" cy="841248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9" name="Shape 6"/>
          <p:cNvSpPr/>
          <p:nvPr/>
        </p:nvSpPr>
        <p:spPr>
          <a:xfrm>
            <a:off x="813816" y="3840480"/>
            <a:ext cx="109728" cy="109728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033272" y="3749040"/>
            <a:ext cx="1947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チェックポイント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1033272" y="4096512"/>
            <a:ext cx="1947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日本市場の要求で追い込んだ基盤モデル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474720" y="3584448"/>
            <a:ext cx="2606040" cy="841248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3" name="Shape 10"/>
          <p:cNvSpPr/>
          <p:nvPr/>
        </p:nvSpPr>
        <p:spPr>
          <a:xfrm>
            <a:off x="3694176" y="3840480"/>
            <a:ext cx="109728" cy="109728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913632" y="3749040"/>
            <a:ext cx="1947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LoRA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3913632" y="4096512"/>
            <a:ext cx="1947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用途別・画風別の追加学習データ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94360" y="4608576"/>
            <a:ext cx="2606040" cy="841248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7" name="Shape 14"/>
          <p:cNvSpPr/>
          <p:nvPr/>
        </p:nvSpPr>
        <p:spPr>
          <a:xfrm>
            <a:off x="813816" y="4864608"/>
            <a:ext cx="109728" cy="109728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033272" y="4773168"/>
            <a:ext cx="1947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要件定義テンプレート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1033272" y="5120640"/>
            <a:ext cx="1947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日本語で答えるだけで発注仕様になる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3474720" y="4608576"/>
            <a:ext cx="2606040" cy="841248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21" name="Shape 18"/>
          <p:cNvSpPr/>
          <p:nvPr/>
        </p:nvSpPr>
        <p:spPr>
          <a:xfrm>
            <a:off x="3694176" y="4864608"/>
            <a:ext cx="109728" cy="109728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3913632" y="4773168"/>
            <a:ext cx="1947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成果物の自動チェック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3913632" y="5120640"/>
            <a:ext cx="1947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尺・解像度・指示との整合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6355080" y="3255264"/>
            <a:ext cx="5239512" cy="1298448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25" name="Shape 22"/>
          <p:cNvSpPr/>
          <p:nvPr/>
        </p:nvSpPr>
        <p:spPr>
          <a:xfrm>
            <a:off x="6355080" y="3255264"/>
            <a:ext cx="45720" cy="129844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6611112" y="3401568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順番が大事です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6611112" y="3730752"/>
            <a:ext cx="47823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①の制作を1万本こなさないと、②で売れるチェックポイントもLoRAも育ちません。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制作が先、ツールが後。この順序だから、他社が同じものを作るには同じ年数がかかります。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6355080" y="4626864"/>
            <a:ext cx="5239512" cy="1078992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29" name="Shape 26"/>
          <p:cNvSpPr/>
          <p:nvPr/>
        </p:nvSpPr>
        <p:spPr>
          <a:xfrm>
            <a:off x="6355080" y="4626864"/>
            <a:ext cx="45720" cy="1078992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6611112" y="4773168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そして②が①の原価を下げます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6611112" y="5102352"/>
            <a:ext cx="4782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自社で使えば原価が下がり、外に売れば売上になる。同じものが両方に効きます。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ツール外販の単価と契約数、C2Cの手数料率・発注件数・平均単価は、すべて未実測の［仮置き］です。1期に実測して差し替えます</a:t>
            </a:r>
            <a:endParaRPr lang="en-US" sz="850" dirty="0"/>
          </a:p>
        </p:txBody>
      </p:sp>
      <p:sp>
        <p:nvSpPr>
          <p:cNvPr id="33" name="Text 30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日本IPを使った作品制作 — アニメ化されないマンガを動かす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中小出版社には「アニメ化したい作品」はあっても、1話3,000万円の制作費がありません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371600"/>
            <a:ext cx="11000232" cy="1060704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371600"/>
            <a:ext cx="45720" cy="1060704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50392" y="1517904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アニメ化の壁は、面白さではなく資金です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50392" y="1847088"/>
            <a:ext cx="10543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深夜アニメ1クール（12話）の制作費は一般に数億円規模とされ、製作委員会を組まないと着手できません。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だから中小出版社の既刊マンガは、評価されていても映像化されないまま眠っています。AIで作れるなら、この在庫が動きます。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578608"/>
          <a:ext cx="11000232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017520"/>
                <a:gridCol w="3291840"/>
                <a:gridCol w="1737360"/>
                <a:gridCol w="240487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対象IP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なぜ映像化されてこなかったか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版権コスト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当社の出口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996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中小出版社の既刊マンガ（未映像化）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製作委員会を組める規模ではない。制作費が出ない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数万〜数十万／作品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他社PFの看板作品・海外展開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A35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個人作家・Web小説（なろう系・pixiv）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権利者が1人。映像化の話が来ない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ほぼゼロ（成功報酬型）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他社PFの課金枠へ供給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A35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B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自治体・企業のキャラクター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予算が単発で、動かす発想がない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ゼロ（先方負担）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自治体PR・企業広報・ふるさと納税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D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パブリックドメイン（青空文庫・古典）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—（権利処理が不要）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ゼロ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他社PFに投入し、実績づくり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94360" y="4443984"/>
            <a:ext cx="5362956" cy="1261872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12" name="Shape 9"/>
          <p:cNvSpPr/>
          <p:nvPr/>
        </p:nvSpPr>
        <p:spPr>
          <a:xfrm>
            <a:off x="594360" y="4443984"/>
            <a:ext cx="45720" cy="1261872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50392" y="4590288"/>
            <a:ext cx="4905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着手はDから。Aが本命です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850392" y="4919472"/>
            <a:ext cx="49057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D（版権ゼロ）で制作力を示し、他社PFでの再生数を実績にする。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その実績を持って中小出版社へ行き、Aの未映像化マンガをレベニューシェアでアニメ化する。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先方は制作費ゼロ、当社は版権コストほぼゼロ。噛み合います。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231636" y="4443984"/>
            <a:ext cx="5362956" cy="1261872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16" name="Shape 13"/>
          <p:cNvSpPr/>
          <p:nvPr/>
        </p:nvSpPr>
        <p:spPr>
          <a:xfrm>
            <a:off x="6231636" y="4443984"/>
            <a:ext cx="45720" cy="1261872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487668" y="4590288"/>
            <a:ext cx="4905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IPホルダーはAI生成を警戒します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6487668" y="4919472"/>
            <a:ext cx="49057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原作ファンの反発が、原作そのものの価値を毀損しかねません。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契約に「AI利用の可否と開示方法」を必ず明記します。JIAA調査でも受容条件1位は「AI利用が明記されている」37.6%。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この作品群の収益は5年計画に計上していません。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出所: 日本動画協会 アニメ産業レポート（制作市場4,662億円・海外売上2兆1,700億円）／ JIAA「2026年インターネット広告に関するユーザー意識調査」。アニメ1話あたりの制作費は業界で広く言及される水準で、当社の実測ではありません</a:t>
            </a:r>
            <a:endParaRPr lang="en-US" sz="850" dirty="0"/>
          </a:p>
        </p:txBody>
      </p:sp>
      <p:sp>
        <p:nvSpPr>
          <p:cNvPr id="20" name="Text 17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政策も同じ方向を向いている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国はコンテンツを輸出産業にすると決め、予算を3倍にした</a:t>
            </a:r>
            <a:endParaRPr lang="en-US" sz="1200" dirty="0"/>
          </a:p>
        </p:txBody>
      </p:sp>
      <p:pic>
        <p:nvPicPr>
          <p:cNvPr id="6" name="Image 0" descr="assets/image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2" y="155448"/>
            <a:ext cx="2203704" cy="147218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4360" y="1627632"/>
            <a:ext cx="3483864" cy="1316736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32104" y="1792224"/>
            <a:ext cx="3008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20兆円</a:t>
            </a:r>
            <a:endParaRPr lang="en-US" sz="2700" dirty="0"/>
          </a:p>
        </p:txBody>
      </p:sp>
      <p:sp>
        <p:nvSpPr>
          <p:cNvPr id="9" name="Text 6"/>
          <p:cNvSpPr txBox="1"/>
          <p:nvPr/>
        </p:nvSpPr>
        <p:spPr>
          <a:xfrm>
            <a:off x="832104" y="241401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コンテンツ海外売上 目標（2033年）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832104" y="2688336"/>
            <a:ext cx="30083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経産省「エンタメ・クリエイティブ産業戦略2026」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352544" y="1627632"/>
            <a:ext cx="3483864" cy="1316736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590288" y="1792224"/>
            <a:ext cx="3008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3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3.5倍</a:t>
            </a:r>
            <a:endParaRPr lang="en-US" sz="2700" dirty="0"/>
          </a:p>
        </p:txBody>
      </p:sp>
      <p:sp>
        <p:nvSpPr>
          <p:cNvPr id="13" name="Text 10"/>
          <p:cNvSpPr txBox="1"/>
          <p:nvPr/>
        </p:nvSpPr>
        <p:spPr>
          <a:xfrm>
            <a:off x="4590288" y="241401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経産省の財政支援規模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4590288" y="2688336"/>
            <a:ext cx="30083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令和6年度補正 101.1億円 → 令和7年度補正 350.2億円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8110728" y="1627632"/>
            <a:ext cx="3483864" cy="1316736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348472" y="1792224"/>
            <a:ext cx="3008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996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+26%</a:t>
            </a:r>
            <a:endParaRPr lang="en-US" sz="2700" dirty="0"/>
          </a:p>
        </p:txBody>
      </p:sp>
      <p:sp>
        <p:nvSpPr>
          <p:cNvPr id="17" name="Text 14"/>
          <p:cNvSpPr txBox="1"/>
          <p:nvPr/>
        </p:nvSpPr>
        <p:spPr>
          <a:xfrm>
            <a:off x="8348472" y="241401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アニメの海外売上（2024年）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8348472" y="2688336"/>
            <a:ext cx="30083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2兆1,700億円。市場全体は3兆8,400億円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94360" y="3127248"/>
            <a:ext cx="5362956" cy="1463040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20" name="Shape 17"/>
          <p:cNvSpPr/>
          <p:nvPr/>
        </p:nvSpPr>
        <p:spPr>
          <a:xfrm>
            <a:off x="813816" y="3383280"/>
            <a:ext cx="109728" cy="109728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033272" y="3291840"/>
            <a:ext cx="47045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AI政策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1033272" y="3639312"/>
            <a:ext cx="470458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AI推進法（人工知能関連技術の研究開発及び活用の推進に関する法律）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2025年5月28日成立 ／ 6月4日公布。日本初のAI基本法。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AI基本計画を2025年12月23日に閣議決定。内閣にAI戦略本部を設置。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231636" y="3127248"/>
            <a:ext cx="5362956" cy="1463040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24" name="Shape 21"/>
          <p:cNvSpPr/>
          <p:nvPr/>
        </p:nvSpPr>
        <p:spPr>
          <a:xfrm>
            <a:off x="6451092" y="3383280"/>
            <a:ext cx="109728" cy="109728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6670548" y="3291840"/>
            <a:ext cx="47045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当社が実際に狙える支援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6670548" y="3639312"/>
            <a:ext cx="470458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東京都 創業助成事業 — 上限400万円・助成率2/3・最長2年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特許料等の減免 — 設立10年未満・資本金3億円以下なら1/3に軽減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JLOX+ — 「制作の生産性向上に資するシステムの開発・実証」枠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594360" y="4773168"/>
            <a:ext cx="11000232" cy="932688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28" name="Shape 25"/>
          <p:cNvSpPr/>
          <p:nvPr/>
        </p:nvSpPr>
        <p:spPr>
          <a:xfrm>
            <a:off x="594360" y="4773168"/>
            <a:ext cx="45720" cy="9326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850392" y="4919472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補助金は資金計画に算入していません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850392" y="5248656"/>
            <a:ext cx="10543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いずれも後払い（精算払い）で、入金が1年以上先になります。資金繰りの当てにはできません。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取れた場合は上振れとして扱います。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出所: 経済産業省「エンタメ・クリエイティブ産業戦略2026」／ 内閣府 AI戦略 ／ 東京都中小企業振興公社 ／ 特許庁</a:t>
            </a:r>
            <a:endParaRPr lang="en-US" sz="850" dirty="0"/>
          </a:p>
        </p:txBody>
      </p:sp>
      <p:sp>
        <p:nvSpPr>
          <p:cNvPr id="32" name="Text 29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なぜショートムービー配信プラットフォームをやらないのか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一度は検討しました。やらない理由を先に出します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371600"/>
            <a:ext cx="2544318" cy="1335024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7" name="Shape 5"/>
          <p:cNvSpPr/>
          <p:nvPr/>
        </p:nvSpPr>
        <p:spPr>
          <a:xfrm>
            <a:off x="813816" y="1627632"/>
            <a:ext cx="109728" cy="10972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33272" y="1536192"/>
            <a:ext cx="18859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  先行が8社いる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033272" y="1883664"/>
            <a:ext cx="188595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BUMP（DL400万・国内1位）／POPCORN（累計120億再生）／FANY:D／FOD SHORT ほか。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中国発アプリがアプリ市場シェア9割超。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412998" y="1371600"/>
            <a:ext cx="2544318" cy="1335024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1" name="Shape 9"/>
          <p:cNvSpPr/>
          <p:nvPr/>
        </p:nvSpPr>
        <p:spPr>
          <a:xfrm>
            <a:off x="3632454" y="1627632"/>
            <a:ext cx="109728" cy="10972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851910" y="1536192"/>
            <a:ext cx="18859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  勝敗は広告費で決まる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851910" y="1883664"/>
            <a:ext cx="188595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視聴者獲得（流量投放）が総コストの約70%。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先に広告費を張れる側が勝つ消耗戦。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31636" y="1371600"/>
            <a:ext cx="2544318" cy="1335024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5" name="Shape 13"/>
          <p:cNvSpPr/>
          <p:nvPr/>
        </p:nvSpPr>
        <p:spPr>
          <a:xfrm>
            <a:off x="6451092" y="1627632"/>
            <a:ext cx="109728" cy="109728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70548" y="1536192"/>
            <a:ext cx="18859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  当社の強みが効かない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670548" y="1883664"/>
            <a:ext cx="188595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要件定義・品質保証・契約・与信は、視聴者には関係がない。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制作力で差がつかない土俵。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050274" y="1371600"/>
            <a:ext cx="2544318" cy="1335024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9" name="Shape 17"/>
          <p:cNvSpPr/>
          <p:nvPr/>
        </p:nvSpPr>
        <p:spPr>
          <a:xfrm>
            <a:off x="9269730" y="1627632"/>
            <a:ext cx="109728" cy="109728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489186" y="1536192"/>
            <a:ext cx="18859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  資金が足りない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9489186" y="1883664"/>
            <a:ext cx="188595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1.5億では広告費を1年も張れない。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中国のAI制作会社の約90%が赤字なのはこれが理由。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4360" y="2907792"/>
            <a:ext cx="11000232" cy="1005840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23" name="Shape 21"/>
          <p:cNvSpPr/>
          <p:nvPr/>
        </p:nvSpPr>
        <p:spPr>
          <a:xfrm>
            <a:off x="594360" y="2907792"/>
            <a:ext cx="45720" cy="1005840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50392" y="3054096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やらないと決めた代わりに、作った作品は他社のPFに載せます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50392" y="3383280"/>
            <a:ext cx="10543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自社で配信面を持たないので、視聴者獲得費はゼロです。日本IP（前ページ）で作った作品は YouTube・TikTok・ショートドラマ各社へ供給します。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配信は相手の土俵。当社は制作力とIPで取り分を得ます。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594360" y="405993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では当社の競合は誰か — 国内の映像制作市場です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594360" y="438912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フリーランス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807208" y="4443984"/>
            <a:ext cx="493776" cy="201168"/>
          </a:xfrm>
          <a:prstGeom prst="rect">
            <a:avLst/>
          </a:prstGeom>
          <a:solidFill>
            <a:srgbClr val="D9D2E9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212080" y="438912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3〜30万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594360" y="4718304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当社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807208" y="4773168"/>
            <a:ext cx="1110996" cy="20116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5212080" y="471830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40〜80万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594360" y="504748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中小の制作会社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807208" y="5102352"/>
            <a:ext cx="1357884" cy="201168"/>
          </a:xfrm>
          <a:prstGeom prst="rect">
            <a:avLst/>
          </a:prstGeom>
          <a:solidFill>
            <a:srgbClr val="D9D2E9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5212080" y="504748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10〜80万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594360" y="537667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大手の制作会社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807208" y="5431536"/>
            <a:ext cx="2468880" cy="201168"/>
          </a:xfrm>
          <a:prstGeom prst="rect">
            <a:avLst/>
          </a:prstGeom>
          <a:solidFill>
            <a:srgbClr val="D9D2E9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5212080" y="537667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50〜300万</a:t>
            </a:r>
            <a:endParaRPr lang="en-US" sz="9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4059936"/>
          <a:ext cx="5239512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371600"/>
                <a:gridCol w="240487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相手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相手の強み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当社が勝てる点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国内の映像制作会社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品質・信用・実績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価格。原価が半分以下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国内フリーランス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価格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品質保証と納期管理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中国へ直接発注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価格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契約・与信・請求。個人に直接出せる企業はほぼいない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0" name="Text 37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出所: GOKKO ／ nowhere film ／ BUMP公式 ／ 36Kr Japan（中国発アプリの日本シェア）／ 第一財経・搜狐（中国AI短劇の淘汰）／ 動画幹事・ムビサク（制作費相場）。詳細は COMPETITORS.md</a:t>
            </a:r>
            <a:endParaRPr lang="en-US" sz="850" dirty="0"/>
          </a:p>
        </p:txBody>
      </p:sp>
      <p:sp>
        <p:nvSpPr>
          <p:cNvPr id="41" name="Text 38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では、なぜクリエイターは当社に来るのか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分成率ではなく、3つの別の理由で選ばれる設計にします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481328"/>
            <a:ext cx="3483864" cy="1792224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7" name="Shape 5"/>
          <p:cNvSpPr/>
          <p:nvPr/>
        </p:nvSpPr>
        <p:spPr>
          <a:xfrm>
            <a:off x="813816" y="1737360"/>
            <a:ext cx="109728" cy="10972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33272" y="1645920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再生数に関係なく収入がある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033272" y="1993392"/>
            <a:ext cx="28254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大手PFには無い仕組みです。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当社が受注して配分するので、再生数に関係なく報酬が出ます。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①の越境発注が立てば、個人からの発注も同じ導線で受けられます。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52544" y="1481328"/>
            <a:ext cx="3483864" cy="1792224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0" y="1737360"/>
            <a:ext cx="109728" cy="109728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791456" y="1645920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AIを冷遇しない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791456" y="1993392"/>
            <a:ext cx="28254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2026年、中国PFは純AIコンテンツの分成を圧縮し、最低保証を廃止しました。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リソースは実写短劇へ移っています。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AI専業のクリエイターは相対的に冷遇され始めています。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110728" y="1481328"/>
            <a:ext cx="3483864" cy="1792224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5" name="Shape 13"/>
          <p:cNvSpPr/>
          <p:nvPr/>
        </p:nvSpPr>
        <p:spPr>
          <a:xfrm>
            <a:off x="8330184" y="1737360"/>
            <a:ext cx="109728" cy="109728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549640" y="1645920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日本市場への窓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8549640" y="1993392"/>
            <a:ext cx="28254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日本語の要件定義・稟議・与信・請求。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個人では越えられない壁を当社が代行します。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日本の発注は単価が高く、支払いが確実です。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94360" y="3474720"/>
            <a:ext cx="11000232" cy="1188720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" y="3474720"/>
            <a:ext cx="45720" cy="1188720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50392" y="3621024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発注者側は、国内C2Cが開けていない市場です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50392" y="395020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ココナラ・ランサーズ・クラウドワークスに、中国のクリエイターへ発注する導線はありません。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言語・決済・品質保証・契約の4つが壁で、個人同士の直接取引が成立しないからです。当社はその4つを機能として持ちます。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94360" y="4791456"/>
            <a:ext cx="11000232" cy="914400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23" name="Shape 21"/>
          <p:cNvSpPr/>
          <p:nvPr/>
        </p:nvSpPr>
        <p:spPr>
          <a:xfrm>
            <a:off x="594360" y="4791456"/>
            <a:ext cx="45720" cy="914400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50392" y="493776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だから、発注者は「後から」取ります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50392" y="5266944"/>
            <a:ext cx="10543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初日はクリエイター側だけを取りに行きます。②の企業案件が、その口実と原資になります。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発注者の獲得は6ヶ月目のPF公開以降です。①②で取引のある相手から載せるので、広告費を先に張る必要がありません。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出所: ココナラ・ランサーズ公開単価 ／ 36Kr Japan（中国発アプリの日本シェア）。詳細は COMPETITORS.md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課題と、その解決方法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最大の課題は両面市場のコールドスタート。②の企業案件が、この輪を回り始める前に断ちます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444752"/>
            <a:ext cx="2103120" cy="713232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0664" y="1536192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発注がない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88920" y="1636776"/>
            <a:ext cx="384048" cy="329184"/>
          </a:xfrm>
          <a:prstGeom prst="rightArrow">
            <a:avLst/>
          </a:prstGeom>
          <a:solidFill>
            <a:srgbClr val="DCD9D4"/>
          </a:solidFill>
          <a:ln/>
        </p:spPr>
      </p:sp>
      <p:sp>
        <p:nvSpPr>
          <p:cNvPr id="9" name="Shape 7"/>
          <p:cNvSpPr/>
          <p:nvPr/>
        </p:nvSpPr>
        <p:spPr>
          <a:xfrm>
            <a:off x="3264408" y="1444752"/>
            <a:ext cx="2103120" cy="713232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10712" y="1536192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分配の原資が出ない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58968" y="1636776"/>
            <a:ext cx="384048" cy="329184"/>
          </a:xfrm>
          <a:prstGeom prst="rightArrow">
            <a:avLst/>
          </a:prstGeom>
          <a:solidFill>
            <a:srgbClr val="DCD9D4"/>
          </a:solidFill>
          <a:ln/>
        </p:spPr>
      </p:sp>
      <p:sp>
        <p:nvSpPr>
          <p:cNvPr id="12" name="Shape 10"/>
          <p:cNvSpPr/>
          <p:nvPr/>
        </p:nvSpPr>
        <p:spPr>
          <a:xfrm>
            <a:off x="5934456" y="1444752"/>
            <a:ext cx="2103120" cy="713232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080760" y="1536192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クリエイターが去る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29016" y="1636776"/>
            <a:ext cx="384048" cy="329184"/>
          </a:xfrm>
          <a:prstGeom prst="rightArrow">
            <a:avLst/>
          </a:prstGeom>
          <a:solidFill>
            <a:srgbClr val="DCD9D4"/>
          </a:solidFill>
          <a:ln/>
        </p:spPr>
      </p:sp>
      <p:sp>
        <p:nvSpPr>
          <p:cNvPr id="15" name="Shape 13"/>
          <p:cNvSpPr/>
          <p:nvPr/>
        </p:nvSpPr>
        <p:spPr>
          <a:xfrm>
            <a:off x="8604504" y="1444752"/>
            <a:ext cx="2103120" cy="713232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750808" y="1536192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供給が減る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2267712"/>
            <a:ext cx="11000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この輪が回り続けるのが、両面市場のコールドスタートです。② は発注者を必要としません。案件を配ればクリエイターは集まり、その登録クリエイターが①の初期供給になります。</a:t>
            </a:r>
            <a:endParaRPr lang="en-US" sz="1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670048"/>
          <a:ext cx="1100023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074152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残りの課題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解決方法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分成率で大手に勝てない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分成率では戦わない。企業案件・AIを冷遇しない方針・日本市場への窓の3点で選ばれる設計にする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発注者を集められない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PF公開（6ヶ月目）まで投下しない。①②で取引のある制作会社・クリエイターを先に載せ、供給がある状態で開く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制作の市場単価が下がる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3年の時限と見ている。①の自動化機能をツール外販（P4）へ移して逃げ切る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中国本土から当社PFに接続できない可能性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投稿・決済の経路を設計段階で検証。国内向けミラーまたは提携PF経由の導線を用意する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成果物の品質が担保できない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審査基準に組み込み、品質判定の自動化を特許①として出願。検収通過率と修正回数のデータを学習側に回す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594360" y="4846320"/>
            <a:ext cx="11000232" cy="859536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20" name="Shape 17"/>
          <p:cNvSpPr/>
          <p:nvPr/>
        </p:nvSpPr>
        <p:spPr>
          <a:xfrm>
            <a:off x="594360" y="4846320"/>
            <a:ext cx="45720" cy="859536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850392" y="4992624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受託制作のままでは上場しません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850392" y="5321808"/>
            <a:ext cx="10543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労働集約型の受託は、売上が人手に比例するため「規模の割に伸びない事業」と読まれます。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だから追うべき指標は売上ではなく、人手に比例しない収益（①②③）の比率です。5期で80%。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各課題の詳細と数値根拠は COMPETITORS ／ MOAT_TIMELINE ／ CHINA_SOURCING に記載</a:t>
            </a:r>
            <a:endParaRPr lang="en-US" sz="850" dirty="0"/>
          </a:p>
        </p:txBody>
      </p:sp>
      <p:sp>
        <p:nvSpPr>
          <p:cNvPr id="24" name="Text 21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チーム — 社員は極小に保ちます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モデル開発と統括だけを社員に置き、制作は業務委託と自動化で回します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371600"/>
            <a:ext cx="3483864" cy="1371600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7" name="Shape 5"/>
          <p:cNvSpPr/>
          <p:nvPr/>
        </p:nvSpPr>
        <p:spPr>
          <a:xfrm>
            <a:off x="813816" y="1627632"/>
            <a:ext cx="109728" cy="10972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33272" y="1536192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代表取締役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033272" y="1883664"/>
            <a:ext cx="28254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会社経営・コンサルティング経験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日本・中国・台湾をまたぐ越境実務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（詳細は［記入予定］）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52544" y="1371600"/>
            <a:ext cx="3483864" cy="1371600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0" y="1627632"/>
            <a:ext cx="109728" cy="109728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791456" y="1536192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CTO／モデル開発責任者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791456" y="1883664"/>
            <a:ext cx="28254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採用計画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110728" y="1371600"/>
            <a:ext cx="3483864" cy="1371600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5" name="Shape 13"/>
          <p:cNvSpPr/>
          <p:nvPr/>
        </p:nvSpPr>
        <p:spPr>
          <a:xfrm>
            <a:off x="8330184" y="1627632"/>
            <a:ext cx="109728" cy="109728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549640" y="1536192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制作統括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8549640" y="1883664"/>
            <a:ext cx="28254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採用計画</a:t>
            </a:r>
            <a:endParaRPr lang="en-US" sz="1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926080"/>
          <a:ext cx="1100023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463040"/>
                <a:gridCol w="1463040"/>
                <a:gridCol w="1463040"/>
                <a:gridCol w="1463040"/>
                <a:gridCol w="149047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1期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2期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3期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4期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5期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社員（日本側）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12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24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40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54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　うちモデル開発エンジニア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12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22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34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　うち経営・統括・管理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7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12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18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E6E7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業務委託 ディレクション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16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32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54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E6E7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業務委託 中国クリエイター（稼働）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7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23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46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78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★ 売上／社員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600万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2,450万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5,842万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9,570万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1.53億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594360" y="4956048"/>
            <a:ext cx="5362956" cy="749808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20" name="Shape 17"/>
          <p:cNvSpPr/>
          <p:nvPr/>
        </p:nvSpPr>
        <p:spPr>
          <a:xfrm>
            <a:off x="594360" y="4956048"/>
            <a:ext cx="45720" cy="74980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850392" y="5102352"/>
            <a:ext cx="4905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社員の平均単価は上がります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850392" y="5431536"/>
            <a:ext cx="49057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安い職種が社外に出るので、残るのはエンジニアと統括だけ。1期880万 → 5期904万。総額は4.9億に収まります。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231636" y="4956048"/>
            <a:ext cx="5362956" cy="749808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24" name="Shape 21"/>
          <p:cNvSpPr/>
          <p:nvPr/>
        </p:nvSpPr>
        <p:spPr>
          <a:xfrm>
            <a:off x="6231636" y="4956048"/>
            <a:ext cx="45720" cy="74980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6487668" y="5102352"/>
            <a:ext cx="4905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中国の制作パートナー ［記入予定］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487668" y="5431536"/>
            <a:ext cx="49057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発注・支払はパートナー経由。制作データと成果物の権利は契約により日本側に帰属させます。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業務委託が中心になるため、偽装請負にならない契約設計（指揮命令をしない／成果物単位で発注する）が必須です。契約書の雛形を1期に弁護士と作ります</a:t>
            </a:r>
            <a:endParaRPr lang="en-US" sz="850" dirty="0"/>
          </a:p>
        </p:txBody>
      </p:sp>
      <p:sp>
        <p:nvSpPr>
          <p:cNvPr id="28" name="Text 25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事業計画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2期まで赤字、3期に黒字化。上場申請は5期です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94360" y="1463040"/>
          <a:ext cx="603504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903720" y="1463040"/>
            <a:ext cx="4690872" cy="932688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8" name="Shape 5"/>
          <p:cNvSpPr/>
          <p:nvPr/>
        </p:nvSpPr>
        <p:spPr>
          <a:xfrm>
            <a:off x="7123176" y="1719072"/>
            <a:ext cx="109728" cy="10972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342632" y="1627632"/>
            <a:ext cx="4032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1〜2期 ― 仕組みを作る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7342632" y="1975104"/>
            <a:ext cx="4032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制作54本→400本。AX倍率1.0→1.5。研究開発に1.2億を先に入れる。赤字は計画通りです。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903720" y="2505456"/>
            <a:ext cx="4690872" cy="822960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2" name="Shape 9"/>
          <p:cNvSpPr/>
          <p:nvPr/>
        </p:nvSpPr>
        <p:spPr>
          <a:xfrm>
            <a:off x="7123176" y="2761488"/>
            <a:ext cx="109728" cy="109728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342632" y="2670048"/>
            <a:ext cx="4032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3期 ― 黒字化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7342632" y="3017520"/>
            <a:ext cx="40325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AX2.2倍で原価が22.2万まで下がり、1,800本で黒字に転じます（+4,500万）。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903720" y="3438144"/>
            <a:ext cx="4690872" cy="1042416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6" name="Shape 13"/>
          <p:cNvSpPr/>
          <p:nvPr/>
        </p:nvSpPr>
        <p:spPr>
          <a:xfrm>
            <a:off x="7123176" y="3694176"/>
            <a:ext cx="109728" cy="109728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342632" y="3602736"/>
            <a:ext cx="4032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4〜5期 ― 回収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7342632" y="3950208"/>
            <a:ext cx="4032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AX4倍・11,189本。年商82.5億・営業利益20.6億（24.9%）。社員は54名にとどめます。</a:t>
            </a:r>
            <a:endParaRPr lang="en-US" sz="9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4626864"/>
          <a:ext cx="1100023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926080"/>
                <a:gridCol w="2743200"/>
                <a:gridCol w="258775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① 制作（本数）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② ツール ／ ③ C2C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AX倍率／粗利率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1期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27（54本）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— ／ 9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1.0倍 ／ 29%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2期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220（400本）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 ／ 54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1.5倍 ／ 51%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3期（N-2期）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1,080（1,800本）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160 ／ 162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2.2倍 ／ 61%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4期（N-1期）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3,000（5,000本）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504 ／ 324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3.0倍 ／ 66%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5期（N期）→ 2031年 上場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6,713（11,189本）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1,052 ／ 486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4.0倍 ／ 69%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Text 16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計画値。AX倍率・本数カーブ・研究開発費・業務委託単価はすべて未実測の［仮置き］です。数字は plan_v13.py が計算しています</a:t>
            </a:r>
            <a:endParaRPr lang="en-US" sz="850" dirty="0"/>
          </a:p>
        </p:txBody>
      </p:sp>
      <p:sp>
        <p:nvSpPr>
          <p:cNvPr id="21" name="Text 17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上場までの流れ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5期（2031年）での上場を逆算。N-2期の監査開始は3期・2028年10月です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481328"/>
            <a:ext cx="1980590" cy="1371600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7" name="Shape 5"/>
          <p:cNvSpPr/>
          <p:nvPr/>
        </p:nvSpPr>
        <p:spPr>
          <a:xfrm>
            <a:off x="813816" y="1737360"/>
            <a:ext cx="109728" cy="10972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33272" y="1645920"/>
            <a:ext cx="13222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1期  2026/10-2027/9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033272" y="1993392"/>
            <a:ext cx="132222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・制作の受注開始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・PF開発と公開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・C2Cの手数料率を実測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849270" y="1481328"/>
            <a:ext cx="1980590" cy="1371600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1" name="Shape 9"/>
          <p:cNvSpPr/>
          <p:nvPr/>
        </p:nvSpPr>
        <p:spPr>
          <a:xfrm>
            <a:off x="3068726" y="1737360"/>
            <a:ext cx="109728" cy="109728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288182" y="1645920"/>
            <a:ext cx="13222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2期  2027/10-2028/9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288182" y="1993392"/>
            <a:ext cx="132222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・制作体制の拡大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・ツール外販の初期契約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・シリーズA 3億／監査法人SR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104181" y="1481328"/>
            <a:ext cx="1980590" cy="1371600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5" name="Shape 13"/>
          <p:cNvSpPr/>
          <p:nvPr/>
        </p:nvSpPr>
        <p:spPr>
          <a:xfrm>
            <a:off x="5323637" y="1737360"/>
            <a:ext cx="109728" cy="109728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543093" y="1645920"/>
            <a:ext cx="13222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3期 N-2  2028/10-2029/9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543093" y="1993392"/>
            <a:ext cx="132222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・監査開始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・ツール外販の本格展開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・主幹事証券の選定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359091" y="1481328"/>
            <a:ext cx="1980590" cy="1371600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9" name="Shape 17"/>
          <p:cNvSpPr/>
          <p:nvPr/>
        </p:nvSpPr>
        <p:spPr>
          <a:xfrm>
            <a:off x="7578547" y="1737360"/>
            <a:ext cx="109728" cy="109728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98003" y="1645920"/>
            <a:ext cx="13222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4期 N-1  2029/10-2030/9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7798003" y="1993392"/>
            <a:ext cx="132222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・通期黒字化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・内部管理体制の構築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・資本政策の確定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614002" y="1481328"/>
            <a:ext cx="1980590" cy="1371600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23" name="Shape 21"/>
          <p:cNvSpPr/>
          <p:nvPr/>
        </p:nvSpPr>
        <p:spPr>
          <a:xfrm>
            <a:off x="9833458" y="1737360"/>
            <a:ext cx="109728" cy="109728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0052914" y="1645920"/>
            <a:ext cx="13222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5期 N期  2030/10-2031/9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10052914" y="1993392"/>
            <a:ext cx="132222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・上場申請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・2031年・東証グロース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94360" y="3054096"/>
            <a:ext cx="5362956" cy="1298448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27" name="Shape 25"/>
          <p:cNvSpPr/>
          <p:nvPr/>
        </p:nvSpPr>
        <p:spPr>
          <a:xfrm>
            <a:off x="813816" y="3310128"/>
            <a:ext cx="109728" cy="109728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033272" y="3218688"/>
            <a:ext cx="47045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資本政策の想定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1033272" y="3566160"/>
            <a:ext cx="47045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シード1.5億（今回）→ ESOP枠10% → シリーズA 3億（2期）。累計4.5億。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IPO公募20%を経て、上場時の創業者持分は 42%前後 を想定。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1ラウンドで33%超は放出しません（特別決議の拒否権を渡さないため）。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231636" y="3054096"/>
            <a:ext cx="5362956" cy="1298448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31" name="Shape 29"/>
          <p:cNvSpPr/>
          <p:nvPr/>
        </p:nvSpPr>
        <p:spPr>
          <a:xfrm>
            <a:off x="6231636" y="3054096"/>
            <a:ext cx="45720" cy="129844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487668" y="3200400"/>
            <a:ext cx="4905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5年で上場するための最初の関門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487668" y="3529584"/>
            <a:ext cx="49057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2期（2028年）に監査法人のショートレビューを受ける必要があります。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赤字が最大化する期に監査法人を確保できるかが関門です。シリーズAの契約書を持って臨みます。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94360" y="4535424"/>
            <a:ext cx="11000232" cy="1170432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35" name="Shape 33"/>
          <p:cNvSpPr/>
          <p:nvPr/>
        </p:nvSpPr>
        <p:spPr>
          <a:xfrm>
            <a:off x="594360" y="4535424"/>
            <a:ext cx="45720" cy="1170432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50392" y="4681728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ゴールは上場ではありません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850392" y="5010912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グロースは2030年3月以降「上場5年経過後に時価総額100億円」の維持基準が新設されました。2031年上場なら2036年に100億円。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当社の想定時価総額は、保守的なライン別評価でも183億。維持基準100億に対して1.8倍のバッファがあります。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出所: 日本取引所グループ 上場維持基準。上場基準は改定が続くため、準備期に入る前に最新基準を再確認します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出口とリターン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5期の売上82.5億・営業利益20.6億を前提に試算しています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444752"/>
            <a:ext cx="3483864" cy="1335024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32104" y="1609344"/>
            <a:ext cx="3008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183〜232億</a:t>
            </a:r>
            <a:endParaRPr lang="en-US" sz="2700" dirty="0"/>
          </a:p>
        </p:txBody>
      </p:sp>
      <p:sp>
        <p:nvSpPr>
          <p:cNvPr id="8" name="Text 6"/>
          <p:cNvSpPr txBox="1"/>
          <p:nvPr/>
        </p:nvSpPr>
        <p:spPr>
          <a:xfrm>
            <a:off x="832104" y="223113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ライン別に倍率を分けた場合（保守）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32104" y="2505456"/>
            <a:ext cx="3008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ツール6〜7倍＋C2C4〜5倍＋制作1.5〜2倍。証券会社が実際にやる見方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352544" y="1444752"/>
            <a:ext cx="3483864" cy="1335024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90288" y="1609344"/>
            <a:ext cx="3008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3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248〜413億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4590288" y="223113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全社にPSR3〜5倍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90288" y="2505456"/>
            <a:ext cx="3008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人手に比例しない収益が80%であることを根拠にする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110728" y="1444752"/>
            <a:ext cx="3483864" cy="1335024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48472" y="1609344"/>
            <a:ext cx="3008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996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1.53億</a:t>
            </a:r>
            <a:endParaRPr lang="en-US" sz="2700" dirty="0"/>
          </a:p>
        </p:txBody>
      </p:sp>
      <p:sp>
        <p:nvSpPr>
          <p:cNvPr id="16" name="Text 14"/>
          <p:cNvSpPr txBox="1"/>
          <p:nvPr/>
        </p:nvSpPr>
        <p:spPr>
          <a:xfrm>
            <a:off x="8348472" y="223113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売上／社員（5期）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348472" y="2505456"/>
            <a:ext cx="3008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社員54名で年商82.5億。国内SaaSの平均2,000〜4,000万に対して桁が違う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" y="2926080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シード投資家のリターン — 上場後持分 14.5%（ESOP10%・シリーズA・IPO公募20%で希薄化後）</a:t>
            </a:r>
            <a:endParaRPr lang="en-US" sz="115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3218688"/>
          <a:ext cx="1100023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937760"/>
                <a:gridCol w="2194560"/>
                <a:gridCol w="2039112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時価総額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根拠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シードの取り分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倍率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183億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ツール6倍＋C2C4倍＋制作1.5倍（保守）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26.6億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18.7倍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232億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ツール7倍＋C2C5倍＋制作2.0倍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33.7億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23.7倍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248億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全社PSR3倍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35.9億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25.3倍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330億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全社PSR4倍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47.9億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33.7倍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594360" y="4956048"/>
            <a:ext cx="5362956" cy="749808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21" name="Shape 18"/>
          <p:cNvSpPr/>
          <p:nvPr/>
        </p:nvSpPr>
        <p:spPr>
          <a:xfrm>
            <a:off x="594360" y="4956048"/>
            <a:ext cx="45720" cy="74980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50392" y="5102352"/>
            <a:ext cx="4905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維持基準は余裕を持って超えます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850392" y="5431536"/>
            <a:ext cx="49057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グロースの「上場5年経過後に時価総額100億円」に対し、保守的な183億でも1.8倍のバッファがあります。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231636" y="4956048"/>
            <a:ext cx="5362956" cy="749808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25" name="Shape 22"/>
          <p:cNvSpPr/>
          <p:nvPr/>
        </p:nvSpPr>
        <p:spPr>
          <a:xfrm>
            <a:off x="6231636" y="4956048"/>
            <a:ext cx="45720" cy="74980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6487668" y="5102352"/>
            <a:ext cx="4905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すべて「計画が達成された場合」の試算です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6487668" y="5431536"/>
            <a:ext cx="49057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2025年のグロースIPOは18社（前年34社から半減）。倍率は市況で変動し、利回りの保証ではありません。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出所: M&amp;A総研（業種別EV/EBITDA倍率）／ EY Japan（2026年以降のIPO市場）／ FiNX（グロース維持基準の制度化）。上場時の創業者持分は42%前後を想定</a:t>
            </a:r>
            <a:endParaRPr lang="en-US" sz="850" dirty="0"/>
          </a:p>
        </p:txBody>
      </p:sp>
      <p:sp>
        <p:nvSpPr>
          <p:cNvPr id="29" name="Text 26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マイルストーン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各フェーズは「ゲート条件」で区切ります。満たさない限り、次へは進みません</a:t>
            </a:r>
            <a:endParaRPr lang="en-US" sz="12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444752"/>
          <a:ext cx="11000232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4206240"/>
                <a:gridCol w="533095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時期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やること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◆ 次へ進むゲート条件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〜2026/12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法人設立・中国パートナーとの契約・業務委託契約の雛形作成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パートナー契約の締結／弁護士の見解書（業務委託・資金決済法）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2027/1-3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制作の受注開始／ツールの内部適用を開始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制作 累計5本／★ AX倍率の初回実測（1本あたりディレクション時間）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2027/4-9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C2C発注PFの公開（6ヶ月目）・D案IPの投入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制作 1期54本／登録100名／手数料率と平均単価の初回実測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2期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制作400本・ツール外販の立ち上げ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AX倍率 1.5倍を達成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3期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制作1,800本・黒字化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AX倍率 2.2倍／通期黒字／監査開始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4期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制作5,000本・内部管理体制の構築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AX倍率 3.0倍／営業利益率15%以上／流通株式25%の設計合意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5期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制作11,189本・上場申請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AX倍率 4.0倍／年商82.5億・営業利益20.6億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94360" y="4553712"/>
            <a:ext cx="11000232" cy="1152144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8" name="Shape 5"/>
          <p:cNvSpPr/>
          <p:nvPr/>
        </p:nvSpPr>
        <p:spPr>
          <a:xfrm>
            <a:off x="594360" y="4553712"/>
            <a:ext cx="45720" cy="1152144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50392" y="4700016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最優先で実測するのは AX倍率です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50392" y="5029200"/>
            <a:ext cx="10543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1本あたりのディレクション時間が8時間から何時間に落ちるか。これが計画の全部に乗っています。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4倍なら営業利益率24.9%、3倍なら22.6%、2倍なら18.1%、AXなしなら4.6%。2027年1〜3月の最初の3案件で測ります。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ゲート条件を満たさない場合は次フェーズに進まず、前提を引き直します。詳細は ROADMAP.md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資金計画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調達目標 1.5億円。融資を使わず、全額をエクイティで調達します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38988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1年目の使途（単位 万円・合計 12,000万）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73736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人件費（社員6名）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721608" y="1792224"/>
            <a:ext cx="1828800" cy="20116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0" y="173736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5300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210312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研究開発（GPU・モデル・データ基盤）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721608" y="2157984"/>
            <a:ext cx="1035170" cy="201168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0" y="210312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3000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246888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C2C発注PF 開発（初期版）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721608" y="2523744"/>
            <a:ext cx="276045" cy="201168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0" y="246888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800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283464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獲得費（営業・マーケティング）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721608" y="2889504"/>
            <a:ext cx="207034" cy="20116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0" y="283464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600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594360" y="320040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制作事業の運転資金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721608" y="3255264"/>
            <a:ext cx="207034" cy="20116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0" y="320040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600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594360" y="356616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法務（業務委託契約・資金決済法）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721608" y="3621024"/>
            <a:ext cx="172528" cy="201168"/>
          </a:xfrm>
          <a:prstGeom prst="rect">
            <a:avLst/>
          </a:prstGeom>
          <a:solidFill>
            <a:srgbClr val="6E6E7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486400" y="356616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500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594360" y="393192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設立・機材・その他初期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721608" y="3986784"/>
            <a:ext cx="138023" cy="201168"/>
          </a:xfrm>
          <a:prstGeom prst="rect">
            <a:avLst/>
          </a:prstGeom>
          <a:solidFill>
            <a:srgbClr val="6E6E76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486400" y="393192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400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594360" y="429768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中国パートナー提携・渡航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721608" y="4352544"/>
            <a:ext cx="103517" cy="201168"/>
          </a:xfrm>
          <a:prstGeom prst="rect">
            <a:avLst/>
          </a:prstGeom>
          <a:solidFill>
            <a:srgbClr val="6E6E7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486400" y="429768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300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594360" y="466344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オフィス・SaaS・その他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721608" y="4718304"/>
            <a:ext cx="103517" cy="201168"/>
          </a:xfrm>
          <a:prstGeom prst="rect">
            <a:avLst/>
          </a:prstGeom>
          <a:solidFill>
            <a:srgbClr val="6E6E76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5486400" y="466344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300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594360" y="502920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特許出願（2件）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721608" y="5084064"/>
            <a:ext cx="69011" cy="201168"/>
          </a:xfrm>
          <a:prstGeom prst="rect">
            <a:avLst/>
          </a:prstGeom>
          <a:solidFill>
            <a:srgbClr val="6E6E76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5486400" y="502920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200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903720" y="1737360"/>
            <a:ext cx="2208276" cy="1316736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7141464" y="1901952"/>
            <a:ext cx="17327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996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800万</a:t>
            </a:r>
            <a:endParaRPr lang="en-US" sz="2700" dirty="0"/>
          </a:p>
        </p:txBody>
      </p:sp>
      <p:sp>
        <p:nvSpPr>
          <p:cNvPr id="39" name="Text 37"/>
          <p:cNvSpPr txBox="1"/>
          <p:nvPr/>
        </p:nvSpPr>
        <p:spPr>
          <a:xfrm>
            <a:off x="7141464" y="2523744"/>
            <a:ext cx="17327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資本金（代表個人が直接出資）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7141464" y="2798064"/>
            <a:ext cx="17327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1,000万未満に抑え、初年度の消費税課税事業者化を回避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9386316" y="1737360"/>
            <a:ext cx="2208276" cy="1316736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9624060" y="1901952"/>
            <a:ext cx="17327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3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1.42億</a:t>
            </a:r>
            <a:endParaRPr lang="en-US" sz="2700" dirty="0"/>
          </a:p>
        </p:txBody>
      </p:sp>
      <p:sp>
        <p:nvSpPr>
          <p:cNvPr id="43" name="Text 41"/>
          <p:cNvSpPr txBox="1"/>
          <p:nvPr/>
        </p:nvSpPr>
        <p:spPr>
          <a:xfrm>
            <a:off x="9624060" y="2523744"/>
            <a:ext cx="17327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シード（創業時）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9624060" y="2798064"/>
            <a:ext cx="17327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放出20〜27%を想定。J-KISSでの価格先送りも選択肢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903720" y="3218688"/>
            <a:ext cx="4690872" cy="1389888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46" name="Shape 44"/>
          <p:cNvSpPr/>
          <p:nvPr/>
        </p:nvSpPr>
        <p:spPr>
          <a:xfrm>
            <a:off x="6903720" y="3218688"/>
            <a:ext cx="45720" cy="13898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7159752" y="3364992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使途の4分の1が研究開発です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7159752" y="3694176"/>
            <a:ext cx="42336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1年目に使うのは 1億2,000万。残り約3,000万は2期への持ち越しです。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最大の費目は人件費（社員6名・5,300万）、次が研究開発（3,000万）。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社員を増やす代わりにモデルへ入れる、という配分を初年度から取ります。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903720" y="4700016"/>
            <a:ext cx="4690872" cy="1005840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50" name="Shape 48"/>
          <p:cNvSpPr/>
          <p:nvPr/>
        </p:nvSpPr>
        <p:spPr>
          <a:xfrm>
            <a:off x="6903720" y="4700016"/>
            <a:ext cx="45720" cy="1005840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7159752" y="4846320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追加調達はシリーズA 3億のみ。累計4.5億です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7159752" y="5175504"/>
            <a:ext cx="4233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社員を増やさずに伸びる設計なので、規模を追うための大型調達が要りません。シリーズB以降は想定していません。</a:t>
            </a:r>
            <a:endParaRPr lang="en-US" sz="1000" dirty="0"/>
          </a:p>
        </p:txBody>
      </p:sp>
      <p:sp>
        <p:nvSpPr>
          <p:cNvPr id="53" name="Text 51"/>
          <p:cNvSpPr txBox="1"/>
          <p:nvPr/>
        </p:nvSpPr>
        <p:spPr>
          <a:xfrm>
            <a:off x="594360" y="5449824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［仮置き］AX倍率と業務委託単価が未実測のため、2期以降の原価の精度が最も低い数字です。1期に実測して増減させます。</a:t>
            </a:r>
            <a:endParaRPr lang="en-US" sz="900" dirty="0"/>
          </a:p>
        </p:txBody>
      </p:sp>
      <p:sp>
        <p:nvSpPr>
          <p:cNvPr id="54" name="Text 52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融資は使いません。補助金は後払いのため資金繰りに算入していません。全額をエクイティで調達します</a:t>
            </a:r>
            <a:endParaRPr lang="en-US" sz="850" dirty="0"/>
          </a:p>
        </p:txBody>
      </p:sp>
      <p:sp>
        <p:nvSpPr>
          <p:cNvPr id="55" name="Text 53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リスクと対策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影響度と発生確率で並べています。上の2つが、この事業の生死を分けます</a:t>
            </a:r>
            <a:endParaRPr lang="en-US" sz="12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444752"/>
          <a:ext cx="11000232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822960"/>
                <a:gridCol w="914400"/>
                <a:gridCol w="3108960"/>
                <a:gridCol w="569671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#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影響度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発生確率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リスク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対策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高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高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AX倍率が4倍に届かない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1期に実測。3倍なら22.6%、2倍なら18.1%まで落ちる。届かないぶんは本数計画を下げて利益率を守る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高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高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単価60万を維持できない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SAM3%を取りにいけば価格競争になる。45万に落ちると売上50億。ツール外販の比率を上げて補う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高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業務委託が偽装請負と判定される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指揮命令をしない／成果物単位で発注する契約設計。1期に弁護士と雛形を作り、監査法人にも事前確認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高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年11,189本の発注を取れない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代理店チャネル（2次受け）とC2Cのセルフサーブを主にする。営業社員で取りに行く設計にしない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高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低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シリーズA 3億が入らない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ツール開発の投資を止めて制作に全振り。2期の赤字は▲9,400万→▲3,000万台まで縮む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中国の制作パートナーへの依存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支払いと品質保証を1社に依存しない。2社目の提携を2期までに確保する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7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クリエイター単価の上昇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中国側も同じAIを使えるようになれば12万が維持できない。ランク制と長期契約で固定する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8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資金決済法の該当性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収納代行型（当社で預からない）を前提にPF設計の前に弁護士へ確認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94360" y="4956048"/>
            <a:ext cx="11000232" cy="749808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8" name="Shape 5"/>
          <p:cNvSpPr/>
          <p:nvPr/>
        </p:nvSpPr>
        <p:spPr>
          <a:xfrm>
            <a:off x="594360" y="4956048"/>
            <a:ext cx="45720" cy="74980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50392" y="5102352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1と2は、どちらも「原価と単価」の話です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50392" y="5431536"/>
            <a:ext cx="10543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この事業の利益は、AXで原価をどこまで下げられるかと、単価をどこまで守れるかの差に乗っています。だから両方を毎月測ります。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全リスクと対策は BUSINESS_PLAN ／ MOAT_TIMELINE ／ CHINA_SOURCING に記載しています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D96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1031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制作力が余っている場所と、発注が余っている場所をつなぐ。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29260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BE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中国では制作会社の42%が1四半期で消え、日本の映像制作市場は4,580億円で伸び続けています。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3931920"/>
            <a:ext cx="3483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1.5億円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4498848"/>
            <a:ext cx="3483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E2D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今回の調達目標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352544" y="3931920"/>
            <a:ext cx="3483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3年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4352544" y="4498848"/>
            <a:ext cx="3483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E2D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制作単価が下がり切るまでの時限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110728" y="3931920"/>
            <a:ext cx="3483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2031年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8110728" y="4498848"/>
            <a:ext cx="3483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E2D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東証グロース上場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日本は一度、これをやっている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輸入した技術を4年で国産化し、その後20年以上の改善で世界一の品質に到達した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335024"/>
            <a:ext cx="2544318" cy="1060704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7" name="Shape 5"/>
          <p:cNvSpPr/>
          <p:nvPr/>
        </p:nvSpPr>
        <p:spPr>
          <a:xfrm>
            <a:off x="813816" y="1591056"/>
            <a:ext cx="109728" cy="109728"/>
          </a:xfrm>
          <a:prstGeom prst="rect">
            <a:avLst/>
          </a:prstGeom>
          <a:solidFill>
            <a:srgbClr val="6E6E7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33272" y="1499616"/>
            <a:ext cx="18859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1952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033272" y="1847088"/>
            <a:ext cx="18859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日産＝オースチン技術提携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日野＝ルノー、いすゞ＝ルーツ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412998" y="1335024"/>
            <a:ext cx="2544318" cy="1060704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1" name="Shape 9"/>
          <p:cNvSpPr/>
          <p:nvPr/>
        </p:nvSpPr>
        <p:spPr>
          <a:xfrm>
            <a:off x="3632454" y="1591056"/>
            <a:ext cx="109728" cy="10972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851910" y="1499616"/>
            <a:ext cx="18859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1956-57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851910" y="1847088"/>
            <a:ext cx="18859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4社が相次いで完全国産化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ここまで4年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31636" y="1335024"/>
            <a:ext cx="2544318" cy="1060704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5" name="Shape 13"/>
          <p:cNvSpPr/>
          <p:nvPr/>
        </p:nvSpPr>
        <p:spPr>
          <a:xfrm>
            <a:off x="6451092" y="1591056"/>
            <a:ext cx="109728" cy="109728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70548" y="1499616"/>
            <a:ext cx="18859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1960s-70s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670548" y="1847088"/>
            <a:ext cx="18859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QCサークル・トヨタ生産方式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改善を20年以上回し続ける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050274" y="1335024"/>
            <a:ext cx="2544318" cy="1060704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9" name="Shape 17"/>
          <p:cNvSpPr/>
          <p:nvPr/>
        </p:nvSpPr>
        <p:spPr>
          <a:xfrm>
            <a:off x="9269730" y="1591056"/>
            <a:ext cx="109728" cy="109728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489186" y="1499616"/>
            <a:ext cx="18859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1980s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9489186" y="1847088"/>
            <a:ext cx="18859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品質と燃費で世界市場を取る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米国メーカーが学びに来る側へ</a:t>
            </a:r>
            <a:endParaRPr lang="en-US" sz="900" dirty="0"/>
          </a:p>
        </p:txBody>
      </p:sp>
      <p:pic>
        <p:nvPicPr>
          <p:cNvPr id="22" name="Image 0" descr="assets/austin1959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560320"/>
            <a:ext cx="2231136" cy="1188720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2935224" y="2990088"/>
            <a:ext cx="402336" cy="329184"/>
          </a:xfrm>
          <a:prstGeom prst="rightArrow">
            <a:avLst/>
          </a:prstGeom>
          <a:solidFill>
            <a:srgbClr val="DCD9D4"/>
          </a:solidFill>
          <a:ln/>
        </p:spPr>
      </p:sp>
      <p:pic>
        <p:nvPicPr>
          <p:cNvPr id="24" name="Image 1" descr="assets/corolla198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7288" y="2560320"/>
            <a:ext cx="2231136" cy="1188720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594360" y="3785616"/>
            <a:ext cx="2231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1959 日産オースチン A50</a:t>
            </a:r>
            <a:endParaRPr lang="en-US" sz="850" dirty="0"/>
          </a:p>
        </p:txBody>
      </p:sp>
      <p:sp>
        <p:nvSpPr>
          <p:cNvPr id="26" name="Text 22"/>
          <p:cNvSpPr txBox="1"/>
          <p:nvPr/>
        </p:nvSpPr>
        <p:spPr>
          <a:xfrm>
            <a:off x="3447288" y="3785616"/>
            <a:ext cx="2231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1986 トヨタ カローラ</a:t>
            </a:r>
            <a:endParaRPr lang="en-US" sz="850" dirty="0"/>
          </a:p>
        </p:txBody>
      </p:sp>
      <p:sp>
        <p:nvSpPr>
          <p:cNvPr id="27" name="Shape 23"/>
          <p:cNvSpPr/>
          <p:nvPr/>
        </p:nvSpPr>
        <p:spPr>
          <a:xfrm>
            <a:off x="5952744" y="2560320"/>
            <a:ext cx="5641848" cy="1444752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28" name="Shape 24"/>
          <p:cNvSpPr/>
          <p:nvPr/>
        </p:nvSpPr>
        <p:spPr>
          <a:xfrm>
            <a:off x="5952744" y="2560320"/>
            <a:ext cx="45720" cy="1444752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6208776" y="2706624"/>
            <a:ext cx="5184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ポイントは国産化の速さではありません</a:t>
            </a:r>
            <a:endParaRPr lang="en-US" sz="1200" dirty="0"/>
          </a:p>
        </p:txBody>
      </p:sp>
      <p:sp>
        <p:nvSpPr>
          <p:cNvPr id="30" name="Text 26"/>
          <p:cNvSpPr txBox="1"/>
          <p:nvPr/>
        </p:nvSpPr>
        <p:spPr>
          <a:xfrm>
            <a:off x="6208776" y="3035808"/>
            <a:ext cx="51846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日産・トヨタは国産化をゴールにせず、以後20年以上かけて生産方式と品質管理を磨き続けました。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1980年代には米国メーカーが日本の生産方式を学びに来る側に回ります。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内製化（3年）は出発点にすぎません。制作データで改善を回し続けることが、模倣されない資産になります。</a:t>
            </a:r>
            <a:endParaRPr lang="en-US" sz="95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4133088"/>
          <a:ext cx="1100023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651760"/>
                <a:gridCol w="914400"/>
                <a:gridCol w="2651760"/>
                <a:gridCol w="731520"/>
                <a:gridCol w="240487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持っている側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修得する側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期間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到達点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1952 → 1956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オースチン（英）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技術 →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日産・日野・いすゞ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4年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完全国産化。ただしこれは入口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2026 → 2029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世界のAIクリエイター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制作力 →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当社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3年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内製化。ここから改善を回す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2" name="Text 27"/>
          <p:cNvSpPr txBox="1"/>
          <p:nvPr/>
        </p:nvSpPr>
        <p:spPr>
          <a:xfrm>
            <a:off x="594360" y="5358384"/>
            <a:ext cx="11000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当時は政府の保護（輸入制限・関税）がありました。今のAI映像にはありません。だから改善のサイクルをより速く回す必要があります。</a:t>
            </a:r>
            <a:endParaRPr lang="en-US" sz="1000" dirty="0"/>
          </a:p>
        </p:txBody>
      </p:sp>
      <p:sp>
        <p:nvSpPr>
          <p:cNvPr id="33" name="Text 28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出所: 日産自動車 企業情報 ／ トヨタ博物館 ／ GAZOO「ノックダウン生産の時代」／ 日本科学技術連盟（QCサークル・デミング賞）。写真: 1959 Nissan Austin Cambridge Deluxe（CC0 / TTTNIS）、1986-1989 Toyota Corolla AE82（Public domain / OSX）いずれも Wikimedia Commons</a:t>
            </a:r>
            <a:endParaRPr lang="en-US" sz="850" dirty="0"/>
          </a:p>
        </p:txBody>
      </p:sp>
      <p:sp>
        <p:nvSpPr>
          <p:cNvPr id="34" name="Text 29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投資家向け企画書</dc:title>
  <dc:subject>PptxGenJS Presentation</dc:subject>
  <dc:creator>AI映像制作事業</dc:creator>
  <cp:lastModifiedBy>AI映像制作事業</cp:lastModifiedBy>
  <cp:revision>1</cp:revision>
  <dcterms:created xsi:type="dcterms:W3CDTF">2026-09-22T14:06:41Z</dcterms:created>
  <dcterms:modified xsi:type="dcterms:W3CDTF">2026-09-22T14:06:41Z</dcterms:modified>
</cp:coreProperties>
</file>