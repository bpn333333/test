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日本・中国・ベトナムの3拠点で、制作と開発を回す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受注と品質保証は日本、制作は中国、開発はベトナム。国境をまたいだ分業を、日本の社員22名で束ねます（5期計画）</a:t>
            </a:r>
            <a:endParaRPr lang="en-US" sz="1200" dirty="0"/>
          </a:p>
        </p:txBody>
      </p:sp>
      <p:pic>
        <p:nvPicPr>
          <p:cNvPr id="6" name="Image 0" descr="C:\Users\User\Claud\test-repo\deck/assets/map_eastasi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6812280" cy="4846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135478" y="213512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121B"/>
                </a:solidFill>
                <a:effectLst>
                  <a:glow rad="88900">
                    <a:srgbClr val="FFFFFF">
                      <a:alpha val="95000"/>
                    </a:srgbClr>
                  </a:glow>
                </a:effectLst>
                <a:latin typeface="Yu Gothic" pitchFamily="34" charset="0"/>
                <a:ea typeface="Yu Gothic" pitchFamily="34" charset="-122"/>
                <a:cs typeface="Yu Gothic" pitchFamily="34" charset="-120"/>
              </a:rPr>
              <a:t>①③ 制作を発注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3388766" y="354238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601A"/>
                </a:solidFill>
                <a:effectLst>
                  <a:glow rad="88900">
                    <a:srgbClr val="FFFFFF">
                      <a:alpha val="95000"/>
                    </a:srgbClr>
                  </a:glow>
                </a:effectLst>
                <a:latin typeface="Yu Gothic" pitchFamily="34" charset="0"/>
                <a:ea typeface="Yu Gothic" pitchFamily="34" charset="-122"/>
                <a:cs typeface="Yu Gothic" pitchFamily="34" charset="-120"/>
              </a:rPr>
              <a:t>納品・品質保証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3161081" y="452719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63"/>
                </a:solidFill>
                <a:effectLst>
                  <a:glow rad="88900">
                    <a:srgbClr val="FFFFFF">
                      <a:alpha val="95000"/>
                    </a:srgbClr>
                  </a:glow>
                </a:effectLst>
                <a:latin typeface="Yu Gothic" pitchFamily="34" charset="0"/>
                <a:ea typeface="Yu Gothic" pitchFamily="34" charset="-122"/>
                <a:cs typeface="Yu Gothic" pitchFamily="34" charset="-120"/>
              </a:rPr>
              <a:t>②③ ツール・PFを開発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629046" y="352409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2C"/>
                </a:solidFill>
                <a:effectLst>
                  <a:glow rad="88900">
                    <a:srgbClr val="FFFFFF">
                      <a:alpha val="95000"/>
                    </a:srgbClr>
                  </a:glow>
                </a:effectLst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ツール外販 → 海外へ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352898" y="2595982"/>
            <a:ext cx="201168" cy="201168"/>
          </a:xfrm>
          <a:prstGeom prst="ellipse">
            <a:avLst/>
          </a:prstGeom>
          <a:solidFill>
            <a:srgbClr val="B3121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37530" y="212963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161A"/>
                </a:solidFill>
                <a:effectLst>
                  <a:glow rad="88900">
                    <a:srgbClr val="FFFFFF">
                      <a:alpha val="95000"/>
                    </a:srgbClr>
                  </a:glow>
                </a:effectLst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</a:t>
            </a:r>
            <a:endParaRPr lang="en-US" sz="15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B3121B"/>
                </a:solidFill>
                <a:effectLst>
                  <a:glow rad="88900">
                    <a:srgbClr val="FFFFFF">
                      <a:alpha val="95000"/>
                    </a:srgbClr>
                  </a:glow>
                </a:effectLst>
                <a:latin typeface="Yu Gothic" pitchFamily="34" charset="0"/>
                <a:ea typeface="Yu Gothic" pitchFamily="34" charset="-122"/>
                <a:cs typeface="Yu Gothic" pitchFamily="34" charset="-120"/>
              </a:rPr>
              <a:t>本社・受注・品質保証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661818" y="3172968"/>
            <a:ext cx="201168" cy="201168"/>
          </a:xfrm>
          <a:prstGeom prst="ellipse">
            <a:avLst/>
          </a:prstGeom>
          <a:solidFill>
            <a:srgbClr val="D960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409090" y="301752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6161A"/>
                </a:solidFill>
                <a:effectLst>
                  <a:glow rad="88900">
                    <a:srgbClr val="FFFFFF">
                      <a:alpha val="95000"/>
                    </a:srgbClr>
                  </a:glow>
                </a:effectLst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</a:t>
            </a:r>
            <a:endParaRPr lang="en-US" sz="15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D9601A"/>
                </a:solidFill>
                <a:effectLst>
                  <a:glow rad="88900">
                    <a:srgbClr val="FFFFFF">
                      <a:alpha val="95000"/>
                    </a:srgbClr>
                  </a:glow>
                </a:effectLst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583741" y="4400093"/>
            <a:ext cx="201168" cy="201168"/>
          </a:xfrm>
          <a:prstGeom prst="ellipse">
            <a:avLst/>
          </a:prstGeom>
          <a:solidFill>
            <a:srgbClr val="1F6F6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31013" y="4244645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6161A"/>
                </a:solidFill>
                <a:effectLst>
                  <a:glow rad="88900">
                    <a:srgbClr val="FFFFFF">
                      <a:alpha val="95000"/>
                    </a:srgbClr>
                  </a:glow>
                </a:effectLst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ベトナム</a:t>
            </a:r>
            <a:endParaRPr lang="en-US" sz="15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1F6F63"/>
                </a:solidFill>
                <a:effectLst>
                  <a:glow rad="88900">
                    <a:srgbClr val="FFFFFF">
                      <a:alpha val="95000"/>
                    </a:srgbClr>
                  </a:glow>
                </a:effectLst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160520" y="541324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6161A"/>
                </a:solidFill>
                <a:effectLst>
                  <a:glow rad="88900">
                    <a:srgbClr val="FFFFFF">
                      <a:alpha val="95000"/>
                    </a:srgbClr>
                  </a:glow>
                </a:effectLst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日本の品質保証 × 中国の制作力 × ベトナムの開発力</a:t>
            </a:r>
            <a:endParaRPr lang="en-US" sz="1150" dirty="0"/>
          </a:p>
          <a:p>
            <a:pPr algn="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A3A42"/>
                </a:solidFill>
                <a:effectLst>
                  <a:glow rad="88900">
                    <a:srgbClr val="FFFFFF">
                      <a:alpha val="95000"/>
                    </a:srgbClr>
                  </a:glow>
                </a:effectLst>
                <a:latin typeface="Yu Gothic" pitchFamily="34" charset="0"/>
                <a:ea typeface="Yu Gothic" pitchFamily="34" charset="-122"/>
                <a:cs typeface="Yu Gothic" pitchFamily="34" charset="-120"/>
              </a:rPr>
              <a:t>3拠点とも時差1〜2時間。受注・制作・修正が同じ営業日で回る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635240" y="1389888"/>
            <a:ext cx="3959352" cy="1280160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19" name="Shape 16"/>
          <p:cNvSpPr/>
          <p:nvPr/>
        </p:nvSpPr>
        <p:spPr>
          <a:xfrm>
            <a:off x="7635240" y="1389888"/>
            <a:ext cx="73152" cy="128016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891272" y="1499616"/>
            <a:ext cx="3557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</a:t>
            </a:r>
            <a:pPr indent="0" marL="0">
              <a:buNone/>
            </a:pPr>
            <a:r>
              <a:rPr lang="en-US" sz="10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本社・受注・品質保証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891272" y="1901952"/>
            <a:ext cx="3557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日本企業と個人・中小から受注し、品質を保証して納品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知財・IPの管理と、②③の開発を統括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社員22名はすべて日本側（5期）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635240" y="2788920"/>
            <a:ext cx="3959352" cy="1280160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23" name="Shape 20"/>
          <p:cNvSpPr/>
          <p:nvPr/>
        </p:nvSpPr>
        <p:spPr>
          <a:xfrm>
            <a:off x="7635240" y="2788920"/>
            <a:ext cx="73152" cy="1280160"/>
          </a:xfrm>
          <a:prstGeom prst="rect">
            <a:avLst/>
          </a:prstGeom>
          <a:solidFill>
            <a:srgbClr val="D9601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891272" y="2898648"/>
            <a:ext cx="3557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</a:t>
            </a:r>
            <a:pPr indent="0" marL="0">
              <a:buNone/>
            </a:pPr>
            <a:r>
              <a:rPr lang="en-US" sz="1050" b="1" dirty="0">
                <a:solidFill>
                  <a:srgbClr val="D960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制作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891272" y="3300984"/>
            <a:ext cx="3557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制作パートナー経由で、登録クリエイターが制作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登録2,000名・稼働681名（5期）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稼働681名は、中国の微短劇就業者69万人の0.3%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635240" y="4187952"/>
            <a:ext cx="3959352" cy="1280160"/>
          </a:xfrm>
          <a:prstGeom prst="rect">
            <a:avLst/>
          </a:prstGeom>
          <a:solidFill>
            <a:srgbClr val="F7F5F2"/>
          </a:solidFill>
          <a:ln/>
        </p:spPr>
      </p:sp>
      <p:sp>
        <p:nvSpPr>
          <p:cNvPr id="27" name="Shape 24"/>
          <p:cNvSpPr/>
          <p:nvPr/>
        </p:nvSpPr>
        <p:spPr>
          <a:xfrm>
            <a:off x="7635240" y="4187952"/>
            <a:ext cx="73152" cy="1280160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891272" y="4297680"/>
            <a:ext cx="3557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ベトナム</a:t>
            </a:r>
            <a:pPr indent="0" marL="0">
              <a:buNone/>
            </a:pPr>
            <a:r>
              <a:rPr lang="en-US" sz="1050" b="1" dirty="0">
                <a:solidFill>
                  <a:srgbClr val="1F6F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開発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7891272" y="4700016"/>
            <a:ext cx="3557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オフショア委託で、②のツールと③のPFを開発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エンジニア19名（5期・業務委託）</a:t>
            </a:r>
            <a:endParaRPr lang="en-US" sz="9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AXで1人あたりの生産性を上げ、人数を抑える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7635240" y="5586984"/>
            <a:ext cx="3959352" cy="630936"/>
          </a:xfrm>
          <a:prstGeom prst="rect">
            <a:avLst/>
          </a:prstGeom>
          <a:solidFill>
            <a:srgbClr val="3A3A4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891272" y="5586984"/>
            <a:ext cx="35570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ツール外販は国内と海外へ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DEB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5期39.4億の約半分が海外向けの計画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5期（2031年）の計画値。出所: 事業計画_Ver0.8.xlsx／中国網絡視聴協会（微短劇就業者）。地図: Natural Earth。拠点は国単位の表示で都市を特定しない。中国の制作パートナーは契約前［記入予定］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3本の柱 — 作る・売る・開く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①の制作で溜めたデータが②のツールになり、②を外に開いたものが③。3本が互いの入口になっています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335024"/>
            <a:ext cx="10360152" cy="676656"/>
          </a:xfrm>
          <a:prstGeom prst="triangle">
            <a:avLst/>
          </a:prstGeom>
          <a:solidFill>
            <a:srgbClr val="3A3A4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082796" y="168249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 売上 117.4億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029968"/>
            <a:ext cx="10360152" cy="292608"/>
          </a:xfrm>
          <a:prstGeom prst="rect">
            <a:avLst/>
          </a:prstGeom>
          <a:solidFill>
            <a:srgbClr val="3A3A4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029968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EB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営業利益 41.9億（35.7%） ｜ 2031年 東証グロース上場を目指す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2377440"/>
            <a:ext cx="2926080" cy="14630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2523744"/>
            <a:ext cx="2743200" cy="2505456"/>
          </a:xfrm>
          <a:prstGeom prst="rect">
            <a:avLst/>
          </a:prstGeom>
          <a:solidFill>
            <a:srgbClr val="FBEDED"/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2523744"/>
            <a:ext cx="64008" cy="2505456"/>
          </a:xfrm>
          <a:prstGeom prst="rect">
            <a:avLst/>
          </a:prstGeom>
          <a:solidFill>
            <a:srgbClr val="B3121B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867912" y="2523744"/>
            <a:ext cx="64008" cy="2505456"/>
          </a:xfrm>
          <a:prstGeom prst="rect">
            <a:avLst/>
          </a:prstGeom>
          <a:solidFill>
            <a:srgbClr val="B3121B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97280" y="5029200"/>
            <a:ext cx="2926080" cy="14630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5" name="Shape 13"/>
          <p:cNvSpPr/>
          <p:nvPr/>
        </p:nvSpPr>
        <p:spPr>
          <a:xfrm>
            <a:off x="2176272" y="2651760"/>
            <a:ext cx="768096" cy="768096"/>
          </a:xfrm>
          <a:prstGeom prst="ellipse">
            <a:avLst/>
          </a:prstGeom>
          <a:solidFill>
            <a:srgbClr val="B3121B"/>
          </a:solidFill>
          <a:ln/>
        </p:spPr>
      </p:sp>
      <p:sp>
        <p:nvSpPr>
          <p:cNvPr id="16" name="Shape 14"/>
          <p:cNvSpPr/>
          <p:nvPr/>
        </p:nvSpPr>
        <p:spPr>
          <a:xfrm rot="5400000">
            <a:off x="2423160" y="2880360"/>
            <a:ext cx="310896" cy="310896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88720" y="35112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AI映像制作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84048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日本企業の映像を受注し、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中国のクリエイターで制作する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54480" y="4389120"/>
            <a:ext cx="2011680" cy="0"/>
          </a:xfrm>
          <a:prstGeom prst="line">
            <a:avLst/>
          </a:prstGeom>
          <a:noFill/>
          <a:ln w="9525">
            <a:solidFill>
              <a:srgbClr val="B3121B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88720" y="44439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案件ごと ｜ 初日から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6634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35.2億</a:t>
            </a:r>
            <a:pPr algn="ct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5期・3,727本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631436" y="2377440"/>
            <a:ext cx="2926080" cy="146304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3" name="Shape 21"/>
          <p:cNvSpPr/>
          <p:nvPr/>
        </p:nvSpPr>
        <p:spPr>
          <a:xfrm>
            <a:off x="4722876" y="2523744"/>
            <a:ext cx="2743200" cy="2505456"/>
          </a:xfrm>
          <a:prstGeom prst="rect">
            <a:avLst/>
          </a:prstGeom>
          <a:solidFill>
            <a:srgbClr val="FBF4E3"/>
          </a:solidFill>
          <a:ln/>
        </p:spPr>
      </p:sp>
      <p:sp>
        <p:nvSpPr>
          <p:cNvPr id="24" name="Shape 22"/>
          <p:cNvSpPr/>
          <p:nvPr/>
        </p:nvSpPr>
        <p:spPr>
          <a:xfrm>
            <a:off x="4722876" y="2523744"/>
            <a:ext cx="64008" cy="2505456"/>
          </a:xfrm>
          <a:prstGeom prst="rect">
            <a:avLst/>
          </a:prstGeom>
          <a:solidFill>
            <a:srgbClr val="C9962C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402068" y="2523744"/>
            <a:ext cx="64008" cy="2505456"/>
          </a:xfrm>
          <a:prstGeom prst="rect">
            <a:avLst/>
          </a:prstGeom>
          <a:solidFill>
            <a:srgbClr val="C9962C">
              <a:alpha val="4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631436" y="5029200"/>
            <a:ext cx="2926080" cy="146304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7" name="Shape 25"/>
          <p:cNvSpPr/>
          <p:nvPr/>
        </p:nvSpPr>
        <p:spPr>
          <a:xfrm>
            <a:off x="5710428" y="2651760"/>
            <a:ext cx="768096" cy="768096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28" name="Shape 26"/>
          <p:cNvSpPr/>
          <p:nvPr/>
        </p:nvSpPr>
        <p:spPr>
          <a:xfrm>
            <a:off x="5847588" y="2788920"/>
            <a:ext cx="493776" cy="493776"/>
          </a:xfrm>
          <a:prstGeom prst="gear6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012180" y="2953512"/>
            <a:ext cx="164592" cy="164592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722876" y="35112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ツール外販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860036" y="384048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制作で溜まったデータを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特許・モデル・ツールにして売る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88636" y="4389120"/>
            <a:ext cx="2011680" cy="0"/>
          </a:xfrm>
          <a:prstGeom prst="line">
            <a:avLst/>
          </a:prstGeom>
          <a:noFill/>
          <a:ln w="9525">
            <a:solidFill>
              <a:srgbClr val="C9962C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22876" y="44439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年額契約（ARR） ｜ 2期〜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4722876" y="46634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39.4億</a:t>
            </a:r>
            <a:pPr algn="ct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5期・法人578社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165592" y="2377440"/>
            <a:ext cx="2926080" cy="146304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36" name="Shape 34"/>
          <p:cNvSpPr/>
          <p:nvPr/>
        </p:nvSpPr>
        <p:spPr>
          <a:xfrm>
            <a:off x="8257032" y="2523744"/>
            <a:ext cx="2743200" cy="2505456"/>
          </a:xfrm>
          <a:prstGeom prst="rect">
            <a:avLst/>
          </a:prstGeom>
          <a:solidFill>
            <a:srgbClr val="E9EBF3"/>
          </a:solidFill>
          <a:ln/>
        </p:spPr>
      </p:sp>
      <p:sp>
        <p:nvSpPr>
          <p:cNvPr id="37" name="Shape 35"/>
          <p:cNvSpPr/>
          <p:nvPr/>
        </p:nvSpPr>
        <p:spPr>
          <a:xfrm>
            <a:off x="8257032" y="2523744"/>
            <a:ext cx="64008" cy="2505456"/>
          </a:xfrm>
          <a:prstGeom prst="rect">
            <a:avLst/>
          </a:prstGeom>
          <a:solidFill>
            <a:srgbClr val="2A3563">
              <a:alpha val="4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936224" y="2523744"/>
            <a:ext cx="64008" cy="2505456"/>
          </a:xfrm>
          <a:prstGeom prst="rect">
            <a:avLst/>
          </a:prstGeom>
          <a:solidFill>
            <a:srgbClr val="2A3563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165592" y="5029200"/>
            <a:ext cx="2926080" cy="146304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40" name="Shape 38"/>
          <p:cNvSpPr/>
          <p:nvPr/>
        </p:nvSpPr>
        <p:spPr>
          <a:xfrm>
            <a:off x="9244584" y="2651760"/>
            <a:ext cx="768096" cy="768096"/>
          </a:xfrm>
          <a:prstGeom prst="ellipse">
            <a:avLst/>
          </a:prstGeom>
          <a:solidFill>
            <a:srgbClr val="2A3563"/>
          </a:solidFill>
          <a:ln/>
        </p:spPr>
      </p:sp>
      <p:sp>
        <p:nvSpPr>
          <p:cNvPr id="41" name="Shape 39"/>
          <p:cNvSpPr/>
          <p:nvPr/>
        </p:nvSpPr>
        <p:spPr>
          <a:xfrm>
            <a:off x="9390888" y="2798064"/>
            <a:ext cx="475488" cy="475488"/>
          </a:xfrm>
          <a:prstGeom prst="ellipse">
            <a:avLst/>
          </a:prstGeom>
          <a:solidFill>
            <a:srgbClr val="2A356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528048" y="2798064"/>
            <a:ext cx="201168" cy="475488"/>
          </a:xfrm>
          <a:prstGeom prst="ellipse">
            <a:avLst/>
          </a:prstGeom>
          <a:solidFill>
            <a:srgbClr val="2A3563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390888" y="3035808"/>
            <a:ext cx="475488" cy="0"/>
          </a:xfrm>
          <a:prstGeom prst="line">
            <a:avLst/>
          </a:prstGeom>
          <a:noFill/>
          <a:ln w="22225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257032" y="35112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越境C2C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8394192" y="384048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②の仕組みを外に開き、</a:t>
            </a:r>
            <a:endParaRPr lang="en-US" sz="1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個人・中小の発注を中国へつなぐ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622792" y="4389120"/>
            <a:ext cx="2011680" cy="0"/>
          </a:xfrm>
          <a:prstGeom prst="line">
            <a:avLst/>
          </a:prstGeom>
          <a:noFill/>
          <a:ln w="9525">
            <a:solidFill>
              <a:srgbClr val="2A3563">
                <a:alpha val="6000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257032" y="44439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取引手数料30% ｜ 6ヶ月目〜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8257032" y="46634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42.7億</a:t>
            </a:r>
            <a:pPr algn="ct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5期・年95,200件</a:t>
            </a:r>
            <a:endParaRPr lang="en-US" sz="1800" dirty="0"/>
          </a:p>
        </p:txBody>
      </p:sp>
      <p:sp>
        <p:nvSpPr>
          <p:cNvPr id="49" name="Text 47"/>
          <p:cNvSpPr txBox="1"/>
          <p:nvPr/>
        </p:nvSpPr>
        <p:spPr>
          <a:xfrm>
            <a:off x="4025646" y="2596896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089654" y="2962656"/>
            <a:ext cx="475488" cy="274320"/>
          </a:xfrm>
          <a:prstGeom prst="rightArrow">
            <a:avLst/>
          </a:prstGeom>
          <a:solidFill>
            <a:srgbClr val="3A3A42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559802" y="2596896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外部に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開放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623810" y="2962656"/>
            <a:ext cx="475488" cy="274320"/>
          </a:xfrm>
          <a:prstGeom prst="rightArrow">
            <a:avLst/>
          </a:prstGeom>
          <a:solidFill>
            <a:srgbClr val="3A3A42"/>
          </a:solidFill>
          <a:ln/>
        </p:spPr>
      </p:sp>
      <p:sp>
        <p:nvSpPr>
          <p:cNvPr id="53" name="Shape 51"/>
          <p:cNvSpPr/>
          <p:nvPr/>
        </p:nvSpPr>
        <p:spPr>
          <a:xfrm>
            <a:off x="1051560" y="5230368"/>
            <a:ext cx="10085832" cy="219456"/>
          </a:xfrm>
          <a:prstGeom prst="rect">
            <a:avLst/>
          </a:prstGeom>
          <a:solidFill>
            <a:srgbClr val="55555E"/>
          </a:solidFill>
          <a:ln/>
        </p:spPr>
      </p:sp>
      <p:sp>
        <p:nvSpPr>
          <p:cNvPr id="54" name="Shape 52"/>
          <p:cNvSpPr/>
          <p:nvPr/>
        </p:nvSpPr>
        <p:spPr>
          <a:xfrm>
            <a:off x="914400" y="5468112"/>
            <a:ext cx="10360152" cy="475488"/>
          </a:xfrm>
          <a:prstGeom prst="rect">
            <a:avLst/>
          </a:prstGeom>
          <a:solidFill>
            <a:srgbClr val="3A3A42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914400" y="5468112"/>
            <a:ext cx="10360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EB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土台 ｜ 中国の制作力 × 日本の品質保証 × AX（AIで制作工数を圧縮する）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5期（2031年）の計画値。出所: 事業計画_Ver0.8.xlsx。②は年額契約で継続収益（ARR）になるが、①は案件ごと、③は取引ごとの売上</a:t>
            </a:r>
            <a:endParaRPr lang="en-US" sz="850" dirty="0"/>
          </a:p>
        </p:txBody>
      </p:sp>
      <p:sp>
        <p:nvSpPr>
          <p:cNvPr id="57" name="Text 55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生産体制と3本の柱</dc:title>
  <dc:subject>PptxGenJS Presentation</dc:subject>
  <dc:creator>AI映像制作事業</dc:creator>
  <cp:lastModifiedBy>AI映像制作事業</cp:lastModifiedBy>
  <cp:revision>1</cp:revision>
  <dcterms:created xsi:type="dcterms:W3CDTF">2026-09-24T11:33:38Z</dcterms:created>
  <dcterms:modified xsi:type="dcterms:W3CDTF">2026-09-24T11:33:38Z</dcterms:modified>
</cp:coreProperties>
</file>