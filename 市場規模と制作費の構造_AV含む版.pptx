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企業案件と個人案件 — 発注市場の規模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「誰がお金を払うのか」で見ると、法人と個人では市場の性質がまったく違います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371600"/>
            <a:ext cx="3483864" cy="1371600"/>
          </a:xfrm>
          <a:prstGeom prst="rect">
            <a:avLst/>
          </a:prstGeom>
          <a:solidFill>
            <a:srgbClr val="F4F2E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32104" y="1517904"/>
            <a:ext cx="3008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4,580億円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32104" y="2103120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企業案件｜法人が発注する市場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32104" y="2377440"/>
            <a:ext cx="3008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国内動画制作サービス市場（2025年度予測）。2024年度 4,238億円 → 2027年度 5,400億円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【実測値・矢野経済研究所】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52544" y="1371600"/>
            <a:ext cx="3483864" cy="1371600"/>
          </a:xfrm>
          <a:prstGeom prst="rect">
            <a:avLst/>
          </a:prstGeom>
          <a:solidFill>
            <a:srgbClr val="F4F2E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90288" y="1517904"/>
            <a:ext cx="3008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3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6,800億円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590288" y="2103120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個人案件｜個人が発注する市場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90288" y="2377440"/>
            <a:ext cx="3008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スキルシェア市場全体の2028年予測。動画編集はこのうちの一部にすぎず、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【直接の統計は存在しません】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110728" y="1371600"/>
            <a:ext cx="3483864" cy="1371600"/>
          </a:xfrm>
          <a:prstGeom prst="rect">
            <a:avLst/>
          </a:prstGeom>
          <a:solidFill>
            <a:srgbClr val="F4F2E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48472" y="1517904"/>
            <a:ext cx="3008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2兆894億円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8348472" y="2103120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参考｜個人が「受け取る」市場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348472" y="2377440"/>
            <a:ext cx="3008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クリエイターエコノミー（2024年）。これは発注市場ではなく報酬市場です。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【混同しないこと】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2871216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同じ「1本の動画」でも、取引の形が違います</a:t>
            </a:r>
            <a:endParaRPr lang="en-US" sz="11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163824"/>
          <a:ext cx="1100023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663440"/>
                <a:gridCol w="459943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企業案件（法人が発注）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個人案件（個人が発注）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1件あたり単価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20万〜200万円（制作会社）／代理店経由は100万〜1,000万円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5,000円〜30万円。簡易編集は1,000円台も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発注者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事業会社の広報・マーケ部門／広告代理店／制作会社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YouTuber・配信者・インフルエンサー・個人事業主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取引の場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相見積 → 稟議 → 発注書 → 検収 → 請求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ココナラ・ランサーズ・クラウドワークス（PFが仲介）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与信・請求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必要。ここが個人クリエイターには越えられない壁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原則プラットフォームが代行するため不要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市場の性質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単価が高く件数が少ない。参入障壁が高い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単価が低く件数が多い。初級案件は完全な買い手市場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594360" y="5449824"/>
            <a:ext cx="11000232" cy="786384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1" name="Shape 18"/>
          <p:cNvSpPr/>
          <p:nvPr/>
        </p:nvSpPr>
        <p:spPr>
          <a:xfrm>
            <a:off x="594360" y="5449824"/>
            <a:ext cx="45720" cy="786384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50392" y="557784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個人は「発注者」ではなく「稼ぎ手」です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850392" y="5907024"/>
            <a:ext cx="10543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個人が発注する市場は小さく、統計すら整備されていません。一方、個人が受け取る市場は2兆円規模です。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だから当社は、法人を発注側（P1）、個人を供給側（登録クリエイター）として扱います。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594360" y="6309360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矢野経済研究所（動画コンテンツビジネス調査2025）／ Business Insider Japan（スキルシェア市場2028年予測）／ クリエイターエコノミー協会（2025年版調査）／ ココナラ・ランサーズ公開単価。企業案件は実測値、個人案件は推計値です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AI導入で、制作費はいくらになり、いくら浮くのか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削減が効くのは「人が動く工程」です。撮影・機材・出演で費用の55%。ここが消えると単価の桁が変わります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353312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用途別｜現状の制作費 → AI導入後の制作費 → コストメリット</a:t>
            </a:r>
            <a:endParaRPr lang="en-US" sz="11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91056"/>
          <a:ext cx="1100023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783080"/>
                <a:gridCol w="1783080"/>
                <a:gridCol w="2057400"/>
                <a:gridCol w="868680"/>
                <a:gridCol w="2404872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用途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現状の制作費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AI導入後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コストメリット（削減額）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削減率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AIの効き方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映画（実写）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3〜5億円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2.4〜4億円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▲6,000万〜1億円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▲20%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部分適用のみ。VFX・群衆・背景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アニメ映画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1〜20億円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7,000万〜14億円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▲3,000万〜6億円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▲30%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中割・背景・彩色の自動化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テレビCM（制作費）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1,000万〜1億円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500万〜5,000万円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▲500万〜5,000万円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▲50%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実写×生成AIのハイブリッド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★ 企業VP・会社紹介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50〜150万円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6F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18〜52万円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▲32〜98万円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▲65%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フル生成AIが成立。撮影が消える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★ 展示会・社内イベント映像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20〜100万円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6F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6〜30万円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▲14〜70万円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▲70%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同上。ループ素材は特に効く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★ PR素材・SNS縦型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10〜50万円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6F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2〜10万円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▲8〜40万円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▲80%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量産前提。1本あたりが最も下がる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6E6E7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⚠ アダルトビデオ（AV）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E6E7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70〜150万円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E6E7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13〜28万円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6E6E7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▲57〜122万円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E6E7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▲81%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E6E7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削減率は最大。ただし事業化は不可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94360" y="4224528"/>
            <a:ext cx="11000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★ 下3行がフル生成AIの成立帯です。当社の企業案件（P1）は、この帯を取りに行きます。映画・CMは部分適用にとどまり、桁は変わりません。　⚠ AVは削減率が最大ですが、法規制・決済・ストア審査で取り扱えません（3枚目）。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455371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内訳はこう変わる｜企業VP 1本　100万円 → 35万円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4882896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1600200" y="4882896"/>
            <a:ext cx="569214" cy="274320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600200" y="4882896"/>
            <a:ext cx="5692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169414" y="4882896"/>
            <a:ext cx="1442009" cy="274320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2169414" y="4882896"/>
            <a:ext cx="14420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611423" y="4882896"/>
            <a:ext cx="379476" cy="274320"/>
          </a:xfrm>
          <a:prstGeom prst="rect">
            <a:avLst/>
          </a:prstGeom>
          <a:solidFill>
            <a:srgbClr val="8C1F26"/>
          </a:solidFill>
          <a:ln/>
        </p:spPr>
      </p:sp>
      <p:sp>
        <p:nvSpPr>
          <p:cNvPr id="16" name="Shape 13"/>
          <p:cNvSpPr/>
          <p:nvPr/>
        </p:nvSpPr>
        <p:spPr>
          <a:xfrm>
            <a:off x="3990899" y="4882896"/>
            <a:ext cx="265633" cy="274320"/>
          </a:xfrm>
          <a:prstGeom prst="rect">
            <a:avLst/>
          </a:prstGeom>
          <a:solidFill>
            <a:srgbClr val="D9601A"/>
          </a:solidFill>
          <a:ln/>
        </p:spPr>
      </p:sp>
      <p:sp>
        <p:nvSpPr>
          <p:cNvPr id="17" name="Shape 14"/>
          <p:cNvSpPr/>
          <p:nvPr/>
        </p:nvSpPr>
        <p:spPr>
          <a:xfrm>
            <a:off x="4256532" y="4882896"/>
            <a:ext cx="758952" cy="274320"/>
          </a:xfrm>
          <a:prstGeom prst="rect">
            <a:avLst/>
          </a:prstGeom>
          <a:solidFill>
            <a:srgbClr val="1F6F63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256532" y="4882896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015484" y="4882896"/>
            <a:ext cx="379476" cy="274320"/>
          </a:xfrm>
          <a:prstGeom prst="rect">
            <a:avLst/>
          </a:prstGeom>
          <a:solidFill>
            <a:srgbClr val="6E6E76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468112" y="48828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100万円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594360" y="5266944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AI後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1600200" y="5266944"/>
            <a:ext cx="284607" cy="274320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23" name="Shape 20"/>
          <p:cNvSpPr/>
          <p:nvPr/>
        </p:nvSpPr>
        <p:spPr>
          <a:xfrm>
            <a:off x="1884807" y="5266944"/>
            <a:ext cx="288402" cy="274320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4" name="Shape 21"/>
          <p:cNvSpPr/>
          <p:nvPr/>
        </p:nvSpPr>
        <p:spPr>
          <a:xfrm>
            <a:off x="2173209" y="5266944"/>
            <a:ext cx="75895" cy="274320"/>
          </a:xfrm>
          <a:prstGeom prst="rect">
            <a:avLst/>
          </a:prstGeom>
          <a:solidFill>
            <a:srgbClr val="8C1F26"/>
          </a:solidFill>
          <a:ln/>
        </p:spPr>
      </p:sp>
      <p:sp>
        <p:nvSpPr>
          <p:cNvPr id="25" name="Shape 22"/>
          <p:cNvSpPr/>
          <p:nvPr/>
        </p:nvSpPr>
        <p:spPr>
          <a:xfrm>
            <a:off x="2249104" y="5266944"/>
            <a:ext cx="26563" cy="274320"/>
          </a:xfrm>
          <a:prstGeom prst="rect">
            <a:avLst/>
          </a:prstGeom>
          <a:solidFill>
            <a:srgbClr val="D9601A"/>
          </a:solidFill>
          <a:ln/>
        </p:spPr>
      </p:sp>
      <p:sp>
        <p:nvSpPr>
          <p:cNvPr id="26" name="Shape 23"/>
          <p:cNvSpPr/>
          <p:nvPr/>
        </p:nvSpPr>
        <p:spPr>
          <a:xfrm>
            <a:off x="2275667" y="5266944"/>
            <a:ext cx="379476" cy="274320"/>
          </a:xfrm>
          <a:prstGeom prst="rect">
            <a:avLst/>
          </a:prstGeom>
          <a:solidFill>
            <a:srgbClr val="1F6F63"/>
          </a:solidFill>
          <a:ln/>
        </p:spPr>
      </p:sp>
      <p:sp>
        <p:nvSpPr>
          <p:cNvPr id="27" name="Shape 24"/>
          <p:cNvSpPr/>
          <p:nvPr/>
        </p:nvSpPr>
        <p:spPr>
          <a:xfrm>
            <a:off x="2655143" y="5266944"/>
            <a:ext cx="265633" cy="274320"/>
          </a:xfrm>
          <a:prstGeom prst="rect">
            <a:avLst/>
          </a:prstGeom>
          <a:solidFill>
            <a:srgbClr val="6E6E76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2993928" y="52669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6F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35万円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94360" y="5669280"/>
            <a:ext cx="118872" cy="118872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768096" y="560527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企画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1490472" y="5669280"/>
            <a:ext cx="118872" cy="118872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1664208" y="560527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撮影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2386584" y="5669280"/>
            <a:ext cx="118872" cy="118872"/>
          </a:xfrm>
          <a:prstGeom prst="rect">
            <a:avLst/>
          </a:prstGeom>
          <a:solidFill>
            <a:srgbClr val="8C1F26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2560320" y="560527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機材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3282696" y="5669280"/>
            <a:ext cx="118872" cy="118872"/>
          </a:xfrm>
          <a:prstGeom prst="rect">
            <a:avLst/>
          </a:prstGeom>
          <a:solidFill>
            <a:srgbClr val="D9601A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3456432" y="560527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出演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4178808" y="5669280"/>
            <a:ext cx="118872" cy="118872"/>
          </a:xfrm>
          <a:prstGeom prst="rect">
            <a:avLst/>
          </a:prstGeom>
          <a:solidFill>
            <a:srgbClr val="1F6F63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4352544" y="560527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編集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074920" y="5669280"/>
            <a:ext cx="118872" cy="118872"/>
          </a:xfrm>
          <a:prstGeom prst="rect">
            <a:avLst/>
          </a:prstGeom>
          <a:solidFill>
            <a:srgbClr val="6E6E76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5248656" y="560527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諸経費</a:t>
            </a:r>
            <a:endParaRPr lang="en-US" sz="800" dirty="0"/>
          </a:p>
        </p:txBody>
      </p:sp>
      <p:sp>
        <p:nvSpPr>
          <p:cNvPr id="41" name="Text 38"/>
          <p:cNvSpPr txBox="1"/>
          <p:nvPr/>
        </p:nvSpPr>
        <p:spPr>
          <a:xfrm>
            <a:off x="594360" y="5888736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消えるのは 撮影38＋機材10＋出演7＝55%。編集と諸経費は残ります。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6263640" y="4553712"/>
            <a:ext cx="5330952" cy="1572768"/>
          </a:xfrm>
          <a:prstGeom prst="rect">
            <a:avLst/>
          </a:prstGeom>
          <a:solidFill>
            <a:srgbClr val="F4F2EF"/>
          </a:solidFill>
          <a:ln/>
        </p:spPr>
      </p:sp>
      <p:sp>
        <p:nvSpPr>
          <p:cNvPr id="43" name="Shape 40"/>
          <p:cNvSpPr/>
          <p:nvPr/>
        </p:nvSpPr>
        <p:spPr>
          <a:xfrm>
            <a:off x="6483096" y="4809744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6702552" y="4718304"/>
            <a:ext cx="4672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実際に出ている削減幅（実例）</a:t>
            </a:r>
            <a:endParaRPr lang="en-US" sz="1250" dirty="0"/>
          </a:p>
        </p:txBody>
      </p:sp>
      <p:sp>
        <p:nvSpPr>
          <p:cNvPr id="45" name="Text 42"/>
          <p:cNvSpPr txBox="1"/>
          <p:nvPr/>
        </p:nvSpPr>
        <p:spPr>
          <a:xfrm>
            <a:off x="6702552" y="5065776"/>
            <a:ext cx="467258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大手保険のWeb広告動画　制作コスト ▲30〜50%／期間 ▲40%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Amazon Nova活用の広告　費用 ▲70%・効果 8倍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サイバーエージェント　1本 数千万円・3ヶ月 → 3本 300万円・1.5〜2週間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映画の群衆シーン　9,000万円 → 150万円（▲98%）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米国の企業動画　1分あたり 約63万円 → 約38万円（▲40%・実測）</a:t>
            </a:r>
            <a:endParaRPr lang="en-US" sz="950" dirty="0"/>
          </a:p>
        </p:txBody>
      </p:sp>
      <p:sp>
        <p:nvSpPr>
          <p:cNvPr id="46" name="Text 43"/>
          <p:cNvSpPr txBox="1"/>
          <p:nvPr/>
        </p:nvSpPr>
        <p:spPr>
          <a:xfrm>
            <a:off x="594360" y="6309360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動画幹事・ムビサク・デジタルドロップ（制作費相場／撮影費は制作費の35〜40%）／ ムービーインパクト・各社プレスリリース（AI導入の削減事例）／ Vidico（米国の1分単価）。用途別の削減率は、工程別の削減率（企画▲50%・撮影▲80%・機材▲80%・出演▲90%・編集▲50%・諸経費▲30%）を費用構成に当てた当社試算です</a:t>
            </a:r>
            <a:endParaRPr lang="en-US" sz="800" dirty="0"/>
          </a:p>
        </p:txBody>
      </p:sp>
      <p:sp>
        <p:nvSpPr>
          <p:cNvPr id="47" name="Text 44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参考｜アダルトビデオ（AV）— 削減率は最大、しかし取り扱えません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出演料が費用の57%を占めるため構造的にAIが最も効きます。事業化を阻むのは技術ではなく、決済とストア審査です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371600"/>
            <a:ext cx="3483864" cy="1316736"/>
          </a:xfrm>
          <a:prstGeom prst="rect">
            <a:avLst/>
          </a:prstGeom>
          <a:solidFill>
            <a:srgbClr val="F4F2E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32104" y="1517904"/>
            <a:ext cx="3008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約500億円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32104" y="2103120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市場規模（縮小傾向）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32104" y="2377440"/>
            <a:ext cx="3008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上位3社で約8割を占有。DMM 129億円（2013年7月期）／SOD 143億円（2014年）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52544" y="1371600"/>
            <a:ext cx="3483864" cy="1316736"/>
          </a:xfrm>
          <a:prstGeom prst="rect">
            <a:avLst/>
          </a:prstGeom>
          <a:solidFill>
            <a:srgbClr val="F4F2E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90288" y="1517904"/>
            <a:ext cx="3008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57%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590288" y="2103120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出演料が費用に占める比率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90288" y="2377440"/>
            <a:ext cx="3008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企業VPの7%に対して 8.2倍。ここがAIで消えるため削減率が最大になります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110728" y="1371600"/>
            <a:ext cx="3483864" cy="1316736"/>
          </a:xfrm>
          <a:prstGeom prst="rect">
            <a:avLst/>
          </a:prstGeom>
          <a:solidFill>
            <a:srgbClr val="F4F2E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48472" y="1517904"/>
            <a:ext cx="3008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6F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▲81%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8348472" y="2103120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AI導入時の削減率（試算）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348472" y="2377440"/>
            <a:ext cx="3008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1本 70万円 → 13万円。コストメリット 57万円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288950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1本あたりの制作費｜実例ベース</a:t>
            </a:r>
            <a:endParaRPr lang="en-US" sz="11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182112"/>
          <a:ext cx="539496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234440"/>
                <a:gridCol w="1298448"/>
                <a:gridCol w="117043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費目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DVD時代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配信のみ（現在）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AI導入後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出演料（女優ギャラ）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40万円（36%）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40万円（57%）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6F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4万円（▲90%）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現場製作費・監督料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30万円（27%）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30万円（43%）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6F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9万円（▲70%）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DVDプレス・印刷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40万円（36%）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E6E7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— 配信化で消滅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E6E7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—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合計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110万円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70万円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6F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13万円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Text 17"/>
          <p:cNvSpPr txBox="1"/>
          <p:nvPr/>
        </p:nvSpPr>
        <p:spPr>
          <a:xfrm>
            <a:off x="594360" y="523036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★ 企業VPは出演料が7%、AVは57%。同じAIを当てても、削減率が ▲65% と ▲81% に分かれる理由はここです。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263640" y="2889504"/>
            <a:ext cx="5330952" cy="2395728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2" name="Shape 19"/>
          <p:cNvSpPr/>
          <p:nvPr/>
        </p:nvSpPr>
        <p:spPr>
          <a:xfrm>
            <a:off x="6263640" y="2889504"/>
            <a:ext cx="45720" cy="2395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519672" y="3017520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それでも、当社は取り扱えません（理由は4つ）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6519672" y="3346704"/>
            <a:ext cx="4873752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AV出演被害防止・救済法（2022年6月成立）— 出演契約の無条件解除、公表の差止請求、事業者への罰則。実写は規制が重い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刑法175条（わいせつ物頒布）— 2025年4月、AI生成わいせつ物の販売で摘発事例。AI生成でも適用されます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決済が止まる — カード会社・決済代行の規約は法令より広くアダルトを禁止。停止はそのまま事業停止です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生成AI側も禁止 — Stability AIは2026年7月31日から、全サービスで性的コンテンツの生成を禁止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社PFは「コイン課金（資金決済法）＋カード決済＋アプリストア審査」の3つが同時にかかります。どれか1つでも止まれば事業が止まるため、P2（視聴課金）の対象外、P1（企業案件）でも受注対象外とします。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263640" y="5394960"/>
            <a:ext cx="5330952" cy="713232"/>
          </a:xfrm>
          <a:prstGeom prst="rect">
            <a:avLst/>
          </a:prstGeom>
          <a:solidFill>
            <a:srgbClr val="F4F2EF"/>
          </a:solidFill>
          <a:ln/>
        </p:spPr>
      </p:sp>
      <p:sp>
        <p:nvSpPr>
          <p:cNvPr id="26" name="Shape 23"/>
          <p:cNvSpPr/>
          <p:nvPr/>
        </p:nvSpPr>
        <p:spPr>
          <a:xfrm>
            <a:off x="6483096" y="5650992"/>
            <a:ext cx="109728" cy="109728"/>
          </a:xfrm>
          <a:prstGeom prst="rect">
            <a:avLst/>
          </a:prstGeom>
          <a:solidFill>
            <a:srgbClr val="6E6E76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2552" y="5559552"/>
            <a:ext cx="4672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参考｜AI生成アダルトの実態</a:t>
            </a:r>
            <a:endParaRPr lang="en-US" sz="1250" dirty="0"/>
          </a:p>
        </p:txBody>
      </p:sp>
      <p:sp>
        <p:nvSpPr>
          <p:cNvPr id="28" name="Text 25"/>
          <p:cNvSpPr txBox="1"/>
          <p:nvPr/>
        </p:nvSpPr>
        <p:spPr>
          <a:xfrm>
            <a:off x="6702552" y="5907024"/>
            <a:ext cx="4672584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DLsite・FANZAのAI専用カテゴリは作品数が増加。ただし収益は月数千〜数万円が中心で、継続者で数万〜数十万円。FANZA手数料 約40%、DLsiteは月2作品の投稿制限。FANZAは2025年夏以降、露出が大幅に低下しています。</a:t>
            </a:r>
            <a:endParaRPr lang="en-US" sz="850" dirty="0"/>
          </a:p>
        </p:txBody>
      </p:sp>
      <p:sp>
        <p:nvSpPr>
          <p:cNvPr id="29" name="Text 26"/>
          <p:cNvSpPr txBox="1"/>
          <p:nvPr/>
        </p:nvSpPr>
        <p:spPr>
          <a:xfrm>
            <a:off x="594360" y="6309360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業界解説メディア（市場規模・制作費の実例）／ 政府広報オンライン・内閣府男女共同参画局（AV出演被害防止・救済法）／ Yahoo!ニュース エキスパート（刑法175条の摘発事例）／ Ledge.ai（Stability AI 規約改定）／ DLsite・FANZA 公開条件。制作費は実例からの推計です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市場規模と制作費の構造（AV含む版）</dc:title>
  <dc:subject>PptxGenJS Presentation</dc:subject>
  <dc:creator>AI映像プラットフォーム事業</dc:creator>
  <cp:lastModifiedBy>AI映像プラットフォーム事業</cp:lastModifiedBy>
  <cp:revision>1</cp:revision>
  <dcterms:created xsi:type="dcterms:W3CDTF">2026-09-22T08:27:19Z</dcterms:created>
  <dcterms:modified xsi:type="dcterms:W3CDTF">2026-09-22T08:27:19Z</dcterms:modified>
</cp:coreProperties>
</file>