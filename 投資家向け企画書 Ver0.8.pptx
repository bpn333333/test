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6161A"/>
                </a:solidFill>
                <a:latin typeface="Yu Gothic"/>
                <a:ea typeface="Yu Gothic"/>
                <a:cs typeface="Yu Gothic"/>
              </a:defRPr>
            </a:pPr>
            <a:r>
              <a:rPr sz="1100" b="0" i="0" u="none" strike="noStrike">
                <a:solidFill>
                  <a:srgbClr val="16161A"/>
                </a:solidFill>
                <a:latin typeface="Yu Gothic"/>
                <a:ea typeface="Yu Gothic"/>
                <a:cs typeface="Yu Gothic"/>
              </a:rPr>
              <a:t>売上高と営業利益の推移（単位 百万円・計画値）</a:t>
            </a:r>
          </a:p>
        </c:rich>
      </c:tx>
      <c:layout/>
      <c:overlay val="0"/>
    </c:title>
    <c:autoTitleDeleted val="0"/>
    <c:plotArea>
      <c:layout/>
      <c:barChart>
        <c:barDir val="col"/>
        <c:grouping val="clustered"/>
        <c:varyColors val="0"/>
        <c:ser>
          <c:idx val="0"/>
          <c:order val="0"/>
          <c:tx>
            <c:strRef>
              <c:f>Sheet1!$B$1</c:f>
              <c:strCache>
                <c:ptCount val="1"/>
                <c:pt idx="0">
                  <c:v>売上高</c:v>
                </c:pt>
              </c:strCache>
            </c:strRef>
          </c:tx>
          <c:spPr>
            <a:solidFill>
              <a:srgbClr val="2A3563"/>
            </a:solidFill>
            <a:effectLst/>
          </c:spPr>
          <c:invertIfNegative val="0"/>
          <c:dLbls>
            <c:numFmt formatCode="#,##0" sourceLinked="0"/>
            <c:txPr>
              <a:bodyPr/>
              <a:lstStyle/>
              <a:p>
                <a:pPr>
                  <a:defRPr b="0" i="0" strike="noStrike" sz="800" u="none">
                    <a:solidFill>
                      <a:srgbClr val="3A3A42"/>
                    </a:solidFill>
                    <a:latin typeface="Yu Gothic"/>
                    <a:ea typeface="Yu Gothic"/>
                    <a:cs typeface="Yu Gothic"/>
                  </a:defRPr>
                </a:pPr>
              </a:p>
            </c:txPr>
            <c:showLegendKey val="0"/>
            <c:showVal val="1"/>
            <c:showCatName val="0"/>
            <c:showSerName val="0"/>
            <c:showPercent val="0"/>
            <c:showBubbleSize val="0"/>
            <c:showLeaderLines val="0"/>
          </c:dLbls>
          <c:cat>
            <c:multiLvlStrRef>
              <c:f>Sheet1!$A$2:$A$6</c:f>
              <c:multiLvlStrCache>
                <c:ptCount val="5"/>
                <c:lvl>
                  <c:pt idx="0">
                    <c:v>1期 2027/9</c:v>
                  </c:pt>
                  <c:pt idx="1">
                    <c:v>2期 2028/9</c:v>
                  </c:pt>
                  <c:pt idx="2">
                    <c:v>3期 2029/9</c:v>
                  </c:pt>
                  <c:pt idx="3">
                    <c:v>4期 2030/9</c:v>
                  </c:pt>
                  <c:pt idx="4">
                    <c:v>5期 2031/9</c:v>
                  </c:pt>
                </c:lvl>
              </c:multiLvlStrCache>
            </c:multiLvlStrRef>
          </c:cat>
          <c:val>
            <c:numRef>
              <c:f>Sheet1!$B$2:$B$6</c:f>
              <c:numCache>
                <c:formatCode>General</c:formatCode>
                <c:ptCount val="5"/>
                <c:pt idx="0">
                  <c:v>45</c:v>
                </c:pt>
                <c:pt idx="1">
                  <c:v>350</c:v>
                </c:pt>
                <c:pt idx="2">
                  <c:v>2386</c:v>
                </c:pt>
                <c:pt idx="3">
                  <c:v>6745</c:v>
                </c:pt>
                <c:pt idx="4">
                  <c:v>12005</c:v>
                </c:pt>
              </c:numCache>
            </c:numRef>
          </c:val>
        </c:ser>
        <c:ser>
          <c:idx val="1"/>
          <c:order val="1"/>
          <c:tx>
            <c:strRef>
              <c:f>Sheet1!$C$1</c:f>
              <c:strCache>
                <c:ptCount val="1"/>
                <c:pt idx="0">
                  <c:v>営業利益</c:v>
                </c:pt>
              </c:strCache>
            </c:strRef>
          </c:tx>
          <c:spPr>
            <a:solidFill>
              <a:srgbClr val="B3121B"/>
            </a:solidFill>
            <a:effectLst/>
          </c:spPr>
          <c:invertIfNegative val="0"/>
          <c:dLbls>
            <c:numFmt formatCode="#,##0" sourceLinked="0"/>
            <c:txPr>
              <a:bodyPr/>
              <a:lstStyle/>
              <a:p>
                <a:pPr>
                  <a:defRPr b="0" i="0" strike="noStrike" sz="800" u="none">
                    <a:solidFill>
                      <a:srgbClr val="3A3A42"/>
                    </a:solidFill>
                    <a:latin typeface="Yu Gothic"/>
                    <a:ea typeface="Yu Gothic"/>
                    <a:cs typeface="Yu Gothic"/>
                  </a:defRPr>
                </a:pPr>
              </a:p>
            </c:txPr>
            <c:showLegendKey val="0"/>
            <c:showVal val="1"/>
            <c:showCatName val="0"/>
            <c:showSerName val="0"/>
            <c:showPercent val="0"/>
            <c:showBubbleSize val="0"/>
            <c:showLeaderLines val="0"/>
          </c:dLbls>
          <c:cat>
            <c:multiLvlStrRef>
              <c:f>Sheet1!$A$2:$A$6</c:f>
              <c:multiLvlStrCache>
                <c:ptCount val="5"/>
                <c:lvl>
                  <c:pt idx="0">
                    <c:v>1期 2027/9</c:v>
                  </c:pt>
                  <c:pt idx="1">
                    <c:v>2期 2028/9</c:v>
                  </c:pt>
                  <c:pt idx="2">
                    <c:v>3期 2029/9</c:v>
                  </c:pt>
                  <c:pt idx="3">
                    <c:v>4期 2030/9</c:v>
                  </c:pt>
                  <c:pt idx="4">
                    <c:v>5期 2031/9</c:v>
                  </c:pt>
                </c:lvl>
              </c:multiLvlStrCache>
            </c:multiLvlStrRef>
          </c:cat>
          <c:val>
            <c:numRef>
              <c:f>Sheet1!$C$2:$C$6</c:f>
              <c:numCache>
                <c:formatCode>General</c:formatCode>
                <c:ptCount val="5"/>
                <c:pt idx="0">
                  <c:v>-96</c:v>
                </c:pt>
                <c:pt idx="1">
                  <c:v>-125</c:v>
                </c:pt>
                <c:pt idx="2">
                  <c:v>546</c:v>
                </c:pt>
                <c:pt idx="3">
                  <c:v>2339</c:v>
                </c:pt>
                <c:pt idx="4">
                  <c:v>4536</c:v>
                </c:pt>
              </c:numCache>
            </c:numRef>
          </c:val>
        </c:ser>
        <c:dLbls>
          <c:numFmt formatCode="#,##0" sourceLinked="0"/>
          <c:txPr>
            <a:bodyPr/>
            <a:lstStyle/>
            <a:p>
              <a:pPr>
                <a:defRPr b="0" i="0" strike="noStrike" sz="800" u="none">
                  <a:solidFill>
                    <a:srgbClr val="3A3A42"/>
                  </a:solidFill>
                  <a:latin typeface="Yu Gothic"/>
                  <a:ea typeface="Yu Gothic"/>
                  <a:cs typeface="Yu Gothic"/>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E6E76"/>
                </a:solidFill>
                <a:latin typeface="Yu Gothic"/>
                <a:ea typeface="Yu Gothic"/>
                <a:cs typeface="Yu Gothic"/>
              </a:defRPr>
            </a:pPr>
            <a:endParaRPr lang="en-US"/>
          </a:p>
        </c:txPr>
        <c:crossAx val="2094734552"/>
        <c:crosses val="autoZero"/>
        <c:auto val="1"/>
        <c:lblAlgn val="ctr"/>
        <c:noMultiLvlLbl val="1"/>
      </c:catAx>
      <c:valAx>
        <c:axId val="2094734552"/>
        <c:scaling>
          <c:orientation val="minMax"/>
          <c:max val="12600"/>
          <c:min val="-400"/>
        </c:scaling>
        <c:delete val="0"/>
        <c:axPos val="l"/>
        <c:majorGridlines>
          <c:spPr>
            <a:ln w="6350" cap="flat">
              <a:solidFill>
                <a:srgbClr val="DCD9D4"/>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E6E76"/>
                </a:solidFill>
                <a:latin typeface="Yu Gothic"/>
                <a:ea typeface="Yu Gothic"/>
                <a:cs typeface="Yu Gothic"/>
              </a:defRPr>
            </a:pPr>
            <a:endParaRPr lang="en-US"/>
          </a:p>
        </c:txPr>
        <c:crossAx val="2094734554"/>
        <c:crosses val="autoZero"/>
        <c:crossBetween val="between"/>
      </c:valAx>
      <c:spPr>
        <a:noFill/>
        <a:ln>
          <a:noFill/>
        </a:ln>
        <a:effectLst/>
      </c:spPr>
    </c:plotArea>
    <c:legend>
      <c:legendPos val="b"/>
      <c:overlay val="0"/>
      <c:txPr>
        <a:bodyPr/>
        <a:lstStyle/>
        <a:p>
          <a:pPr>
            <a:defRPr sz="900">
              <a:latin typeface="Yu Gothic"/>
              <a:ea typeface="Yu Gothic"/>
              <a:cs typeface="Yu Gothic"/>
              <a:cs typeface="Yu Gothic"/>
            </a:defRPr>
          </a:pPr>
          <a:endParaRPr lang="en-US"/>
        </a:p>
      </c:txPr>
    </c:legend>
    <c:plotVisOnly val="1"/>
    <c:dispBlanksAs val="span"/>
  </c:chart>
  <c:spPr>
    <a:noFill/>
    <a:ln>
      <a:noFill/>
    </a:ln>
    <a:effectLst/>
  </c:spPr>
  <c:externalData r:id="rId1">
    <c:autoUpdate val="0"/>
  </c:externalData>
</c:chartSpace>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s>
</file>

<file path=ppt/slides/_rels/slide16.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s>
</file>

<file path=ppt/slides/_rels/slide22.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Relationships xmlns="http://schemas.openxmlformats.org/package/2006/relationships"><Relationship Id="rId1" Type="http://schemas.openxmlformats.org/officeDocument/2006/relationships/image" Target="../media/image-28-1.jpg"/><Relationship Id="rId2" Type="http://schemas.openxmlformats.org/officeDocument/2006/relationships/image" Target="../media/image-28-2.jpg"/><Relationship Id="rId3"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D9601A"/>
        </a:solidFill>
      </p:bgPr>
    </p:bg>
    <p:spTree>
      <p:nvGrpSpPr>
        <p:cNvPr id="1" name=""/>
        <p:cNvGrpSpPr/>
        <p:nvPr/>
      </p:nvGrpSpPr>
      <p:grpSpPr>
        <a:xfrm>
          <a:off x="0" y="0"/>
          <a:ext cx="0" cy="0"/>
          <a:chOff x="0" y="0"/>
          <a:chExt cx="0" cy="0"/>
        </a:xfrm>
      </p:grpSpPr>
      <p:pic>
        <p:nvPicPr>
          <p:cNvPr id="2" name="Image 0" descr="assets/image5.jpg"/>
          <p:cNvPicPr>
            <a:picLocks noChangeAspect="1"/>
          </p:cNvPicPr>
          <p:nvPr/>
        </p:nvPicPr>
        <p:blipFill>
          <a:blip r:embed="rId1"/>
          <a:stretch>
            <a:fillRect/>
          </a:stretch>
        </p:blipFill>
        <p:spPr>
          <a:xfrm>
            <a:off x="-36576" y="0"/>
            <a:ext cx="12289536" cy="6858000"/>
          </a:xfrm>
          <a:prstGeom prst="rect">
            <a:avLst/>
          </a:prstGeom>
        </p:spPr>
      </p:pic>
      <p:sp>
        <p:nvSpPr>
          <p:cNvPr id="3" name="Shape 0"/>
          <p:cNvSpPr/>
          <p:nvPr/>
        </p:nvSpPr>
        <p:spPr>
          <a:xfrm>
            <a:off x="0" y="0"/>
            <a:ext cx="12191695" cy="6858000"/>
          </a:xfrm>
          <a:prstGeom prst="rect">
            <a:avLst/>
          </a:prstGeom>
          <a:solidFill>
            <a:srgbClr val="000000">
              <a:alpha val="48000"/>
            </a:srgbClr>
          </a:solidFill>
          <a:ln/>
        </p:spPr>
      </p:sp>
      <p:sp>
        <p:nvSpPr>
          <p:cNvPr id="4" name="Shape 1"/>
          <p:cNvSpPr/>
          <p:nvPr/>
        </p:nvSpPr>
        <p:spPr>
          <a:xfrm>
            <a:off x="594360" y="1874520"/>
            <a:ext cx="566928" cy="566928"/>
          </a:xfrm>
          <a:prstGeom prst="rect">
            <a:avLst/>
          </a:prstGeom>
          <a:solidFill>
            <a:srgbClr val="FFFFFF"/>
          </a:solidFill>
          <a:ln/>
        </p:spPr>
      </p:sp>
      <p:sp>
        <p:nvSpPr>
          <p:cNvPr id="5" name="Shape 2"/>
          <p:cNvSpPr/>
          <p:nvPr/>
        </p:nvSpPr>
        <p:spPr>
          <a:xfrm>
            <a:off x="594360" y="2578608"/>
            <a:ext cx="10881360" cy="1380744"/>
          </a:xfrm>
          <a:prstGeom prst="rect">
            <a:avLst/>
          </a:prstGeom>
          <a:solidFill>
            <a:srgbClr val="FF9900"/>
          </a:solidFill>
          <a:ln/>
        </p:spPr>
      </p:sp>
      <p:sp>
        <p:nvSpPr>
          <p:cNvPr id="6" name="Text 3"/>
          <p:cNvSpPr txBox="1"/>
          <p:nvPr/>
        </p:nvSpPr>
        <p:spPr>
          <a:xfrm>
            <a:off x="850392" y="2578608"/>
            <a:ext cx="10625328" cy="1380744"/>
          </a:xfrm>
          <a:prstGeom prst="rect">
            <a:avLst/>
          </a:prstGeom>
          <a:noFill/>
          <a:ln/>
        </p:spPr>
        <p:txBody>
          <a:bodyPr wrap="square" lIns="0" tIns="0" rIns="0" bIns="0" rtlCol="0" anchor="ctr"/>
          <a:lstStyle/>
          <a:p>
            <a:pPr indent="0" marL="0">
              <a:buNone/>
            </a:pPr>
            <a:r>
              <a:rPr lang="en-US" sz="4000" b="1" dirty="0">
                <a:solidFill>
                  <a:srgbClr val="FFFFFF"/>
                </a:solidFill>
                <a:latin typeface="Yu Gothic" pitchFamily="34" charset="0"/>
                <a:ea typeface="Yu Gothic" pitchFamily="34" charset="-122"/>
                <a:cs typeface="Yu Gothic" pitchFamily="34" charset="-120"/>
              </a:rPr>
              <a:t>次世代AI映像制作会社の設立投資案件</a:t>
            </a:r>
            <a:endParaRPr lang="en-US" sz="4000" dirty="0"/>
          </a:p>
        </p:txBody>
      </p:sp>
      <p:sp>
        <p:nvSpPr>
          <p:cNvPr id="7" name="Text 4"/>
          <p:cNvSpPr txBox="1"/>
          <p:nvPr/>
        </p:nvSpPr>
        <p:spPr>
          <a:xfrm>
            <a:off x="594360" y="4215384"/>
            <a:ext cx="10881360" cy="457200"/>
          </a:xfrm>
          <a:prstGeom prst="rect">
            <a:avLst/>
          </a:prstGeom>
          <a:noFill/>
          <a:ln/>
        </p:spPr>
        <p:txBody>
          <a:bodyPr wrap="square" lIns="0" tIns="0" rIns="0" bIns="0" rtlCol="0" anchor="ctr"/>
          <a:lstStyle/>
          <a:p>
            <a:pPr indent="0" marL="0">
              <a:buNone/>
            </a:pPr>
            <a:r>
              <a:rPr lang="en-US" sz="1500" dirty="0">
                <a:solidFill>
                  <a:srgbClr val="EDEBE7"/>
                </a:solidFill>
                <a:latin typeface="Yu Gothic" pitchFamily="34" charset="0"/>
                <a:ea typeface="Yu Gothic" pitchFamily="34" charset="-122"/>
                <a:cs typeface="Yu Gothic" pitchFamily="34" charset="-120"/>
              </a:rPr>
              <a:t>東アジアを21世紀のハリウッドにするためのAI映像制作ハブとするAI映像制作会社のシード投資のご案内</a:t>
            </a:r>
            <a:endParaRPr lang="en-US" sz="1500" dirty="0"/>
          </a:p>
        </p:txBody>
      </p:sp>
      <p:sp>
        <p:nvSpPr>
          <p:cNvPr id="8" name="Text 5"/>
          <p:cNvSpPr txBox="1"/>
          <p:nvPr/>
        </p:nvSpPr>
        <p:spPr>
          <a:xfrm>
            <a:off x="594360" y="5925312"/>
            <a:ext cx="6400800" cy="329184"/>
          </a:xfrm>
          <a:prstGeom prst="rect">
            <a:avLst/>
          </a:prstGeom>
          <a:noFill/>
          <a:ln/>
        </p:spPr>
        <p:txBody>
          <a:bodyPr wrap="square" lIns="0" tIns="0" rIns="0" bIns="0" rtlCol="0" anchor="ctr"/>
          <a:lstStyle/>
          <a:p>
            <a:pPr indent="0" marL="0">
              <a:buNone/>
            </a:pPr>
            <a:r>
              <a:rPr lang="en-US" sz="1200" dirty="0">
                <a:solidFill>
                  <a:srgbClr val="FBE2D2"/>
                </a:solidFill>
                <a:latin typeface="Yu Gothic" pitchFamily="34" charset="0"/>
                <a:ea typeface="Yu Gothic" pitchFamily="34" charset="-122"/>
                <a:cs typeface="Yu Gothic" pitchFamily="34" charset="-120"/>
              </a:rPr>
              <a:t>投資家向け企画書  ／  2026年9月</a:t>
            </a:r>
            <a:endParaRPr lang="en-US" sz="1200" dirty="0"/>
          </a:p>
        </p:txBody>
      </p:sp>
      <p:sp>
        <p:nvSpPr>
          <p:cNvPr id="9" name="Text 6"/>
          <p:cNvSpPr txBox="1"/>
          <p:nvPr/>
        </p:nvSpPr>
        <p:spPr>
          <a:xfrm>
            <a:off x="594360" y="6254496"/>
            <a:ext cx="6400800" cy="329184"/>
          </a:xfrm>
          <a:prstGeom prst="rect">
            <a:avLst/>
          </a:prstGeom>
          <a:noFill/>
          <a:ln/>
        </p:spPr>
        <p:txBody>
          <a:bodyPr wrap="square" lIns="0" tIns="0" rIns="0" bIns="0" rtlCol="0" anchor="ctr"/>
          <a:lstStyle/>
          <a:p>
            <a:pPr indent="0" marL="0">
              <a:buNone/>
            </a:pPr>
            <a:r>
              <a:rPr lang="en-US" sz="1200" dirty="0">
                <a:solidFill>
                  <a:srgbClr val="FBE2D2"/>
                </a:solidFill>
                <a:latin typeface="Yu Gothic" pitchFamily="34" charset="0"/>
                <a:ea typeface="Yu Gothic" pitchFamily="34" charset="-122"/>
                <a:cs typeface="Yu Gothic" pitchFamily="34" charset="-120"/>
              </a:rPr>
              <a:t>新設法人（株式会社・仮称）</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402336"/>
            <a:ext cx="475488" cy="475488"/>
          </a:xfrm>
          <a:prstGeom prst="rect">
            <a:avLst/>
          </a:prstGeom>
          <a:solidFill>
            <a:srgbClr val="B3121B"/>
          </a:solidFill>
          <a:ln/>
        </p:spPr>
      </p:sp>
      <p:sp>
        <p:nvSpPr>
          <p:cNvPr id="3" name="Text 1"/>
          <p:cNvSpPr txBox="1"/>
          <p:nvPr/>
        </p:nvSpPr>
        <p:spPr>
          <a:xfrm>
            <a:off x="594360" y="40233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0</a:t>
            </a:r>
            <a:endParaRPr lang="en-US" sz="1700" dirty="0"/>
          </a:p>
        </p:txBody>
      </p:sp>
      <p:sp>
        <p:nvSpPr>
          <p:cNvPr id="4" name="Text 2"/>
          <p:cNvSpPr txBox="1"/>
          <p:nvPr/>
        </p:nvSpPr>
        <p:spPr>
          <a:xfrm>
            <a:off x="1207008" y="365760"/>
            <a:ext cx="10387584" cy="548640"/>
          </a:xfrm>
          <a:prstGeom prst="rect">
            <a:avLst/>
          </a:prstGeom>
          <a:noFill/>
          <a:ln/>
        </p:spPr>
        <p:txBody>
          <a:bodyPr wrap="square" lIns="0" tIns="0" rIns="0" bIns="0" rtlCol="0" anchor="ctr"/>
          <a:lstStyle/>
          <a:p>
            <a:pPr indent="0" marL="0">
              <a:buNone/>
            </a:pPr>
            <a:r>
              <a:rPr lang="en-US" sz="2500" b="1" dirty="0">
                <a:solidFill>
                  <a:srgbClr val="16161A"/>
                </a:solidFill>
                <a:latin typeface="Yu Gothic" pitchFamily="34" charset="0"/>
                <a:ea typeface="Yu Gothic" pitchFamily="34" charset="-122"/>
                <a:cs typeface="Yu Gothic" pitchFamily="34" charset="-120"/>
              </a:rPr>
              <a:t>エグゼクティブサマリー</a:t>
            </a:r>
            <a:endParaRPr lang="en-US" sz="2500" dirty="0"/>
          </a:p>
        </p:txBody>
      </p:sp>
      <p:sp>
        <p:nvSpPr>
          <p:cNvPr id="5" name="Text 3"/>
          <p:cNvSpPr txBox="1"/>
          <p:nvPr/>
        </p:nvSpPr>
        <p:spPr>
          <a:xfrm>
            <a:off x="1207008" y="932688"/>
            <a:ext cx="10387584" cy="310896"/>
          </a:xfrm>
          <a:prstGeom prst="rect">
            <a:avLst/>
          </a:prstGeom>
          <a:noFill/>
          <a:ln/>
        </p:spPr>
        <p:txBody>
          <a:bodyPr wrap="square" lIns="0" tIns="0" rIns="0" bIns="0" rtlCol="0" anchor="ctr"/>
          <a:lstStyle/>
          <a:p>
            <a:pPr indent="0" marL="0">
              <a:buNone/>
            </a:pPr>
            <a:r>
              <a:rPr lang="en-US" sz="1200" dirty="0">
                <a:solidFill>
                  <a:srgbClr val="6E6E76"/>
                </a:solidFill>
                <a:latin typeface="Yu Gothic" pitchFamily="34" charset="0"/>
                <a:ea typeface="Yu Gothic" pitchFamily="34" charset="-122"/>
                <a:cs typeface="Yu Gothic" pitchFamily="34" charset="-120"/>
              </a:rPr>
              <a:t>中華圏の最先端技術に日本のクオリティーコントロールとIPを融合させ、世界市場を取りに行く企業を設立</a:t>
            </a:r>
            <a:endParaRPr lang="en-US" sz="1200" dirty="0"/>
          </a:p>
        </p:txBody>
      </p:sp>
      <p:sp>
        <p:nvSpPr>
          <p:cNvPr id="6" name="Shape 4"/>
          <p:cNvSpPr/>
          <p:nvPr/>
        </p:nvSpPr>
        <p:spPr>
          <a:xfrm>
            <a:off x="594360" y="1316736"/>
            <a:ext cx="50292" cy="786384"/>
          </a:xfrm>
          <a:prstGeom prst="rect">
            <a:avLst/>
          </a:prstGeom>
          <a:solidFill>
            <a:srgbClr val="B3121B"/>
          </a:solidFill>
          <a:ln/>
        </p:spPr>
      </p:sp>
      <p:sp>
        <p:nvSpPr>
          <p:cNvPr id="7" name="Text 5"/>
          <p:cNvSpPr txBox="1"/>
          <p:nvPr/>
        </p:nvSpPr>
        <p:spPr>
          <a:xfrm>
            <a:off x="822960" y="1316736"/>
            <a:ext cx="10771632" cy="786384"/>
          </a:xfrm>
          <a:prstGeom prst="rect">
            <a:avLst/>
          </a:prstGeom>
          <a:noFill/>
          <a:ln/>
        </p:spPr>
        <p:txBody>
          <a:bodyPr wrap="square" lIns="0" tIns="0" rIns="0" bIns="0" rtlCol="0" anchor="ctr"/>
          <a:lstStyle/>
          <a:p>
            <a:pPr indent="0" marL="0">
              <a:lnSpc>
                <a:spcPct val="130000"/>
              </a:lnSpc>
              <a:buNone/>
            </a:pPr>
            <a:r>
              <a:rPr lang="en-US" sz="1550" b="1" dirty="0">
                <a:solidFill>
                  <a:srgbClr val="B3121B"/>
                </a:solidFill>
                <a:latin typeface="Yu Gothic" pitchFamily="34" charset="0"/>
                <a:ea typeface="Yu Gothic" pitchFamily="34" charset="-122"/>
                <a:cs typeface="Yu Gothic" pitchFamily="34" charset="-120"/>
              </a:rPr>
              <a:t>5年後・2031年、東証グロース市場への上場を目指す。</a:t>
            </a:r>
            <a:endParaRPr lang="en-US" sz="1550" dirty="0"/>
          </a:p>
          <a:p>
            <a:pPr indent="0" marL="0">
              <a:lnSpc>
                <a:spcPct val="130000"/>
              </a:lnSpc>
              <a:buNone/>
            </a:pPr>
            <a:r>
              <a:rPr lang="en-US" sz="1550" b="1" dirty="0">
                <a:solidFill>
                  <a:srgbClr val="16161A"/>
                </a:solidFill>
                <a:latin typeface="Yu Gothic" pitchFamily="34" charset="0"/>
                <a:ea typeface="Yu Gothic" pitchFamily="34" charset="-122"/>
                <a:cs typeface="Yu Gothic" pitchFamily="34" charset="-120"/>
              </a:rPr>
              <a:t>日本企業から映像制作を受注し、そこで溜まったデータを特許とモデルに変えて、世界へ売る。</a:t>
            </a:r>
            <a:endParaRPr lang="en-US" sz="1550" dirty="0"/>
          </a:p>
        </p:txBody>
      </p:sp>
      <p:sp>
        <p:nvSpPr>
          <p:cNvPr id="8" name="Shape 6"/>
          <p:cNvSpPr/>
          <p:nvPr/>
        </p:nvSpPr>
        <p:spPr>
          <a:xfrm>
            <a:off x="594360" y="2249424"/>
            <a:ext cx="3483864" cy="1280160"/>
          </a:xfrm>
          <a:prstGeom prst="rect">
            <a:avLst/>
          </a:prstGeom>
          <a:solidFill>
            <a:srgbClr val="FCE5CD"/>
          </a:solidFill>
          <a:ln/>
        </p:spPr>
      </p:sp>
      <p:sp>
        <p:nvSpPr>
          <p:cNvPr id="9" name="Text 7"/>
          <p:cNvSpPr txBox="1"/>
          <p:nvPr/>
        </p:nvSpPr>
        <p:spPr>
          <a:xfrm>
            <a:off x="832104" y="2414016"/>
            <a:ext cx="3008376" cy="603504"/>
          </a:xfrm>
          <a:prstGeom prst="rect">
            <a:avLst/>
          </a:prstGeom>
          <a:noFill/>
          <a:ln/>
        </p:spPr>
        <p:txBody>
          <a:bodyPr wrap="square" lIns="0" tIns="0" rIns="0" bIns="0" rtlCol="0" anchor="ctr"/>
          <a:lstStyle/>
          <a:p>
            <a:pPr indent="0" marL="0">
              <a:buNone/>
            </a:pPr>
            <a:r>
              <a:rPr lang="en-US" sz="2700" b="1" dirty="0">
                <a:solidFill>
                  <a:srgbClr val="B3121B"/>
                </a:solidFill>
                <a:latin typeface="Yu Gothic" pitchFamily="34" charset="0"/>
                <a:ea typeface="Yu Gothic" pitchFamily="34" charset="-122"/>
                <a:cs typeface="Yu Gothic" pitchFamily="34" charset="-120"/>
              </a:rPr>
              <a:t>社員22名</a:t>
            </a:r>
            <a:endParaRPr lang="en-US" sz="2700" dirty="0"/>
          </a:p>
        </p:txBody>
      </p:sp>
      <p:sp>
        <p:nvSpPr>
          <p:cNvPr id="10" name="Text 8"/>
          <p:cNvSpPr txBox="1"/>
          <p:nvPr/>
        </p:nvSpPr>
        <p:spPr>
          <a:xfrm>
            <a:off x="832104" y="3035808"/>
            <a:ext cx="3008376" cy="256032"/>
          </a:xfrm>
          <a:prstGeom prst="rect">
            <a:avLst/>
          </a:prstGeom>
          <a:noFill/>
          <a:ln/>
        </p:spPr>
        <p:txBody>
          <a:bodyPr wrap="square" lIns="0" tIns="0" rIns="0" bIns="0" rtlCol="0" anchor="ctr"/>
          <a:lstStyle/>
          <a:p>
            <a:pPr indent="0" marL="0">
              <a:buNone/>
            </a:pPr>
            <a:r>
              <a:rPr lang="en-US" sz="1100" b="1" dirty="0">
                <a:solidFill>
                  <a:srgbClr val="16161A"/>
                </a:solidFill>
                <a:latin typeface="Yu Gothic" pitchFamily="34" charset="0"/>
                <a:ea typeface="Yu Gothic" pitchFamily="34" charset="-122"/>
                <a:cs typeface="Yu Gothic" pitchFamily="34" charset="-120"/>
              </a:rPr>
              <a:t>5期の体制で、年商120.0億</a:t>
            </a:r>
            <a:endParaRPr lang="en-US" sz="1100" dirty="0"/>
          </a:p>
        </p:txBody>
      </p:sp>
      <p:sp>
        <p:nvSpPr>
          <p:cNvPr id="11" name="Text 9"/>
          <p:cNvSpPr txBox="1"/>
          <p:nvPr/>
        </p:nvSpPr>
        <p:spPr>
          <a:xfrm>
            <a:off x="832104" y="3310128"/>
            <a:ext cx="3008376" cy="91440"/>
          </a:xfrm>
          <a:prstGeom prst="rect">
            <a:avLst/>
          </a:prstGeom>
          <a:noFill/>
          <a:ln/>
        </p:spPr>
        <p:txBody>
          <a:bodyPr wrap="square" lIns="0" tIns="0" rIns="0" bIns="0" rtlCol="0" anchor="t"/>
          <a:lstStyle/>
          <a:p>
            <a:pPr indent="0" marL="0">
              <a:lnSpc>
                <a:spcPct val="120000"/>
              </a:lnSpc>
              <a:buNone/>
            </a:pPr>
            <a:r>
              <a:rPr lang="en-US" sz="900" dirty="0">
                <a:solidFill>
                  <a:srgbClr val="6E6E76"/>
                </a:solidFill>
                <a:latin typeface="Yu Gothic" pitchFamily="34" charset="0"/>
                <a:ea typeface="Yu Gothic" pitchFamily="34" charset="-122"/>
                <a:cs typeface="Yu Gothic" pitchFamily="34" charset="-120"/>
              </a:rPr>
              <a:t>売上/社員 5.46億。制作も開発も業務委託と自動化で回す</a:t>
            </a:r>
            <a:endParaRPr lang="en-US" sz="900" dirty="0"/>
          </a:p>
        </p:txBody>
      </p:sp>
      <p:sp>
        <p:nvSpPr>
          <p:cNvPr id="12" name="Shape 10"/>
          <p:cNvSpPr/>
          <p:nvPr/>
        </p:nvSpPr>
        <p:spPr>
          <a:xfrm>
            <a:off x="4352544" y="2249424"/>
            <a:ext cx="3483864" cy="1280160"/>
          </a:xfrm>
          <a:prstGeom prst="rect">
            <a:avLst/>
          </a:prstGeom>
          <a:solidFill>
            <a:srgbClr val="FCE5CD"/>
          </a:solidFill>
          <a:ln/>
        </p:spPr>
      </p:sp>
      <p:sp>
        <p:nvSpPr>
          <p:cNvPr id="13" name="Text 11"/>
          <p:cNvSpPr txBox="1"/>
          <p:nvPr/>
        </p:nvSpPr>
        <p:spPr>
          <a:xfrm>
            <a:off x="4590288" y="2414016"/>
            <a:ext cx="3008376" cy="603504"/>
          </a:xfrm>
          <a:prstGeom prst="rect">
            <a:avLst/>
          </a:prstGeom>
          <a:noFill/>
          <a:ln/>
        </p:spPr>
        <p:txBody>
          <a:bodyPr wrap="square" lIns="0" tIns="0" rIns="0" bIns="0" rtlCol="0" anchor="ctr"/>
          <a:lstStyle/>
          <a:p>
            <a:pPr indent="0" marL="0">
              <a:buNone/>
            </a:pPr>
            <a:r>
              <a:rPr lang="en-US" sz="2700" b="1" dirty="0">
                <a:solidFill>
                  <a:srgbClr val="2A3563"/>
                </a:solidFill>
                <a:latin typeface="Yu Gothic" pitchFamily="34" charset="0"/>
                <a:ea typeface="Yu Gothic" pitchFamily="34" charset="-122"/>
                <a:cs typeface="Yu Gothic" pitchFamily="34" charset="-120"/>
              </a:rPr>
              <a:t>93%</a:t>
            </a:r>
            <a:endParaRPr lang="en-US" sz="2700" dirty="0"/>
          </a:p>
        </p:txBody>
      </p:sp>
      <p:sp>
        <p:nvSpPr>
          <p:cNvPr id="14" name="Text 12"/>
          <p:cNvSpPr txBox="1"/>
          <p:nvPr/>
        </p:nvSpPr>
        <p:spPr>
          <a:xfrm>
            <a:off x="4590288" y="3035808"/>
            <a:ext cx="3008376" cy="256032"/>
          </a:xfrm>
          <a:prstGeom prst="rect">
            <a:avLst/>
          </a:prstGeom>
          <a:noFill/>
          <a:ln/>
        </p:spPr>
        <p:txBody>
          <a:bodyPr wrap="square" lIns="0" tIns="0" rIns="0" bIns="0" rtlCol="0" anchor="ctr"/>
          <a:lstStyle/>
          <a:p>
            <a:pPr indent="0" marL="0">
              <a:buNone/>
            </a:pPr>
            <a:r>
              <a:rPr lang="en-US" sz="1100" b="1" dirty="0">
                <a:solidFill>
                  <a:srgbClr val="16161A"/>
                </a:solidFill>
                <a:latin typeface="Yu Gothic" pitchFamily="34" charset="0"/>
                <a:ea typeface="Yu Gothic" pitchFamily="34" charset="-122"/>
                <a:cs typeface="Yu Gothic" pitchFamily="34" charset="-120"/>
              </a:rPr>
              <a:t>人手に比例しない収益（5期）</a:t>
            </a:r>
            <a:endParaRPr lang="en-US" sz="1100" dirty="0"/>
          </a:p>
        </p:txBody>
      </p:sp>
      <p:sp>
        <p:nvSpPr>
          <p:cNvPr id="15" name="Text 13"/>
          <p:cNvSpPr txBox="1"/>
          <p:nvPr/>
        </p:nvSpPr>
        <p:spPr>
          <a:xfrm>
            <a:off x="4590288" y="3310128"/>
            <a:ext cx="3008376" cy="91440"/>
          </a:xfrm>
          <a:prstGeom prst="rect">
            <a:avLst/>
          </a:prstGeom>
          <a:noFill/>
          <a:ln/>
        </p:spPr>
        <p:txBody>
          <a:bodyPr wrap="square" lIns="0" tIns="0" rIns="0" bIns="0" rtlCol="0" anchor="t"/>
          <a:lstStyle/>
          <a:p>
            <a:pPr indent="0" marL="0">
              <a:lnSpc>
                <a:spcPct val="120000"/>
              </a:lnSpc>
              <a:buNone/>
            </a:pPr>
            <a:r>
              <a:rPr lang="en-US" sz="900" dirty="0">
                <a:solidFill>
                  <a:srgbClr val="6E6E76"/>
                </a:solidFill>
                <a:latin typeface="Yu Gothic" pitchFamily="34" charset="0"/>
                <a:ea typeface="Yu Gothic" pitchFamily="34" charset="-122"/>
                <a:cs typeface="Yu Gothic" pitchFamily="34" charset="-120"/>
              </a:rPr>
              <a:t>② ツール外販41.6億 ＋ ③ C2C 42.7億 ＋ ①のAXで比例が切れた分</a:t>
            </a:r>
            <a:endParaRPr lang="en-US" sz="900" dirty="0"/>
          </a:p>
        </p:txBody>
      </p:sp>
      <p:sp>
        <p:nvSpPr>
          <p:cNvPr id="16" name="Shape 14"/>
          <p:cNvSpPr/>
          <p:nvPr/>
        </p:nvSpPr>
        <p:spPr>
          <a:xfrm>
            <a:off x="8110728" y="2249424"/>
            <a:ext cx="3483864" cy="1280160"/>
          </a:xfrm>
          <a:prstGeom prst="rect">
            <a:avLst/>
          </a:prstGeom>
          <a:solidFill>
            <a:srgbClr val="FCE5CD"/>
          </a:solidFill>
          <a:ln/>
        </p:spPr>
      </p:sp>
      <p:sp>
        <p:nvSpPr>
          <p:cNvPr id="17" name="Text 15"/>
          <p:cNvSpPr txBox="1"/>
          <p:nvPr/>
        </p:nvSpPr>
        <p:spPr>
          <a:xfrm>
            <a:off x="8348472" y="2414016"/>
            <a:ext cx="3008376" cy="603504"/>
          </a:xfrm>
          <a:prstGeom prst="rect">
            <a:avLst/>
          </a:prstGeom>
          <a:noFill/>
          <a:ln/>
        </p:spPr>
        <p:txBody>
          <a:bodyPr wrap="square" lIns="0" tIns="0" rIns="0" bIns="0" rtlCol="0" anchor="ctr"/>
          <a:lstStyle/>
          <a:p>
            <a:pPr indent="0" marL="0">
              <a:buNone/>
            </a:pPr>
            <a:r>
              <a:rPr lang="en-US" sz="2700" b="1" dirty="0">
                <a:solidFill>
                  <a:srgbClr val="C9962C"/>
                </a:solidFill>
                <a:latin typeface="Yu Gothic" pitchFamily="34" charset="0"/>
                <a:ea typeface="Yu Gothic" pitchFamily="34" charset="-122"/>
                <a:cs typeface="Yu Gothic" pitchFamily="34" charset="-120"/>
              </a:rPr>
              <a:t>1.5億円</a:t>
            </a:r>
            <a:endParaRPr lang="en-US" sz="2700" dirty="0"/>
          </a:p>
        </p:txBody>
      </p:sp>
      <p:sp>
        <p:nvSpPr>
          <p:cNvPr id="18" name="Text 16"/>
          <p:cNvSpPr txBox="1"/>
          <p:nvPr/>
        </p:nvSpPr>
        <p:spPr>
          <a:xfrm>
            <a:off x="8348472" y="3035808"/>
            <a:ext cx="3008376" cy="256032"/>
          </a:xfrm>
          <a:prstGeom prst="rect">
            <a:avLst/>
          </a:prstGeom>
          <a:noFill/>
          <a:ln/>
        </p:spPr>
        <p:txBody>
          <a:bodyPr wrap="square" lIns="0" tIns="0" rIns="0" bIns="0" rtlCol="0" anchor="ctr"/>
          <a:lstStyle/>
          <a:p>
            <a:pPr indent="0" marL="0">
              <a:buNone/>
            </a:pPr>
            <a:r>
              <a:rPr lang="en-US" sz="1100" b="1" dirty="0">
                <a:solidFill>
                  <a:srgbClr val="16161A"/>
                </a:solidFill>
                <a:latin typeface="Yu Gothic" pitchFamily="34" charset="0"/>
                <a:ea typeface="Yu Gothic" pitchFamily="34" charset="-122"/>
                <a:cs typeface="Yu Gothic" pitchFamily="34" charset="-120"/>
              </a:rPr>
              <a:t>今回の調達目標</a:t>
            </a:r>
            <a:endParaRPr lang="en-US" sz="1100" dirty="0"/>
          </a:p>
        </p:txBody>
      </p:sp>
      <p:sp>
        <p:nvSpPr>
          <p:cNvPr id="19" name="Text 17"/>
          <p:cNvSpPr txBox="1"/>
          <p:nvPr/>
        </p:nvSpPr>
        <p:spPr>
          <a:xfrm>
            <a:off x="8348472" y="3310128"/>
            <a:ext cx="3008376" cy="91440"/>
          </a:xfrm>
          <a:prstGeom prst="rect">
            <a:avLst/>
          </a:prstGeom>
          <a:noFill/>
          <a:ln/>
        </p:spPr>
        <p:txBody>
          <a:bodyPr wrap="square" lIns="0" tIns="0" rIns="0" bIns="0" rtlCol="0" anchor="t"/>
          <a:lstStyle/>
          <a:p>
            <a:pPr indent="0" marL="0">
              <a:lnSpc>
                <a:spcPct val="120000"/>
              </a:lnSpc>
              <a:buNone/>
            </a:pPr>
            <a:r>
              <a:rPr lang="en-US" sz="900" dirty="0">
                <a:solidFill>
                  <a:srgbClr val="6E6E76"/>
                </a:solidFill>
                <a:latin typeface="Yu Gothic" pitchFamily="34" charset="0"/>
                <a:ea typeface="Yu Gothic" pitchFamily="34" charset="-122"/>
                <a:cs typeface="Yu Gothic" pitchFamily="34" charset="-120"/>
              </a:rPr>
              <a:t>追加はシリーズA 3億のみ。累計4.5億で上場まで届く設計</a:t>
            </a:r>
            <a:endParaRPr lang="en-US" sz="900" dirty="0"/>
          </a:p>
        </p:txBody>
      </p:sp>
      <p:sp>
        <p:nvSpPr>
          <p:cNvPr id="20" name="Shape 18"/>
          <p:cNvSpPr/>
          <p:nvPr/>
        </p:nvSpPr>
        <p:spPr>
          <a:xfrm>
            <a:off x="594360" y="3657600"/>
            <a:ext cx="11000232" cy="841248"/>
          </a:xfrm>
          <a:prstGeom prst="rect">
            <a:avLst/>
          </a:prstGeom>
          <a:solidFill>
            <a:srgbClr val="FFF2CC"/>
          </a:solidFill>
          <a:ln/>
        </p:spPr>
      </p:sp>
      <p:sp>
        <p:nvSpPr>
          <p:cNvPr id="21" name="Text 19"/>
          <p:cNvSpPr txBox="1"/>
          <p:nvPr/>
        </p:nvSpPr>
        <p:spPr>
          <a:xfrm>
            <a:off x="832104" y="3712464"/>
            <a:ext cx="2011680" cy="256032"/>
          </a:xfrm>
          <a:prstGeom prst="rect">
            <a:avLst/>
          </a:prstGeom>
          <a:noFill/>
          <a:ln/>
        </p:spPr>
        <p:txBody>
          <a:bodyPr wrap="square" lIns="0" tIns="0" rIns="0" bIns="0" rtlCol="0" anchor="ctr"/>
          <a:lstStyle/>
          <a:p>
            <a:pPr indent="0" marL="0">
              <a:buNone/>
            </a:pPr>
            <a:r>
              <a:rPr lang="en-US" sz="1100" b="1" dirty="0">
                <a:solidFill>
                  <a:srgbClr val="16161A"/>
                </a:solidFill>
                <a:latin typeface="Yu Gothic" pitchFamily="34" charset="0"/>
                <a:ea typeface="Yu Gothic" pitchFamily="34" charset="-122"/>
                <a:cs typeface="Yu Gothic" pitchFamily="34" charset="-120"/>
              </a:rPr>
              <a:t>投資の期待値</a:t>
            </a:r>
            <a:endParaRPr lang="en-US" sz="1100" dirty="0"/>
          </a:p>
        </p:txBody>
      </p:sp>
      <p:sp>
        <p:nvSpPr>
          <p:cNvPr id="22" name="Text 20"/>
          <p:cNvSpPr txBox="1"/>
          <p:nvPr/>
        </p:nvSpPr>
        <p:spPr>
          <a:xfrm>
            <a:off x="832104" y="4023360"/>
            <a:ext cx="2194560" cy="420624"/>
          </a:xfrm>
          <a:prstGeom prst="rect">
            <a:avLst/>
          </a:prstGeom>
          <a:noFill/>
          <a:ln/>
        </p:spPr>
        <p:txBody>
          <a:bodyPr wrap="square" lIns="0" tIns="0" rIns="0" bIns="0" rtlCol="0" anchor="t"/>
          <a:lstStyle/>
          <a:p>
            <a:pPr indent="0" marL="0">
              <a:lnSpc>
                <a:spcPct val="120000"/>
              </a:lnSpc>
              <a:buNone/>
            </a:pPr>
            <a:r>
              <a:rPr lang="en-US" sz="800" dirty="0">
                <a:solidFill>
                  <a:srgbClr val="6E6E76"/>
                </a:solidFill>
                <a:latin typeface="Yu Gothic" pitchFamily="34" charset="0"/>
                <a:ea typeface="Yu Gothic" pitchFamily="34" charset="-122"/>
                <a:cs typeface="Yu Gothic" pitchFamily="34" charset="-120"/>
              </a:rPr>
              <a:t>シード1.42億 → 上場後持分14.5%（ESOP10%・シリーズA・IPO公募20%で希薄化後）。出資から約4.9年</a:t>
            </a:r>
            <a:endParaRPr lang="en-US" sz="800" dirty="0"/>
          </a:p>
        </p:txBody>
      </p:sp>
      <p:sp>
        <p:nvSpPr>
          <p:cNvPr id="23" name="Text 21"/>
          <p:cNvSpPr txBox="1"/>
          <p:nvPr/>
        </p:nvSpPr>
        <p:spPr>
          <a:xfrm>
            <a:off x="3246120" y="3712464"/>
            <a:ext cx="1280160" cy="384048"/>
          </a:xfrm>
          <a:prstGeom prst="rect">
            <a:avLst/>
          </a:prstGeom>
          <a:noFill/>
          <a:ln/>
        </p:spPr>
        <p:txBody>
          <a:bodyPr wrap="square" lIns="0" tIns="0" rIns="0" bIns="0" rtlCol="0" anchor="ctr"/>
          <a:lstStyle/>
          <a:p>
            <a:pPr indent="0" marL="0">
              <a:buNone/>
            </a:pPr>
            <a:r>
              <a:rPr lang="en-US" sz="1900" b="1" dirty="0">
                <a:solidFill>
                  <a:srgbClr val="B3121B"/>
                </a:solidFill>
                <a:latin typeface="Yu Gothic" pitchFamily="34" charset="0"/>
                <a:ea typeface="Yu Gothic" pitchFamily="34" charset="-122"/>
                <a:cs typeface="Yu Gothic" pitchFamily="34" charset="-120"/>
              </a:rPr>
              <a:t>48.4倍</a:t>
            </a:r>
            <a:endParaRPr lang="en-US" sz="1900" dirty="0"/>
          </a:p>
        </p:txBody>
      </p:sp>
      <p:sp>
        <p:nvSpPr>
          <p:cNvPr id="24" name="Text 22"/>
          <p:cNvSpPr txBox="1"/>
          <p:nvPr/>
        </p:nvSpPr>
        <p:spPr>
          <a:xfrm>
            <a:off x="3246120" y="4114800"/>
            <a:ext cx="2651760" cy="274320"/>
          </a:xfrm>
          <a:prstGeom prst="rect">
            <a:avLst/>
          </a:prstGeom>
          <a:noFill/>
          <a:ln/>
        </p:spPr>
        <p:txBody>
          <a:bodyPr wrap="square" lIns="0" tIns="0" rIns="0" bIns="0" rtlCol="0" anchor="ctr"/>
          <a:lstStyle/>
          <a:p>
            <a:pPr indent="0" marL="0">
              <a:buNone/>
            </a:pPr>
            <a:r>
              <a:rPr lang="en-US" sz="850" dirty="0">
                <a:solidFill>
                  <a:srgbClr val="6E6E76"/>
                </a:solidFill>
                <a:latin typeface="Yu Gothic" pitchFamily="34" charset="0"/>
                <a:ea typeface="Yu Gothic" pitchFamily="34" charset="-122"/>
                <a:cs typeface="Yu Gothic" pitchFamily="34" charset="-120"/>
              </a:rPr>
              <a:t>474億（ライン別・保守）</a:t>
            </a:r>
            <a:endParaRPr lang="en-US" sz="850" dirty="0"/>
          </a:p>
        </p:txBody>
      </p:sp>
      <p:sp>
        <p:nvSpPr>
          <p:cNvPr id="25" name="Text 23"/>
          <p:cNvSpPr txBox="1"/>
          <p:nvPr/>
        </p:nvSpPr>
        <p:spPr>
          <a:xfrm>
            <a:off x="6035040" y="3712464"/>
            <a:ext cx="1280160" cy="384048"/>
          </a:xfrm>
          <a:prstGeom prst="rect">
            <a:avLst/>
          </a:prstGeom>
          <a:noFill/>
          <a:ln/>
        </p:spPr>
        <p:txBody>
          <a:bodyPr wrap="square" lIns="0" tIns="0" rIns="0" bIns="0" rtlCol="0" anchor="ctr"/>
          <a:lstStyle/>
          <a:p>
            <a:pPr indent="0" marL="0">
              <a:buNone/>
            </a:pPr>
            <a:r>
              <a:rPr lang="en-US" sz="1900" b="1" dirty="0">
                <a:solidFill>
                  <a:srgbClr val="B3121B"/>
                </a:solidFill>
                <a:latin typeface="Yu Gothic" pitchFamily="34" charset="0"/>
                <a:ea typeface="Yu Gothic" pitchFamily="34" charset="-122"/>
                <a:cs typeface="Yu Gothic" pitchFamily="34" charset="-120"/>
              </a:rPr>
              <a:t>58.8倍</a:t>
            </a:r>
            <a:endParaRPr lang="en-US" sz="1900" dirty="0"/>
          </a:p>
        </p:txBody>
      </p:sp>
      <p:sp>
        <p:nvSpPr>
          <p:cNvPr id="26" name="Text 24"/>
          <p:cNvSpPr txBox="1"/>
          <p:nvPr/>
        </p:nvSpPr>
        <p:spPr>
          <a:xfrm>
            <a:off x="6035040" y="4114800"/>
            <a:ext cx="2651760" cy="274320"/>
          </a:xfrm>
          <a:prstGeom prst="rect">
            <a:avLst/>
          </a:prstGeom>
          <a:noFill/>
          <a:ln/>
        </p:spPr>
        <p:txBody>
          <a:bodyPr wrap="square" lIns="0" tIns="0" rIns="0" bIns="0" rtlCol="0" anchor="ctr"/>
          <a:lstStyle/>
          <a:p>
            <a:pPr indent="0" marL="0">
              <a:buNone/>
            </a:pPr>
            <a:r>
              <a:rPr lang="en-US" sz="850" dirty="0">
                <a:solidFill>
                  <a:srgbClr val="6E6E76"/>
                </a:solidFill>
                <a:latin typeface="Yu Gothic" pitchFamily="34" charset="0"/>
                <a:ea typeface="Yu Gothic" pitchFamily="34" charset="-122"/>
                <a:cs typeface="Yu Gothic" pitchFamily="34" charset="-120"/>
              </a:rPr>
              <a:t>576億（ライン別）</a:t>
            </a:r>
            <a:endParaRPr lang="en-US" sz="850" dirty="0"/>
          </a:p>
        </p:txBody>
      </p:sp>
      <p:sp>
        <p:nvSpPr>
          <p:cNvPr id="27" name="Text 25"/>
          <p:cNvSpPr txBox="1"/>
          <p:nvPr/>
        </p:nvSpPr>
        <p:spPr>
          <a:xfrm>
            <a:off x="8823960" y="3712464"/>
            <a:ext cx="1280160" cy="384048"/>
          </a:xfrm>
          <a:prstGeom prst="rect">
            <a:avLst/>
          </a:prstGeom>
          <a:noFill/>
          <a:ln/>
        </p:spPr>
        <p:txBody>
          <a:bodyPr wrap="square" lIns="0" tIns="0" rIns="0" bIns="0" rtlCol="0" anchor="ctr"/>
          <a:lstStyle/>
          <a:p>
            <a:pPr indent="0" marL="0">
              <a:buNone/>
            </a:pPr>
            <a:r>
              <a:rPr lang="en-US" sz="1900" b="1" dirty="0">
                <a:solidFill>
                  <a:srgbClr val="B3121B"/>
                </a:solidFill>
                <a:latin typeface="Yu Gothic" pitchFamily="34" charset="0"/>
                <a:ea typeface="Yu Gothic" pitchFamily="34" charset="-122"/>
                <a:cs typeface="Yu Gothic" pitchFamily="34" charset="-120"/>
              </a:rPr>
              <a:t>69.3倍</a:t>
            </a:r>
            <a:endParaRPr lang="en-US" sz="1900" dirty="0"/>
          </a:p>
        </p:txBody>
      </p:sp>
      <p:sp>
        <p:nvSpPr>
          <p:cNvPr id="28" name="Text 26"/>
          <p:cNvSpPr txBox="1"/>
          <p:nvPr/>
        </p:nvSpPr>
        <p:spPr>
          <a:xfrm>
            <a:off x="8823960" y="4114800"/>
            <a:ext cx="2651760" cy="274320"/>
          </a:xfrm>
          <a:prstGeom prst="rect">
            <a:avLst/>
          </a:prstGeom>
          <a:noFill/>
          <a:ln/>
        </p:spPr>
        <p:txBody>
          <a:bodyPr wrap="square" lIns="0" tIns="0" rIns="0" bIns="0" rtlCol="0" anchor="ctr"/>
          <a:lstStyle/>
          <a:p>
            <a:pPr indent="0" marL="0">
              <a:buNone/>
            </a:pPr>
            <a:r>
              <a:rPr lang="en-US" sz="850" dirty="0">
                <a:solidFill>
                  <a:srgbClr val="6E6E76"/>
                </a:solidFill>
                <a:latin typeface="Yu Gothic" pitchFamily="34" charset="0"/>
                <a:ea typeface="Yu Gothic" pitchFamily="34" charset="-122"/>
                <a:cs typeface="Yu Gothic" pitchFamily="34" charset="-120"/>
              </a:rPr>
              <a:t>678億（ライン別・強気）</a:t>
            </a:r>
            <a:endParaRPr lang="en-US" sz="850" dirty="0"/>
          </a:p>
        </p:txBody>
      </p:sp>
      <p:sp>
        <p:nvSpPr>
          <p:cNvPr id="29" name="Shape 27"/>
          <p:cNvSpPr/>
          <p:nvPr/>
        </p:nvSpPr>
        <p:spPr>
          <a:xfrm>
            <a:off x="594360" y="4626864"/>
            <a:ext cx="3483864" cy="1078992"/>
          </a:xfrm>
          <a:prstGeom prst="rect">
            <a:avLst/>
          </a:prstGeom>
          <a:solidFill>
            <a:srgbClr val="FFF2CC"/>
          </a:solidFill>
          <a:ln/>
        </p:spPr>
      </p:sp>
      <p:sp>
        <p:nvSpPr>
          <p:cNvPr id="30" name="Shape 28"/>
          <p:cNvSpPr/>
          <p:nvPr/>
        </p:nvSpPr>
        <p:spPr>
          <a:xfrm>
            <a:off x="813816" y="4882896"/>
            <a:ext cx="109728" cy="109728"/>
          </a:xfrm>
          <a:prstGeom prst="rect">
            <a:avLst/>
          </a:prstGeom>
          <a:solidFill>
            <a:srgbClr val="B3121B"/>
          </a:solidFill>
          <a:ln/>
        </p:spPr>
      </p:sp>
      <p:sp>
        <p:nvSpPr>
          <p:cNvPr id="31" name="Text 29"/>
          <p:cNvSpPr txBox="1"/>
          <p:nvPr/>
        </p:nvSpPr>
        <p:spPr>
          <a:xfrm>
            <a:off x="1033272" y="4791456"/>
            <a:ext cx="2825496"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何をするか</a:t>
            </a:r>
            <a:endParaRPr lang="en-US" sz="1250" dirty="0"/>
          </a:p>
        </p:txBody>
      </p:sp>
      <p:sp>
        <p:nvSpPr>
          <p:cNvPr id="32" name="Text 30"/>
          <p:cNvSpPr txBox="1"/>
          <p:nvPr/>
        </p:nvSpPr>
        <p:spPr>
          <a:xfrm>
            <a:off x="1033272" y="5138928"/>
            <a:ext cx="2825496" cy="384048"/>
          </a:xfrm>
          <a:prstGeom prst="rect">
            <a:avLst/>
          </a:prstGeom>
          <a:noFill/>
          <a:ln/>
        </p:spPr>
        <p:txBody>
          <a:bodyPr wrap="square" lIns="0" tIns="0" rIns="0" bIns="0" rtlCol="0" anchor="t"/>
          <a:lstStyle/>
          <a:p>
            <a:pPr indent="0" marL="0">
              <a:lnSpc>
                <a:spcPct val="126000"/>
              </a:lnSpc>
              <a:buNone/>
            </a:pPr>
            <a:r>
              <a:rPr lang="en-US" sz="850" dirty="0">
                <a:solidFill>
                  <a:srgbClr val="3A3A42"/>
                </a:solidFill>
                <a:latin typeface="Yu Gothic" pitchFamily="34" charset="0"/>
                <a:ea typeface="Yu Gothic" pitchFamily="34" charset="-122"/>
                <a:cs typeface="Yu Gothic" pitchFamily="34" charset="-120"/>
              </a:rPr>
              <a:t>① 日本企業から映像制作を受注し、中国を中心とする登録クリエイターに配分する。</a:t>
            </a:r>
            <a:endParaRPr lang="en-US" sz="850" dirty="0"/>
          </a:p>
          <a:p>
            <a:pPr indent="0" marL="0">
              <a:lnSpc>
                <a:spcPct val="126000"/>
              </a:lnSpc>
              <a:buNone/>
            </a:pPr>
            <a:r>
              <a:rPr lang="en-US" sz="850" dirty="0">
                <a:solidFill>
                  <a:srgbClr val="3A3A42"/>
                </a:solidFill>
                <a:latin typeface="Yu Gothic" pitchFamily="34" charset="0"/>
                <a:ea typeface="Yu Gothic" pitchFamily="34" charset="-122"/>
                <a:cs typeface="Yu Gothic" pitchFamily="34" charset="-120"/>
              </a:rPr>
              <a:t>② 溜まった制作データで特許を取得し、チェックポイント・LoRA・制作用ツールを外販する。国内と海外へ。</a:t>
            </a:r>
            <a:endParaRPr lang="en-US" sz="850" dirty="0"/>
          </a:p>
          <a:p>
            <a:pPr indent="0" marL="0">
              <a:lnSpc>
                <a:spcPct val="126000"/>
              </a:lnSpc>
              <a:buNone/>
            </a:pPr>
            <a:r>
              <a:rPr lang="en-US" sz="850" dirty="0">
                <a:solidFill>
                  <a:srgbClr val="3A3A42"/>
                </a:solidFill>
                <a:latin typeface="Yu Gothic" pitchFamily="34" charset="0"/>
                <a:ea typeface="Yu Gothic" pitchFamily="34" charset="-122"/>
                <a:cs typeface="Yu Gothic" pitchFamily="34" charset="-120"/>
              </a:rPr>
              <a:t>③ 個人・中小の越境発注を、自動化したプラットフォームで受ける。</a:t>
            </a:r>
            <a:endParaRPr lang="en-US" sz="850" dirty="0"/>
          </a:p>
        </p:txBody>
      </p:sp>
      <p:sp>
        <p:nvSpPr>
          <p:cNvPr id="33" name="Shape 31"/>
          <p:cNvSpPr/>
          <p:nvPr/>
        </p:nvSpPr>
        <p:spPr>
          <a:xfrm>
            <a:off x="4352544" y="4626864"/>
            <a:ext cx="3483864" cy="1078992"/>
          </a:xfrm>
          <a:prstGeom prst="rect">
            <a:avLst/>
          </a:prstGeom>
          <a:solidFill>
            <a:srgbClr val="FFF2CC"/>
          </a:solidFill>
          <a:ln/>
        </p:spPr>
      </p:sp>
      <p:sp>
        <p:nvSpPr>
          <p:cNvPr id="34" name="Shape 32"/>
          <p:cNvSpPr/>
          <p:nvPr/>
        </p:nvSpPr>
        <p:spPr>
          <a:xfrm>
            <a:off x="4572000" y="4882896"/>
            <a:ext cx="109728" cy="109728"/>
          </a:xfrm>
          <a:prstGeom prst="rect">
            <a:avLst/>
          </a:prstGeom>
          <a:solidFill>
            <a:srgbClr val="2A3563"/>
          </a:solidFill>
          <a:ln/>
        </p:spPr>
      </p:sp>
      <p:sp>
        <p:nvSpPr>
          <p:cNvPr id="35" name="Text 33"/>
          <p:cNvSpPr txBox="1"/>
          <p:nvPr/>
        </p:nvSpPr>
        <p:spPr>
          <a:xfrm>
            <a:off x="4791456" y="4791456"/>
            <a:ext cx="2825496"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なぜ勝てるか</a:t>
            </a:r>
            <a:endParaRPr lang="en-US" sz="1250" dirty="0"/>
          </a:p>
        </p:txBody>
      </p:sp>
      <p:sp>
        <p:nvSpPr>
          <p:cNvPr id="36" name="Text 34"/>
          <p:cNvSpPr txBox="1"/>
          <p:nvPr/>
        </p:nvSpPr>
        <p:spPr>
          <a:xfrm>
            <a:off x="4791456" y="5138928"/>
            <a:ext cx="2825496" cy="384048"/>
          </a:xfrm>
          <a:prstGeom prst="rect">
            <a:avLst/>
          </a:prstGeom>
          <a:noFill/>
          <a:ln/>
        </p:spPr>
        <p:txBody>
          <a:bodyPr wrap="square" lIns="0" tIns="0" rIns="0" bIns="0" rtlCol="0" anchor="t"/>
          <a:lstStyle/>
          <a:p>
            <a:pPr indent="0" marL="0">
              <a:lnSpc>
                <a:spcPct val="126000"/>
              </a:lnSpc>
              <a:buNone/>
            </a:pPr>
            <a:r>
              <a:rPr lang="en-US" sz="850" dirty="0">
                <a:solidFill>
                  <a:srgbClr val="3A3A42"/>
                </a:solidFill>
                <a:latin typeface="Yu Gothic" pitchFamily="34" charset="0"/>
                <a:ea typeface="Yu Gothic" pitchFamily="34" charset="-122"/>
                <a:cs typeface="Yu Gothic" pitchFamily="34" charset="-120"/>
              </a:rPr>
              <a:t>生成AIで制作原価は下がったが、日本企業の発注価格は下がっていない。この差が粗利。</a:t>
            </a:r>
            <a:endParaRPr lang="en-US" sz="850" dirty="0"/>
          </a:p>
          <a:p>
            <a:pPr indent="0" marL="0">
              <a:lnSpc>
                <a:spcPct val="126000"/>
              </a:lnSpc>
              <a:buNone/>
            </a:pPr>
            <a:r>
              <a:rPr lang="en-US" sz="850" dirty="0">
                <a:solidFill>
                  <a:srgbClr val="3A3A42"/>
                </a:solidFill>
                <a:latin typeface="Yu Gothic" pitchFamily="34" charset="0"/>
                <a:ea typeface="Yu Gothic" pitchFamily="34" charset="-122"/>
                <a:cs typeface="Yu Gothic" pitchFamily="34" charset="-120"/>
              </a:rPr>
              <a:t>日本企業は中華圏に直接発注しない。言語・商習慣・品質保証・契約が壁。</a:t>
            </a:r>
            <a:endParaRPr lang="en-US" sz="850" dirty="0"/>
          </a:p>
          <a:p>
            <a:pPr indent="0" marL="0">
              <a:lnSpc>
                <a:spcPct val="126000"/>
              </a:lnSpc>
              <a:buNone/>
            </a:pPr>
            <a:r>
              <a:rPr lang="en-US" sz="850" dirty="0">
                <a:solidFill>
                  <a:srgbClr val="3A3A42"/>
                </a:solidFill>
                <a:latin typeface="Yu Gothic" pitchFamily="34" charset="0"/>
                <a:ea typeface="Yu Gothic" pitchFamily="34" charset="-122"/>
                <a:cs typeface="Yu Gothic" pitchFamily="34" charset="-120"/>
              </a:rPr>
              <a:t>その壁を引き受けることが商品。</a:t>
            </a:r>
            <a:endParaRPr lang="en-US" sz="850" dirty="0"/>
          </a:p>
        </p:txBody>
      </p:sp>
      <p:sp>
        <p:nvSpPr>
          <p:cNvPr id="37" name="Shape 35"/>
          <p:cNvSpPr/>
          <p:nvPr/>
        </p:nvSpPr>
        <p:spPr>
          <a:xfrm>
            <a:off x="8110728" y="4626864"/>
            <a:ext cx="3483864" cy="1078992"/>
          </a:xfrm>
          <a:prstGeom prst="rect">
            <a:avLst/>
          </a:prstGeom>
          <a:solidFill>
            <a:srgbClr val="FFF2CC"/>
          </a:solidFill>
          <a:ln/>
        </p:spPr>
      </p:sp>
      <p:sp>
        <p:nvSpPr>
          <p:cNvPr id="38" name="Shape 36"/>
          <p:cNvSpPr/>
          <p:nvPr/>
        </p:nvSpPr>
        <p:spPr>
          <a:xfrm>
            <a:off x="8330184" y="4882896"/>
            <a:ext cx="109728" cy="109728"/>
          </a:xfrm>
          <a:prstGeom prst="rect">
            <a:avLst/>
          </a:prstGeom>
          <a:solidFill>
            <a:srgbClr val="C9962C"/>
          </a:solidFill>
          <a:ln/>
        </p:spPr>
      </p:sp>
      <p:sp>
        <p:nvSpPr>
          <p:cNvPr id="39" name="Text 37"/>
          <p:cNvSpPr txBox="1"/>
          <p:nvPr/>
        </p:nvSpPr>
        <p:spPr>
          <a:xfrm>
            <a:off x="8549640" y="4791456"/>
            <a:ext cx="2825496"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どこへ向かうか</a:t>
            </a:r>
            <a:endParaRPr lang="en-US" sz="1250" dirty="0"/>
          </a:p>
        </p:txBody>
      </p:sp>
      <p:sp>
        <p:nvSpPr>
          <p:cNvPr id="40" name="Text 38"/>
          <p:cNvSpPr txBox="1"/>
          <p:nvPr/>
        </p:nvSpPr>
        <p:spPr>
          <a:xfrm>
            <a:off x="8549640" y="5138928"/>
            <a:ext cx="2825496" cy="384048"/>
          </a:xfrm>
          <a:prstGeom prst="rect">
            <a:avLst/>
          </a:prstGeom>
          <a:noFill/>
          <a:ln/>
        </p:spPr>
        <p:txBody>
          <a:bodyPr wrap="square" lIns="0" tIns="0" rIns="0" bIns="0" rtlCol="0" anchor="t"/>
          <a:lstStyle/>
          <a:p>
            <a:pPr indent="0" marL="0">
              <a:lnSpc>
                <a:spcPct val="126000"/>
              </a:lnSpc>
              <a:buNone/>
            </a:pPr>
            <a:r>
              <a:rPr lang="en-US" sz="850" dirty="0">
                <a:solidFill>
                  <a:srgbClr val="3A3A42"/>
                </a:solidFill>
                <a:latin typeface="Yu Gothic" pitchFamily="34" charset="0"/>
                <a:ea typeface="Yu Gothic" pitchFamily="34" charset="-122"/>
                <a:cs typeface="Yu Gothic" pitchFamily="34" charset="-120"/>
              </a:rPr>
              <a:t>3期に黒字化、5年目に年商120.0億・営業利益45.4億（37.8%）。</a:t>
            </a:r>
            <a:endParaRPr lang="en-US" sz="850" dirty="0"/>
          </a:p>
          <a:p>
            <a:pPr indent="0" marL="0">
              <a:lnSpc>
                <a:spcPct val="126000"/>
              </a:lnSpc>
              <a:buNone/>
            </a:pPr>
            <a:r>
              <a:rPr lang="en-US" sz="850" dirty="0">
                <a:solidFill>
                  <a:srgbClr val="3A3A42"/>
                </a:solidFill>
                <a:latin typeface="Yu Gothic" pitchFamily="34" charset="0"/>
                <a:ea typeface="Yu Gothic" pitchFamily="34" charset="-122"/>
                <a:cs typeface="Yu Gothic" pitchFamily="34" charset="-120"/>
              </a:rPr>
              <a:t>①は東北新社の7%の規模にとどめ、②③で伸ばす。社員を増やさずに伸びる形をつくる。</a:t>
            </a:r>
            <a:endParaRPr lang="en-US" sz="850" dirty="0"/>
          </a:p>
        </p:txBody>
      </p:sp>
      <p:sp>
        <p:nvSpPr>
          <p:cNvPr id="41" name="Text 39"/>
          <p:cNvSpPr txBox="1"/>
          <p:nvPr/>
        </p:nvSpPr>
        <p:spPr>
          <a:xfrm>
            <a:off x="594360" y="6336792"/>
            <a:ext cx="9902952" cy="310896"/>
          </a:xfrm>
          <a:prstGeom prst="rect">
            <a:avLst/>
          </a:prstGeom>
          <a:noFill/>
          <a:ln/>
        </p:spPr>
        <p:txBody>
          <a:bodyPr wrap="square" lIns="0" tIns="0" rIns="0" bIns="0" rtlCol="0" anchor="ctr"/>
          <a:lstStyle/>
          <a:p>
            <a:pPr indent="0" marL="0">
              <a:buNone/>
            </a:pPr>
            <a:r>
              <a:rPr lang="en-US" sz="850" dirty="0">
                <a:solidFill>
                  <a:srgbClr val="6E6E76"/>
                </a:solidFill>
                <a:latin typeface="Yu Gothic" pitchFamily="34" charset="0"/>
                <a:ea typeface="Yu Gothic" pitchFamily="34" charset="-122"/>
                <a:cs typeface="Yu Gothic" pitchFamily="34" charset="-120"/>
              </a:rPr>
              <a:t>収支は［仮置き］を含む計画値です。投資の期待値は計画達成時の試算であり、利回りの保証ではありません。倍率は市況で変動します</a:t>
            </a:r>
            <a:endParaRPr lang="en-US" sz="850" dirty="0"/>
          </a:p>
        </p:txBody>
      </p:sp>
      <p:sp>
        <p:nvSpPr>
          <p:cNvPr id="42" name="Text 40"/>
          <p:cNvSpPr txBox="1"/>
          <p:nvPr/>
        </p:nvSpPr>
        <p:spPr>
          <a:xfrm>
            <a:off x="11228832" y="6336792"/>
            <a:ext cx="365760" cy="274320"/>
          </a:xfrm>
          <a:prstGeom prst="rect">
            <a:avLst/>
          </a:prstGeom>
          <a:noFill/>
          <a:ln/>
        </p:spPr>
        <p:txBody>
          <a:bodyPr wrap="square" lIns="0" tIns="0" rIns="0" bIns="0" rtlCol="0" anchor="ctr"/>
          <a:lstStyle/>
          <a:p>
            <a:pPr algn="r" indent="0" marL="0">
              <a:buNone/>
            </a:pPr>
            <a:r>
              <a:rPr lang="en-US" sz="900" dirty="0">
                <a:solidFill>
                  <a:srgbClr val="6E6E76"/>
                </a:solidFill>
                <a:latin typeface="Yu Gothic" pitchFamily="34" charset="0"/>
                <a:ea typeface="Yu Gothic" pitchFamily="34" charset="-122"/>
                <a:cs typeface="Yu Gothic" pitchFamily="34" charset="-120"/>
              </a:rPr>
              <a:t>1</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402336"/>
            <a:ext cx="475488" cy="475488"/>
          </a:xfrm>
          <a:prstGeom prst="rect">
            <a:avLst/>
          </a:prstGeom>
          <a:solidFill>
            <a:srgbClr val="B3121B"/>
          </a:solidFill>
          <a:ln/>
        </p:spPr>
      </p:sp>
      <p:sp>
        <p:nvSpPr>
          <p:cNvPr id="3" name="Text 1"/>
          <p:cNvSpPr txBox="1"/>
          <p:nvPr/>
        </p:nvSpPr>
        <p:spPr>
          <a:xfrm>
            <a:off x="594360" y="40233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1</a:t>
            </a:r>
            <a:endParaRPr lang="en-US" sz="1700" dirty="0"/>
          </a:p>
        </p:txBody>
      </p:sp>
      <p:sp>
        <p:nvSpPr>
          <p:cNvPr id="4" name="Text 2"/>
          <p:cNvSpPr txBox="1"/>
          <p:nvPr/>
        </p:nvSpPr>
        <p:spPr>
          <a:xfrm>
            <a:off x="1207008" y="365760"/>
            <a:ext cx="10387584" cy="548640"/>
          </a:xfrm>
          <a:prstGeom prst="rect">
            <a:avLst/>
          </a:prstGeom>
          <a:noFill/>
          <a:ln/>
        </p:spPr>
        <p:txBody>
          <a:bodyPr wrap="square" lIns="0" tIns="0" rIns="0" bIns="0" rtlCol="0" anchor="ctr"/>
          <a:lstStyle/>
          <a:p>
            <a:pPr indent="0" marL="0">
              <a:buNone/>
            </a:pPr>
            <a:r>
              <a:rPr lang="en-US" sz="2500" b="1" dirty="0">
                <a:solidFill>
                  <a:srgbClr val="16161A"/>
                </a:solidFill>
                <a:latin typeface="Yu Gothic" pitchFamily="34" charset="0"/>
                <a:ea typeface="Yu Gothic" pitchFamily="34" charset="-122"/>
                <a:cs typeface="Yu Gothic" pitchFamily="34" charset="-120"/>
              </a:rPr>
              <a:t>なぜ今なのか</a:t>
            </a:r>
            <a:endParaRPr lang="en-US" sz="2500" dirty="0"/>
          </a:p>
        </p:txBody>
      </p:sp>
      <p:sp>
        <p:nvSpPr>
          <p:cNvPr id="5" name="Text 3"/>
          <p:cNvSpPr txBox="1"/>
          <p:nvPr/>
        </p:nvSpPr>
        <p:spPr>
          <a:xfrm>
            <a:off x="1207008" y="932688"/>
            <a:ext cx="10387584" cy="310896"/>
          </a:xfrm>
          <a:prstGeom prst="rect">
            <a:avLst/>
          </a:prstGeom>
          <a:noFill/>
          <a:ln/>
        </p:spPr>
        <p:txBody>
          <a:bodyPr wrap="square" lIns="0" tIns="0" rIns="0" bIns="0" rtlCol="0" anchor="ctr"/>
          <a:lstStyle/>
          <a:p>
            <a:pPr indent="0" marL="0">
              <a:buNone/>
            </a:pPr>
            <a:r>
              <a:rPr lang="en-US" sz="1200" dirty="0">
                <a:solidFill>
                  <a:srgbClr val="6E6E76"/>
                </a:solidFill>
                <a:latin typeface="Yu Gothic" pitchFamily="34" charset="0"/>
                <a:ea typeface="Yu Gothic" pitchFamily="34" charset="-122"/>
                <a:cs typeface="Yu Gothic" pitchFamily="34" charset="-120"/>
              </a:rPr>
              <a:t>出遅れている日本、淘汰が始まった中国。そして優秀なAIクリエイターが行き場を失っている今がチャンス</a:t>
            </a:r>
            <a:endParaRPr lang="en-US" sz="1200" dirty="0"/>
          </a:p>
        </p:txBody>
      </p:sp>
      <p:sp>
        <p:nvSpPr>
          <p:cNvPr id="6" name="Shape 4"/>
          <p:cNvSpPr/>
          <p:nvPr/>
        </p:nvSpPr>
        <p:spPr>
          <a:xfrm>
            <a:off x="594360" y="1335024"/>
            <a:ext cx="2544318" cy="1389888"/>
          </a:xfrm>
          <a:prstGeom prst="rect">
            <a:avLst/>
          </a:prstGeom>
          <a:solidFill>
            <a:srgbClr val="FCE5CD"/>
          </a:solidFill>
          <a:ln/>
        </p:spPr>
      </p:sp>
      <p:sp>
        <p:nvSpPr>
          <p:cNvPr id="7" name="Shape 5"/>
          <p:cNvSpPr/>
          <p:nvPr/>
        </p:nvSpPr>
        <p:spPr>
          <a:xfrm>
            <a:off x="813816" y="1591056"/>
            <a:ext cx="109728" cy="109728"/>
          </a:xfrm>
          <a:prstGeom prst="rect">
            <a:avLst/>
          </a:prstGeom>
          <a:solidFill>
            <a:srgbClr val="B3121B"/>
          </a:solidFill>
          <a:ln/>
        </p:spPr>
      </p:sp>
      <p:sp>
        <p:nvSpPr>
          <p:cNvPr id="8" name="Text 6"/>
          <p:cNvSpPr txBox="1"/>
          <p:nvPr/>
        </p:nvSpPr>
        <p:spPr>
          <a:xfrm>
            <a:off x="1033272" y="1499616"/>
            <a:ext cx="1885950"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1  日本は出遅れている</a:t>
            </a:r>
            <a:endParaRPr lang="en-US" sz="1250" dirty="0"/>
          </a:p>
        </p:txBody>
      </p:sp>
      <p:sp>
        <p:nvSpPr>
          <p:cNvPr id="9" name="Text 7"/>
          <p:cNvSpPr txBox="1"/>
          <p:nvPr/>
        </p:nvSpPr>
        <p:spPr>
          <a:xfrm>
            <a:off x="1033272" y="1847088"/>
            <a:ext cx="1885950" cy="694944"/>
          </a:xfrm>
          <a:prstGeom prst="rect">
            <a:avLst/>
          </a:prstGeom>
          <a:noFill/>
          <a:ln/>
        </p:spPr>
        <p:txBody>
          <a:bodyPr wrap="square" lIns="0" tIns="0" rIns="0" bIns="0" rtlCol="0" anchor="t"/>
          <a:lstStyle/>
          <a:p>
            <a:pPr indent="0" marL="0">
              <a:lnSpc>
                <a:spcPct val="126000"/>
              </a:lnSpc>
              <a:buNone/>
            </a:pPr>
            <a:r>
              <a:rPr lang="en-US" sz="900" dirty="0">
                <a:solidFill>
                  <a:srgbClr val="3A3A42"/>
                </a:solidFill>
                <a:latin typeface="Yu Gothic" pitchFamily="34" charset="0"/>
                <a:ea typeface="Yu Gothic" pitchFamily="34" charset="-122"/>
                <a:cs typeface="Yu Gothic" pitchFamily="34" charset="-120"/>
              </a:rPr>
              <a:t>政府がAI推進法を制定し、AI基本計画を閣議決定するほどの危機感。</a:t>
            </a:r>
            <a:endParaRPr lang="en-US" sz="900" dirty="0"/>
          </a:p>
          <a:p>
            <a:pPr indent="0" marL="0">
              <a:lnSpc>
                <a:spcPct val="126000"/>
              </a:lnSpc>
              <a:buNone/>
            </a:pPr>
            <a:r>
              <a:rPr lang="en-US" sz="900" dirty="0">
                <a:solidFill>
                  <a:srgbClr val="3A3A42"/>
                </a:solidFill>
                <a:latin typeface="Yu Gothic" pitchFamily="34" charset="0"/>
                <a:ea typeface="Yu Gothic" pitchFamily="34" charset="-122"/>
                <a:cs typeface="Yu Gothic" pitchFamily="34" charset="-120"/>
              </a:rPr>
              <a:t>映像制作の現場にAIはまだ入っていない。</a:t>
            </a:r>
            <a:endParaRPr lang="en-US" sz="900" dirty="0"/>
          </a:p>
        </p:txBody>
      </p:sp>
      <p:sp>
        <p:nvSpPr>
          <p:cNvPr id="10" name="Shape 8"/>
          <p:cNvSpPr/>
          <p:nvPr/>
        </p:nvSpPr>
        <p:spPr>
          <a:xfrm>
            <a:off x="3412998" y="1335024"/>
            <a:ext cx="2544318" cy="1389888"/>
          </a:xfrm>
          <a:prstGeom prst="rect">
            <a:avLst/>
          </a:prstGeom>
          <a:solidFill>
            <a:srgbClr val="FCE5CD"/>
          </a:solidFill>
          <a:ln/>
        </p:spPr>
      </p:sp>
      <p:sp>
        <p:nvSpPr>
          <p:cNvPr id="11" name="Shape 9"/>
          <p:cNvSpPr/>
          <p:nvPr/>
        </p:nvSpPr>
        <p:spPr>
          <a:xfrm>
            <a:off x="3632454" y="1591056"/>
            <a:ext cx="109728" cy="109728"/>
          </a:xfrm>
          <a:prstGeom prst="rect">
            <a:avLst/>
          </a:prstGeom>
          <a:solidFill>
            <a:srgbClr val="B3121B"/>
          </a:solidFill>
          <a:ln/>
        </p:spPr>
      </p:sp>
      <p:sp>
        <p:nvSpPr>
          <p:cNvPr id="12" name="Text 10"/>
          <p:cNvSpPr txBox="1"/>
          <p:nvPr/>
        </p:nvSpPr>
        <p:spPr>
          <a:xfrm>
            <a:off x="3851910" y="1499616"/>
            <a:ext cx="1885950"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2  中国では淘汰が始まった</a:t>
            </a:r>
            <a:endParaRPr lang="en-US" sz="1250" dirty="0"/>
          </a:p>
        </p:txBody>
      </p:sp>
      <p:sp>
        <p:nvSpPr>
          <p:cNvPr id="13" name="Text 11"/>
          <p:cNvSpPr txBox="1"/>
          <p:nvPr/>
        </p:nvSpPr>
        <p:spPr>
          <a:xfrm>
            <a:off x="3851910" y="1847088"/>
            <a:ext cx="1885950" cy="694944"/>
          </a:xfrm>
          <a:prstGeom prst="rect">
            <a:avLst/>
          </a:prstGeom>
          <a:noFill/>
          <a:ln/>
        </p:spPr>
        <p:txBody>
          <a:bodyPr wrap="square" lIns="0" tIns="0" rIns="0" bIns="0" rtlCol="0" anchor="t"/>
          <a:lstStyle/>
          <a:p>
            <a:pPr indent="0" marL="0">
              <a:lnSpc>
                <a:spcPct val="126000"/>
              </a:lnSpc>
              <a:buNone/>
            </a:pPr>
            <a:r>
              <a:rPr lang="en-US" sz="900" dirty="0">
                <a:solidFill>
                  <a:srgbClr val="3A3A42"/>
                </a:solidFill>
                <a:latin typeface="Yu Gothic" pitchFamily="34" charset="0"/>
                <a:ea typeface="Yu Gothic" pitchFamily="34" charset="-122"/>
                <a:cs typeface="Yu Gothic" pitchFamily="34" charset="-120"/>
              </a:rPr>
              <a:t>AI映像の制作会社は2026年Q1に 1,216社→698社（−42%）。</a:t>
            </a:r>
            <a:endParaRPr lang="en-US" sz="900" dirty="0"/>
          </a:p>
          <a:p>
            <a:pPr indent="0" marL="0">
              <a:lnSpc>
                <a:spcPct val="126000"/>
              </a:lnSpc>
              <a:buNone/>
            </a:pPr>
            <a:r>
              <a:rPr lang="en-US" sz="900" dirty="0">
                <a:solidFill>
                  <a:srgbClr val="3A3A42"/>
                </a:solidFill>
                <a:latin typeface="Yu Gothic" pitchFamily="34" charset="0"/>
                <a:ea typeface="Yu Gothic" pitchFamily="34" charset="-122"/>
                <a:cs typeface="Yu Gothic" pitchFamily="34" charset="-120"/>
              </a:rPr>
              <a:t>約90%が赤字。最大コストは広告出稿で約70%。</a:t>
            </a:r>
            <a:endParaRPr lang="en-US" sz="900" dirty="0"/>
          </a:p>
        </p:txBody>
      </p:sp>
      <p:sp>
        <p:nvSpPr>
          <p:cNvPr id="14" name="Shape 12"/>
          <p:cNvSpPr/>
          <p:nvPr/>
        </p:nvSpPr>
        <p:spPr>
          <a:xfrm>
            <a:off x="6231636" y="1335024"/>
            <a:ext cx="2544318" cy="1389888"/>
          </a:xfrm>
          <a:prstGeom prst="rect">
            <a:avLst/>
          </a:prstGeom>
          <a:solidFill>
            <a:srgbClr val="FCE5CD"/>
          </a:solidFill>
          <a:ln/>
        </p:spPr>
      </p:sp>
      <p:sp>
        <p:nvSpPr>
          <p:cNvPr id="15" name="Shape 13"/>
          <p:cNvSpPr/>
          <p:nvPr/>
        </p:nvSpPr>
        <p:spPr>
          <a:xfrm>
            <a:off x="6451092" y="1591056"/>
            <a:ext cx="109728" cy="109728"/>
          </a:xfrm>
          <a:prstGeom prst="rect">
            <a:avLst/>
          </a:prstGeom>
          <a:solidFill>
            <a:srgbClr val="2A3563"/>
          </a:solidFill>
          <a:ln/>
        </p:spPr>
      </p:sp>
      <p:sp>
        <p:nvSpPr>
          <p:cNvPr id="16" name="Text 14"/>
          <p:cNvSpPr txBox="1"/>
          <p:nvPr/>
        </p:nvSpPr>
        <p:spPr>
          <a:xfrm>
            <a:off x="6670548" y="1499616"/>
            <a:ext cx="1885950"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3  制作力が余っている</a:t>
            </a:r>
            <a:endParaRPr lang="en-US" sz="1250" dirty="0"/>
          </a:p>
        </p:txBody>
      </p:sp>
      <p:sp>
        <p:nvSpPr>
          <p:cNvPr id="17" name="Text 15"/>
          <p:cNvSpPr txBox="1"/>
          <p:nvPr/>
        </p:nvSpPr>
        <p:spPr>
          <a:xfrm>
            <a:off x="6670548" y="1847088"/>
            <a:ext cx="1885950" cy="694944"/>
          </a:xfrm>
          <a:prstGeom prst="rect">
            <a:avLst/>
          </a:prstGeom>
          <a:noFill/>
          <a:ln/>
        </p:spPr>
        <p:txBody>
          <a:bodyPr wrap="square" lIns="0" tIns="0" rIns="0" bIns="0" rtlCol="0" anchor="t"/>
          <a:lstStyle/>
          <a:p>
            <a:pPr indent="0" marL="0">
              <a:lnSpc>
                <a:spcPct val="126000"/>
              </a:lnSpc>
              <a:buNone/>
            </a:pPr>
            <a:r>
              <a:rPr lang="en-US" sz="900" dirty="0">
                <a:solidFill>
                  <a:srgbClr val="3A3A42"/>
                </a:solidFill>
                <a:latin typeface="Yu Gothic" pitchFamily="34" charset="0"/>
                <a:ea typeface="Yu Gothic" pitchFamily="34" charset="-122"/>
                <a:cs typeface="Yu Gothic" pitchFamily="34" charset="-120"/>
              </a:rPr>
              <a:t>中国PFは純AIコンテンツの分成を圧縮し、最低保証を廃止。</a:t>
            </a:r>
            <a:endParaRPr lang="en-US" sz="900" dirty="0"/>
          </a:p>
          <a:p>
            <a:pPr indent="0" marL="0">
              <a:lnSpc>
                <a:spcPct val="126000"/>
              </a:lnSpc>
              <a:buNone/>
            </a:pPr>
            <a:r>
              <a:rPr lang="en-US" sz="900" dirty="0">
                <a:solidFill>
                  <a:srgbClr val="3A3A42"/>
                </a:solidFill>
                <a:latin typeface="Yu Gothic" pitchFamily="34" charset="0"/>
                <a:ea typeface="Yu Gothic" pitchFamily="34" charset="-122"/>
                <a:cs typeface="Yu Gothic" pitchFamily="34" charset="-120"/>
              </a:rPr>
              <a:t>足りないのは「作る力」ではなく「売る力」。</a:t>
            </a:r>
            <a:endParaRPr lang="en-US" sz="900" dirty="0"/>
          </a:p>
        </p:txBody>
      </p:sp>
      <p:sp>
        <p:nvSpPr>
          <p:cNvPr id="18" name="Shape 16"/>
          <p:cNvSpPr/>
          <p:nvPr/>
        </p:nvSpPr>
        <p:spPr>
          <a:xfrm>
            <a:off x="9050274" y="1335024"/>
            <a:ext cx="2544318" cy="1389888"/>
          </a:xfrm>
          <a:prstGeom prst="rect">
            <a:avLst/>
          </a:prstGeom>
          <a:solidFill>
            <a:srgbClr val="FCE5CD"/>
          </a:solidFill>
          <a:ln/>
        </p:spPr>
      </p:sp>
      <p:sp>
        <p:nvSpPr>
          <p:cNvPr id="19" name="Shape 17"/>
          <p:cNvSpPr/>
          <p:nvPr/>
        </p:nvSpPr>
        <p:spPr>
          <a:xfrm>
            <a:off x="9269730" y="1591056"/>
            <a:ext cx="109728" cy="109728"/>
          </a:xfrm>
          <a:prstGeom prst="rect">
            <a:avLst/>
          </a:prstGeom>
          <a:solidFill>
            <a:srgbClr val="C9962C"/>
          </a:solidFill>
          <a:ln/>
        </p:spPr>
      </p:sp>
      <p:sp>
        <p:nvSpPr>
          <p:cNvPr id="20" name="Text 18"/>
          <p:cNvSpPr txBox="1"/>
          <p:nvPr/>
        </p:nvSpPr>
        <p:spPr>
          <a:xfrm>
            <a:off x="9489186" y="1499616"/>
            <a:ext cx="1885950"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4  当社が売る力になる</a:t>
            </a:r>
            <a:endParaRPr lang="en-US" sz="1250" dirty="0"/>
          </a:p>
        </p:txBody>
      </p:sp>
      <p:sp>
        <p:nvSpPr>
          <p:cNvPr id="21" name="Text 19"/>
          <p:cNvSpPr txBox="1"/>
          <p:nvPr/>
        </p:nvSpPr>
        <p:spPr>
          <a:xfrm>
            <a:off x="9489186" y="1847088"/>
            <a:ext cx="1885950" cy="694944"/>
          </a:xfrm>
          <a:prstGeom prst="rect">
            <a:avLst/>
          </a:prstGeom>
          <a:noFill/>
          <a:ln/>
        </p:spPr>
        <p:txBody>
          <a:bodyPr wrap="square" lIns="0" tIns="0" rIns="0" bIns="0" rtlCol="0" anchor="t"/>
          <a:lstStyle/>
          <a:p>
            <a:pPr indent="0" marL="0">
              <a:lnSpc>
                <a:spcPct val="126000"/>
              </a:lnSpc>
              <a:buNone/>
            </a:pPr>
            <a:r>
              <a:rPr lang="en-US" sz="900" dirty="0">
                <a:solidFill>
                  <a:srgbClr val="3A3A42"/>
                </a:solidFill>
                <a:latin typeface="Yu Gothic" pitchFamily="34" charset="0"/>
                <a:ea typeface="Yu Gothic" pitchFamily="34" charset="-122"/>
                <a:cs typeface="Yu Gothic" pitchFamily="34" charset="-120"/>
              </a:rPr>
              <a:t>日本の発注を取り、要件定義・品質保証・契約・請求を引き受ける。</a:t>
            </a:r>
            <a:endParaRPr lang="en-US" sz="900" dirty="0"/>
          </a:p>
          <a:p>
            <a:pPr indent="0" marL="0">
              <a:lnSpc>
                <a:spcPct val="126000"/>
              </a:lnSpc>
              <a:buNone/>
            </a:pPr>
            <a:r>
              <a:rPr lang="en-US" sz="900" dirty="0">
                <a:solidFill>
                  <a:srgbClr val="3A3A42"/>
                </a:solidFill>
                <a:latin typeface="Yu Gothic" pitchFamily="34" charset="0"/>
                <a:ea typeface="Yu Gothic" pitchFamily="34" charset="-122"/>
                <a:cs typeface="Yu Gothic" pitchFamily="34" charset="-120"/>
              </a:rPr>
              <a:t>彼らは作るだけでよくなる。</a:t>
            </a:r>
            <a:endParaRPr lang="en-US" sz="900" dirty="0"/>
          </a:p>
        </p:txBody>
      </p:sp>
      <p:pic>
        <p:nvPicPr>
          <p:cNvPr id="22" name="Image 0" descr="assets/image3.png"/>
          <p:cNvPicPr>
            <a:picLocks noChangeAspect="1"/>
          </p:cNvPicPr>
          <p:nvPr/>
        </p:nvPicPr>
        <p:blipFill>
          <a:blip r:embed="rId1"/>
          <a:stretch>
            <a:fillRect/>
          </a:stretch>
        </p:blipFill>
        <p:spPr>
          <a:xfrm>
            <a:off x="3758184" y="2880360"/>
            <a:ext cx="1856232" cy="1389888"/>
          </a:xfrm>
          <a:prstGeom prst="rect">
            <a:avLst/>
          </a:prstGeom>
        </p:spPr>
      </p:pic>
      <p:pic>
        <p:nvPicPr>
          <p:cNvPr id="23" name="Image 1" descr="assets/image2.png"/>
          <p:cNvPicPr>
            <a:picLocks noChangeAspect="1"/>
          </p:cNvPicPr>
          <p:nvPr/>
        </p:nvPicPr>
        <p:blipFill>
          <a:blip r:embed="rId2"/>
          <a:stretch>
            <a:fillRect/>
          </a:stretch>
        </p:blipFill>
        <p:spPr>
          <a:xfrm>
            <a:off x="6537960" y="2907792"/>
            <a:ext cx="1856232" cy="1335024"/>
          </a:xfrm>
          <a:prstGeom prst="rect">
            <a:avLst/>
          </a:prstGeom>
        </p:spPr>
      </p:pic>
      <p:pic>
        <p:nvPicPr>
          <p:cNvPr id="24" name="Image 2" descr="assets/image1.png"/>
          <p:cNvPicPr>
            <a:picLocks noChangeAspect="1"/>
          </p:cNvPicPr>
          <p:nvPr/>
        </p:nvPicPr>
        <p:blipFill>
          <a:blip r:embed="rId3"/>
          <a:stretch>
            <a:fillRect/>
          </a:stretch>
        </p:blipFill>
        <p:spPr>
          <a:xfrm>
            <a:off x="9317736" y="2907792"/>
            <a:ext cx="2011680" cy="1335024"/>
          </a:xfrm>
          <a:prstGeom prst="rect">
            <a:avLst/>
          </a:prstGeom>
        </p:spPr>
      </p:pic>
      <p:sp>
        <p:nvSpPr>
          <p:cNvPr id="25" name="Shape 20"/>
          <p:cNvSpPr/>
          <p:nvPr/>
        </p:nvSpPr>
        <p:spPr>
          <a:xfrm>
            <a:off x="594360" y="4425696"/>
            <a:ext cx="11000232" cy="1517904"/>
          </a:xfrm>
          <a:prstGeom prst="rect">
            <a:avLst/>
          </a:prstGeom>
          <a:solidFill>
            <a:srgbClr val="FCE5CD"/>
          </a:solidFill>
          <a:ln/>
        </p:spPr>
      </p:sp>
      <p:sp>
        <p:nvSpPr>
          <p:cNvPr id="26" name="Text 21"/>
          <p:cNvSpPr txBox="1"/>
          <p:nvPr/>
        </p:nvSpPr>
        <p:spPr>
          <a:xfrm>
            <a:off x="960120" y="4489704"/>
            <a:ext cx="5486400" cy="274320"/>
          </a:xfrm>
          <a:prstGeom prst="rect">
            <a:avLst/>
          </a:prstGeom>
          <a:noFill/>
          <a:ln/>
        </p:spPr>
        <p:txBody>
          <a:bodyPr wrap="square" lIns="0" tIns="0" rIns="0" bIns="0" rtlCol="0" anchor="ctr"/>
          <a:lstStyle/>
          <a:p>
            <a:pPr indent="0" marL="0">
              <a:buNone/>
            </a:pPr>
            <a:r>
              <a:rPr lang="en-US" sz="1100" b="1" dirty="0">
                <a:solidFill>
                  <a:srgbClr val="16161A"/>
                </a:solidFill>
                <a:latin typeface="Yu Gothic" pitchFamily="34" charset="0"/>
                <a:ea typeface="Yu Gothic" pitchFamily="34" charset="-122"/>
                <a:cs typeface="Yu Gothic" pitchFamily="34" charset="-120"/>
              </a:rPr>
              <a:t>中国のAI映像制作会社数</a:t>
            </a:r>
            <a:endParaRPr lang="en-US" sz="1100" dirty="0"/>
          </a:p>
        </p:txBody>
      </p:sp>
      <p:sp>
        <p:nvSpPr>
          <p:cNvPr id="27" name="Text 22"/>
          <p:cNvSpPr txBox="1"/>
          <p:nvPr/>
        </p:nvSpPr>
        <p:spPr>
          <a:xfrm>
            <a:off x="960120" y="4892040"/>
            <a:ext cx="2011680" cy="256032"/>
          </a:xfrm>
          <a:prstGeom prst="rect">
            <a:avLst/>
          </a:prstGeom>
          <a:noFill/>
          <a:ln/>
        </p:spPr>
        <p:txBody>
          <a:bodyPr wrap="square" lIns="0" tIns="0" rIns="0" bIns="0" rtlCol="0" anchor="ctr"/>
          <a:lstStyle/>
          <a:p>
            <a:pPr indent="0" marL="0">
              <a:buNone/>
            </a:pPr>
            <a:r>
              <a:rPr lang="en-US" sz="1000" dirty="0">
                <a:solidFill>
                  <a:srgbClr val="6E6E76"/>
                </a:solidFill>
                <a:latin typeface="Yu Gothic" pitchFamily="34" charset="0"/>
                <a:ea typeface="Yu Gothic" pitchFamily="34" charset="-122"/>
                <a:cs typeface="Yu Gothic" pitchFamily="34" charset="-120"/>
              </a:rPr>
              <a:t>2025年 Q4</a:t>
            </a:r>
            <a:endParaRPr lang="en-US" sz="1000" dirty="0"/>
          </a:p>
        </p:txBody>
      </p:sp>
      <p:sp>
        <p:nvSpPr>
          <p:cNvPr id="28" name="Text 23"/>
          <p:cNvSpPr txBox="1"/>
          <p:nvPr/>
        </p:nvSpPr>
        <p:spPr>
          <a:xfrm>
            <a:off x="960120" y="5148072"/>
            <a:ext cx="2194560" cy="548640"/>
          </a:xfrm>
          <a:prstGeom prst="rect">
            <a:avLst/>
          </a:prstGeom>
          <a:noFill/>
          <a:ln/>
        </p:spPr>
        <p:txBody>
          <a:bodyPr wrap="square" lIns="0" tIns="0" rIns="0" bIns="0" rtlCol="0" anchor="ctr"/>
          <a:lstStyle/>
          <a:p>
            <a:pPr indent="0" marL="0">
              <a:buNone/>
            </a:pPr>
            <a:r>
              <a:rPr lang="en-US" sz="2200" b="1" dirty="0">
                <a:solidFill>
                  <a:srgbClr val="16161A"/>
                </a:solidFill>
                <a:latin typeface="Yu Gothic" pitchFamily="34" charset="0"/>
                <a:ea typeface="Yu Gothic" pitchFamily="34" charset="-122"/>
                <a:cs typeface="Yu Gothic" pitchFamily="34" charset="-120"/>
              </a:rPr>
              <a:t>1,216社</a:t>
            </a:r>
            <a:endParaRPr lang="en-US" sz="2200" dirty="0"/>
          </a:p>
        </p:txBody>
      </p:sp>
      <p:sp>
        <p:nvSpPr>
          <p:cNvPr id="29" name="Text 24"/>
          <p:cNvSpPr txBox="1"/>
          <p:nvPr/>
        </p:nvSpPr>
        <p:spPr>
          <a:xfrm>
            <a:off x="3337560" y="5148072"/>
            <a:ext cx="640080" cy="548640"/>
          </a:xfrm>
          <a:prstGeom prst="rect">
            <a:avLst/>
          </a:prstGeom>
          <a:noFill/>
          <a:ln/>
        </p:spPr>
        <p:txBody>
          <a:bodyPr wrap="square" lIns="0" tIns="0" rIns="0" bIns="0" rtlCol="0" anchor="ctr"/>
          <a:lstStyle/>
          <a:p>
            <a:pPr algn="ctr" indent="0" marL="0">
              <a:buNone/>
            </a:pPr>
            <a:r>
              <a:rPr lang="en-US" sz="1800" dirty="0">
                <a:solidFill>
                  <a:srgbClr val="6E6E76"/>
                </a:solidFill>
                <a:latin typeface="Yu Gothic" pitchFamily="34" charset="0"/>
                <a:ea typeface="Yu Gothic" pitchFamily="34" charset="-122"/>
                <a:cs typeface="Yu Gothic" pitchFamily="34" charset="-120"/>
              </a:rPr>
              <a:t>→</a:t>
            </a:r>
            <a:endParaRPr lang="en-US" sz="1800" dirty="0"/>
          </a:p>
        </p:txBody>
      </p:sp>
      <p:sp>
        <p:nvSpPr>
          <p:cNvPr id="30" name="Text 25"/>
          <p:cNvSpPr txBox="1"/>
          <p:nvPr/>
        </p:nvSpPr>
        <p:spPr>
          <a:xfrm>
            <a:off x="4069080" y="4892040"/>
            <a:ext cx="2011680" cy="256032"/>
          </a:xfrm>
          <a:prstGeom prst="rect">
            <a:avLst/>
          </a:prstGeom>
          <a:noFill/>
          <a:ln/>
        </p:spPr>
        <p:txBody>
          <a:bodyPr wrap="square" lIns="0" tIns="0" rIns="0" bIns="0" rtlCol="0" anchor="ctr"/>
          <a:lstStyle/>
          <a:p>
            <a:pPr indent="0" marL="0">
              <a:buNone/>
            </a:pPr>
            <a:r>
              <a:rPr lang="en-US" sz="1000" dirty="0">
                <a:solidFill>
                  <a:srgbClr val="6E6E76"/>
                </a:solidFill>
                <a:latin typeface="Yu Gothic" pitchFamily="34" charset="0"/>
                <a:ea typeface="Yu Gothic" pitchFamily="34" charset="-122"/>
                <a:cs typeface="Yu Gothic" pitchFamily="34" charset="-120"/>
              </a:rPr>
              <a:t>2026年 Q1</a:t>
            </a:r>
            <a:endParaRPr lang="en-US" sz="1000" dirty="0"/>
          </a:p>
        </p:txBody>
      </p:sp>
      <p:sp>
        <p:nvSpPr>
          <p:cNvPr id="31" name="Text 26"/>
          <p:cNvSpPr txBox="1"/>
          <p:nvPr/>
        </p:nvSpPr>
        <p:spPr>
          <a:xfrm>
            <a:off x="4069080" y="5148072"/>
            <a:ext cx="2194560" cy="548640"/>
          </a:xfrm>
          <a:prstGeom prst="rect">
            <a:avLst/>
          </a:prstGeom>
          <a:noFill/>
          <a:ln/>
        </p:spPr>
        <p:txBody>
          <a:bodyPr wrap="square" lIns="0" tIns="0" rIns="0" bIns="0" rtlCol="0" anchor="ctr"/>
          <a:lstStyle/>
          <a:p>
            <a:pPr indent="0" marL="0">
              <a:buNone/>
            </a:pPr>
            <a:r>
              <a:rPr lang="en-US" sz="2200" b="1" dirty="0">
                <a:solidFill>
                  <a:srgbClr val="B3121B"/>
                </a:solidFill>
                <a:latin typeface="Yu Gothic" pitchFamily="34" charset="0"/>
                <a:ea typeface="Yu Gothic" pitchFamily="34" charset="-122"/>
                <a:cs typeface="Yu Gothic" pitchFamily="34" charset="-120"/>
              </a:rPr>
              <a:t>698社</a:t>
            </a:r>
            <a:endParaRPr lang="en-US" sz="2200" dirty="0"/>
          </a:p>
        </p:txBody>
      </p:sp>
      <p:sp>
        <p:nvSpPr>
          <p:cNvPr id="32" name="Text 27"/>
          <p:cNvSpPr txBox="1"/>
          <p:nvPr/>
        </p:nvSpPr>
        <p:spPr>
          <a:xfrm>
            <a:off x="6995160" y="4544568"/>
            <a:ext cx="4142232" cy="1280160"/>
          </a:xfrm>
          <a:prstGeom prst="rect">
            <a:avLst/>
          </a:prstGeom>
          <a:noFill/>
          <a:ln/>
        </p:spPr>
        <p:txBody>
          <a:bodyPr wrap="square" lIns="0" tIns="0" rIns="0" bIns="0" rtlCol="0" anchor="t"/>
          <a:lstStyle/>
          <a:p>
            <a:pPr indent="0" marL="0">
              <a:lnSpc>
                <a:spcPct val="126000"/>
              </a:lnSpc>
              <a:buNone/>
            </a:pPr>
            <a:r>
              <a:rPr lang="en-US" sz="950" b="1" dirty="0">
                <a:solidFill>
                  <a:srgbClr val="B3121B"/>
                </a:solidFill>
                <a:latin typeface="Yu Gothic" pitchFamily="34" charset="0"/>
                <a:ea typeface="Yu Gothic" pitchFamily="34" charset="-122"/>
                <a:cs typeface="Yu Gothic" pitchFamily="34" charset="-120"/>
              </a:rPr>
              <a:t>1四半期で −42%。制作力が市場に溢れ出しています。</a:t>
            </a:r>
            <a:endParaRPr lang="en-US" sz="950" dirty="0"/>
          </a:p>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ただし淘汰されているのは、広告出稿で視聴者を取りに行った会社です。作る力そのものは市場に残っています。</a:t>
            </a:r>
            <a:endParaRPr lang="en-US" sz="950" dirty="0"/>
          </a:p>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当社が取るのは制作力であって、彼らが負けた土俵（視聴者獲得の消耗戦）には乗りません。</a:t>
            </a:r>
            <a:endParaRPr lang="en-US" sz="950" dirty="0"/>
          </a:p>
        </p:txBody>
      </p:sp>
      <p:sp>
        <p:nvSpPr>
          <p:cNvPr id="33" name="Text 28"/>
          <p:cNvSpPr txBox="1"/>
          <p:nvPr/>
        </p:nvSpPr>
        <p:spPr>
          <a:xfrm>
            <a:off x="594360" y="6336792"/>
            <a:ext cx="9902952" cy="310896"/>
          </a:xfrm>
          <a:prstGeom prst="rect">
            <a:avLst/>
          </a:prstGeom>
          <a:noFill/>
          <a:ln/>
        </p:spPr>
        <p:txBody>
          <a:bodyPr wrap="square" lIns="0" tIns="0" rIns="0" bIns="0" rtlCol="0" anchor="ctr"/>
          <a:lstStyle/>
          <a:p>
            <a:pPr indent="0" marL="0">
              <a:buNone/>
            </a:pPr>
            <a:r>
              <a:rPr lang="en-US" sz="850" dirty="0">
                <a:solidFill>
                  <a:srgbClr val="6E6E76"/>
                </a:solidFill>
                <a:latin typeface="Yu Gothic" pitchFamily="34" charset="0"/>
                <a:ea typeface="Yu Gothic" pitchFamily="34" charset="-122"/>
                <a:cs typeface="Yu Gothic" pitchFamily="34" charset="-120"/>
              </a:rPr>
              <a:t>出所: 内閣府 AI戦略 ／ 第一財経・搜狐（中国AI短劇の淘汰）／ 网易「2026短劇分账新政」／ 経済産業省</a:t>
            </a:r>
            <a:endParaRPr lang="en-US" sz="850" dirty="0"/>
          </a:p>
        </p:txBody>
      </p:sp>
      <p:sp>
        <p:nvSpPr>
          <p:cNvPr id="34" name="Text 29"/>
          <p:cNvSpPr txBox="1"/>
          <p:nvPr/>
        </p:nvSpPr>
        <p:spPr>
          <a:xfrm>
            <a:off x="11228832" y="6336792"/>
            <a:ext cx="365760" cy="274320"/>
          </a:xfrm>
          <a:prstGeom prst="rect">
            <a:avLst/>
          </a:prstGeom>
          <a:noFill/>
          <a:ln/>
        </p:spPr>
        <p:txBody>
          <a:bodyPr wrap="square" lIns="0" tIns="0" rIns="0" bIns="0" rtlCol="0" anchor="ctr"/>
          <a:lstStyle/>
          <a:p>
            <a:pPr algn="r" indent="0" marL="0">
              <a:buNone/>
            </a:pPr>
            <a:r>
              <a:rPr lang="en-US" sz="900" dirty="0">
                <a:solidFill>
                  <a:srgbClr val="6E6E76"/>
                </a:solidFill>
                <a:latin typeface="Yu Gothic" pitchFamily="34" charset="0"/>
                <a:ea typeface="Yu Gothic" pitchFamily="34" charset="-122"/>
                <a:cs typeface="Yu Gothic" pitchFamily="34" charset="-120"/>
              </a:rPr>
              <a:t>2</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402336"/>
            <a:ext cx="475488" cy="475488"/>
          </a:xfrm>
          <a:prstGeom prst="rect">
            <a:avLst/>
          </a:prstGeom>
          <a:solidFill>
            <a:srgbClr val="B3121B"/>
          </a:solidFill>
          <a:ln/>
        </p:spPr>
      </p:sp>
      <p:sp>
        <p:nvSpPr>
          <p:cNvPr id="3" name="Text 1"/>
          <p:cNvSpPr txBox="1"/>
          <p:nvPr/>
        </p:nvSpPr>
        <p:spPr>
          <a:xfrm>
            <a:off x="594360" y="40233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1</a:t>
            </a:r>
            <a:endParaRPr lang="en-US" sz="1700" dirty="0"/>
          </a:p>
        </p:txBody>
      </p:sp>
      <p:sp>
        <p:nvSpPr>
          <p:cNvPr id="4" name="Text 2"/>
          <p:cNvSpPr txBox="1"/>
          <p:nvPr/>
        </p:nvSpPr>
        <p:spPr>
          <a:xfrm>
            <a:off x="1207008" y="365760"/>
            <a:ext cx="10387584" cy="548640"/>
          </a:xfrm>
          <a:prstGeom prst="rect">
            <a:avLst/>
          </a:prstGeom>
          <a:noFill/>
          <a:ln/>
        </p:spPr>
        <p:txBody>
          <a:bodyPr wrap="square" lIns="0" tIns="0" rIns="0" bIns="0" rtlCol="0" anchor="ctr"/>
          <a:lstStyle/>
          <a:p>
            <a:pPr indent="0" marL="0">
              <a:buNone/>
            </a:pPr>
            <a:r>
              <a:rPr lang="en-US" sz="2500" b="1" dirty="0">
                <a:solidFill>
                  <a:srgbClr val="16161A"/>
                </a:solidFill>
                <a:latin typeface="Yu Gothic" pitchFamily="34" charset="0"/>
                <a:ea typeface="Yu Gothic" pitchFamily="34" charset="-122"/>
                <a:cs typeface="Yu Gothic" pitchFamily="34" charset="-120"/>
              </a:rPr>
              <a:t>最終ゴール</a:t>
            </a:r>
            <a:endParaRPr lang="en-US" sz="2500" dirty="0"/>
          </a:p>
        </p:txBody>
      </p:sp>
      <p:sp>
        <p:nvSpPr>
          <p:cNvPr id="5" name="Text 3"/>
          <p:cNvSpPr txBox="1"/>
          <p:nvPr/>
        </p:nvSpPr>
        <p:spPr>
          <a:xfrm>
            <a:off x="1207008" y="932688"/>
            <a:ext cx="10387584" cy="310896"/>
          </a:xfrm>
          <a:prstGeom prst="rect">
            <a:avLst/>
          </a:prstGeom>
          <a:noFill/>
          <a:ln/>
        </p:spPr>
        <p:txBody>
          <a:bodyPr wrap="square" lIns="0" tIns="0" rIns="0" bIns="0" rtlCol="0" anchor="ctr"/>
          <a:lstStyle/>
          <a:p>
            <a:pPr indent="0" marL="0">
              <a:buNone/>
            </a:pPr>
            <a:r>
              <a:rPr lang="en-US" sz="1200" dirty="0">
                <a:solidFill>
                  <a:srgbClr val="6E6E76"/>
                </a:solidFill>
                <a:latin typeface="Yu Gothic" pitchFamily="34" charset="0"/>
                <a:ea typeface="Yu Gothic" pitchFamily="34" charset="-122"/>
                <a:cs typeface="Yu Gothic" pitchFamily="34" charset="-120"/>
              </a:rPr>
              <a:t>日本に制作ハブを置き、中華圏の技術を束ねて世界市場を取りに行く</a:t>
            </a:r>
            <a:endParaRPr lang="en-US" sz="1200" dirty="0"/>
          </a:p>
        </p:txBody>
      </p:sp>
      <p:sp>
        <p:nvSpPr>
          <p:cNvPr id="6" name="Shape 4"/>
          <p:cNvSpPr/>
          <p:nvPr/>
        </p:nvSpPr>
        <p:spPr>
          <a:xfrm>
            <a:off x="594360" y="1389888"/>
            <a:ext cx="50292" cy="786384"/>
          </a:xfrm>
          <a:prstGeom prst="rect">
            <a:avLst/>
          </a:prstGeom>
          <a:solidFill>
            <a:srgbClr val="B3121B"/>
          </a:solidFill>
          <a:ln/>
        </p:spPr>
      </p:sp>
      <p:sp>
        <p:nvSpPr>
          <p:cNvPr id="7" name="Text 5"/>
          <p:cNvSpPr txBox="1"/>
          <p:nvPr/>
        </p:nvSpPr>
        <p:spPr>
          <a:xfrm>
            <a:off x="822960" y="1389888"/>
            <a:ext cx="10771632" cy="786384"/>
          </a:xfrm>
          <a:prstGeom prst="rect">
            <a:avLst/>
          </a:prstGeom>
          <a:noFill/>
          <a:ln/>
        </p:spPr>
        <p:txBody>
          <a:bodyPr wrap="square" lIns="0" tIns="0" rIns="0" bIns="0" rtlCol="0" anchor="ctr"/>
          <a:lstStyle/>
          <a:p>
            <a:pPr indent="0" marL="0">
              <a:lnSpc>
                <a:spcPct val="130000"/>
              </a:lnSpc>
              <a:buNone/>
            </a:pPr>
            <a:r>
              <a:rPr lang="en-US" sz="1550" b="1" dirty="0">
                <a:solidFill>
                  <a:srgbClr val="B3121B"/>
                </a:solidFill>
                <a:latin typeface="Yu Gothic" pitchFamily="34" charset="0"/>
                <a:ea typeface="Yu Gothic" pitchFamily="34" charset="-122"/>
                <a:cs typeface="Yu Gothic" pitchFamily="34" charset="-120"/>
              </a:rPr>
              <a:t>AI映像制作ハブを日本に置く。</a:t>
            </a:r>
            <a:endParaRPr lang="en-US" sz="1550" dirty="0"/>
          </a:p>
          <a:p>
            <a:pPr indent="0" marL="0">
              <a:lnSpc>
                <a:spcPct val="130000"/>
              </a:lnSpc>
              <a:buNone/>
            </a:pPr>
            <a:r>
              <a:rPr lang="en-US" sz="1550" b="1" dirty="0">
                <a:solidFill>
                  <a:srgbClr val="16161A"/>
                </a:solidFill>
                <a:latin typeface="Yu Gothic" pitchFamily="34" charset="0"/>
                <a:ea typeface="Yu Gothic" pitchFamily="34" charset="-122"/>
                <a:cs typeface="Yu Gothic" pitchFamily="34" charset="-120"/>
              </a:rPr>
              <a:t>中華圏の最先端技術に、日本のクオリティーコントロールとIPを載せて世界へ出す。</a:t>
            </a:r>
            <a:endParaRPr lang="en-US" sz="1550" dirty="0"/>
          </a:p>
        </p:txBody>
      </p:sp>
      <p:sp>
        <p:nvSpPr>
          <p:cNvPr id="8" name="Shape 6"/>
          <p:cNvSpPr/>
          <p:nvPr/>
        </p:nvSpPr>
        <p:spPr>
          <a:xfrm>
            <a:off x="594360" y="2432304"/>
            <a:ext cx="3483864" cy="1975104"/>
          </a:xfrm>
          <a:prstGeom prst="rect">
            <a:avLst/>
          </a:prstGeom>
          <a:solidFill>
            <a:srgbClr val="FCE5CD"/>
          </a:solidFill>
          <a:ln/>
        </p:spPr>
      </p:sp>
      <p:sp>
        <p:nvSpPr>
          <p:cNvPr id="9" name="Shape 7"/>
          <p:cNvSpPr/>
          <p:nvPr/>
        </p:nvSpPr>
        <p:spPr>
          <a:xfrm>
            <a:off x="813816" y="2688336"/>
            <a:ext cx="109728" cy="109728"/>
          </a:xfrm>
          <a:prstGeom prst="rect">
            <a:avLst/>
          </a:prstGeom>
          <a:solidFill>
            <a:srgbClr val="B3121B"/>
          </a:solidFill>
          <a:ln/>
        </p:spPr>
      </p:sp>
      <p:sp>
        <p:nvSpPr>
          <p:cNvPr id="10" name="Text 8"/>
          <p:cNvSpPr txBox="1"/>
          <p:nvPr/>
        </p:nvSpPr>
        <p:spPr>
          <a:xfrm>
            <a:off x="1033272" y="2596896"/>
            <a:ext cx="2825496"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① 日本の企業案件</a:t>
            </a:r>
            <a:endParaRPr lang="en-US" sz="1250" dirty="0"/>
          </a:p>
        </p:txBody>
      </p:sp>
      <p:sp>
        <p:nvSpPr>
          <p:cNvPr id="11" name="Text 9"/>
          <p:cNvSpPr txBox="1"/>
          <p:nvPr/>
        </p:nvSpPr>
        <p:spPr>
          <a:xfrm>
            <a:off x="1033272" y="2944368"/>
            <a:ext cx="2825496" cy="1280160"/>
          </a:xfrm>
          <a:prstGeom prst="rect">
            <a:avLst/>
          </a:prstGeom>
          <a:noFill/>
          <a:ln/>
        </p:spPr>
        <p:txBody>
          <a:bodyPr wrap="square" lIns="0" tIns="0" rIns="0" bIns="0" rtlCol="0" anchor="t"/>
          <a:lstStyle/>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4,580億円の実測市場。法人が発注し、与信と請求が必要な領域。</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個人クリエイターには越えられない壁を当社が引き受ける。</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初日から現金を生む主軸。</a:t>
            </a:r>
            <a:endParaRPr lang="en-US" sz="1000" dirty="0"/>
          </a:p>
        </p:txBody>
      </p:sp>
      <p:sp>
        <p:nvSpPr>
          <p:cNvPr id="12" name="Shape 10"/>
          <p:cNvSpPr/>
          <p:nvPr/>
        </p:nvSpPr>
        <p:spPr>
          <a:xfrm>
            <a:off x="4352544" y="2432304"/>
            <a:ext cx="3483864" cy="1975104"/>
          </a:xfrm>
          <a:prstGeom prst="rect">
            <a:avLst/>
          </a:prstGeom>
          <a:solidFill>
            <a:srgbClr val="FCE5CD"/>
          </a:solidFill>
          <a:ln/>
        </p:spPr>
      </p:sp>
      <p:sp>
        <p:nvSpPr>
          <p:cNvPr id="13" name="Shape 11"/>
          <p:cNvSpPr/>
          <p:nvPr/>
        </p:nvSpPr>
        <p:spPr>
          <a:xfrm>
            <a:off x="4572000" y="2688336"/>
            <a:ext cx="109728" cy="109728"/>
          </a:xfrm>
          <a:prstGeom prst="rect">
            <a:avLst/>
          </a:prstGeom>
          <a:solidFill>
            <a:srgbClr val="2A3563"/>
          </a:solidFill>
          <a:ln/>
        </p:spPr>
      </p:sp>
      <p:sp>
        <p:nvSpPr>
          <p:cNvPr id="14" name="Text 12"/>
          <p:cNvSpPr txBox="1"/>
          <p:nvPr/>
        </p:nvSpPr>
        <p:spPr>
          <a:xfrm>
            <a:off x="4791456" y="2596896"/>
            <a:ext cx="2825496"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② 越境C2C発注プラットフォーム</a:t>
            </a:r>
            <a:endParaRPr lang="en-US" sz="1250" dirty="0"/>
          </a:p>
        </p:txBody>
      </p:sp>
      <p:sp>
        <p:nvSpPr>
          <p:cNvPr id="15" name="Text 13"/>
          <p:cNvSpPr txBox="1"/>
          <p:nvPr/>
        </p:nvSpPr>
        <p:spPr>
          <a:xfrm>
            <a:off x="4791456" y="2944368"/>
            <a:ext cx="2825496" cy="1280160"/>
          </a:xfrm>
          <a:prstGeom prst="rect">
            <a:avLst/>
          </a:prstGeom>
          <a:noFill/>
          <a:ln/>
        </p:spPr>
        <p:txBody>
          <a:bodyPr wrap="square" lIns="0" tIns="0" rIns="0" bIns="0" rtlCol="0" anchor="t"/>
          <a:lstStyle/>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日本・海外の個人と中小事業者が、中国のクリエイターに直接発注できる場。</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言語・決済・品質保証・契約の壁を、システムで引き受ける。</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6ヶ月目から。取引手数料で回収する。</a:t>
            </a:r>
            <a:endParaRPr lang="en-US" sz="1000" dirty="0"/>
          </a:p>
        </p:txBody>
      </p:sp>
      <p:sp>
        <p:nvSpPr>
          <p:cNvPr id="16" name="Shape 14"/>
          <p:cNvSpPr/>
          <p:nvPr/>
        </p:nvSpPr>
        <p:spPr>
          <a:xfrm>
            <a:off x="8110728" y="2432304"/>
            <a:ext cx="3483864" cy="1975104"/>
          </a:xfrm>
          <a:prstGeom prst="rect">
            <a:avLst/>
          </a:prstGeom>
          <a:solidFill>
            <a:srgbClr val="FCE5CD"/>
          </a:solidFill>
          <a:ln/>
        </p:spPr>
      </p:sp>
      <p:sp>
        <p:nvSpPr>
          <p:cNvPr id="17" name="Shape 15"/>
          <p:cNvSpPr/>
          <p:nvPr/>
        </p:nvSpPr>
        <p:spPr>
          <a:xfrm>
            <a:off x="8330184" y="2688336"/>
            <a:ext cx="109728" cy="109728"/>
          </a:xfrm>
          <a:prstGeom prst="rect">
            <a:avLst/>
          </a:prstGeom>
          <a:solidFill>
            <a:srgbClr val="C9962C"/>
          </a:solidFill>
          <a:ln/>
        </p:spPr>
      </p:sp>
      <p:sp>
        <p:nvSpPr>
          <p:cNvPr id="18" name="Text 16"/>
          <p:cNvSpPr txBox="1"/>
          <p:nvPr/>
        </p:nvSpPr>
        <p:spPr>
          <a:xfrm>
            <a:off x="8549640" y="2596896"/>
            <a:ext cx="2825496"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③ 日本の個人案件</a:t>
            </a:r>
            <a:endParaRPr lang="en-US" sz="1250" dirty="0"/>
          </a:p>
        </p:txBody>
      </p:sp>
      <p:sp>
        <p:nvSpPr>
          <p:cNvPr id="19" name="Text 17"/>
          <p:cNvSpPr txBox="1"/>
          <p:nvPr/>
        </p:nvSpPr>
        <p:spPr>
          <a:xfrm>
            <a:off x="8549640" y="2944368"/>
            <a:ext cx="2825496" cy="1280160"/>
          </a:xfrm>
          <a:prstGeom prst="rect">
            <a:avLst/>
          </a:prstGeom>
          <a:noFill/>
          <a:ln/>
        </p:spPr>
        <p:txBody>
          <a:bodyPr wrap="square" lIns="0" tIns="0" rIns="0" bIns="0" rtlCol="0" anchor="t"/>
          <a:lstStyle/>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ウエディング・終活など、個人が発注する領域。単価5〜20万。</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法人案件の閑散期を埋める調整弁。</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要求が定型的で件数が出るため、最良の学習データ源になる。</a:t>
            </a:r>
            <a:endParaRPr lang="en-US" sz="1000" dirty="0"/>
          </a:p>
        </p:txBody>
      </p:sp>
      <p:sp>
        <p:nvSpPr>
          <p:cNvPr id="20" name="Shape 18"/>
          <p:cNvSpPr/>
          <p:nvPr/>
        </p:nvSpPr>
        <p:spPr>
          <a:xfrm>
            <a:off x="594360" y="4590288"/>
            <a:ext cx="11000232" cy="1115568"/>
          </a:xfrm>
          <a:prstGeom prst="rect">
            <a:avLst/>
          </a:prstGeom>
          <a:solidFill>
            <a:srgbClr val="FBF1F1"/>
          </a:solidFill>
          <a:ln/>
        </p:spPr>
      </p:sp>
      <p:sp>
        <p:nvSpPr>
          <p:cNvPr id="21" name="Shape 19"/>
          <p:cNvSpPr/>
          <p:nvPr/>
        </p:nvSpPr>
        <p:spPr>
          <a:xfrm>
            <a:off x="594360" y="4590288"/>
            <a:ext cx="45720" cy="1115568"/>
          </a:xfrm>
          <a:prstGeom prst="rect">
            <a:avLst/>
          </a:prstGeom>
          <a:solidFill>
            <a:srgbClr val="B3121B"/>
          </a:solidFill>
          <a:ln/>
        </p:spPr>
      </p:sp>
      <p:sp>
        <p:nvSpPr>
          <p:cNvPr id="22" name="Text 20"/>
          <p:cNvSpPr txBox="1"/>
          <p:nvPr/>
        </p:nvSpPr>
        <p:spPr>
          <a:xfrm>
            <a:off x="850392" y="4736592"/>
            <a:ext cx="10543032" cy="274320"/>
          </a:xfrm>
          <a:prstGeom prst="rect">
            <a:avLst/>
          </a:prstGeom>
          <a:noFill/>
          <a:ln/>
        </p:spPr>
        <p:txBody>
          <a:bodyPr wrap="square" lIns="0" tIns="0" rIns="0" bIns="0" rtlCol="0" anchor="ctr"/>
          <a:lstStyle/>
          <a:p>
            <a:pPr indent="0" marL="0">
              <a:buNone/>
            </a:pPr>
            <a:r>
              <a:rPr lang="en-US" sz="1200" b="1" dirty="0">
                <a:solidFill>
                  <a:srgbClr val="B3121B"/>
                </a:solidFill>
                <a:latin typeface="Yu Gothic" pitchFamily="34" charset="0"/>
                <a:ea typeface="Yu Gothic" pitchFamily="34" charset="-122"/>
                <a:cs typeface="Yu Gothic" pitchFamily="34" charset="-120"/>
              </a:rPr>
              <a:t>⚠ 3つとも「制作」が土台です</a:t>
            </a:r>
            <a:endParaRPr lang="en-US" sz="1200" dirty="0"/>
          </a:p>
        </p:txBody>
      </p:sp>
      <p:sp>
        <p:nvSpPr>
          <p:cNvPr id="23" name="Text 21"/>
          <p:cNvSpPr txBox="1"/>
          <p:nvPr/>
        </p:nvSpPr>
        <p:spPr>
          <a:xfrm>
            <a:off x="850392" y="5065776"/>
            <a:ext cx="10543032" cy="493776"/>
          </a:xfrm>
          <a:prstGeom prst="rect">
            <a:avLst/>
          </a:prstGeom>
          <a:noFill/>
          <a:ln/>
        </p:spPr>
        <p:txBody>
          <a:bodyPr wrap="square" lIns="0" tIns="0" rIns="0" bIns="0" rtlCol="0" anchor="t"/>
          <a:lstStyle/>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②のプラットフォームは、①③で積んだクリエイターが無ければ受け手がいません。プラットフォームが先ではなく、制作が先です。</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そして①②③で溜まった制作データが、内製化・特許・モデル外販（P4）の原料になります。ここが企業価値の本体です。</a:t>
            </a:r>
            <a:endParaRPr lang="en-US" sz="1000" dirty="0"/>
          </a:p>
        </p:txBody>
      </p:sp>
      <p:sp>
        <p:nvSpPr>
          <p:cNvPr id="24" name="Text 22"/>
          <p:cNvSpPr txBox="1"/>
          <p:nvPr/>
        </p:nvSpPr>
        <p:spPr>
          <a:xfrm>
            <a:off x="594360" y="6336792"/>
            <a:ext cx="9902952" cy="310896"/>
          </a:xfrm>
          <a:prstGeom prst="rect">
            <a:avLst/>
          </a:prstGeom>
          <a:noFill/>
          <a:ln/>
        </p:spPr>
        <p:txBody>
          <a:bodyPr wrap="square" lIns="0" tIns="0" rIns="0" bIns="0" rtlCol="0" anchor="ctr"/>
          <a:lstStyle/>
          <a:p>
            <a:pPr indent="0" marL="0">
              <a:buNone/>
            </a:pPr>
            <a:r>
              <a:rPr lang="en-US" sz="850" dirty="0">
                <a:solidFill>
                  <a:srgbClr val="6E6E76"/>
                </a:solidFill>
                <a:latin typeface="Yu Gothic" pitchFamily="34" charset="0"/>
                <a:ea typeface="Yu Gothic" pitchFamily="34" charset="-122"/>
                <a:cs typeface="Yu Gothic" pitchFamily="34" charset="-120"/>
              </a:rPr>
              <a:t>市場規模の出所は次ページ以降。個人案件は「個人が発注する市場」であり、クリエイターエコノミー（個人が受け取る市場）とは別物です</a:t>
            </a:r>
            <a:endParaRPr lang="en-US" sz="850" dirty="0"/>
          </a:p>
        </p:txBody>
      </p:sp>
      <p:sp>
        <p:nvSpPr>
          <p:cNvPr id="25" name="Text 23"/>
          <p:cNvSpPr txBox="1"/>
          <p:nvPr/>
        </p:nvSpPr>
        <p:spPr>
          <a:xfrm>
            <a:off x="11228832" y="6336792"/>
            <a:ext cx="365760" cy="274320"/>
          </a:xfrm>
          <a:prstGeom prst="rect">
            <a:avLst/>
          </a:prstGeom>
          <a:noFill/>
          <a:ln/>
        </p:spPr>
        <p:txBody>
          <a:bodyPr wrap="square" lIns="0" tIns="0" rIns="0" bIns="0" rtlCol="0" anchor="ctr"/>
          <a:lstStyle/>
          <a:p>
            <a:pPr algn="r" indent="0" marL="0">
              <a:buNone/>
            </a:pPr>
            <a:r>
              <a:rPr lang="en-US" sz="900" dirty="0">
                <a:solidFill>
                  <a:srgbClr val="6E6E76"/>
                </a:solidFill>
                <a:latin typeface="Yu Gothic" pitchFamily="34" charset="0"/>
                <a:ea typeface="Yu Gothic" pitchFamily="34" charset="-122"/>
                <a:cs typeface="Yu Gothic" pitchFamily="34" charset="-120"/>
              </a:rPr>
              <a:t>3</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402336"/>
            <a:ext cx="475488" cy="475488"/>
          </a:xfrm>
          <a:prstGeom prst="rect">
            <a:avLst/>
          </a:prstGeom>
          <a:solidFill>
            <a:srgbClr val="B3121B"/>
          </a:solidFill>
          <a:ln/>
        </p:spPr>
      </p:sp>
      <p:sp>
        <p:nvSpPr>
          <p:cNvPr id="3" name="Text 1"/>
          <p:cNvSpPr txBox="1"/>
          <p:nvPr/>
        </p:nvSpPr>
        <p:spPr>
          <a:xfrm>
            <a:off x="594360" y="40233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2</a:t>
            </a:r>
            <a:endParaRPr lang="en-US" sz="1700" dirty="0"/>
          </a:p>
        </p:txBody>
      </p:sp>
      <p:sp>
        <p:nvSpPr>
          <p:cNvPr id="4" name="Text 2"/>
          <p:cNvSpPr txBox="1"/>
          <p:nvPr/>
        </p:nvSpPr>
        <p:spPr>
          <a:xfrm>
            <a:off x="1207008" y="365760"/>
            <a:ext cx="10387584" cy="548640"/>
          </a:xfrm>
          <a:prstGeom prst="rect">
            <a:avLst/>
          </a:prstGeom>
          <a:noFill/>
          <a:ln/>
        </p:spPr>
        <p:txBody>
          <a:bodyPr wrap="square" lIns="0" tIns="0" rIns="0" bIns="0" rtlCol="0" anchor="ctr"/>
          <a:lstStyle/>
          <a:p>
            <a:pPr indent="0" marL="0">
              <a:buNone/>
            </a:pPr>
            <a:r>
              <a:rPr lang="en-US" sz="2500" b="1" dirty="0">
                <a:solidFill>
                  <a:srgbClr val="16161A"/>
                </a:solidFill>
                <a:latin typeface="Yu Gothic" pitchFamily="34" charset="0"/>
                <a:ea typeface="Yu Gothic" pitchFamily="34" charset="-122"/>
                <a:cs typeface="Yu Gothic" pitchFamily="34" charset="-120"/>
              </a:rPr>
              <a:t>市場規模</a:t>
            </a:r>
            <a:endParaRPr lang="en-US" sz="2500" dirty="0"/>
          </a:p>
        </p:txBody>
      </p:sp>
      <p:sp>
        <p:nvSpPr>
          <p:cNvPr id="5" name="Text 3"/>
          <p:cNvSpPr txBox="1"/>
          <p:nvPr/>
        </p:nvSpPr>
        <p:spPr>
          <a:xfrm>
            <a:off x="1207008" y="932688"/>
            <a:ext cx="10387584" cy="310896"/>
          </a:xfrm>
          <a:prstGeom prst="rect">
            <a:avLst/>
          </a:prstGeom>
          <a:noFill/>
          <a:ln/>
        </p:spPr>
        <p:txBody>
          <a:bodyPr wrap="square" lIns="0" tIns="0" rIns="0" bIns="0" rtlCol="0" anchor="ctr"/>
          <a:lstStyle/>
          <a:p>
            <a:pPr indent="0" marL="0">
              <a:buNone/>
            </a:pPr>
            <a:r>
              <a:rPr lang="en-US" sz="1200" dirty="0">
                <a:solidFill>
                  <a:srgbClr val="6E6E76"/>
                </a:solidFill>
                <a:latin typeface="Yu Gothic" pitchFamily="34" charset="0"/>
                <a:ea typeface="Yu Gothic" pitchFamily="34" charset="-122"/>
                <a:cs typeface="Yu Gothic" pitchFamily="34" charset="-120"/>
              </a:rPr>
              <a:t>本丸は国内の映像制作市場です。ここは推計ではなく実測値があります</a:t>
            </a:r>
            <a:endParaRPr lang="en-US" sz="1200" dirty="0"/>
          </a:p>
        </p:txBody>
      </p:sp>
      <p:sp>
        <p:nvSpPr>
          <p:cNvPr id="6" name="Shape 4"/>
          <p:cNvSpPr/>
          <p:nvPr/>
        </p:nvSpPr>
        <p:spPr>
          <a:xfrm>
            <a:off x="594360" y="1444752"/>
            <a:ext cx="3483864" cy="1389888"/>
          </a:xfrm>
          <a:prstGeom prst="rect">
            <a:avLst/>
          </a:prstGeom>
          <a:solidFill>
            <a:srgbClr val="FCE5CD"/>
          </a:solidFill>
          <a:ln/>
        </p:spPr>
      </p:sp>
      <p:sp>
        <p:nvSpPr>
          <p:cNvPr id="7" name="Text 5"/>
          <p:cNvSpPr txBox="1"/>
          <p:nvPr/>
        </p:nvSpPr>
        <p:spPr>
          <a:xfrm>
            <a:off x="832104" y="1609344"/>
            <a:ext cx="3008376" cy="603504"/>
          </a:xfrm>
          <a:prstGeom prst="rect">
            <a:avLst/>
          </a:prstGeom>
          <a:noFill/>
          <a:ln/>
        </p:spPr>
        <p:txBody>
          <a:bodyPr wrap="square" lIns="0" tIns="0" rIns="0" bIns="0" rtlCol="0" anchor="ctr"/>
          <a:lstStyle/>
          <a:p>
            <a:pPr indent="0" marL="0">
              <a:buNone/>
            </a:pPr>
            <a:r>
              <a:rPr lang="en-US" sz="2700" b="1" dirty="0">
                <a:solidFill>
                  <a:srgbClr val="B3121B"/>
                </a:solidFill>
                <a:latin typeface="Yu Gothic" pitchFamily="34" charset="0"/>
                <a:ea typeface="Yu Gothic" pitchFamily="34" charset="-122"/>
                <a:cs typeface="Yu Gothic" pitchFamily="34" charset="-120"/>
              </a:rPr>
              <a:t>4,580億円</a:t>
            </a:r>
            <a:endParaRPr lang="en-US" sz="2700" dirty="0"/>
          </a:p>
        </p:txBody>
      </p:sp>
      <p:sp>
        <p:nvSpPr>
          <p:cNvPr id="8" name="Text 6"/>
          <p:cNvSpPr txBox="1"/>
          <p:nvPr/>
        </p:nvSpPr>
        <p:spPr>
          <a:xfrm>
            <a:off x="832104" y="2231136"/>
            <a:ext cx="3008376" cy="256032"/>
          </a:xfrm>
          <a:prstGeom prst="rect">
            <a:avLst/>
          </a:prstGeom>
          <a:noFill/>
          <a:ln/>
        </p:spPr>
        <p:txBody>
          <a:bodyPr wrap="square" lIns="0" tIns="0" rIns="0" bIns="0" rtlCol="0" anchor="ctr"/>
          <a:lstStyle/>
          <a:p>
            <a:pPr indent="0" marL="0">
              <a:buNone/>
            </a:pPr>
            <a:r>
              <a:rPr lang="en-US" sz="1100" b="1" dirty="0">
                <a:solidFill>
                  <a:srgbClr val="16161A"/>
                </a:solidFill>
                <a:latin typeface="Yu Gothic" pitchFamily="34" charset="0"/>
                <a:ea typeface="Yu Gothic" pitchFamily="34" charset="-122"/>
                <a:cs typeface="Yu Gothic" pitchFamily="34" charset="-120"/>
              </a:rPr>
              <a:t>① 国内 動画制作サービス市場（2025年度予測）</a:t>
            </a:r>
            <a:endParaRPr lang="en-US" sz="1100" dirty="0"/>
          </a:p>
        </p:txBody>
      </p:sp>
      <p:sp>
        <p:nvSpPr>
          <p:cNvPr id="9" name="Text 7"/>
          <p:cNvSpPr txBox="1"/>
          <p:nvPr/>
        </p:nvSpPr>
        <p:spPr>
          <a:xfrm>
            <a:off x="832104" y="2505456"/>
            <a:ext cx="3008376" cy="201168"/>
          </a:xfrm>
          <a:prstGeom prst="rect">
            <a:avLst/>
          </a:prstGeom>
          <a:noFill/>
          <a:ln/>
        </p:spPr>
        <p:txBody>
          <a:bodyPr wrap="square" lIns="0" tIns="0" rIns="0" bIns="0" rtlCol="0" anchor="t"/>
          <a:lstStyle/>
          <a:p>
            <a:pPr indent="0" marL="0">
              <a:lnSpc>
                <a:spcPct val="120000"/>
              </a:lnSpc>
              <a:buNone/>
            </a:pPr>
            <a:r>
              <a:rPr lang="en-US" sz="900" dirty="0">
                <a:solidFill>
                  <a:srgbClr val="6E6E76"/>
                </a:solidFill>
                <a:latin typeface="Yu Gothic" pitchFamily="34" charset="0"/>
                <a:ea typeface="Yu Gothic" pitchFamily="34" charset="-122"/>
                <a:cs typeface="Yu Gothic" pitchFamily="34" charset="-120"/>
              </a:rPr>
              <a:t>2024年度 4,238億円 → 2027年度 5,400億円【実測・矢野経済研究所】</a:t>
            </a:r>
            <a:endParaRPr lang="en-US" sz="900" dirty="0"/>
          </a:p>
        </p:txBody>
      </p:sp>
      <p:sp>
        <p:nvSpPr>
          <p:cNvPr id="10" name="Shape 8"/>
          <p:cNvSpPr/>
          <p:nvPr/>
        </p:nvSpPr>
        <p:spPr>
          <a:xfrm>
            <a:off x="4352544" y="1444752"/>
            <a:ext cx="3483864" cy="1389888"/>
          </a:xfrm>
          <a:prstGeom prst="rect">
            <a:avLst/>
          </a:prstGeom>
          <a:solidFill>
            <a:srgbClr val="FCE5CD"/>
          </a:solidFill>
          <a:ln/>
        </p:spPr>
      </p:sp>
      <p:sp>
        <p:nvSpPr>
          <p:cNvPr id="11" name="Text 9"/>
          <p:cNvSpPr txBox="1"/>
          <p:nvPr/>
        </p:nvSpPr>
        <p:spPr>
          <a:xfrm>
            <a:off x="4590288" y="1609344"/>
            <a:ext cx="3008376" cy="603504"/>
          </a:xfrm>
          <a:prstGeom prst="rect">
            <a:avLst/>
          </a:prstGeom>
          <a:noFill/>
          <a:ln/>
        </p:spPr>
        <p:txBody>
          <a:bodyPr wrap="square" lIns="0" tIns="0" rIns="0" bIns="0" rtlCol="0" anchor="ctr"/>
          <a:lstStyle/>
          <a:p>
            <a:pPr indent="0" marL="0">
              <a:buNone/>
            </a:pPr>
            <a:r>
              <a:rPr lang="en-US" sz="2700" b="1" dirty="0">
                <a:solidFill>
                  <a:srgbClr val="2A3563"/>
                </a:solidFill>
                <a:latin typeface="Yu Gothic" pitchFamily="34" charset="0"/>
                <a:ea typeface="Yu Gothic" pitchFamily="34" charset="-122"/>
                <a:cs typeface="Yu Gothic" pitchFamily="34" charset="-120"/>
              </a:rPr>
              <a:t>6,300億円</a:t>
            </a:r>
            <a:endParaRPr lang="en-US" sz="2700" dirty="0"/>
          </a:p>
        </p:txBody>
      </p:sp>
      <p:sp>
        <p:nvSpPr>
          <p:cNvPr id="12" name="Text 10"/>
          <p:cNvSpPr txBox="1"/>
          <p:nvPr/>
        </p:nvSpPr>
        <p:spPr>
          <a:xfrm>
            <a:off x="4590288" y="2231136"/>
            <a:ext cx="3008376" cy="256032"/>
          </a:xfrm>
          <a:prstGeom prst="rect">
            <a:avLst/>
          </a:prstGeom>
          <a:noFill/>
          <a:ln/>
        </p:spPr>
        <p:txBody>
          <a:bodyPr wrap="square" lIns="0" tIns="0" rIns="0" bIns="0" rtlCol="0" anchor="ctr"/>
          <a:lstStyle/>
          <a:p>
            <a:pPr indent="0" marL="0">
              <a:buNone/>
            </a:pPr>
            <a:r>
              <a:rPr lang="en-US" sz="1100" b="1" dirty="0">
                <a:solidFill>
                  <a:srgbClr val="16161A"/>
                </a:solidFill>
                <a:latin typeface="Yu Gothic" pitchFamily="34" charset="0"/>
                <a:ea typeface="Yu Gothic" pitchFamily="34" charset="-122"/>
                <a:cs typeface="Yu Gothic" pitchFamily="34" charset="-120"/>
              </a:rPr>
              <a:t>② 動画コンテンツビジネス市場（2025年度予測）</a:t>
            </a:r>
            <a:endParaRPr lang="en-US" sz="1100" dirty="0"/>
          </a:p>
        </p:txBody>
      </p:sp>
      <p:sp>
        <p:nvSpPr>
          <p:cNvPr id="13" name="Text 11"/>
          <p:cNvSpPr txBox="1"/>
          <p:nvPr/>
        </p:nvSpPr>
        <p:spPr>
          <a:xfrm>
            <a:off x="4590288" y="2505456"/>
            <a:ext cx="3008376" cy="201168"/>
          </a:xfrm>
          <a:prstGeom prst="rect">
            <a:avLst/>
          </a:prstGeom>
          <a:noFill/>
          <a:ln/>
        </p:spPr>
        <p:txBody>
          <a:bodyPr wrap="square" lIns="0" tIns="0" rIns="0" bIns="0" rtlCol="0" anchor="t"/>
          <a:lstStyle/>
          <a:p>
            <a:pPr indent="0" marL="0">
              <a:lnSpc>
                <a:spcPct val="120000"/>
              </a:lnSpc>
              <a:buNone/>
            </a:pPr>
            <a:r>
              <a:rPr lang="en-US" sz="900" dirty="0">
                <a:solidFill>
                  <a:srgbClr val="6E6E76"/>
                </a:solidFill>
                <a:latin typeface="Yu Gothic" pitchFamily="34" charset="0"/>
                <a:ea typeface="Yu Gothic" pitchFamily="34" charset="-122"/>
                <a:cs typeface="Yu Gothic" pitchFamily="34" charset="-120"/>
              </a:rPr>
              <a:t>動画編集ソフト・配信PF・ライブ配信・アニメ制作。①とは別枠。ツール外販が面する市場【実測・矢野経済研究所】</a:t>
            </a:r>
            <a:endParaRPr lang="en-US" sz="900" dirty="0"/>
          </a:p>
        </p:txBody>
      </p:sp>
      <p:sp>
        <p:nvSpPr>
          <p:cNvPr id="14" name="Shape 12"/>
          <p:cNvSpPr/>
          <p:nvPr/>
        </p:nvSpPr>
        <p:spPr>
          <a:xfrm>
            <a:off x="8110728" y="1444752"/>
            <a:ext cx="3483864" cy="1389888"/>
          </a:xfrm>
          <a:prstGeom prst="rect">
            <a:avLst/>
          </a:prstGeom>
          <a:solidFill>
            <a:srgbClr val="FCE5CD"/>
          </a:solidFill>
          <a:ln/>
        </p:spPr>
      </p:sp>
      <p:sp>
        <p:nvSpPr>
          <p:cNvPr id="15" name="Text 13"/>
          <p:cNvSpPr txBox="1"/>
          <p:nvPr/>
        </p:nvSpPr>
        <p:spPr>
          <a:xfrm>
            <a:off x="8348472" y="1609344"/>
            <a:ext cx="3008376" cy="603504"/>
          </a:xfrm>
          <a:prstGeom prst="rect">
            <a:avLst/>
          </a:prstGeom>
          <a:noFill/>
          <a:ln/>
        </p:spPr>
        <p:txBody>
          <a:bodyPr wrap="square" lIns="0" tIns="0" rIns="0" bIns="0" rtlCol="0" anchor="ctr"/>
          <a:lstStyle/>
          <a:p>
            <a:pPr indent="0" marL="0">
              <a:buNone/>
            </a:pPr>
            <a:r>
              <a:rPr lang="en-US" sz="2700" b="1" dirty="0">
                <a:solidFill>
                  <a:srgbClr val="C9962C"/>
                </a:solidFill>
                <a:latin typeface="Yu Gothic" pitchFamily="34" charset="0"/>
                <a:ea typeface="Yu Gothic" pitchFamily="34" charset="-122"/>
                <a:cs typeface="Yu Gothic" pitchFamily="34" charset="-120"/>
              </a:rPr>
              <a:t>6,800億円</a:t>
            </a:r>
            <a:endParaRPr lang="en-US" sz="2700" dirty="0"/>
          </a:p>
        </p:txBody>
      </p:sp>
      <p:sp>
        <p:nvSpPr>
          <p:cNvPr id="16" name="Text 14"/>
          <p:cNvSpPr txBox="1"/>
          <p:nvPr/>
        </p:nvSpPr>
        <p:spPr>
          <a:xfrm>
            <a:off x="8348472" y="2231136"/>
            <a:ext cx="3008376" cy="256032"/>
          </a:xfrm>
          <a:prstGeom prst="rect">
            <a:avLst/>
          </a:prstGeom>
          <a:noFill/>
          <a:ln/>
        </p:spPr>
        <p:txBody>
          <a:bodyPr wrap="square" lIns="0" tIns="0" rIns="0" bIns="0" rtlCol="0" anchor="ctr"/>
          <a:lstStyle/>
          <a:p>
            <a:pPr indent="0" marL="0">
              <a:buNone/>
            </a:pPr>
            <a:r>
              <a:rPr lang="en-US" sz="1100" b="1" dirty="0">
                <a:solidFill>
                  <a:srgbClr val="16161A"/>
                </a:solidFill>
                <a:latin typeface="Yu Gothic" pitchFamily="34" charset="0"/>
                <a:ea typeface="Yu Gothic" pitchFamily="34" charset="-122"/>
                <a:cs typeface="Yu Gothic" pitchFamily="34" charset="-120"/>
              </a:rPr>
              <a:t>③ スキルシェア市場（2028年予測）</a:t>
            </a:r>
            <a:endParaRPr lang="en-US" sz="1100" dirty="0"/>
          </a:p>
        </p:txBody>
      </p:sp>
      <p:sp>
        <p:nvSpPr>
          <p:cNvPr id="17" name="Text 15"/>
          <p:cNvSpPr txBox="1"/>
          <p:nvPr/>
        </p:nvSpPr>
        <p:spPr>
          <a:xfrm>
            <a:off x="8348472" y="2505456"/>
            <a:ext cx="3008376" cy="201168"/>
          </a:xfrm>
          <a:prstGeom prst="rect">
            <a:avLst/>
          </a:prstGeom>
          <a:noFill/>
          <a:ln/>
        </p:spPr>
        <p:txBody>
          <a:bodyPr wrap="square" lIns="0" tIns="0" rIns="0" bIns="0" rtlCol="0" anchor="t"/>
          <a:lstStyle/>
          <a:p>
            <a:pPr indent="0" marL="0">
              <a:lnSpc>
                <a:spcPct val="120000"/>
              </a:lnSpc>
              <a:buNone/>
            </a:pPr>
            <a:r>
              <a:rPr lang="en-US" sz="900" dirty="0">
                <a:solidFill>
                  <a:srgbClr val="6E6E76"/>
                </a:solidFill>
                <a:latin typeface="Yu Gothic" pitchFamily="34" charset="0"/>
                <a:ea typeface="Yu Gothic" pitchFamily="34" charset="-122"/>
                <a:cs typeface="Yu Gothic" pitchFamily="34" charset="-120"/>
              </a:rPr>
              <a:t>個人の発注が集まる場。C2Cが面する市場【推計・動画の内訳は非開示】</a:t>
            </a:r>
            <a:endParaRPr lang="en-US" sz="9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94360" y="3017520"/>
          <a:ext cx="11000232" cy="914400"/>
        </p:xfrm>
        <a:graphic>
          <a:graphicData uri="http://schemas.openxmlformats.org/drawingml/2006/table">
            <a:tbl>
              <a:tblPr/>
              <a:tblGrid>
                <a:gridCol w="548640"/>
                <a:gridCol w="2286000"/>
                <a:gridCol w="1280160"/>
                <a:gridCol w="1920240"/>
                <a:gridCol w="1463040"/>
                <a:gridCol w="3502152"/>
              </a:tblGrid>
              <a:tr h="329184">
                <a:tc>
                  <a:txBody>
                    <a:bodyPr/>
                    <a:lstStyle/>
                    <a:p>
                      <a:pPr indent="0" marL="0">
                        <a:buNone/>
                      </a:pP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当社が取りに行く帯</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発注者</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現状の制作費</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AI導入後</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なぜここか</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r>
              <a:tr h="329184">
                <a:tc>
                  <a:txBody>
                    <a:bodyPr/>
                    <a:lstStyle/>
                    <a:p>
                      <a:pPr indent="0" marL="0">
                        <a:buNone/>
                      </a:pPr>
                      <a:r>
                        <a:rPr lang="en-US" sz="950" b="1" dirty="0">
                          <a:solidFill>
                            <a:srgbClr val="B3121B"/>
                          </a:solidFill>
                          <a:latin typeface="Yu Gothic" pitchFamily="34" charset="0"/>
                          <a:ea typeface="Yu Gothic" pitchFamily="34" charset="-122"/>
                          <a:cs typeface="Yu Gothic" pitchFamily="34" charset="-120"/>
                        </a:rPr>
                        <a:t>①</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b="1" dirty="0">
                          <a:solidFill>
                            <a:srgbClr val="3A3A42"/>
                          </a:solidFill>
                          <a:latin typeface="Yu Gothic" pitchFamily="34" charset="0"/>
                          <a:ea typeface="Yu Gothic" pitchFamily="34" charset="-122"/>
                          <a:cs typeface="Yu Gothic" pitchFamily="34" charset="-120"/>
                        </a:rPr>
                        <a:t>企業VP・会社紹介</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法人</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50〜150万円</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18〜52万円</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フル生成AIが成立。撮影が消えて原価が半分以下になる</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329184">
                <a:tc>
                  <a:txBody>
                    <a:bodyPr/>
                    <a:lstStyle/>
                    <a:p>
                      <a:pPr indent="0" marL="0">
                        <a:buNone/>
                      </a:pPr>
                      <a:r>
                        <a:rPr lang="en-US" sz="950" b="1" dirty="0">
                          <a:solidFill>
                            <a:srgbClr val="B3121B"/>
                          </a:solidFill>
                          <a:latin typeface="Yu Gothic" pitchFamily="34" charset="0"/>
                          <a:ea typeface="Yu Gothic" pitchFamily="34" charset="-122"/>
                          <a:cs typeface="Yu Gothic" pitchFamily="34" charset="-120"/>
                        </a:rPr>
                        <a:t>①</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b="1" dirty="0">
                          <a:solidFill>
                            <a:srgbClr val="3A3A42"/>
                          </a:solidFill>
                          <a:latin typeface="Yu Gothic" pitchFamily="34" charset="0"/>
                          <a:ea typeface="Yu Gothic" pitchFamily="34" charset="-122"/>
                          <a:cs typeface="Yu Gothic" pitchFamily="34" charset="-120"/>
                        </a:rPr>
                        <a:t>展示会・イベント映像</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法人</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20〜100万円</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6〜30万円</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ループ素材は特に効く。閑散期を埋める</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329184">
                <a:tc>
                  <a:txBody>
                    <a:bodyPr/>
                    <a:lstStyle/>
                    <a:p>
                      <a:pPr indent="0" marL="0">
                        <a:buNone/>
                      </a:pPr>
                      <a:r>
                        <a:rPr lang="en-US" sz="950" b="1" dirty="0">
                          <a:solidFill>
                            <a:srgbClr val="C9962C"/>
                          </a:solidFill>
                          <a:latin typeface="Yu Gothic" pitchFamily="34" charset="0"/>
                          <a:ea typeface="Yu Gothic" pitchFamily="34" charset="-122"/>
                          <a:cs typeface="Yu Gothic" pitchFamily="34" charset="-120"/>
                        </a:rPr>
                        <a:t>③</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b="1" dirty="0">
                          <a:solidFill>
                            <a:srgbClr val="3A3A42"/>
                          </a:solidFill>
                          <a:latin typeface="Yu Gothic" pitchFamily="34" charset="0"/>
                          <a:ea typeface="Yu Gothic" pitchFamily="34" charset="-122"/>
                          <a:cs typeface="Yu Gothic" pitchFamily="34" charset="-120"/>
                        </a:rPr>
                        <a:t>PR素材・SNS縦型</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個人・中小</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10〜50万円</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2〜10万円</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C2Cの主戦場。量産前提で件数が出る</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329184">
                <a:tc>
                  <a:txBody>
                    <a:bodyPr/>
                    <a:lstStyle/>
                    <a:p>
                      <a:pPr indent="0" marL="0">
                        <a:buNone/>
                      </a:pP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映画・テレビCM</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3〜5億／1,000万〜1億</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▲20〜50%</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桁は変わらない。当社は取りに行かない</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bl>
          </a:graphicData>
        </a:graphic>
      </p:graphicFrame>
      <p:sp>
        <p:nvSpPr>
          <p:cNvPr id="19" name="Shape 16"/>
          <p:cNvSpPr/>
          <p:nvPr/>
        </p:nvSpPr>
        <p:spPr>
          <a:xfrm>
            <a:off x="594360" y="4773168"/>
            <a:ext cx="5362956" cy="932688"/>
          </a:xfrm>
          <a:prstGeom prst="rect">
            <a:avLst/>
          </a:prstGeom>
          <a:solidFill>
            <a:srgbClr val="FBF1F1"/>
          </a:solidFill>
          <a:ln/>
        </p:spPr>
      </p:sp>
      <p:sp>
        <p:nvSpPr>
          <p:cNvPr id="20" name="Shape 17"/>
          <p:cNvSpPr/>
          <p:nvPr/>
        </p:nvSpPr>
        <p:spPr>
          <a:xfrm>
            <a:off x="594360" y="4773168"/>
            <a:ext cx="45720" cy="932688"/>
          </a:xfrm>
          <a:prstGeom prst="rect">
            <a:avLst/>
          </a:prstGeom>
          <a:solidFill>
            <a:srgbClr val="B3121B"/>
          </a:solidFill>
          <a:ln/>
        </p:spPr>
      </p:sp>
      <p:sp>
        <p:nvSpPr>
          <p:cNvPr id="21" name="Text 18"/>
          <p:cNvSpPr txBox="1"/>
          <p:nvPr/>
        </p:nvSpPr>
        <p:spPr>
          <a:xfrm>
            <a:off x="850392" y="4919472"/>
            <a:ext cx="4905756" cy="274320"/>
          </a:xfrm>
          <a:prstGeom prst="rect">
            <a:avLst/>
          </a:prstGeom>
          <a:noFill/>
          <a:ln/>
        </p:spPr>
        <p:txBody>
          <a:bodyPr wrap="square" lIns="0" tIns="0" rIns="0" bIns="0" rtlCol="0" anchor="ctr"/>
          <a:lstStyle/>
          <a:p>
            <a:pPr indent="0" marL="0">
              <a:buNone/>
            </a:pPr>
            <a:r>
              <a:rPr lang="en-US" sz="1200" b="1" dirty="0">
                <a:solidFill>
                  <a:srgbClr val="B3121B"/>
                </a:solidFill>
                <a:latin typeface="Yu Gothic" pitchFamily="34" charset="0"/>
                <a:ea typeface="Yu Gothic" pitchFamily="34" charset="-122"/>
                <a:cs typeface="Yu Gothic" pitchFamily="34" charset="-120"/>
              </a:rPr>
              <a:t>⚠ 動画広告市場は載せていません</a:t>
            </a:r>
            <a:endParaRPr lang="en-US" sz="1200" dirty="0"/>
          </a:p>
        </p:txBody>
      </p:sp>
      <p:sp>
        <p:nvSpPr>
          <p:cNvPr id="22" name="Text 19"/>
          <p:cNvSpPr txBox="1"/>
          <p:nvPr/>
        </p:nvSpPr>
        <p:spPr>
          <a:xfrm>
            <a:off x="850392" y="5248656"/>
            <a:ext cx="4905756" cy="310896"/>
          </a:xfrm>
          <a:prstGeom prst="rect">
            <a:avLst/>
          </a:prstGeom>
          <a:noFill/>
          <a:ln/>
        </p:spPr>
        <p:txBody>
          <a:bodyPr wrap="square" lIns="0" tIns="0" rIns="0" bIns="0" rtlCol="0" anchor="t"/>
          <a:lstStyle/>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広告の出稿額であって、映像制作の発注額ではありません。当社の対象市場ではないので外しました。</a:t>
            </a:r>
            <a:endParaRPr lang="en-US" sz="1000" dirty="0"/>
          </a:p>
        </p:txBody>
      </p:sp>
      <p:sp>
        <p:nvSpPr>
          <p:cNvPr id="23" name="Shape 20"/>
          <p:cNvSpPr/>
          <p:nvPr/>
        </p:nvSpPr>
        <p:spPr>
          <a:xfrm>
            <a:off x="6231636" y="4773168"/>
            <a:ext cx="5362956" cy="932688"/>
          </a:xfrm>
          <a:prstGeom prst="rect">
            <a:avLst/>
          </a:prstGeom>
          <a:solidFill>
            <a:srgbClr val="FBF1F1"/>
          </a:solidFill>
          <a:ln/>
        </p:spPr>
      </p:sp>
      <p:sp>
        <p:nvSpPr>
          <p:cNvPr id="24" name="Shape 21"/>
          <p:cNvSpPr/>
          <p:nvPr/>
        </p:nvSpPr>
        <p:spPr>
          <a:xfrm>
            <a:off x="6231636" y="4773168"/>
            <a:ext cx="45720" cy="932688"/>
          </a:xfrm>
          <a:prstGeom prst="rect">
            <a:avLst/>
          </a:prstGeom>
          <a:solidFill>
            <a:srgbClr val="B3121B"/>
          </a:solidFill>
          <a:ln/>
        </p:spPr>
      </p:sp>
      <p:sp>
        <p:nvSpPr>
          <p:cNvPr id="25" name="Text 22"/>
          <p:cNvSpPr txBox="1"/>
          <p:nvPr/>
        </p:nvSpPr>
        <p:spPr>
          <a:xfrm>
            <a:off x="6487668" y="4919472"/>
            <a:ext cx="4905756" cy="274320"/>
          </a:xfrm>
          <a:prstGeom prst="rect">
            <a:avLst/>
          </a:prstGeom>
          <a:noFill/>
          <a:ln/>
        </p:spPr>
        <p:txBody>
          <a:bodyPr wrap="square" lIns="0" tIns="0" rIns="0" bIns="0" rtlCol="0" anchor="ctr"/>
          <a:lstStyle/>
          <a:p>
            <a:pPr indent="0" marL="0">
              <a:buNone/>
            </a:pPr>
            <a:r>
              <a:rPr lang="en-US" sz="1200" b="1" dirty="0">
                <a:solidFill>
                  <a:srgbClr val="B3121B"/>
                </a:solidFill>
                <a:latin typeface="Yu Gothic" pitchFamily="34" charset="0"/>
                <a:ea typeface="Yu Gothic" pitchFamily="34" charset="-122"/>
                <a:cs typeface="Yu Gothic" pitchFamily="34" charset="-120"/>
              </a:rPr>
              <a:t>⚠ ③のうち動画が何割かは、公表されていません</a:t>
            </a:r>
            <a:endParaRPr lang="en-US" sz="1200" dirty="0"/>
          </a:p>
        </p:txBody>
      </p:sp>
      <p:sp>
        <p:nvSpPr>
          <p:cNvPr id="26" name="Text 23"/>
          <p:cNvSpPr txBox="1"/>
          <p:nvPr/>
        </p:nvSpPr>
        <p:spPr>
          <a:xfrm>
            <a:off x="6487668" y="5248656"/>
            <a:ext cx="4905756" cy="310896"/>
          </a:xfrm>
          <a:prstGeom prst="rect">
            <a:avLst/>
          </a:prstGeom>
          <a:noFill/>
          <a:ln/>
        </p:spPr>
        <p:txBody>
          <a:bodyPr wrap="square" lIns="0" tIns="0" rIns="0" bIns="0" rtlCol="0" anchor="t"/>
          <a:lstStyle/>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ココナラ・ランサーズとも、カテゴリ別の流通高を開示していません。6,800億円を当社の対象市場として使わないこと。</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個人案件は件数と単価を1期に実測して置き換えます。</a:t>
            </a:r>
            <a:endParaRPr lang="en-US" sz="1000" dirty="0"/>
          </a:p>
        </p:txBody>
      </p:sp>
      <p:sp>
        <p:nvSpPr>
          <p:cNvPr id="27" name="Text 24"/>
          <p:cNvSpPr txBox="1"/>
          <p:nvPr/>
        </p:nvSpPr>
        <p:spPr>
          <a:xfrm>
            <a:off x="594360" y="6336792"/>
            <a:ext cx="9902952" cy="310896"/>
          </a:xfrm>
          <a:prstGeom prst="rect">
            <a:avLst/>
          </a:prstGeom>
          <a:noFill/>
          <a:ln/>
        </p:spPr>
        <p:txBody>
          <a:bodyPr wrap="square" lIns="0" tIns="0" rIns="0" bIns="0" rtlCol="0" anchor="ctr"/>
          <a:lstStyle/>
          <a:p>
            <a:pPr indent="0" marL="0">
              <a:buNone/>
            </a:pPr>
            <a:r>
              <a:rPr lang="en-US" sz="850" dirty="0">
                <a:solidFill>
                  <a:srgbClr val="6E6E76"/>
                </a:solidFill>
                <a:latin typeface="Yu Gothic" pitchFamily="34" charset="0"/>
                <a:ea typeface="Yu Gothic" pitchFamily="34" charset="-122"/>
                <a:cs typeface="Yu Gothic" pitchFamily="34" charset="-120"/>
              </a:rPr>
              <a:t>出所: 矢野経済研究所（動画コンテンツビジネスに関する調査2025。①のBtoB動画制作サービスは②の6,300億円に含まれません）／ Business Insider Japan（スキルシェア市場2028年予測）／ Vidico（米国の1分単価）。AI後の単価は工程別削減率からの当社試算です</a:t>
            </a:r>
            <a:endParaRPr lang="en-US" sz="850" dirty="0"/>
          </a:p>
        </p:txBody>
      </p:sp>
      <p:sp>
        <p:nvSpPr>
          <p:cNvPr id="28" name="Text 25"/>
          <p:cNvSpPr txBox="1"/>
          <p:nvPr/>
        </p:nvSpPr>
        <p:spPr>
          <a:xfrm>
            <a:off x="11228832" y="6336792"/>
            <a:ext cx="365760" cy="274320"/>
          </a:xfrm>
          <a:prstGeom prst="rect">
            <a:avLst/>
          </a:prstGeom>
          <a:noFill/>
          <a:ln/>
        </p:spPr>
        <p:txBody>
          <a:bodyPr wrap="square" lIns="0" tIns="0" rIns="0" bIns="0" rtlCol="0" anchor="ctr"/>
          <a:lstStyle/>
          <a:p>
            <a:pPr algn="r" indent="0" marL="0">
              <a:buNone/>
            </a:pPr>
            <a:r>
              <a:rPr lang="en-US" sz="900" dirty="0">
                <a:solidFill>
                  <a:srgbClr val="6E6E76"/>
                </a:solidFill>
                <a:latin typeface="Yu Gothic" pitchFamily="34" charset="0"/>
                <a:ea typeface="Yu Gothic" pitchFamily="34" charset="-122"/>
                <a:cs typeface="Yu Gothic" pitchFamily="34" charset="-120"/>
              </a:rPr>
              <a:t>4</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402336"/>
            <a:ext cx="475488" cy="475488"/>
          </a:xfrm>
          <a:prstGeom prst="rect">
            <a:avLst/>
          </a:prstGeom>
          <a:solidFill>
            <a:srgbClr val="B3121B"/>
          </a:solidFill>
          <a:ln/>
        </p:spPr>
      </p:sp>
      <p:sp>
        <p:nvSpPr>
          <p:cNvPr id="3" name="Text 1"/>
          <p:cNvSpPr txBox="1"/>
          <p:nvPr/>
        </p:nvSpPr>
        <p:spPr>
          <a:xfrm>
            <a:off x="594360" y="40233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2</a:t>
            </a:r>
            <a:endParaRPr lang="en-US" sz="1700" dirty="0"/>
          </a:p>
        </p:txBody>
      </p:sp>
      <p:sp>
        <p:nvSpPr>
          <p:cNvPr id="4" name="Text 2"/>
          <p:cNvSpPr txBox="1"/>
          <p:nvPr/>
        </p:nvSpPr>
        <p:spPr>
          <a:xfrm>
            <a:off x="1207008" y="365760"/>
            <a:ext cx="10387584" cy="548640"/>
          </a:xfrm>
          <a:prstGeom prst="rect">
            <a:avLst/>
          </a:prstGeom>
          <a:noFill/>
          <a:ln/>
        </p:spPr>
        <p:txBody>
          <a:bodyPr wrap="square" lIns="0" tIns="0" rIns="0" bIns="0" rtlCol="0" anchor="ctr"/>
          <a:lstStyle/>
          <a:p>
            <a:pPr indent="0" marL="0">
              <a:buNone/>
            </a:pPr>
            <a:r>
              <a:rPr lang="en-US" sz="2500" b="1" dirty="0">
                <a:solidFill>
                  <a:srgbClr val="16161A"/>
                </a:solidFill>
                <a:latin typeface="Yu Gothic" pitchFamily="34" charset="0"/>
                <a:ea typeface="Yu Gothic" pitchFamily="34" charset="-122"/>
                <a:cs typeface="Yu Gothic" pitchFamily="34" charset="-120"/>
              </a:rPr>
              <a:t>誰と比べるか — 世界と日本の映像制作会社</a:t>
            </a:r>
            <a:endParaRPr lang="en-US" sz="2500" dirty="0"/>
          </a:p>
        </p:txBody>
      </p:sp>
      <p:sp>
        <p:nvSpPr>
          <p:cNvPr id="5" name="Text 3"/>
          <p:cNvSpPr txBox="1"/>
          <p:nvPr/>
        </p:nvSpPr>
        <p:spPr>
          <a:xfrm>
            <a:off x="1207008" y="932688"/>
            <a:ext cx="10387584" cy="310896"/>
          </a:xfrm>
          <a:prstGeom prst="rect">
            <a:avLst/>
          </a:prstGeom>
          <a:noFill/>
          <a:ln/>
        </p:spPr>
        <p:txBody>
          <a:bodyPr wrap="square" lIns="0" tIns="0" rIns="0" bIns="0" rtlCol="0" anchor="ctr"/>
          <a:lstStyle/>
          <a:p>
            <a:pPr indent="0" marL="0">
              <a:buNone/>
            </a:pPr>
            <a:r>
              <a:rPr lang="en-US" sz="1200" dirty="0">
                <a:solidFill>
                  <a:srgbClr val="6E6E76"/>
                </a:solidFill>
                <a:latin typeface="Yu Gothic" pitchFamily="34" charset="0"/>
                <a:ea typeface="Yu Gothic" pitchFamily="34" charset="-122"/>
                <a:cs typeface="Yu Gothic" pitchFamily="34" charset="-120"/>
              </a:rPr>
              <a:t>日本は「広告・企業映像」が対象。世界で伸びているのはAI映像のツール側です</a:t>
            </a:r>
            <a:endParaRPr lang="en-US" sz="1200" dirty="0"/>
          </a:p>
        </p:txBody>
      </p:sp>
      <p:sp>
        <p:nvSpPr>
          <p:cNvPr id="6" name="Text 4"/>
          <p:cNvSpPr txBox="1"/>
          <p:nvPr/>
        </p:nvSpPr>
        <p:spPr>
          <a:xfrm>
            <a:off x="594360" y="1371600"/>
            <a:ext cx="5394960" cy="274320"/>
          </a:xfrm>
          <a:prstGeom prst="rect">
            <a:avLst/>
          </a:prstGeom>
          <a:noFill/>
          <a:ln/>
        </p:spPr>
        <p:txBody>
          <a:bodyPr wrap="square" lIns="0" tIns="0" rIns="0" bIns="0" rtlCol="0" anchor="ctr"/>
          <a:lstStyle/>
          <a:p>
            <a:pPr indent="0" marL="0">
              <a:buNone/>
            </a:pPr>
            <a:r>
              <a:rPr lang="en-US" sz="1150" b="1" dirty="0">
                <a:solidFill>
                  <a:srgbClr val="16161A"/>
                </a:solidFill>
                <a:latin typeface="Yu Gothic" pitchFamily="34" charset="0"/>
                <a:ea typeface="Yu Gothic" pitchFamily="34" charset="-122"/>
                <a:cs typeface="Yu Gothic" pitchFamily="34" charset="-120"/>
              </a:rPr>
              <a:t>日本 — 上場企業の直近通期</a:t>
            </a:r>
            <a:endParaRPr lang="en-US" sz="11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94360" y="1664208"/>
          <a:ext cx="5394960" cy="914400"/>
        </p:xfrm>
        <a:graphic>
          <a:graphicData uri="http://schemas.openxmlformats.org/drawingml/2006/table">
            <a:tbl>
              <a:tblPr/>
              <a:tblGrid>
                <a:gridCol w="2286000"/>
                <a:gridCol w="1371600"/>
                <a:gridCol w="1737360"/>
              </a:tblGrid>
              <a:tr h="310896">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社名</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売上高</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種別</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r>
              <a:tr h="310896">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東映</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1,853億</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映画・映像製作</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310896">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IMAGICA GROUP</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約1,000億</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ポスプロ・映像技術</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310896">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東映アニメーション</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937億</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アニメ製作</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310896">
                <a:tc>
                  <a:txBody>
                    <a:bodyPr/>
                    <a:lstStyle/>
                    <a:p>
                      <a:pPr indent="0" marL="0">
                        <a:buNone/>
                      </a:pPr>
                      <a:r>
                        <a:rPr lang="en-US" sz="950" b="1" dirty="0">
                          <a:solidFill>
                            <a:srgbClr val="B3121B"/>
                          </a:solidFill>
                          <a:latin typeface="Yu Gothic" pitchFamily="34" charset="0"/>
                          <a:ea typeface="Yu Gothic" pitchFamily="34" charset="-122"/>
                          <a:cs typeface="Yu Gothic" pitchFamily="34" charset="-120"/>
                        </a:rPr>
                        <a:t>AOI TYO Holdings</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b="1" dirty="0">
                          <a:solidFill>
                            <a:srgbClr val="B3121B"/>
                          </a:solidFill>
                          <a:latin typeface="Yu Gothic" pitchFamily="34" charset="0"/>
                          <a:ea typeface="Yu Gothic" pitchFamily="34" charset="-122"/>
                          <a:cs typeface="Yu Gothic" pitchFamily="34" charset="-120"/>
                        </a:rPr>
                        <a:t>511億</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b="1" dirty="0">
                          <a:solidFill>
                            <a:srgbClr val="3A3A42"/>
                          </a:solidFill>
                          <a:latin typeface="Yu Gothic" pitchFamily="34" charset="0"/>
                          <a:ea typeface="Yu Gothic" pitchFamily="34" charset="-122"/>
                          <a:cs typeface="Yu Gothic" pitchFamily="34" charset="-120"/>
                        </a:rPr>
                        <a:t>広告・企業映像 ← 当社の競合</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310896">
                <a:tc>
                  <a:txBody>
                    <a:bodyPr/>
                    <a:lstStyle/>
                    <a:p>
                      <a:pPr indent="0" marL="0">
                        <a:buNone/>
                      </a:pPr>
                      <a:r>
                        <a:rPr lang="en-US" sz="950" b="1" dirty="0">
                          <a:solidFill>
                            <a:srgbClr val="B3121B"/>
                          </a:solidFill>
                          <a:latin typeface="Yu Gothic" pitchFamily="34" charset="0"/>
                          <a:ea typeface="Yu Gothic" pitchFamily="34" charset="-122"/>
                          <a:cs typeface="Yu Gothic" pitchFamily="34" charset="-120"/>
                        </a:rPr>
                        <a:t>東北新社</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b="1" dirty="0">
                          <a:solidFill>
                            <a:srgbClr val="B3121B"/>
                          </a:solidFill>
                          <a:latin typeface="Yu Gothic" pitchFamily="34" charset="0"/>
                          <a:ea typeface="Yu Gothic" pitchFamily="34" charset="-122"/>
                          <a:cs typeface="Yu Gothic" pitchFamily="34" charset="-120"/>
                        </a:rPr>
                        <a:t>477億</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b="1" dirty="0">
                          <a:solidFill>
                            <a:srgbClr val="3A3A42"/>
                          </a:solidFill>
                          <a:latin typeface="Yu Gothic" pitchFamily="34" charset="0"/>
                          <a:ea typeface="Yu Gothic" pitchFamily="34" charset="-122"/>
                          <a:cs typeface="Yu Gothic" pitchFamily="34" charset="-120"/>
                        </a:rPr>
                        <a:t>広告・企業映像 ← 当社の競合</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310896">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IG Port</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141億</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アニメ製作</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bl>
          </a:graphicData>
        </a:graphic>
      </p:graphicFrame>
      <p:sp>
        <p:nvSpPr>
          <p:cNvPr id="8" name="Text 5"/>
          <p:cNvSpPr txBox="1"/>
          <p:nvPr/>
        </p:nvSpPr>
        <p:spPr>
          <a:xfrm>
            <a:off x="6263640" y="1371600"/>
            <a:ext cx="5330952" cy="274320"/>
          </a:xfrm>
          <a:prstGeom prst="rect">
            <a:avLst/>
          </a:prstGeom>
          <a:noFill/>
          <a:ln/>
        </p:spPr>
        <p:txBody>
          <a:bodyPr wrap="square" lIns="0" tIns="0" rIns="0" bIns="0" rtlCol="0" anchor="ctr"/>
          <a:lstStyle/>
          <a:p>
            <a:pPr indent="0" marL="0">
              <a:buNone/>
            </a:pPr>
            <a:r>
              <a:rPr lang="en-US" sz="1150" b="1" dirty="0">
                <a:solidFill>
                  <a:srgbClr val="16161A"/>
                </a:solidFill>
                <a:latin typeface="Yu Gothic" pitchFamily="34" charset="0"/>
                <a:ea typeface="Yu Gothic" pitchFamily="34" charset="-122"/>
                <a:cs typeface="Yu Gothic" pitchFamily="34" charset="-120"/>
              </a:rPr>
              <a:t>世界 — AI映像のツールが伸びている</a:t>
            </a:r>
            <a:endParaRPr lang="en-US" sz="115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6263640" y="1664208"/>
          <a:ext cx="5330952" cy="914400"/>
        </p:xfrm>
        <a:graphic>
          <a:graphicData uri="http://schemas.openxmlformats.org/drawingml/2006/table">
            <a:tbl>
              <a:tblPr/>
              <a:tblGrid>
                <a:gridCol w="2011680"/>
                <a:gridCol w="1554480"/>
                <a:gridCol w="1828800"/>
              </a:tblGrid>
              <a:tr h="310896">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社名</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規模</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備考</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r>
              <a:tr h="310896">
                <a:tc>
                  <a:txBody>
                    <a:bodyPr/>
                    <a:lstStyle/>
                    <a:p>
                      <a:pPr indent="0" marL="0">
                        <a:buNone/>
                      </a:pPr>
                      <a:r>
                        <a:rPr lang="en-US" sz="950" b="1" dirty="0">
                          <a:solidFill>
                            <a:srgbClr val="C9962C"/>
                          </a:solidFill>
                          <a:latin typeface="Yu Gothic" pitchFamily="34" charset="0"/>
                          <a:ea typeface="Yu Gothic" pitchFamily="34" charset="-122"/>
                          <a:cs typeface="Yu Gothic" pitchFamily="34" charset="-120"/>
                        </a:rPr>
                        <a:t>HeyGen</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b="1" dirty="0">
                          <a:solidFill>
                            <a:srgbClr val="C9962C"/>
                          </a:solidFill>
                          <a:latin typeface="Yu Gothic" pitchFamily="34" charset="0"/>
                          <a:ea typeface="Yu Gothic" pitchFamily="34" charset="-122"/>
                          <a:cs typeface="Yu Gothic" pitchFamily="34" charset="-120"/>
                        </a:rPr>
                        <a:t>ARR 約300億</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8ヶ月で$100M→$200M</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310896">
                <a:tc>
                  <a:txBody>
                    <a:bodyPr/>
                    <a:lstStyle/>
                    <a:p>
                      <a:pPr indent="0" marL="0">
                        <a:buNone/>
                      </a:pPr>
                      <a:r>
                        <a:rPr lang="en-US" sz="950" b="1" dirty="0">
                          <a:solidFill>
                            <a:srgbClr val="C9962C"/>
                          </a:solidFill>
                          <a:latin typeface="Yu Gothic" pitchFamily="34" charset="0"/>
                          <a:ea typeface="Yu Gothic" pitchFamily="34" charset="-122"/>
                          <a:cs typeface="Yu Gothic" pitchFamily="34" charset="-120"/>
                        </a:rPr>
                        <a:t>Synthesia</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b="1" dirty="0">
                          <a:solidFill>
                            <a:srgbClr val="C9962C"/>
                          </a:solidFill>
                          <a:latin typeface="Yu Gothic" pitchFamily="34" charset="0"/>
                          <a:ea typeface="Yu Gothic" pitchFamily="34" charset="-122"/>
                          <a:cs typeface="Yu Gothic" pitchFamily="34" charset="-120"/>
                        </a:rPr>
                        <a:t>ARR 約210億</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10ヶ月で$100M→$140M</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310896">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Runway</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非開示</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評価額では首位級</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310896">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WPP Production</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非開示</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40カ国・1万人超。2026年1月発足</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310896">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Publicis Production</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非開示</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Publicis全体で€17.39B</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310896">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Technicolor</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2025年に経営破綻</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bl>
          </a:graphicData>
        </a:graphic>
      </p:graphicFrame>
      <p:sp>
        <p:nvSpPr>
          <p:cNvPr id="10" name="Shape 6"/>
          <p:cNvSpPr/>
          <p:nvPr/>
        </p:nvSpPr>
        <p:spPr>
          <a:xfrm>
            <a:off x="594360" y="3822192"/>
            <a:ext cx="5362956" cy="1005840"/>
          </a:xfrm>
          <a:prstGeom prst="rect">
            <a:avLst/>
          </a:prstGeom>
          <a:solidFill>
            <a:srgbClr val="FBF1F1"/>
          </a:solidFill>
          <a:ln/>
        </p:spPr>
      </p:sp>
      <p:sp>
        <p:nvSpPr>
          <p:cNvPr id="11" name="Shape 7"/>
          <p:cNvSpPr/>
          <p:nvPr/>
        </p:nvSpPr>
        <p:spPr>
          <a:xfrm>
            <a:off x="594360" y="3822192"/>
            <a:ext cx="45720" cy="1005840"/>
          </a:xfrm>
          <a:prstGeom prst="rect">
            <a:avLst/>
          </a:prstGeom>
          <a:solidFill>
            <a:srgbClr val="B3121B"/>
          </a:solidFill>
          <a:ln/>
        </p:spPr>
      </p:sp>
      <p:sp>
        <p:nvSpPr>
          <p:cNvPr id="12" name="Text 8"/>
          <p:cNvSpPr txBox="1"/>
          <p:nvPr/>
        </p:nvSpPr>
        <p:spPr>
          <a:xfrm>
            <a:off x="850392" y="3968496"/>
            <a:ext cx="4905756" cy="274320"/>
          </a:xfrm>
          <a:prstGeom prst="rect">
            <a:avLst/>
          </a:prstGeom>
          <a:noFill/>
          <a:ln/>
        </p:spPr>
        <p:txBody>
          <a:bodyPr wrap="square" lIns="0" tIns="0" rIns="0" bIns="0" rtlCol="0" anchor="ctr"/>
          <a:lstStyle/>
          <a:p>
            <a:pPr indent="0" marL="0">
              <a:buNone/>
            </a:pPr>
            <a:r>
              <a:rPr lang="en-US" sz="1200" b="1" dirty="0">
                <a:solidFill>
                  <a:srgbClr val="B3121B"/>
                </a:solidFill>
                <a:latin typeface="Yu Gothic" pitchFamily="34" charset="0"/>
                <a:ea typeface="Yu Gothic" pitchFamily="34" charset="-122"/>
                <a:cs typeface="Yu Gothic" pitchFamily="34" charset="-120"/>
              </a:rPr>
              <a:t>⚠ 純粋な「映像制作会社」の世界ランキングは存在しません</a:t>
            </a:r>
            <a:endParaRPr lang="en-US" sz="1200" dirty="0"/>
          </a:p>
        </p:txBody>
      </p:sp>
      <p:sp>
        <p:nvSpPr>
          <p:cNvPr id="13" name="Text 9"/>
          <p:cNvSpPr txBox="1"/>
          <p:nvPr/>
        </p:nvSpPr>
        <p:spPr>
          <a:xfrm>
            <a:off x="850392" y="4297680"/>
            <a:ext cx="4905756" cy="384048"/>
          </a:xfrm>
          <a:prstGeom prst="rect">
            <a:avLst/>
          </a:prstGeom>
          <a:noFill/>
          <a:ln/>
        </p:spPr>
        <p:txBody>
          <a:bodyPr wrap="square" lIns="0" tIns="0" rIns="0" bIns="0" rtlCol="0" anchor="t"/>
          <a:lstStyle/>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専業の上場企業がほとんどなく、大手は広告持株会社の一部門になっているためです。</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WPPは2026年1月にHogarthと各社の制作機能を統合し、生成AIを掲げています。当社と同じ方向です。</a:t>
            </a:r>
            <a:endParaRPr lang="en-US" sz="1000" dirty="0"/>
          </a:p>
        </p:txBody>
      </p:sp>
      <p:sp>
        <p:nvSpPr>
          <p:cNvPr id="14" name="Shape 10"/>
          <p:cNvSpPr/>
          <p:nvPr/>
        </p:nvSpPr>
        <p:spPr>
          <a:xfrm>
            <a:off x="6231636" y="3822192"/>
            <a:ext cx="5362956" cy="1005840"/>
          </a:xfrm>
          <a:prstGeom prst="rect">
            <a:avLst/>
          </a:prstGeom>
          <a:solidFill>
            <a:srgbClr val="FBF1F1"/>
          </a:solidFill>
          <a:ln/>
        </p:spPr>
      </p:sp>
      <p:sp>
        <p:nvSpPr>
          <p:cNvPr id="15" name="Shape 11"/>
          <p:cNvSpPr/>
          <p:nvPr/>
        </p:nvSpPr>
        <p:spPr>
          <a:xfrm>
            <a:off x="6231636" y="3822192"/>
            <a:ext cx="45720" cy="1005840"/>
          </a:xfrm>
          <a:prstGeom prst="rect">
            <a:avLst/>
          </a:prstGeom>
          <a:solidFill>
            <a:srgbClr val="B3121B"/>
          </a:solidFill>
          <a:ln/>
        </p:spPr>
      </p:sp>
      <p:sp>
        <p:nvSpPr>
          <p:cNvPr id="16" name="Text 12"/>
          <p:cNvSpPr txBox="1"/>
          <p:nvPr/>
        </p:nvSpPr>
        <p:spPr>
          <a:xfrm>
            <a:off x="6487668" y="3968496"/>
            <a:ext cx="4905756" cy="274320"/>
          </a:xfrm>
          <a:prstGeom prst="rect">
            <a:avLst/>
          </a:prstGeom>
          <a:noFill/>
          <a:ln/>
        </p:spPr>
        <p:txBody>
          <a:bodyPr wrap="square" lIns="0" tIns="0" rIns="0" bIns="0" rtlCol="0" anchor="ctr"/>
          <a:lstStyle/>
          <a:p>
            <a:pPr indent="0" marL="0">
              <a:buNone/>
            </a:pPr>
            <a:r>
              <a:rPr lang="en-US" sz="1200" b="1" dirty="0">
                <a:solidFill>
                  <a:srgbClr val="B3121B"/>
                </a:solidFill>
                <a:latin typeface="Yu Gothic" pitchFamily="34" charset="0"/>
                <a:ea typeface="Yu Gothic" pitchFamily="34" charset="-122"/>
                <a:cs typeface="Yu Gothic" pitchFamily="34" charset="-120"/>
              </a:rPr>
              <a:t>⚠ 日本では、上場している映像制作会社が減っています</a:t>
            </a:r>
            <a:endParaRPr lang="en-US" sz="1200" dirty="0"/>
          </a:p>
        </p:txBody>
      </p:sp>
      <p:sp>
        <p:nvSpPr>
          <p:cNvPr id="17" name="Text 13"/>
          <p:cNvSpPr txBox="1"/>
          <p:nvPr/>
        </p:nvSpPr>
        <p:spPr>
          <a:xfrm>
            <a:off x="6487668" y="4297680"/>
            <a:ext cx="4905756" cy="384048"/>
          </a:xfrm>
          <a:prstGeom prst="rect">
            <a:avLst/>
          </a:prstGeom>
          <a:noFill/>
          <a:ln/>
        </p:spPr>
        <p:txBody>
          <a:bodyPr wrap="square" lIns="0" tIns="0" rIns="0" bIns="0" rtlCol="0" anchor="t"/>
          <a:lstStyle/>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AOI TYOは2021年に非上場化、IMAGICA GROUPも2026年にTOBで非上場化が進行中。</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人手に比例する事業のままでは上場を維持しにくい、ということです。だから当社は②③を持ちます。</a:t>
            </a:r>
            <a:endParaRPr lang="en-US" sz="1000" dirty="0"/>
          </a:p>
        </p:txBody>
      </p:sp>
      <p:sp>
        <p:nvSpPr>
          <p:cNvPr id="18" name="Text 14"/>
          <p:cNvSpPr txBox="1"/>
          <p:nvPr/>
        </p:nvSpPr>
        <p:spPr>
          <a:xfrm>
            <a:off x="594360" y="4956048"/>
            <a:ext cx="11000232" cy="274320"/>
          </a:xfrm>
          <a:prstGeom prst="rect">
            <a:avLst/>
          </a:prstGeom>
          <a:noFill/>
          <a:ln/>
        </p:spPr>
        <p:txBody>
          <a:bodyPr wrap="square" lIns="0" tIns="0" rIns="0" bIns="0" rtlCol="0" anchor="ctr"/>
          <a:lstStyle/>
          <a:p>
            <a:pPr indent="0" marL="0">
              <a:buNone/>
            </a:pPr>
            <a:r>
              <a:rPr lang="en-US" sz="1150" b="1" dirty="0">
                <a:solidFill>
                  <a:srgbClr val="16161A"/>
                </a:solidFill>
                <a:latin typeface="Yu Gothic" pitchFamily="34" charset="0"/>
                <a:ea typeface="Yu Gothic" pitchFamily="34" charset="-122"/>
                <a:cs typeface="Yu Gothic" pitchFamily="34" charset="-120"/>
              </a:rPr>
              <a:t>当社の5期 120.0億が立つ位置（億円）</a:t>
            </a:r>
            <a:endParaRPr lang="en-US" sz="1150" dirty="0"/>
          </a:p>
        </p:txBody>
      </p:sp>
      <p:sp>
        <p:nvSpPr>
          <p:cNvPr id="19" name="Text 15"/>
          <p:cNvSpPr txBox="1"/>
          <p:nvPr/>
        </p:nvSpPr>
        <p:spPr>
          <a:xfrm>
            <a:off x="594360" y="5248656"/>
            <a:ext cx="2651760" cy="274320"/>
          </a:xfrm>
          <a:prstGeom prst="rect">
            <a:avLst/>
          </a:prstGeom>
          <a:noFill/>
          <a:ln/>
        </p:spPr>
        <p:txBody>
          <a:bodyPr wrap="square" lIns="0" tIns="0" rIns="0" bIns="0" rtlCol="0" anchor="ctr"/>
          <a:lstStyle/>
          <a:p>
            <a:pPr indent="0" marL="0">
              <a:buNone/>
            </a:pPr>
            <a:r>
              <a:rPr lang="en-US" sz="950" dirty="0">
                <a:solidFill>
                  <a:srgbClr val="3A3A42"/>
                </a:solidFill>
                <a:latin typeface="Yu Gothic" pitchFamily="34" charset="0"/>
                <a:ea typeface="Yu Gothic" pitchFamily="34" charset="-122"/>
                <a:cs typeface="Yu Gothic" pitchFamily="34" charset="-120"/>
              </a:rPr>
              <a:t>東北新社（広告・企業映像）</a:t>
            </a:r>
            <a:endParaRPr lang="en-US" sz="950" dirty="0"/>
          </a:p>
        </p:txBody>
      </p:sp>
      <p:sp>
        <p:nvSpPr>
          <p:cNvPr id="20" name="Shape 16"/>
          <p:cNvSpPr/>
          <p:nvPr/>
        </p:nvSpPr>
        <p:spPr>
          <a:xfrm>
            <a:off x="3355848" y="5285232"/>
            <a:ext cx="1659636" cy="201168"/>
          </a:xfrm>
          <a:prstGeom prst="rect">
            <a:avLst/>
          </a:prstGeom>
          <a:solidFill>
            <a:srgbClr val="D9D2E9"/>
          </a:solidFill>
          <a:ln/>
        </p:spPr>
      </p:sp>
      <p:sp>
        <p:nvSpPr>
          <p:cNvPr id="21" name="Text 17"/>
          <p:cNvSpPr txBox="1"/>
          <p:nvPr/>
        </p:nvSpPr>
        <p:spPr>
          <a:xfrm>
            <a:off x="4951476" y="5248656"/>
            <a:ext cx="868680" cy="274320"/>
          </a:xfrm>
          <a:prstGeom prst="rect">
            <a:avLst/>
          </a:prstGeom>
          <a:noFill/>
          <a:ln/>
        </p:spPr>
        <p:txBody>
          <a:bodyPr wrap="square" lIns="0" tIns="0" rIns="0" bIns="0" rtlCol="0" anchor="ctr"/>
          <a:lstStyle/>
          <a:p>
            <a:pPr algn="r" indent="0" marL="0">
              <a:buNone/>
            </a:pPr>
            <a:r>
              <a:rPr lang="en-US" sz="950" b="1" dirty="0">
                <a:solidFill>
                  <a:srgbClr val="16161A"/>
                </a:solidFill>
                <a:latin typeface="Yu Gothic" pitchFamily="34" charset="0"/>
                <a:ea typeface="Yu Gothic" pitchFamily="34" charset="-122"/>
                <a:cs typeface="Yu Gothic" pitchFamily="34" charset="-120"/>
              </a:rPr>
              <a:t>477</a:t>
            </a:r>
            <a:endParaRPr lang="en-US" sz="950" dirty="0"/>
          </a:p>
        </p:txBody>
      </p:sp>
      <p:sp>
        <p:nvSpPr>
          <p:cNvPr id="22" name="Text 18"/>
          <p:cNvSpPr txBox="1"/>
          <p:nvPr/>
        </p:nvSpPr>
        <p:spPr>
          <a:xfrm>
            <a:off x="594360" y="5541264"/>
            <a:ext cx="2651760" cy="274320"/>
          </a:xfrm>
          <a:prstGeom prst="rect">
            <a:avLst/>
          </a:prstGeom>
          <a:noFill/>
          <a:ln/>
        </p:spPr>
        <p:txBody>
          <a:bodyPr wrap="square" lIns="0" tIns="0" rIns="0" bIns="0" rtlCol="0" anchor="ctr"/>
          <a:lstStyle/>
          <a:p>
            <a:pPr indent="0" marL="0">
              <a:buNone/>
            </a:pPr>
            <a:r>
              <a:rPr lang="en-US" sz="950" dirty="0">
                <a:solidFill>
                  <a:srgbClr val="3A3A42"/>
                </a:solidFill>
                <a:latin typeface="Yu Gothic" pitchFamily="34" charset="0"/>
                <a:ea typeface="Yu Gothic" pitchFamily="34" charset="-122"/>
                <a:cs typeface="Yu Gothic" pitchFamily="34" charset="-120"/>
              </a:rPr>
              <a:t>HeyGen（AI動画・ARR）</a:t>
            </a:r>
            <a:endParaRPr lang="en-US" sz="950" dirty="0"/>
          </a:p>
        </p:txBody>
      </p:sp>
      <p:sp>
        <p:nvSpPr>
          <p:cNvPr id="23" name="Shape 19"/>
          <p:cNvSpPr/>
          <p:nvPr/>
        </p:nvSpPr>
        <p:spPr>
          <a:xfrm>
            <a:off x="3355848" y="5577840"/>
            <a:ext cx="730240" cy="201168"/>
          </a:xfrm>
          <a:prstGeom prst="rect">
            <a:avLst/>
          </a:prstGeom>
          <a:solidFill>
            <a:srgbClr val="D9D2E9"/>
          </a:solidFill>
          <a:ln/>
        </p:spPr>
      </p:sp>
      <p:sp>
        <p:nvSpPr>
          <p:cNvPr id="24" name="Text 20"/>
          <p:cNvSpPr txBox="1"/>
          <p:nvPr/>
        </p:nvSpPr>
        <p:spPr>
          <a:xfrm>
            <a:off x="4951476" y="5541264"/>
            <a:ext cx="868680" cy="274320"/>
          </a:xfrm>
          <a:prstGeom prst="rect">
            <a:avLst/>
          </a:prstGeom>
          <a:noFill/>
          <a:ln/>
        </p:spPr>
        <p:txBody>
          <a:bodyPr wrap="square" lIns="0" tIns="0" rIns="0" bIns="0" rtlCol="0" anchor="ctr"/>
          <a:lstStyle/>
          <a:p>
            <a:pPr algn="r" indent="0" marL="0">
              <a:buNone/>
            </a:pPr>
            <a:r>
              <a:rPr lang="en-US" sz="950" b="1" dirty="0">
                <a:solidFill>
                  <a:srgbClr val="16161A"/>
                </a:solidFill>
                <a:latin typeface="Yu Gothic" pitchFamily="34" charset="0"/>
                <a:ea typeface="Yu Gothic" pitchFamily="34" charset="-122"/>
                <a:cs typeface="Yu Gothic" pitchFamily="34" charset="-120"/>
              </a:rPr>
              <a:t>300</a:t>
            </a:r>
            <a:endParaRPr lang="en-US" sz="950" dirty="0"/>
          </a:p>
        </p:txBody>
      </p:sp>
      <p:sp>
        <p:nvSpPr>
          <p:cNvPr id="25" name="Text 21"/>
          <p:cNvSpPr txBox="1"/>
          <p:nvPr/>
        </p:nvSpPr>
        <p:spPr>
          <a:xfrm>
            <a:off x="6368796" y="5248656"/>
            <a:ext cx="2651760" cy="274320"/>
          </a:xfrm>
          <a:prstGeom prst="rect">
            <a:avLst/>
          </a:prstGeom>
          <a:noFill/>
          <a:ln/>
        </p:spPr>
        <p:txBody>
          <a:bodyPr wrap="square" lIns="0" tIns="0" rIns="0" bIns="0" rtlCol="0" anchor="ctr"/>
          <a:lstStyle/>
          <a:p>
            <a:pPr indent="0" marL="0">
              <a:buNone/>
            </a:pPr>
            <a:r>
              <a:rPr lang="en-US" sz="950" dirty="0">
                <a:solidFill>
                  <a:srgbClr val="3A3A42"/>
                </a:solidFill>
                <a:latin typeface="Yu Gothic" pitchFamily="34" charset="0"/>
                <a:ea typeface="Yu Gothic" pitchFamily="34" charset="-122"/>
                <a:cs typeface="Yu Gothic" pitchFamily="34" charset="-120"/>
              </a:rPr>
              <a:t>Synthesia（AI動画・ARR）</a:t>
            </a:r>
            <a:endParaRPr lang="en-US" sz="950" dirty="0"/>
          </a:p>
        </p:txBody>
      </p:sp>
      <p:sp>
        <p:nvSpPr>
          <p:cNvPr id="26" name="Shape 22"/>
          <p:cNvSpPr/>
          <p:nvPr/>
        </p:nvSpPr>
        <p:spPr>
          <a:xfrm>
            <a:off x="9130284" y="5285232"/>
            <a:ext cx="730240" cy="201168"/>
          </a:xfrm>
          <a:prstGeom prst="rect">
            <a:avLst/>
          </a:prstGeom>
          <a:solidFill>
            <a:srgbClr val="D9D2E9"/>
          </a:solidFill>
          <a:ln/>
        </p:spPr>
      </p:sp>
      <p:sp>
        <p:nvSpPr>
          <p:cNvPr id="27" name="Text 23"/>
          <p:cNvSpPr txBox="1"/>
          <p:nvPr/>
        </p:nvSpPr>
        <p:spPr>
          <a:xfrm>
            <a:off x="10725912" y="5248656"/>
            <a:ext cx="868680" cy="274320"/>
          </a:xfrm>
          <a:prstGeom prst="rect">
            <a:avLst/>
          </a:prstGeom>
          <a:noFill/>
          <a:ln/>
        </p:spPr>
        <p:txBody>
          <a:bodyPr wrap="square" lIns="0" tIns="0" rIns="0" bIns="0" rtlCol="0" anchor="ctr"/>
          <a:lstStyle/>
          <a:p>
            <a:pPr algn="r" indent="0" marL="0">
              <a:buNone/>
            </a:pPr>
            <a:r>
              <a:rPr lang="en-US" sz="950" b="1" dirty="0">
                <a:solidFill>
                  <a:srgbClr val="16161A"/>
                </a:solidFill>
                <a:latin typeface="Yu Gothic" pitchFamily="34" charset="0"/>
                <a:ea typeface="Yu Gothic" pitchFamily="34" charset="-122"/>
                <a:cs typeface="Yu Gothic" pitchFamily="34" charset="-120"/>
              </a:rPr>
              <a:t>210</a:t>
            </a:r>
            <a:endParaRPr lang="en-US" sz="950" dirty="0"/>
          </a:p>
        </p:txBody>
      </p:sp>
      <p:sp>
        <p:nvSpPr>
          <p:cNvPr id="28" name="Text 24"/>
          <p:cNvSpPr txBox="1"/>
          <p:nvPr/>
        </p:nvSpPr>
        <p:spPr>
          <a:xfrm>
            <a:off x="6368796" y="5541264"/>
            <a:ext cx="2651760" cy="274320"/>
          </a:xfrm>
          <a:prstGeom prst="rect">
            <a:avLst/>
          </a:prstGeom>
          <a:noFill/>
          <a:ln/>
        </p:spPr>
        <p:txBody>
          <a:bodyPr wrap="square" lIns="0" tIns="0" rIns="0" bIns="0" rtlCol="0" anchor="ctr"/>
          <a:lstStyle/>
          <a:p>
            <a:pPr indent="0" marL="0">
              <a:buNone/>
            </a:pPr>
            <a:r>
              <a:rPr lang="en-US" sz="950" dirty="0">
                <a:solidFill>
                  <a:srgbClr val="3A3A42"/>
                </a:solidFill>
                <a:latin typeface="Yu Gothic" pitchFamily="34" charset="0"/>
                <a:ea typeface="Yu Gothic" pitchFamily="34" charset="-122"/>
                <a:cs typeface="Yu Gothic" pitchFamily="34" charset="-120"/>
              </a:rPr>
              <a:t>当社 5期（うち①制作は35.7）</a:t>
            </a:r>
            <a:endParaRPr lang="en-US" sz="950" dirty="0"/>
          </a:p>
        </p:txBody>
      </p:sp>
      <p:sp>
        <p:nvSpPr>
          <p:cNvPr id="29" name="Shape 25"/>
          <p:cNvSpPr/>
          <p:nvPr/>
        </p:nvSpPr>
        <p:spPr>
          <a:xfrm>
            <a:off x="9130284" y="5577840"/>
            <a:ext cx="418228" cy="201168"/>
          </a:xfrm>
          <a:prstGeom prst="rect">
            <a:avLst/>
          </a:prstGeom>
          <a:solidFill>
            <a:srgbClr val="B3121B"/>
          </a:solidFill>
          <a:ln/>
        </p:spPr>
      </p:sp>
      <p:sp>
        <p:nvSpPr>
          <p:cNvPr id="30" name="Text 26"/>
          <p:cNvSpPr txBox="1"/>
          <p:nvPr/>
        </p:nvSpPr>
        <p:spPr>
          <a:xfrm>
            <a:off x="10725912" y="5541264"/>
            <a:ext cx="868680" cy="274320"/>
          </a:xfrm>
          <a:prstGeom prst="rect">
            <a:avLst/>
          </a:prstGeom>
          <a:noFill/>
          <a:ln/>
        </p:spPr>
        <p:txBody>
          <a:bodyPr wrap="square" lIns="0" tIns="0" rIns="0" bIns="0" rtlCol="0" anchor="ctr"/>
          <a:lstStyle/>
          <a:p>
            <a:pPr algn="r" indent="0" marL="0">
              <a:buNone/>
            </a:pPr>
            <a:r>
              <a:rPr lang="en-US" sz="950" b="1" dirty="0">
                <a:solidFill>
                  <a:srgbClr val="16161A"/>
                </a:solidFill>
                <a:latin typeface="Yu Gothic" pitchFamily="34" charset="0"/>
                <a:ea typeface="Yu Gothic" pitchFamily="34" charset="-122"/>
                <a:cs typeface="Yu Gothic" pitchFamily="34" charset="-120"/>
              </a:rPr>
              <a:t>120</a:t>
            </a:r>
            <a:endParaRPr lang="en-US" sz="950" dirty="0"/>
          </a:p>
        </p:txBody>
      </p:sp>
      <p:sp>
        <p:nvSpPr>
          <p:cNvPr id="31" name="Text 27"/>
          <p:cNvSpPr txBox="1"/>
          <p:nvPr/>
        </p:nvSpPr>
        <p:spPr>
          <a:xfrm>
            <a:off x="594360" y="6336792"/>
            <a:ext cx="9902952" cy="310896"/>
          </a:xfrm>
          <a:prstGeom prst="rect">
            <a:avLst/>
          </a:prstGeom>
          <a:noFill/>
          <a:ln/>
        </p:spPr>
        <p:txBody>
          <a:bodyPr wrap="square" lIns="0" tIns="0" rIns="0" bIns="0" rtlCol="0" anchor="ctr"/>
          <a:lstStyle/>
          <a:p>
            <a:pPr indent="0" marL="0">
              <a:buNone/>
            </a:pPr>
            <a:r>
              <a:rPr lang="en-US" sz="850" dirty="0">
                <a:solidFill>
                  <a:srgbClr val="6E6E76"/>
                </a:solidFill>
                <a:latin typeface="Yu Gothic" pitchFamily="34" charset="0"/>
                <a:ea typeface="Yu Gothic" pitchFamily="34" charset="-122"/>
                <a:cs typeface="Yu Gothic" pitchFamily="34" charset="-120"/>
              </a:rPr>
              <a:t>出所: irbank（各社の直近通期）／ IMAGICA GROUP は第1四半期222億からの推計・TOBにより通期予想は非開示 ／ HeyGen公式・Upstarts Media・YipitData（ARR）／ WPP・Publicis 公式。為替は1ドル=150円</a:t>
            </a:r>
            <a:endParaRPr lang="en-US" sz="850" dirty="0"/>
          </a:p>
        </p:txBody>
      </p:sp>
      <p:sp>
        <p:nvSpPr>
          <p:cNvPr id="32" name="Text 28"/>
          <p:cNvSpPr txBox="1"/>
          <p:nvPr/>
        </p:nvSpPr>
        <p:spPr>
          <a:xfrm>
            <a:off x="11228832" y="6336792"/>
            <a:ext cx="365760" cy="274320"/>
          </a:xfrm>
          <a:prstGeom prst="rect">
            <a:avLst/>
          </a:prstGeom>
          <a:noFill/>
          <a:ln/>
        </p:spPr>
        <p:txBody>
          <a:bodyPr wrap="square" lIns="0" tIns="0" rIns="0" bIns="0" rtlCol="0" anchor="ctr"/>
          <a:lstStyle/>
          <a:p>
            <a:pPr algn="r" indent="0" marL="0">
              <a:buNone/>
            </a:pPr>
            <a:r>
              <a:rPr lang="en-US" sz="900" dirty="0">
                <a:solidFill>
                  <a:srgbClr val="6E6E76"/>
                </a:solidFill>
                <a:latin typeface="Yu Gothic" pitchFamily="34" charset="0"/>
                <a:ea typeface="Yu Gothic" pitchFamily="34" charset="-122"/>
                <a:cs typeface="Yu Gothic" pitchFamily="34" charset="-120"/>
              </a:rPr>
              <a:t>5</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402336"/>
            <a:ext cx="475488" cy="475488"/>
          </a:xfrm>
          <a:prstGeom prst="rect">
            <a:avLst/>
          </a:prstGeom>
          <a:solidFill>
            <a:srgbClr val="B3121B"/>
          </a:solidFill>
          <a:ln/>
        </p:spPr>
      </p:sp>
      <p:sp>
        <p:nvSpPr>
          <p:cNvPr id="3" name="Text 1"/>
          <p:cNvSpPr txBox="1"/>
          <p:nvPr/>
        </p:nvSpPr>
        <p:spPr>
          <a:xfrm>
            <a:off x="594360" y="40233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2</a:t>
            </a:r>
            <a:endParaRPr lang="en-US" sz="1700" dirty="0"/>
          </a:p>
        </p:txBody>
      </p:sp>
      <p:sp>
        <p:nvSpPr>
          <p:cNvPr id="4" name="Text 2"/>
          <p:cNvSpPr txBox="1"/>
          <p:nvPr/>
        </p:nvSpPr>
        <p:spPr>
          <a:xfrm>
            <a:off x="1207008" y="365760"/>
            <a:ext cx="10387584" cy="548640"/>
          </a:xfrm>
          <a:prstGeom prst="rect">
            <a:avLst/>
          </a:prstGeom>
          <a:noFill/>
          <a:ln/>
        </p:spPr>
        <p:txBody>
          <a:bodyPr wrap="square" lIns="0" tIns="0" rIns="0" bIns="0" rtlCol="0" anchor="ctr"/>
          <a:lstStyle/>
          <a:p>
            <a:pPr indent="0" marL="0">
              <a:buNone/>
            </a:pPr>
            <a:r>
              <a:rPr lang="en-US" sz="2500" b="1" dirty="0">
                <a:solidFill>
                  <a:srgbClr val="16161A"/>
                </a:solidFill>
                <a:latin typeface="Yu Gothic" pitchFamily="34" charset="0"/>
                <a:ea typeface="Yu Gothic" pitchFamily="34" charset="-122"/>
                <a:cs typeface="Yu Gothic" pitchFamily="34" charset="-120"/>
              </a:rPr>
              <a:t>企業案件と個人案件 — 発注市場の規模</a:t>
            </a:r>
            <a:endParaRPr lang="en-US" sz="2500" dirty="0"/>
          </a:p>
        </p:txBody>
      </p:sp>
      <p:sp>
        <p:nvSpPr>
          <p:cNvPr id="5" name="Text 3"/>
          <p:cNvSpPr txBox="1"/>
          <p:nvPr/>
        </p:nvSpPr>
        <p:spPr>
          <a:xfrm>
            <a:off x="1207008" y="932688"/>
            <a:ext cx="10387584" cy="310896"/>
          </a:xfrm>
          <a:prstGeom prst="rect">
            <a:avLst/>
          </a:prstGeom>
          <a:noFill/>
          <a:ln/>
        </p:spPr>
        <p:txBody>
          <a:bodyPr wrap="square" lIns="0" tIns="0" rIns="0" bIns="0" rtlCol="0" anchor="ctr"/>
          <a:lstStyle/>
          <a:p>
            <a:pPr indent="0" marL="0">
              <a:buNone/>
            </a:pPr>
            <a:r>
              <a:rPr lang="en-US" sz="1200" dirty="0">
                <a:solidFill>
                  <a:srgbClr val="6E6E76"/>
                </a:solidFill>
                <a:latin typeface="Yu Gothic" pitchFamily="34" charset="0"/>
                <a:ea typeface="Yu Gothic" pitchFamily="34" charset="-122"/>
                <a:cs typeface="Yu Gothic" pitchFamily="34" charset="-120"/>
              </a:rPr>
              <a:t>「誰がお金を払うのか」で見ると、法人と個人では市場の性質がまったく違います</a:t>
            </a:r>
            <a:endParaRPr lang="en-US" sz="1200" dirty="0"/>
          </a:p>
        </p:txBody>
      </p:sp>
      <p:sp>
        <p:nvSpPr>
          <p:cNvPr id="6" name="Shape 4"/>
          <p:cNvSpPr/>
          <p:nvPr/>
        </p:nvSpPr>
        <p:spPr>
          <a:xfrm>
            <a:off x="594360" y="1371600"/>
            <a:ext cx="3483864" cy="1371600"/>
          </a:xfrm>
          <a:prstGeom prst="rect">
            <a:avLst/>
          </a:prstGeom>
          <a:solidFill>
            <a:srgbClr val="FCE5CD"/>
          </a:solidFill>
          <a:ln/>
        </p:spPr>
      </p:sp>
      <p:sp>
        <p:nvSpPr>
          <p:cNvPr id="7" name="Text 5"/>
          <p:cNvSpPr txBox="1"/>
          <p:nvPr/>
        </p:nvSpPr>
        <p:spPr>
          <a:xfrm>
            <a:off x="832104" y="1536192"/>
            <a:ext cx="3008376" cy="603504"/>
          </a:xfrm>
          <a:prstGeom prst="rect">
            <a:avLst/>
          </a:prstGeom>
          <a:noFill/>
          <a:ln/>
        </p:spPr>
        <p:txBody>
          <a:bodyPr wrap="square" lIns="0" tIns="0" rIns="0" bIns="0" rtlCol="0" anchor="ctr"/>
          <a:lstStyle/>
          <a:p>
            <a:pPr indent="0" marL="0">
              <a:buNone/>
            </a:pPr>
            <a:r>
              <a:rPr lang="en-US" sz="2600" b="1" dirty="0">
                <a:solidFill>
                  <a:srgbClr val="B3121B"/>
                </a:solidFill>
                <a:latin typeface="Yu Gothic" pitchFamily="34" charset="0"/>
                <a:ea typeface="Yu Gothic" pitchFamily="34" charset="-122"/>
                <a:cs typeface="Yu Gothic" pitchFamily="34" charset="-120"/>
              </a:rPr>
              <a:t>4,580億円</a:t>
            </a:r>
            <a:endParaRPr lang="en-US" sz="2600" dirty="0"/>
          </a:p>
        </p:txBody>
      </p:sp>
      <p:sp>
        <p:nvSpPr>
          <p:cNvPr id="8" name="Text 6"/>
          <p:cNvSpPr txBox="1"/>
          <p:nvPr/>
        </p:nvSpPr>
        <p:spPr>
          <a:xfrm>
            <a:off x="832104" y="2157984"/>
            <a:ext cx="3008376" cy="256032"/>
          </a:xfrm>
          <a:prstGeom prst="rect">
            <a:avLst/>
          </a:prstGeom>
          <a:noFill/>
          <a:ln/>
        </p:spPr>
        <p:txBody>
          <a:bodyPr wrap="square" lIns="0" tIns="0" rIns="0" bIns="0" rtlCol="0" anchor="ctr"/>
          <a:lstStyle/>
          <a:p>
            <a:pPr indent="0" marL="0">
              <a:buNone/>
            </a:pPr>
            <a:r>
              <a:rPr lang="en-US" sz="1100" b="1" dirty="0">
                <a:solidFill>
                  <a:srgbClr val="16161A"/>
                </a:solidFill>
                <a:latin typeface="Yu Gothic" pitchFamily="34" charset="0"/>
                <a:ea typeface="Yu Gothic" pitchFamily="34" charset="-122"/>
                <a:cs typeface="Yu Gothic" pitchFamily="34" charset="-120"/>
              </a:rPr>
              <a:t>① 企業案件｜法人が発注する市場</a:t>
            </a:r>
            <a:endParaRPr lang="en-US" sz="1100" dirty="0"/>
          </a:p>
        </p:txBody>
      </p:sp>
      <p:sp>
        <p:nvSpPr>
          <p:cNvPr id="9" name="Text 7"/>
          <p:cNvSpPr txBox="1"/>
          <p:nvPr/>
        </p:nvSpPr>
        <p:spPr>
          <a:xfrm>
            <a:off x="832104" y="2432304"/>
            <a:ext cx="3008376" cy="182880"/>
          </a:xfrm>
          <a:prstGeom prst="rect">
            <a:avLst/>
          </a:prstGeom>
          <a:noFill/>
          <a:ln/>
        </p:spPr>
        <p:txBody>
          <a:bodyPr wrap="square" lIns="0" tIns="0" rIns="0" bIns="0" rtlCol="0" anchor="t"/>
          <a:lstStyle/>
          <a:p>
            <a:pPr indent="0" marL="0">
              <a:lnSpc>
                <a:spcPct val="120000"/>
              </a:lnSpc>
              <a:buNone/>
            </a:pPr>
            <a:r>
              <a:rPr lang="en-US" sz="900" dirty="0">
                <a:solidFill>
                  <a:srgbClr val="6E6E76"/>
                </a:solidFill>
                <a:latin typeface="Yu Gothic" pitchFamily="34" charset="0"/>
                <a:ea typeface="Yu Gothic" pitchFamily="34" charset="-122"/>
                <a:cs typeface="Yu Gothic" pitchFamily="34" charset="-120"/>
              </a:rPr>
              <a:t>国内動画制作サービス市場（2025年度予測）。2024年度 4,238億円 → 2027年度 5,400億円</a:t>
            </a:r>
            <a:endParaRPr lang="en-US" sz="900" dirty="0"/>
          </a:p>
          <a:p>
            <a:pPr indent="0" marL="0">
              <a:lnSpc>
                <a:spcPct val="120000"/>
              </a:lnSpc>
              <a:buNone/>
            </a:pPr>
            <a:r>
              <a:rPr lang="en-US" sz="900" dirty="0">
                <a:solidFill>
                  <a:srgbClr val="6E6E76"/>
                </a:solidFill>
                <a:latin typeface="Yu Gothic" pitchFamily="34" charset="0"/>
                <a:ea typeface="Yu Gothic" pitchFamily="34" charset="-122"/>
                <a:cs typeface="Yu Gothic" pitchFamily="34" charset="-120"/>
              </a:rPr>
              <a:t>【実測値・矢野経済研究所】</a:t>
            </a:r>
            <a:endParaRPr lang="en-US" sz="900" dirty="0"/>
          </a:p>
        </p:txBody>
      </p:sp>
      <p:sp>
        <p:nvSpPr>
          <p:cNvPr id="10" name="Shape 8"/>
          <p:cNvSpPr/>
          <p:nvPr/>
        </p:nvSpPr>
        <p:spPr>
          <a:xfrm>
            <a:off x="4352544" y="1371600"/>
            <a:ext cx="3483864" cy="1371600"/>
          </a:xfrm>
          <a:prstGeom prst="rect">
            <a:avLst/>
          </a:prstGeom>
          <a:solidFill>
            <a:srgbClr val="FCE5CD"/>
          </a:solidFill>
          <a:ln/>
        </p:spPr>
      </p:sp>
      <p:sp>
        <p:nvSpPr>
          <p:cNvPr id="11" name="Text 9"/>
          <p:cNvSpPr txBox="1"/>
          <p:nvPr/>
        </p:nvSpPr>
        <p:spPr>
          <a:xfrm>
            <a:off x="4590288" y="1536192"/>
            <a:ext cx="3008376" cy="603504"/>
          </a:xfrm>
          <a:prstGeom prst="rect">
            <a:avLst/>
          </a:prstGeom>
          <a:noFill/>
          <a:ln/>
        </p:spPr>
        <p:txBody>
          <a:bodyPr wrap="square" lIns="0" tIns="0" rIns="0" bIns="0" rtlCol="0" anchor="ctr"/>
          <a:lstStyle/>
          <a:p>
            <a:pPr indent="0" marL="0">
              <a:buNone/>
            </a:pPr>
            <a:r>
              <a:rPr lang="en-US" sz="2600" b="1" dirty="0">
                <a:solidFill>
                  <a:srgbClr val="C9962C"/>
                </a:solidFill>
                <a:latin typeface="Yu Gothic" pitchFamily="34" charset="0"/>
                <a:ea typeface="Yu Gothic" pitchFamily="34" charset="-122"/>
                <a:cs typeface="Yu Gothic" pitchFamily="34" charset="-120"/>
              </a:rPr>
              <a:t>6,800億円</a:t>
            </a:r>
            <a:endParaRPr lang="en-US" sz="2600" dirty="0"/>
          </a:p>
        </p:txBody>
      </p:sp>
      <p:sp>
        <p:nvSpPr>
          <p:cNvPr id="12" name="Text 10"/>
          <p:cNvSpPr txBox="1"/>
          <p:nvPr/>
        </p:nvSpPr>
        <p:spPr>
          <a:xfrm>
            <a:off x="4590288" y="2157984"/>
            <a:ext cx="3008376" cy="256032"/>
          </a:xfrm>
          <a:prstGeom prst="rect">
            <a:avLst/>
          </a:prstGeom>
          <a:noFill/>
          <a:ln/>
        </p:spPr>
        <p:txBody>
          <a:bodyPr wrap="square" lIns="0" tIns="0" rIns="0" bIns="0" rtlCol="0" anchor="ctr"/>
          <a:lstStyle/>
          <a:p>
            <a:pPr indent="0" marL="0">
              <a:buNone/>
            </a:pPr>
            <a:r>
              <a:rPr lang="en-US" sz="1100" b="1" dirty="0">
                <a:solidFill>
                  <a:srgbClr val="16161A"/>
                </a:solidFill>
                <a:latin typeface="Yu Gothic" pitchFamily="34" charset="0"/>
                <a:ea typeface="Yu Gothic" pitchFamily="34" charset="-122"/>
                <a:cs typeface="Yu Gothic" pitchFamily="34" charset="-120"/>
              </a:rPr>
              <a:t>③ 個人案件｜個人が発注する市場</a:t>
            </a:r>
            <a:endParaRPr lang="en-US" sz="1100" dirty="0"/>
          </a:p>
        </p:txBody>
      </p:sp>
      <p:sp>
        <p:nvSpPr>
          <p:cNvPr id="13" name="Text 11"/>
          <p:cNvSpPr txBox="1"/>
          <p:nvPr/>
        </p:nvSpPr>
        <p:spPr>
          <a:xfrm>
            <a:off x="4590288" y="2432304"/>
            <a:ext cx="3008376" cy="182880"/>
          </a:xfrm>
          <a:prstGeom prst="rect">
            <a:avLst/>
          </a:prstGeom>
          <a:noFill/>
          <a:ln/>
        </p:spPr>
        <p:txBody>
          <a:bodyPr wrap="square" lIns="0" tIns="0" rIns="0" bIns="0" rtlCol="0" anchor="t"/>
          <a:lstStyle/>
          <a:p>
            <a:pPr indent="0" marL="0">
              <a:lnSpc>
                <a:spcPct val="120000"/>
              </a:lnSpc>
              <a:buNone/>
            </a:pPr>
            <a:r>
              <a:rPr lang="en-US" sz="900" dirty="0">
                <a:solidFill>
                  <a:srgbClr val="6E6E76"/>
                </a:solidFill>
                <a:latin typeface="Yu Gothic" pitchFamily="34" charset="0"/>
                <a:ea typeface="Yu Gothic" pitchFamily="34" charset="-122"/>
                <a:cs typeface="Yu Gothic" pitchFamily="34" charset="-120"/>
              </a:rPr>
              <a:t>スキルシェア市場全体の2028年予測。動画がこのうち何割かは公表されていません</a:t>
            </a:r>
            <a:endParaRPr lang="en-US" sz="900" dirty="0"/>
          </a:p>
          <a:p>
            <a:pPr indent="0" marL="0">
              <a:lnSpc>
                <a:spcPct val="120000"/>
              </a:lnSpc>
              <a:buNone/>
            </a:pPr>
            <a:r>
              <a:rPr lang="en-US" sz="900" dirty="0">
                <a:solidFill>
                  <a:srgbClr val="6E6E76"/>
                </a:solidFill>
                <a:latin typeface="Yu Gothic" pitchFamily="34" charset="0"/>
                <a:ea typeface="Yu Gothic" pitchFamily="34" charset="-122"/>
                <a:cs typeface="Yu Gothic" pitchFamily="34" charset="-120"/>
              </a:rPr>
              <a:t>【推計・内訳は非開示】</a:t>
            </a:r>
            <a:endParaRPr lang="en-US" sz="900" dirty="0"/>
          </a:p>
        </p:txBody>
      </p:sp>
      <p:sp>
        <p:nvSpPr>
          <p:cNvPr id="14" name="Shape 12"/>
          <p:cNvSpPr/>
          <p:nvPr/>
        </p:nvSpPr>
        <p:spPr>
          <a:xfrm>
            <a:off x="8110728" y="1371600"/>
            <a:ext cx="3483864" cy="1371600"/>
          </a:xfrm>
          <a:prstGeom prst="rect">
            <a:avLst/>
          </a:prstGeom>
          <a:solidFill>
            <a:srgbClr val="FCE5CD"/>
          </a:solidFill>
          <a:ln/>
        </p:spPr>
      </p:sp>
      <p:sp>
        <p:nvSpPr>
          <p:cNvPr id="15" name="Text 13"/>
          <p:cNvSpPr txBox="1"/>
          <p:nvPr/>
        </p:nvSpPr>
        <p:spPr>
          <a:xfrm>
            <a:off x="8348472" y="1536192"/>
            <a:ext cx="3008376" cy="603504"/>
          </a:xfrm>
          <a:prstGeom prst="rect">
            <a:avLst/>
          </a:prstGeom>
          <a:noFill/>
          <a:ln/>
        </p:spPr>
        <p:txBody>
          <a:bodyPr wrap="square" lIns="0" tIns="0" rIns="0" bIns="0" rtlCol="0" anchor="ctr"/>
          <a:lstStyle/>
          <a:p>
            <a:pPr indent="0" marL="0">
              <a:buNone/>
            </a:pPr>
            <a:r>
              <a:rPr lang="en-US" sz="2600" b="1" dirty="0">
                <a:solidFill>
                  <a:srgbClr val="6E6E76"/>
                </a:solidFill>
                <a:latin typeface="Yu Gothic" pitchFamily="34" charset="0"/>
                <a:ea typeface="Yu Gothic" pitchFamily="34" charset="-122"/>
                <a:cs typeface="Yu Gothic" pitchFamily="34" charset="-120"/>
              </a:rPr>
              <a:t>2兆894億円</a:t>
            </a:r>
            <a:endParaRPr lang="en-US" sz="2600" dirty="0"/>
          </a:p>
        </p:txBody>
      </p:sp>
      <p:sp>
        <p:nvSpPr>
          <p:cNvPr id="16" name="Text 14"/>
          <p:cNvSpPr txBox="1"/>
          <p:nvPr/>
        </p:nvSpPr>
        <p:spPr>
          <a:xfrm>
            <a:off x="8348472" y="2157984"/>
            <a:ext cx="3008376" cy="256032"/>
          </a:xfrm>
          <a:prstGeom prst="rect">
            <a:avLst/>
          </a:prstGeom>
          <a:noFill/>
          <a:ln/>
        </p:spPr>
        <p:txBody>
          <a:bodyPr wrap="square" lIns="0" tIns="0" rIns="0" bIns="0" rtlCol="0" anchor="ctr"/>
          <a:lstStyle/>
          <a:p>
            <a:pPr indent="0" marL="0">
              <a:buNone/>
            </a:pPr>
            <a:r>
              <a:rPr lang="en-US" sz="1100" b="1" dirty="0">
                <a:solidFill>
                  <a:srgbClr val="16161A"/>
                </a:solidFill>
                <a:latin typeface="Yu Gothic" pitchFamily="34" charset="0"/>
                <a:ea typeface="Yu Gothic" pitchFamily="34" charset="-122"/>
                <a:cs typeface="Yu Gothic" pitchFamily="34" charset="-120"/>
              </a:rPr>
              <a:t>参考｜個人が「受け取る」市場</a:t>
            </a:r>
            <a:endParaRPr lang="en-US" sz="1100" dirty="0"/>
          </a:p>
        </p:txBody>
      </p:sp>
      <p:sp>
        <p:nvSpPr>
          <p:cNvPr id="17" name="Text 15"/>
          <p:cNvSpPr txBox="1"/>
          <p:nvPr/>
        </p:nvSpPr>
        <p:spPr>
          <a:xfrm>
            <a:off x="8348472" y="2432304"/>
            <a:ext cx="3008376" cy="182880"/>
          </a:xfrm>
          <a:prstGeom prst="rect">
            <a:avLst/>
          </a:prstGeom>
          <a:noFill/>
          <a:ln/>
        </p:spPr>
        <p:txBody>
          <a:bodyPr wrap="square" lIns="0" tIns="0" rIns="0" bIns="0" rtlCol="0" anchor="t"/>
          <a:lstStyle/>
          <a:p>
            <a:pPr indent="0" marL="0">
              <a:lnSpc>
                <a:spcPct val="120000"/>
              </a:lnSpc>
              <a:buNone/>
            </a:pPr>
            <a:r>
              <a:rPr lang="en-US" sz="900" dirty="0">
                <a:solidFill>
                  <a:srgbClr val="6E6E76"/>
                </a:solidFill>
                <a:latin typeface="Yu Gothic" pitchFamily="34" charset="0"/>
                <a:ea typeface="Yu Gothic" pitchFamily="34" charset="-122"/>
                <a:cs typeface="Yu Gothic" pitchFamily="34" charset="-120"/>
              </a:rPr>
              <a:t>クリエイターエコノミー（2024年）。これは発注市場ではなく報酬市場です。</a:t>
            </a:r>
            <a:endParaRPr lang="en-US" sz="900" dirty="0"/>
          </a:p>
          <a:p>
            <a:pPr indent="0" marL="0">
              <a:lnSpc>
                <a:spcPct val="120000"/>
              </a:lnSpc>
              <a:buNone/>
            </a:pPr>
            <a:r>
              <a:rPr lang="en-US" sz="900" dirty="0">
                <a:solidFill>
                  <a:srgbClr val="6E6E76"/>
                </a:solidFill>
                <a:latin typeface="Yu Gothic" pitchFamily="34" charset="0"/>
                <a:ea typeface="Yu Gothic" pitchFamily="34" charset="-122"/>
                <a:cs typeface="Yu Gothic" pitchFamily="34" charset="-120"/>
              </a:rPr>
              <a:t>【混同しないこと】</a:t>
            </a:r>
            <a:endParaRPr lang="en-US" sz="900" dirty="0"/>
          </a:p>
        </p:txBody>
      </p:sp>
      <p:sp>
        <p:nvSpPr>
          <p:cNvPr id="18" name="Text 16"/>
          <p:cNvSpPr txBox="1"/>
          <p:nvPr/>
        </p:nvSpPr>
        <p:spPr>
          <a:xfrm>
            <a:off x="594360" y="2871216"/>
            <a:ext cx="11000232" cy="274320"/>
          </a:xfrm>
          <a:prstGeom prst="rect">
            <a:avLst/>
          </a:prstGeom>
          <a:noFill/>
          <a:ln/>
        </p:spPr>
        <p:txBody>
          <a:bodyPr wrap="square" lIns="0" tIns="0" rIns="0" bIns="0" rtlCol="0" anchor="ctr"/>
          <a:lstStyle/>
          <a:p>
            <a:pPr indent="0" marL="0">
              <a:buNone/>
            </a:pPr>
            <a:r>
              <a:rPr lang="en-US" sz="1150" b="1" dirty="0">
                <a:solidFill>
                  <a:srgbClr val="16161A"/>
                </a:solidFill>
                <a:latin typeface="Yu Gothic" pitchFamily="34" charset="0"/>
                <a:ea typeface="Yu Gothic" pitchFamily="34" charset="-122"/>
                <a:cs typeface="Yu Gothic" pitchFamily="34" charset="-120"/>
              </a:rPr>
              <a:t>同じ「1本の動画」でも、取引の形が違います</a:t>
            </a:r>
            <a:endParaRPr lang="en-US" sz="11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94360" y="3163824"/>
          <a:ext cx="11000232" cy="914400"/>
        </p:xfrm>
        <a:graphic>
          <a:graphicData uri="http://schemas.openxmlformats.org/drawingml/2006/table">
            <a:tbl>
              <a:tblPr/>
              <a:tblGrid>
                <a:gridCol w="1737360"/>
                <a:gridCol w="4663440"/>
                <a:gridCol w="4599432"/>
              </a:tblGrid>
              <a:tr h="365760">
                <a:tc>
                  <a:txBody>
                    <a:bodyPr/>
                    <a:lstStyle/>
                    <a:p>
                      <a:pPr indent="0" marL="0">
                        <a:buNone/>
                      </a:pP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① 企業案件（法人が発注）</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③ 個人案件（個人が発注）</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r>
              <a:tr h="365760">
                <a:tc>
                  <a:txBody>
                    <a:bodyPr/>
                    <a:lstStyle/>
                    <a:p>
                      <a:pPr indent="0" marL="0">
                        <a:buNone/>
                      </a:pPr>
                      <a:r>
                        <a:rPr lang="en-US" sz="950" b="1" dirty="0">
                          <a:solidFill>
                            <a:srgbClr val="16161A"/>
                          </a:solidFill>
                          <a:latin typeface="Yu Gothic" pitchFamily="34" charset="0"/>
                          <a:ea typeface="Yu Gothic" pitchFamily="34" charset="-122"/>
                          <a:cs typeface="Yu Gothic" pitchFamily="34" charset="-120"/>
                        </a:rPr>
                        <a:t>1件あたり単価</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b="1" dirty="0">
                          <a:solidFill>
                            <a:srgbClr val="B3121B"/>
                          </a:solidFill>
                          <a:latin typeface="Yu Gothic" pitchFamily="34" charset="0"/>
                          <a:ea typeface="Yu Gothic" pitchFamily="34" charset="-122"/>
                          <a:cs typeface="Yu Gothic" pitchFamily="34" charset="-120"/>
                        </a:rPr>
                        <a:t>20万〜200万円（制作会社）／代理店経由は100万〜1,000万円</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b="1" dirty="0">
                          <a:solidFill>
                            <a:srgbClr val="C9962C"/>
                          </a:solidFill>
                          <a:latin typeface="Yu Gothic" pitchFamily="34" charset="0"/>
                          <a:ea typeface="Yu Gothic" pitchFamily="34" charset="-122"/>
                          <a:cs typeface="Yu Gothic" pitchFamily="34" charset="-120"/>
                        </a:rPr>
                        <a:t>5,000円〜100万円。簡易編集は1,000円台も</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365760">
                <a:tc>
                  <a:txBody>
                    <a:bodyPr/>
                    <a:lstStyle/>
                    <a:p>
                      <a:pPr indent="0" marL="0">
                        <a:buNone/>
                      </a:pPr>
                      <a:r>
                        <a:rPr lang="en-US" sz="950" b="1" dirty="0">
                          <a:solidFill>
                            <a:srgbClr val="16161A"/>
                          </a:solidFill>
                          <a:latin typeface="Yu Gothic" pitchFamily="34" charset="0"/>
                          <a:ea typeface="Yu Gothic" pitchFamily="34" charset="-122"/>
                          <a:cs typeface="Yu Gothic" pitchFamily="34" charset="-120"/>
                        </a:rPr>
                        <a:t>発注者</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事業会社の広報・マーケ部門／広告代理店／制作会社</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個人事業主・小規模店舗・YouTuber・配信者</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365760">
                <a:tc>
                  <a:txBody>
                    <a:bodyPr/>
                    <a:lstStyle/>
                    <a:p>
                      <a:pPr indent="0" marL="0">
                        <a:buNone/>
                      </a:pPr>
                      <a:r>
                        <a:rPr lang="en-US" sz="950" b="1" dirty="0">
                          <a:solidFill>
                            <a:srgbClr val="16161A"/>
                          </a:solidFill>
                          <a:latin typeface="Yu Gothic" pitchFamily="34" charset="0"/>
                          <a:ea typeface="Yu Gothic" pitchFamily="34" charset="-122"/>
                          <a:cs typeface="Yu Gothic" pitchFamily="34" charset="-120"/>
                        </a:rPr>
                        <a:t>取引の場</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相見積 → 稟議 → 発注書 → 検収 → 請求</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ココナラ・ランサーズ・クラウドワークス（PFが仲介）</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365760">
                <a:tc>
                  <a:txBody>
                    <a:bodyPr/>
                    <a:lstStyle/>
                    <a:p>
                      <a:pPr indent="0" marL="0">
                        <a:buNone/>
                      </a:pPr>
                      <a:r>
                        <a:rPr lang="en-US" sz="950" b="1" dirty="0">
                          <a:solidFill>
                            <a:srgbClr val="16161A"/>
                          </a:solidFill>
                          <a:latin typeface="Yu Gothic" pitchFamily="34" charset="0"/>
                          <a:ea typeface="Yu Gothic" pitchFamily="34" charset="-122"/>
                          <a:cs typeface="Yu Gothic" pitchFamily="34" charset="-120"/>
                        </a:rPr>
                        <a:t>与信・請求</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b="1" dirty="0">
                          <a:solidFill>
                            <a:srgbClr val="3A3A42"/>
                          </a:solidFill>
                          <a:latin typeface="Yu Gothic" pitchFamily="34" charset="0"/>
                          <a:ea typeface="Yu Gothic" pitchFamily="34" charset="-122"/>
                          <a:cs typeface="Yu Gothic" pitchFamily="34" charset="-120"/>
                        </a:rPr>
                        <a:t>必要。ここが個人クリエイターには越えられない壁</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原則プラットフォームが代行するため不要</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365760">
                <a:tc>
                  <a:txBody>
                    <a:bodyPr/>
                    <a:lstStyle/>
                    <a:p>
                      <a:pPr indent="0" marL="0">
                        <a:buNone/>
                      </a:pPr>
                      <a:r>
                        <a:rPr lang="en-US" sz="950" b="1" dirty="0">
                          <a:solidFill>
                            <a:srgbClr val="16161A"/>
                          </a:solidFill>
                          <a:latin typeface="Yu Gothic" pitchFamily="34" charset="0"/>
                          <a:ea typeface="Yu Gothic" pitchFamily="34" charset="-122"/>
                          <a:cs typeface="Yu Gothic" pitchFamily="34" charset="-120"/>
                        </a:rPr>
                        <a:t>当社の位置づけ</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b="1" dirty="0">
                          <a:solidFill>
                            <a:srgbClr val="B3121B"/>
                          </a:solidFill>
                          <a:latin typeface="Yu Gothic" pitchFamily="34" charset="0"/>
                          <a:ea typeface="Yu Gothic" pitchFamily="34" charset="-122"/>
                          <a:cs typeface="Yu Gothic" pitchFamily="34" charset="-120"/>
                        </a:rPr>
                        <a:t>主軸。当社が受注して配分する</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C9962C"/>
                          </a:solidFill>
                          <a:latin typeface="Yu Gothic" pitchFamily="34" charset="0"/>
                          <a:ea typeface="Yu Gothic" pitchFamily="34" charset="-122"/>
                          <a:cs typeface="Yu Gothic" pitchFamily="34" charset="-120"/>
                        </a:rPr>
                        <a:t>第3の柱。自動化したPFで受ける</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bl>
          </a:graphicData>
        </a:graphic>
      </p:graphicFrame>
      <p:sp>
        <p:nvSpPr>
          <p:cNvPr id="20" name="Shape 17"/>
          <p:cNvSpPr/>
          <p:nvPr/>
        </p:nvSpPr>
        <p:spPr>
          <a:xfrm>
            <a:off x="594360" y="5449824"/>
            <a:ext cx="11000232" cy="804672"/>
          </a:xfrm>
          <a:prstGeom prst="rect">
            <a:avLst/>
          </a:prstGeom>
          <a:solidFill>
            <a:srgbClr val="FBF1F1"/>
          </a:solidFill>
          <a:ln/>
        </p:spPr>
      </p:sp>
      <p:sp>
        <p:nvSpPr>
          <p:cNvPr id="21" name="Shape 18"/>
          <p:cNvSpPr/>
          <p:nvPr/>
        </p:nvSpPr>
        <p:spPr>
          <a:xfrm>
            <a:off x="594360" y="5449824"/>
            <a:ext cx="45720" cy="804672"/>
          </a:xfrm>
          <a:prstGeom prst="rect">
            <a:avLst/>
          </a:prstGeom>
          <a:solidFill>
            <a:srgbClr val="B3121B"/>
          </a:solidFill>
          <a:ln/>
        </p:spPr>
      </p:sp>
      <p:sp>
        <p:nvSpPr>
          <p:cNvPr id="22" name="Text 19"/>
          <p:cNvSpPr txBox="1"/>
          <p:nvPr/>
        </p:nvSpPr>
        <p:spPr>
          <a:xfrm>
            <a:off x="850392" y="5596128"/>
            <a:ext cx="10543032" cy="274320"/>
          </a:xfrm>
          <a:prstGeom prst="rect">
            <a:avLst/>
          </a:prstGeom>
          <a:noFill/>
          <a:ln/>
        </p:spPr>
        <p:txBody>
          <a:bodyPr wrap="square" lIns="0" tIns="0" rIns="0" bIns="0" rtlCol="0" anchor="ctr"/>
          <a:lstStyle/>
          <a:p>
            <a:pPr indent="0" marL="0">
              <a:buNone/>
            </a:pPr>
            <a:r>
              <a:rPr lang="en-US" sz="1200" b="1" dirty="0">
                <a:solidFill>
                  <a:srgbClr val="B3121B"/>
                </a:solidFill>
                <a:latin typeface="Yu Gothic" pitchFamily="34" charset="0"/>
                <a:ea typeface="Yu Gothic" pitchFamily="34" charset="-122"/>
                <a:cs typeface="Yu Gothic" pitchFamily="34" charset="-120"/>
              </a:rPr>
              <a:t>⚠ 個人の発注市場は「小さい」のではなく「測られていない」</a:t>
            </a:r>
            <a:endParaRPr lang="en-US" sz="1200" dirty="0"/>
          </a:p>
        </p:txBody>
      </p:sp>
      <p:sp>
        <p:nvSpPr>
          <p:cNvPr id="23" name="Text 20"/>
          <p:cNvSpPr txBox="1"/>
          <p:nvPr/>
        </p:nvSpPr>
        <p:spPr>
          <a:xfrm>
            <a:off x="850392" y="5925312"/>
            <a:ext cx="10543032" cy="182880"/>
          </a:xfrm>
          <a:prstGeom prst="rect">
            <a:avLst/>
          </a:prstGeom>
          <a:noFill/>
          <a:ln/>
        </p:spPr>
        <p:txBody>
          <a:bodyPr wrap="square" lIns="0" tIns="0" rIns="0" bIns="0" rtlCol="0" anchor="t"/>
          <a:lstStyle/>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ココナラ・ランサーズとも、動画カテゴリの流通高を開示していません。6,800億円はスキルシェア全体の数字です。</a:t>
            </a:r>
            <a:endParaRPr lang="en-US" sz="950" dirty="0"/>
          </a:p>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だから売上の主軸は法人（①）に置き、個人（③）は自動化したPFで薄く広く取ります。件数と単価は1期に実測します。</a:t>
            </a:r>
            <a:endParaRPr lang="en-US" sz="950" dirty="0"/>
          </a:p>
        </p:txBody>
      </p:sp>
      <p:sp>
        <p:nvSpPr>
          <p:cNvPr id="24" name="Text 21"/>
          <p:cNvSpPr txBox="1"/>
          <p:nvPr/>
        </p:nvSpPr>
        <p:spPr>
          <a:xfrm>
            <a:off x="594360" y="6336792"/>
            <a:ext cx="9902952" cy="310896"/>
          </a:xfrm>
          <a:prstGeom prst="rect">
            <a:avLst/>
          </a:prstGeom>
          <a:noFill/>
          <a:ln/>
        </p:spPr>
        <p:txBody>
          <a:bodyPr wrap="square" lIns="0" tIns="0" rIns="0" bIns="0" rtlCol="0" anchor="ctr"/>
          <a:lstStyle/>
          <a:p>
            <a:pPr indent="0" marL="0">
              <a:buNone/>
            </a:pPr>
            <a:r>
              <a:rPr lang="en-US" sz="850" dirty="0">
                <a:solidFill>
                  <a:srgbClr val="6E6E76"/>
                </a:solidFill>
                <a:latin typeface="Yu Gothic" pitchFamily="34" charset="0"/>
                <a:ea typeface="Yu Gothic" pitchFamily="34" charset="-122"/>
                <a:cs typeface="Yu Gothic" pitchFamily="34" charset="-120"/>
              </a:rPr>
              <a:t>出所: 矢野経済研究所（動画コンテンツビジネス調査2025）／ Business Insider Japan（スキルシェア市場2028年予測）／ クリエイターエコノミー協会（2025年版調査）／ ココナラ・ランサーズ公開単価。企業案件は実測値、個人案件は推計値です</a:t>
            </a:r>
            <a:endParaRPr lang="en-US" sz="850" dirty="0"/>
          </a:p>
        </p:txBody>
      </p:sp>
      <p:sp>
        <p:nvSpPr>
          <p:cNvPr id="25" name="Text 22"/>
          <p:cNvSpPr txBox="1"/>
          <p:nvPr/>
        </p:nvSpPr>
        <p:spPr>
          <a:xfrm>
            <a:off x="11228832" y="6336792"/>
            <a:ext cx="365760" cy="274320"/>
          </a:xfrm>
          <a:prstGeom prst="rect">
            <a:avLst/>
          </a:prstGeom>
          <a:noFill/>
          <a:ln/>
        </p:spPr>
        <p:txBody>
          <a:bodyPr wrap="square" lIns="0" tIns="0" rIns="0" bIns="0" rtlCol="0" anchor="ctr"/>
          <a:lstStyle/>
          <a:p>
            <a:pPr algn="r" indent="0" marL="0">
              <a:buNone/>
            </a:pPr>
            <a:r>
              <a:rPr lang="en-US" sz="900" dirty="0">
                <a:solidFill>
                  <a:srgbClr val="6E6E76"/>
                </a:solidFill>
                <a:latin typeface="Yu Gothic" pitchFamily="34" charset="0"/>
                <a:ea typeface="Yu Gothic" pitchFamily="34" charset="-122"/>
                <a:cs typeface="Yu Gothic" pitchFamily="34" charset="-120"/>
              </a:rPr>
              <a:t>6</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402336"/>
            <a:ext cx="475488" cy="475488"/>
          </a:xfrm>
          <a:prstGeom prst="rect">
            <a:avLst/>
          </a:prstGeom>
          <a:solidFill>
            <a:srgbClr val="B3121B"/>
          </a:solidFill>
          <a:ln/>
        </p:spPr>
      </p:sp>
      <p:sp>
        <p:nvSpPr>
          <p:cNvPr id="3" name="Text 1"/>
          <p:cNvSpPr txBox="1"/>
          <p:nvPr/>
        </p:nvSpPr>
        <p:spPr>
          <a:xfrm>
            <a:off x="594360" y="40233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2</a:t>
            </a:r>
            <a:endParaRPr lang="en-US" sz="1700" dirty="0"/>
          </a:p>
        </p:txBody>
      </p:sp>
      <p:sp>
        <p:nvSpPr>
          <p:cNvPr id="4" name="Text 2"/>
          <p:cNvSpPr txBox="1"/>
          <p:nvPr/>
        </p:nvSpPr>
        <p:spPr>
          <a:xfrm>
            <a:off x="1207008" y="365760"/>
            <a:ext cx="10387584" cy="548640"/>
          </a:xfrm>
          <a:prstGeom prst="rect">
            <a:avLst/>
          </a:prstGeom>
          <a:noFill/>
          <a:ln/>
        </p:spPr>
        <p:txBody>
          <a:bodyPr wrap="square" lIns="0" tIns="0" rIns="0" bIns="0" rtlCol="0" anchor="ctr"/>
          <a:lstStyle/>
          <a:p>
            <a:pPr indent="0" marL="0">
              <a:buNone/>
            </a:pPr>
            <a:r>
              <a:rPr lang="en-US" sz="2500" b="1" dirty="0">
                <a:solidFill>
                  <a:srgbClr val="16161A"/>
                </a:solidFill>
                <a:latin typeface="Yu Gothic" pitchFamily="34" charset="0"/>
                <a:ea typeface="Yu Gothic" pitchFamily="34" charset="-122"/>
                <a:cs typeface="Yu Gothic" pitchFamily="34" charset="-120"/>
              </a:rPr>
              <a:t>どんな場面で発注が起きるのか — Where the demand comes from</a:t>
            </a:r>
            <a:endParaRPr lang="en-US" sz="2500" dirty="0"/>
          </a:p>
        </p:txBody>
      </p:sp>
      <p:sp>
        <p:nvSpPr>
          <p:cNvPr id="5" name="Text 3"/>
          <p:cNvSpPr txBox="1"/>
          <p:nvPr/>
        </p:nvSpPr>
        <p:spPr>
          <a:xfrm>
            <a:off x="1207008" y="932688"/>
            <a:ext cx="10387584" cy="310896"/>
          </a:xfrm>
          <a:prstGeom prst="rect">
            <a:avLst/>
          </a:prstGeom>
          <a:noFill/>
          <a:ln/>
        </p:spPr>
        <p:txBody>
          <a:bodyPr wrap="square" lIns="0" tIns="0" rIns="0" bIns="0" rtlCol="0" anchor="ctr"/>
          <a:lstStyle/>
          <a:p>
            <a:pPr indent="0" marL="0">
              <a:buNone/>
            </a:pPr>
            <a:r>
              <a:rPr lang="en-US" sz="1200" dirty="0">
                <a:solidFill>
                  <a:srgbClr val="6E6E76"/>
                </a:solidFill>
                <a:latin typeface="Yu Gothic" pitchFamily="34" charset="0"/>
                <a:ea typeface="Yu Gothic" pitchFamily="34" charset="-122"/>
                <a:cs typeface="Yu Gothic" pitchFamily="34" charset="-120"/>
              </a:rPr>
              <a:t>法人と個人で、依頼される映像はまったく違います。単価も尺も頻度も違います</a:t>
            </a:r>
            <a:endParaRPr lang="en-US" sz="1200" dirty="0"/>
          </a:p>
        </p:txBody>
      </p:sp>
      <p:sp>
        <p:nvSpPr>
          <p:cNvPr id="6" name="Text 4"/>
          <p:cNvSpPr txBox="1"/>
          <p:nvPr/>
        </p:nvSpPr>
        <p:spPr>
          <a:xfrm>
            <a:off x="594360" y="1371600"/>
            <a:ext cx="5394960" cy="274320"/>
          </a:xfrm>
          <a:prstGeom prst="rect">
            <a:avLst/>
          </a:prstGeom>
          <a:noFill/>
          <a:ln/>
        </p:spPr>
        <p:txBody>
          <a:bodyPr wrap="square" lIns="0" tIns="0" rIns="0" bIns="0" rtlCol="0" anchor="ctr"/>
          <a:lstStyle/>
          <a:p>
            <a:pPr indent="0" marL="0">
              <a:buNone/>
            </a:pPr>
            <a:r>
              <a:rPr lang="en-US" sz="1150" b="1" dirty="0">
                <a:solidFill>
                  <a:srgbClr val="16161A"/>
                </a:solidFill>
                <a:latin typeface="Yu Gothic" pitchFamily="34" charset="0"/>
                <a:ea typeface="Yu Gothic" pitchFamily="34" charset="-122"/>
                <a:cs typeface="Yu Gothic" pitchFamily="34" charset="-120"/>
              </a:rPr>
              <a:t>① 企業案件｜法人が発注する — Corporate</a:t>
            </a:r>
            <a:endParaRPr lang="en-US" sz="11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94360" y="1664208"/>
          <a:ext cx="5394960" cy="914400"/>
        </p:xfrm>
        <a:graphic>
          <a:graphicData uri="http://schemas.openxmlformats.org/drawingml/2006/table">
            <a:tbl>
              <a:tblPr/>
              <a:tblGrid>
                <a:gridCol w="2377440"/>
                <a:gridCol w="1005840"/>
                <a:gridCol w="822960"/>
                <a:gridCol w="1188720"/>
              </a:tblGrid>
              <a:tr h="310896">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場面 / Scene</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単価</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尺</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頻度</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r>
              <a:tr h="310896">
                <a:tc>
                  <a:txBody>
                    <a:bodyPr/>
                    <a:lstStyle/>
                    <a:p>
                      <a:pPr indent="0" marL="0">
                        <a:buNone/>
                      </a:pPr>
                      <a:r>
                        <a:rPr lang="en-US" sz="900" b="1" dirty="0">
                          <a:solidFill>
                            <a:srgbClr val="3A3A42"/>
                          </a:solidFill>
                          <a:latin typeface="Yu Gothic" pitchFamily="34" charset="0"/>
                          <a:ea typeface="Yu Gothic" pitchFamily="34" charset="-122"/>
                          <a:cs typeface="Yu Gothic" pitchFamily="34" charset="-120"/>
                        </a:rPr>
                        <a:t>会社紹介  Company profile</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b="1" dirty="0">
                          <a:solidFill>
                            <a:srgbClr val="B3121B"/>
                          </a:solidFill>
                          <a:latin typeface="Yu Gothic" pitchFamily="34" charset="0"/>
                          <a:ea typeface="Yu Gothic" pitchFamily="34" charset="-122"/>
                          <a:cs typeface="Yu Gothic" pitchFamily="34" charset="-120"/>
                        </a:rPr>
                        <a:t>50〜150万</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2〜5分</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数年に1回</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310896">
                <a:tc>
                  <a:txBody>
                    <a:bodyPr/>
                    <a:lstStyle/>
                    <a:p>
                      <a:pPr indent="0" marL="0">
                        <a:buNone/>
                      </a:pPr>
                      <a:r>
                        <a:rPr lang="en-US" sz="900" b="1" dirty="0">
                          <a:solidFill>
                            <a:srgbClr val="3A3A42"/>
                          </a:solidFill>
                          <a:latin typeface="Yu Gothic" pitchFamily="34" charset="0"/>
                          <a:ea typeface="Yu Gothic" pitchFamily="34" charset="-122"/>
                          <a:cs typeface="Yu Gothic" pitchFamily="34" charset="-120"/>
                        </a:rPr>
                        <a:t>採用  Recruiting</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40〜120万</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2〜3分</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毎年</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310896">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商品・サービス紹介  Product demo</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30〜100万</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1〜3分</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製品ごと</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310896">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展示会ループ  Trade show loop</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20〜60万</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30秒〜2分</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催事ごと</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310896">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社内研修・マニュアル  Training</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20〜80万</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3〜10分</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随時</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310896">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IR・株主向け  Investor relations</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50〜200万</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3〜8分</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年1回</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bl>
          </a:graphicData>
        </a:graphic>
      </p:graphicFrame>
      <p:sp>
        <p:nvSpPr>
          <p:cNvPr id="8" name="Text 5"/>
          <p:cNvSpPr txBox="1"/>
          <p:nvPr/>
        </p:nvSpPr>
        <p:spPr>
          <a:xfrm>
            <a:off x="6263640" y="1371600"/>
            <a:ext cx="5330952" cy="274320"/>
          </a:xfrm>
          <a:prstGeom prst="rect">
            <a:avLst/>
          </a:prstGeom>
          <a:noFill/>
          <a:ln/>
        </p:spPr>
        <p:txBody>
          <a:bodyPr wrap="square" lIns="0" tIns="0" rIns="0" bIns="0" rtlCol="0" anchor="ctr"/>
          <a:lstStyle/>
          <a:p>
            <a:pPr indent="0" marL="0">
              <a:buNone/>
            </a:pPr>
            <a:r>
              <a:rPr lang="en-US" sz="1150" b="1" dirty="0">
                <a:solidFill>
                  <a:srgbClr val="16161A"/>
                </a:solidFill>
                <a:latin typeface="Yu Gothic" pitchFamily="34" charset="0"/>
                <a:ea typeface="Yu Gothic" pitchFamily="34" charset="-122"/>
                <a:cs typeface="Yu Gothic" pitchFamily="34" charset="-120"/>
              </a:rPr>
              <a:t>③ 個人案件｜個人・中小が発注する — Individual &amp; SMB</a:t>
            </a:r>
            <a:endParaRPr lang="en-US" sz="1150" dirty="0"/>
          </a:p>
        </p:txBody>
      </p:sp>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6263640" y="1664208"/>
          <a:ext cx="5330952" cy="914400"/>
        </p:xfrm>
        <a:graphic>
          <a:graphicData uri="http://schemas.openxmlformats.org/drawingml/2006/table">
            <a:tbl>
              <a:tblPr/>
              <a:tblGrid>
                <a:gridCol w="2560320"/>
                <a:gridCol w="1005840"/>
                <a:gridCol w="822960"/>
                <a:gridCol w="941832"/>
              </a:tblGrid>
              <a:tr h="310896">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場面 / Scene</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単価</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尺</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頻度</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r>
              <a:tr h="310896">
                <a:tc>
                  <a:txBody>
                    <a:bodyPr/>
                    <a:lstStyle/>
                    <a:p>
                      <a:pPr indent="0" marL="0">
                        <a:buNone/>
                      </a:pPr>
                      <a:r>
                        <a:rPr lang="en-US" sz="900" b="1" dirty="0">
                          <a:solidFill>
                            <a:srgbClr val="3A3A42"/>
                          </a:solidFill>
                          <a:latin typeface="Yu Gothic" pitchFamily="34" charset="0"/>
                          <a:ea typeface="Yu Gothic" pitchFamily="34" charset="-122"/>
                          <a:cs typeface="Yu Gothic" pitchFamily="34" charset="-120"/>
                        </a:rPr>
                        <a:t>SNS広告・縦型  Social ads</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b="1" dirty="0">
                          <a:solidFill>
                            <a:srgbClr val="C9962C"/>
                          </a:solidFill>
                          <a:latin typeface="Yu Gothic" pitchFamily="34" charset="0"/>
                          <a:ea typeface="Yu Gothic" pitchFamily="34" charset="-122"/>
                          <a:cs typeface="Yu Gothic" pitchFamily="34" charset="-120"/>
                        </a:rPr>
                        <a:t>1〜30万</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15〜60秒</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毎月</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310896">
                <a:tc>
                  <a:txBody>
                    <a:bodyPr/>
                    <a:lstStyle/>
                    <a:p>
                      <a:pPr indent="0" marL="0">
                        <a:buNone/>
                      </a:pPr>
                      <a:r>
                        <a:rPr lang="en-US" sz="900" b="1" dirty="0">
                          <a:solidFill>
                            <a:srgbClr val="3A3A42"/>
                          </a:solidFill>
                          <a:latin typeface="Yu Gothic" pitchFamily="34" charset="0"/>
                          <a:ea typeface="Yu Gothic" pitchFamily="34" charset="-122"/>
                          <a:cs typeface="Yu Gothic" pitchFamily="34" charset="-120"/>
                        </a:rPr>
                        <a:t>店舗紹介  Shop introduction</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3〜30万</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1〜2分</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開業時</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310896">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ウエディング  Wedding</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5〜20万</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3〜7分</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一生に1回</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310896">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終活・記念  Memorial</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5〜20万</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3〜10分</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一生に1回</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310896">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教材・オンライン講座  Course</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3〜50万</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5〜30分</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講座ごと</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310896">
                <a:tc>
                  <a:txBody>
                    <a:bodyPr/>
                    <a:lstStyle/>
                    <a:p>
                      <a:pPr indent="0" marL="0">
                        <a:buNone/>
                      </a:pPr>
                      <a:r>
                        <a:rPr lang="en-US" sz="900" b="1" dirty="0">
                          <a:solidFill>
                            <a:srgbClr val="3A3A42"/>
                          </a:solidFill>
                          <a:latin typeface="Yu Gothic" pitchFamily="34" charset="0"/>
                          <a:ea typeface="Yu Gothic" pitchFamily="34" charset="-122"/>
                          <a:cs typeface="Yu Gothic" pitchFamily="34" charset="-120"/>
                        </a:rPr>
                        <a:t>クラウドファンディング  Crowdfunding</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b="1" dirty="0">
                          <a:solidFill>
                            <a:srgbClr val="C9962C"/>
                          </a:solidFill>
                          <a:latin typeface="Yu Gothic" pitchFamily="34" charset="0"/>
                          <a:ea typeface="Yu Gothic" pitchFamily="34" charset="-122"/>
                          <a:cs typeface="Yu Gothic" pitchFamily="34" charset="-120"/>
                        </a:rPr>
                        <a:t>10〜100万</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2〜4分</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企画ごと</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bl>
          </a:graphicData>
        </a:graphic>
      </p:graphicFrame>
      <p:sp>
        <p:nvSpPr>
          <p:cNvPr id="10" name="Shape 6"/>
          <p:cNvSpPr/>
          <p:nvPr/>
        </p:nvSpPr>
        <p:spPr>
          <a:xfrm>
            <a:off x="594360" y="3968496"/>
            <a:ext cx="5362956" cy="969264"/>
          </a:xfrm>
          <a:prstGeom prst="rect">
            <a:avLst/>
          </a:prstGeom>
          <a:solidFill>
            <a:srgbClr val="FBF1F1"/>
          </a:solidFill>
          <a:ln/>
        </p:spPr>
      </p:sp>
      <p:sp>
        <p:nvSpPr>
          <p:cNvPr id="11" name="Shape 7"/>
          <p:cNvSpPr/>
          <p:nvPr/>
        </p:nvSpPr>
        <p:spPr>
          <a:xfrm>
            <a:off x="594360" y="3968496"/>
            <a:ext cx="45720" cy="969264"/>
          </a:xfrm>
          <a:prstGeom prst="rect">
            <a:avLst/>
          </a:prstGeom>
          <a:solidFill>
            <a:srgbClr val="B3121B"/>
          </a:solidFill>
          <a:ln/>
        </p:spPr>
      </p:sp>
      <p:sp>
        <p:nvSpPr>
          <p:cNvPr id="12" name="Text 8"/>
          <p:cNvSpPr txBox="1"/>
          <p:nvPr/>
        </p:nvSpPr>
        <p:spPr>
          <a:xfrm>
            <a:off x="850392" y="4114800"/>
            <a:ext cx="4905756" cy="274320"/>
          </a:xfrm>
          <a:prstGeom prst="rect">
            <a:avLst/>
          </a:prstGeom>
          <a:noFill/>
          <a:ln/>
        </p:spPr>
        <p:txBody>
          <a:bodyPr wrap="square" lIns="0" tIns="0" rIns="0" bIns="0" rtlCol="0" anchor="ctr"/>
          <a:lstStyle/>
          <a:p>
            <a:pPr indent="0" marL="0">
              <a:buNone/>
            </a:pPr>
            <a:r>
              <a:rPr lang="en-US" sz="1200" b="1" dirty="0">
                <a:solidFill>
                  <a:srgbClr val="B3121B"/>
                </a:solidFill>
                <a:latin typeface="Yu Gothic" pitchFamily="34" charset="0"/>
                <a:ea typeface="Yu Gothic" pitchFamily="34" charset="-122"/>
                <a:cs typeface="Yu Gothic" pitchFamily="34" charset="-120"/>
              </a:rPr>
              <a:t>⚠ 法人は「高く・少なく・止まらない」</a:t>
            </a:r>
            <a:endParaRPr lang="en-US" sz="1200" dirty="0"/>
          </a:p>
        </p:txBody>
      </p:sp>
      <p:sp>
        <p:nvSpPr>
          <p:cNvPr id="13" name="Text 9"/>
          <p:cNvSpPr txBox="1"/>
          <p:nvPr/>
        </p:nvSpPr>
        <p:spPr>
          <a:xfrm>
            <a:off x="850392" y="4443984"/>
            <a:ext cx="4905756" cy="347472"/>
          </a:xfrm>
          <a:prstGeom prst="rect">
            <a:avLst/>
          </a:prstGeom>
          <a:noFill/>
          <a:ln/>
        </p:spPr>
        <p:txBody>
          <a:bodyPr wrap="square" lIns="0" tIns="0" rIns="0" bIns="0" rtlCol="0" anchor="t"/>
          <a:lstStyle/>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単価が高く件数が少ない。稟議と検収があるぶん発注は途切れにくい。当社が受注して配分します。</a:t>
            </a:r>
            <a:endParaRPr lang="en-US" sz="1000" dirty="0"/>
          </a:p>
        </p:txBody>
      </p:sp>
      <p:sp>
        <p:nvSpPr>
          <p:cNvPr id="14" name="Shape 10"/>
          <p:cNvSpPr/>
          <p:nvPr/>
        </p:nvSpPr>
        <p:spPr>
          <a:xfrm>
            <a:off x="6231636" y="3968496"/>
            <a:ext cx="5362956" cy="969264"/>
          </a:xfrm>
          <a:prstGeom prst="rect">
            <a:avLst/>
          </a:prstGeom>
          <a:solidFill>
            <a:srgbClr val="FBF1F1"/>
          </a:solidFill>
          <a:ln/>
        </p:spPr>
      </p:sp>
      <p:sp>
        <p:nvSpPr>
          <p:cNvPr id="15" name="Shape 11"/>
          <p:cNvSpPr/>
          <p:nvPr/>
        </p:nvSpPr>
        <p:spPr>
          <a:xfrm>
            <a:off x="6231636" y="3968496"/>
            <a:ext cx="45720" cy="969264"/>
          </a:xfrm>
          <a:prstGeom prst="rect">
            <a:avLst/>
          </a:prstGeom>
          <a:solidFill>
            <a:srgbClr val="B3121B"/>
          </a:solidFill>
          <a:ln/>
        </p:spPr>
      </p:sp>
      <p:sp>
        <p:nvSpPr>
          <p:cNvPr id="16" name="Text 12"/>
          <p:cNvSpPr txBox="1"/>
          <p:nvPr/>
        </p:nvSpPr>
        <p:spPr>
          <a:xfrm>
            <a:off x="6487668" y="4114800"/>
            <a:ext cx="4905756" cy="274320"/>
          </a:xfrm>
          <a:prstGeom prst="rect">
            <a:avLst/>
          </a:prstGeom>
          <a:noFill/>
          <a:ln/>
        </p:spPr>
        <p:txBody>
          <a:bodyPr wrap="square" lIns="0" tIns="0" rIns="0" bIns="0" rtlCol="0" anchor="ctr"/>
          <a:lstStyle/>
          <a:p>
            <a:pPr indent="0" marL="0">
              <a:buNone/>
            </a:pPr>
            <a:r>
              <a:rPr lang="en-US" sz="1200" b="1" dirty="0">
                <a:solidFill>
                  <a:srgbClr val="B3121B"/>
                </a:solidFill>
                <a:latin typeface="Yu Gothic" pitchFamily="34" charset="0"/>
                <a:ea typeface="Yu Gothic" pitchFamily="34" charset="-122"/>
                <a:cs typeface="Yu Gothic" pitchFamily="34" charset="-120"/>
              </a:rPr>
              <a:t>⚠ 個人は「安く・多く・波がある」</a:t>
            </a:r>
            <a:endParaRPr lang="en-US" sz="1200" dirty="0"/>
          </a:p>
        </p:txBody>
      </p:sp>
      <p:sp>
        <p:nvSpPr>
          <p:cNvPr id="17" name="Text 13"/>
          <p:cNvSpPr txBox="1"/>
          <p:nvPr/>
        </p:nvSpPr>
        <p:spPr>
          <a:xfrm>
            <a:off x="6487668" y="4443984"/>
            <a:ext cx="4905756" cy="347472"/>
          </a:xfrm>
          <a:prstGeom prst="rect">
            <a:avLst/>
          </a:prstGeom>
          <a:noFill/>
          <a:ln/>
        </p:spPr>
        <p:txBody>
          <a:bodyPr wrap="square" lIns="0" tIns="0" rIns="0" bIns="0" rtlCol="0" anchor="t"/>
          <a:lstStyle/>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単価は低いが件数が出る。上限は100万円まで。人が介在すると採算が合わないので、自動化したPFで受けます。</a:t>
            </a:r>
            <a:endParaRPr lang="en-US" sz="1000" dirty="0"/>
          </a:p>
        </p:txBody>
      </p:sp>
      <p:sp>
        <p:nvSpPr>
          <p:cNvPr id="18" name="Shape 14"/>
          <p:cNvSpPr/>
          <p:nvPr/>
        </p:nvSpPr>
        <p:spPr>
          <a:xfrm>
            <a:off x="594360" y="5120640"/>
            <a:ext cx="2544318" cy="585216"/>
          </a:xfrm>
          <a:prstGeom prst="rect">
            <a:avLst/>
          </a:prstGeom>
          <a:solidFill>
            <a:srgbClr val="FCE5CD"/>
          </a:solidFill>
          <a:ln/>
        </p:spPr>
      </p:sp>
      <p:sp>
        <p:nvSpPr>
          <p:cNvPr id="19" name="Shape 15"/>
          <p:cNvSpPr/>
          <p:nvPr/>
        </p:nvSpPr>
        <p:spPr>
          <a:xfrm>
            <a:off x="813816" y="5376672"/>
            <a:ext cx="109728" cy="109728"/>
          </a:xfrm>
          <a:prstGeom prst="rect">
            <a:avLst/>
          </a:prstGeom>
          <a:solidFill>
            <a:srgbClr val="B3121B"/>
          </a:solidFill>
          <a:ln/>
        </p:spPr>
      </p:sp>
      <p:sp>
        <p:nvSpPr>
          <p:cNvPr id="20" name="Text 16"/>
          <p:cNvSpPr txBox="1"/>
          <p:nvPr/>
        </p:nvSpPr>
        <p:spPr>
          <a:xfrm>
            <a:off x="1033272" y="5285232"/>
            <a:ext cx="1885950"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共通するのは「尺が短い」</a:t>
            </a:r>
            <a:endParaRPr lang="en-US" sz="1250" dirty="0"/>
          </a:p>
        </p:txBody>
      </p:sp>
      <p:sp>
        <p:nvSpPr>
          <p:cNvPr id="21" name="Text 17"/>
          <p:cNvSpPr txBox="1"/>
          <p:nvPr/>
        </p:nvSpPr>
        <p:spPr>
          <a:xfrm>
            <a:off x="1033272" y="5632704"/>
            <a:ext cx="1885950" cy="-109728"/>
          </a:xfrm>
          <a:prstGeom prst="rect">
            <a:avLst/>
          </a:prstGeom>
          <a:noFill/>
          <a:ln/>
        </p:spPr>
        <p:txBody>
          <a:bodyPr wrap="square" lIns="0" tIns="0" rIns="0" bIns="0" rtlCol="0" anchor="t"/>
          <a:lstStyle/>
          <a:p>
            <a:pPr indent="0" marL="0">
              <a:lnSpc>
                <a:spcPct val="126000"/>
              </a:lnSpc>
              <a:buNone/>
            </a:pPr>
            <a:endParaRPr lang="en-US" sz="850" dirty="0"/>
          </a:p>
        </p:txBody>
      </p:sp>
      <p:sp>
        <p:nvSpPr>
          <p:cNvPr id="22" name="Shape 18"/>
          <p:cNvSpPr/>
          <p:nvPr/>
        </p:nvSpPr>
        <p:spPr>
          <a:xfrm>
            <a:off x="3412998" y="5120640"/>
            <a:ext cx="2544318" cy="585216"/>
          </a:xfrm>
          <a:prstGeom prst="rect">
            <a:avLst/>
          </a:prstGeom>
          <a:solidFill>
            <a:srgbClr val="FCE5CD"/>
          </a:solidFill>
          <a:ln/>
        </p:spPr>
      </p:sp>
      <p:sp>
        <p:nvSpPr>
          <p:cNvPr id="23" name="Shape 19"/>
          <p:cNvSpPr/>
          <p:nvPr/>
        </p:nvSpPr>
        <p:spPr>
          <a:xfrm>
            <a:off x="3632454" y="5376672"/>
            <a:ext cx="109728" cy="109728"/>
          </a:xfrm>
          <a:prstGeom prst="rect">
            <a:avLst/>
          </a:prstGeom>
          <a:solidFill>
            <a:srgbClr val="2A3563"/>
          </a:solidFill>
          <a:ln/>
        </p:spPr>
      </p:sp>
      <p:sp>
        <p:nvSpPr>
          <p:cNvPr id="24" name="Text 20"/>
          <p:cNvSpPr txBox="1"/>
          <p:nvPr/>
        </p:nvSpPr>
        <p:spPr>
          <a:xfrm>
            <a:off x="3851910" y="5285232"/>
            <a:ext cx="1885950"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実写が要らない場面が多い</a:t>
            </a:r>
            <a:endParaRPr lang="en-US" sz="1250" dirty="0"/>
          </a:p>
        </p:txBody>
      </p:sp>
      <p:sp>
        <p:nvSpPr>
          <p:cNvPr id="25" name="Text 21"/>
          <p:cNvSpPr txBox="1"/>
          <p:nvPr/>
        </p:nvSpPr>
        <p:spPr>
          <a:xfrm>
            <a:off x="3851910" y="5632704"/>
            <a:ext cx="1885950" cy="-109728"/>
          </a:xfrm>
          <a:prstGeom prst="rect">
            <a:avLst/>
          </a:prstGeom>
          <a:noFill/>
          <a:ln/>
        </p:spPr>
        <p:txBody>
          <a:bodyPr wrap="square" lIns="0" tIns="0" rIns="0" bIns="0" rtlCol="0" anchor="t"/>
          <a:lstStyle/>
          <a:p>
            <a:pPr indent="0" marL="0">
              <a:lnSpc>
                <a:spcPct val="126000"/>
              </a:lnSpc>
              <a:buNone/>
            </a:pPr>
            <a:endParaRPr lang="en-US" sz="850" dirty="0"/>
          </a:p>
        </p:txBody>
      </p:sp>
      <p:sp>
        <p:nvSpPr>
          <p:cNvPr id="26" name="Shape 22"/>
          <p:cNvSpPr/>
          <p:nvPr/>
        </p:nvSpPr>
        <p:spPr>
          <a:xfrm>
            <a:off x="6231636" y="5120640"/>
            <a:ext cx="2544318" cy="585216"/>
          </a:xfrm>
          <a:prstGeom prst="rect">
            <a:avLst/>
          </a:prstGeom>
          <a:solidFill>
            <a:srgbClr val="FCE5CD"/>
          </a:solidFill>
          <a:ln/>
        </p:spPr>
      </p:sp>
      <p:sp>
        <p:nvSpPr>
          <p:cNvPr id="27" name="Shape 23"/>
          <p:cNvSpPr/>
          <p:nvPr/>
        </p:nvSpPr>
        <p:spPr>
          <a:xfrm>
            <a:off x="6451092" y="5376672"/>
            <a:ext cx="109728" cy="109728"/>
          </a:xfrm>
          <a:prstGeom prst="rect">
            <a:avLst/>
          </a:prstGeom>
          <a:solidFill>
            <a:srgbClr val="C9962C"/>
          </a:solidFill>
          <a:ln/>
        </p:spPr>
      </p:sp>
      <p:sp>
        <p:nvSpPr>
          <p:cNvPr id="28" name="Text 24"/>
          <p:cNvSpPr txBox="1"/>
          <p:nvPr/>
        </p:nvSpPr>
        <p:spPr>
          <a:xfrm>
            <a:off x="6670548" y="5285232"/>
            <a:ext cx="1885950"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だからフル生成AIが効く</a:t>
            </a:r>
            <a:endParaRPr lang="en-US" sz="1250" dirty="0"/>
          </a:p>
        </p:txBody>
      </p:sp>
      <p:sp>
        <p:nvSpPr>
          <p:cNvPr id="29" name="Text 25"/>
          <p:cNvSpPr txBox="1"/>
          <p:nvPr/>
        </p:nvSpPr>
        <p:spPr>
          <a:xfrm>
            <a:off x="6670548" y="5632704"/>
            <a:ext cx="1885950" cy="-109728"/>
          </a:xfrm>
          <a:prstGeom prst="rect">
            <a:avLst/>
          </a:prstGeom>
          <a:noFill/>
          <a:ln/>
        </p:spPr>
        <p:txBody>
          <a:bodyPr wrap="square" lIns="0" tIns="0" rIns="0" bIns="0" rtlCol="0" anchor="t"/>
          <a:lstStyle/>
          <a:p>
            <a:pPr indent="0" marL="0">
              <a:lnSpc>
                <a:spcPct val="126000"/>
              </a:lnSpc>
              <a:buNone/>
            </a:pPr>
            <a:endParaRPr lang="en-US" sz="850" dirty="0"/>
          </a:p>
        </p:txBody>
      </p:sp>
      <p:sp>
        <p:nvSpPr>
          <p:cNvPr id="30" name="Shape 26"/>
          <p:cNvSpPr/>
          <p:nvPr/>
        </p:nvSpPr>
        <p:spPr>
          <a:xfrm>
            <a:off x="9050274" y="5120640"/>
            <a:ext cx="2544318" cy="585216"/>
          </a:xfrm>
          <a:prstGeom prst="rect">
            <a:avLst/>
          </a:prstGeom>
          <a:solidFill>
            <a:srgbClr val="FCE5CD"/>
          </a:solidFill>
          <a:ln/>
        </p:spPr>
      </p:sp>
      <p:sp>
        <p:nvSpPr>
          <p:cNvPr id="31" name="Shape 27"/>
          <p:cNvSpPr/>
          <p:nvPr/>
        </p:nvSpPr>
        <p:spPr>
          <a:xfrm>
            <a:off x="9269730" y="5376672"/>
            <a:ext cx="109728" cy="109728"/>
          </a:xfrm>
          <a:prstGeom prst="rect">
            <a:avLst/>
          </a:prstGeom>
          <a:solidFill>
            <a:srgbClr val="B3121B"/>
          </a:solidFill>
          <a:ln/>
        </p:spPr>
      </p:sp>
      <p:sp>
        <p:nvSpPr>
          <p:cNvPr id="32" name="Text 28"/>
          <p:cNvSpPr txBox="1"/>
          <p:nvPr/>
        </p:nvSpPr>
        <p:spPr>
          <a:xfrm>
            <a:off x="9489186" y="5285232"/>
            <a:ext cx="1885950"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修正のやり取りが資産になる</a:t>
            </a:r>
            <a:endParaRPr lang="en-US" sz="1250" dirty="0"/>
          </a:p>
        </p:txBody>
      </p:sp>
      <p:sp>
        <p:nvSpPr>
          <p:cNvPr id="33" name="Text 29"/>
          <p:cNvSpPr txBox="1"/>
          <p:nvPr/>
        </p:nvSpPr>
        <p:spPr>
          <a:xfrm>
            <a:off x="9489186" y="5632704"/>
            <a:ext cx="1885950" cy="-109728"/>
          </a:xfrm>
          <a:prstGeom prst="rect">
            <a:avLst/>
          </a:prstGeom>
          <a:noFill/>
          <a:ln/>
        </p:spPr>
        <p:txBody>
          <a:bodyPr wrap="square" lIns="0" tIns="0" rIns="0" bIns="0" rtlCol="0" anchor="t"/>
          <a:lstStyle/>
          <a:p>
            <a:pPr indent="0" marL="0">
              <a:lnSpc>
                <a:spcPct val="126000"/>
              </a:lnSpc>
              <a:buNone/>
            </a:pPr>
            <a:endParaRPr lang="en-US" sz="850" dirty="0"/>
          </a:p>
        </p:txBody>
      </p:sp>
      <p:sp>
        <p:nvSpPr>
          <p:cNvPr id="34" name="Text 30"/>
          <p:cNvSpPr txBox="1"/>
          <p:nvPr/>
        </p:nvSpPr>
        <p:spPr>
          <a:xfrm>
            <a:off x="594360" y="6336792"/>
            <a:ext cx="9902952" cy="310896"/>
          </a:xfrm>
          <a:prstGeom prst="rect">
            <a:avLst/>
          </a:prstGeom>
          <a:noFill/>
          <a:ln/>
        </p:spPr>
        <p:txBody>
          <a:bodyPr wrap="square" lIns="0" tIns="0" rIns="0" bIns="0" rtlCol="0" anchor="ctr"/>
          <a:lstStyle/>
          <a:p>
            <a:pPr indent="0" marL="0">
              <a:buNone/>
            </a:pPr>
            <a:r>
              <a:rPr lang="en-US" sz="850" dirty="0">
                <a:solidFill>
                  <a:srgbClr val="6E6E76"/>
                </a:solidFill>
                <a:latin typeface="Yu Gothic" pitchFamily="34" charset="0"/>
                <a:ea typeface="Yu Gothic" pitchFamily="34" charset="-122"/>
                <a:cs typeface="Yu Gothic" pitchFamily="34" charset="-120"/>
              </a:rPr>
              <a:t>単価・尺・頻度は業界相場と公開単価からの［仮置き］です。1期に実測して差し替えます。出所: 動画幹事・ムビサク（法人相場）／ ココナラ・ランサーズ公開単価（個人相場）</a:t>
            </a:r>
            <a:endParaRPr lang="en-US" sz="850" dirty="0"/>
          </a:p>
        </p:txBody>
      </p:sp>
      <p:sp>
        <p:nvSpPr>
          <p:cNvPr id="35" name="Text 31"/>
          <p:cNvSpPr txBox="1"/>
          <p:nvPr/>
        </p:nvSpPr>
        <p:spPr>
          <a:xfrm>
            <a:off x="11228832" y="6336792"/>
            <a:ext cx="365760" cy="274320"/>
          </a:xfrm>
          <a:prstGeom prst="rect">
            <a:avLst/>
          </a:prstGeom>
          <a:noFill/>
          <a:ln/>
        </p:spPr>
        <p:txBody>
          <a:bodyPr wrap="square" lIns="0" tIns="0" rIns="0" bIns="0" rtlCol="0" anchor="ctr"/>
          <a:lstStyle/>
          <a:p>
            <a:pPr algn="r" indent="0" marL="0">
              <a:buNone/>
            </a:pPr>
            <a:r>
              <a:rPr lang="en-US" sz="900" dirty="0">
                <a:solidFill>
                  <a:srgbClr val="6E6E76"/>
                </a:solidFill>
                <a:latin typeface="Yu Gothic" pitchFamily="34" charset="0"/>
                <a:ea typeface="Yu Gothic" pitchFamily="34" charset="-122"/>
                <a:cs typeface="Yu Gothic" pitchFamily="34" charset="-120"/>
              </a:rPr>
              <a:t>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402336"/>
            <a:ext cx="475488" cy="475488"/>
          </a:xfrm>
          <a:prstGeom prst="rect">
            <a:avLst/>
          </a:prstGeom>
          <a:solidFill>
            <a:srgbClr val="B3121B"/>
          </a:solidFill>
          <a:ln/>
        </p:spPr>
      </p:sp>
      <p:sp>
        <p:nvSpPr>
          <p:cNvPr id="3" name="Text 1"/>
          <p:cNvSpPr txBox="1"/>
          <p:nvPr/>
        </p:nvSpPr>
        <p:spPr>
          <a:xfrm>
            <a:off x="594360" y="40233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2</a:t>
            </a:r>
            <a:endParaRPr lang="en-US" sz="1700" dirty="0"/>
          </a:p>
        </p:txBody>
      </p:sp>
      <p:sp>
        <p:nvSpPr>
          <p:cNvPr id="4" name="Text 2"/>
          <p:cNvSpPr txBox="1"/>
          <p:nvPr/>
        </p:nvSpPr>
        <p:spPr>
          <a:xfrm>
            <a:off x="1207008" y="365760"/>
            <a:ext cx="10387584" cy="548640"/>
          </a:xfrm>
          <a:prstGeom prst="rect">
            <a:avLst/>
          </a:prstGeom>
          <a:noFill/>
          <a:ln/>
        </p:spPr>
        <p:txBody>
          <a:bodyPr wrap="square" lIns="0" tIns="0" rIns="0" bIns="0" rtlCol="0" anchor="ctr"/>
          <a:lstStyle/>
          <a:p>
            <a:pPr indent="0" marL="0">
              <a:buNone/>
            </a:pPr>
            <a:r>
              <a:rPr lang="en-US" sz="2500" b="1" dirty="0">
                <a:solidFill>
                  <a:srgbClr val="16161A"/>
                </a:solidFill>
                <a:latin typeface="Yu Gothic" pitchFamily="34" charset="0"/>
                <a:ea typeface="Yu Gothic" pitchFamily="34" charset="-122"/>
                <a:cs typeface="Yu Gothic" pitchFamily="34" charset="-120"/>
              </a:rPr>
              <a:t>AI導入で、制作費はいくらになり、いくら浮くのか</a:t>
            </a:r>
            <a:endParaRPr lang="en-US" sz="2500" dirty="0"/>
          </a:p>
        </p:txBody>
      </p:sp>
      <p:sp>
        <p:nvSpPr>
          <p:cNvPr id="5" name="Text 3"/>
          <p:cNvSpPr txBox="1"/>
          <p:nvPr/>
        </p:nvSpPr>
        <p:spPr>
          <a:xfrm>
            <a:off x="1207008" y="932688"/>
            <a:ext cx="10387584" cy="310896"/>
          </a:xfrm>
          <a:prstGeom prst="rect">
            <a:avLst/>
          </a:prstGeom>
          <a:noFill/>
          <a:ln/>
        </p:spPr>
        <p:txBody>
          <a:bodyPr wrap="square" lIns="0" tIns="0" rIns="0" bIns="0" rtlCol="0" anchor="ctr"/>
          <a:lstStyle/>
          <a:p>
            <a:pPr indent="0" marL="0">
              <a:buNone/>
            </a:pPr>
            <a:r>
              <a:rPr lang="en-US" sz="1200" dirty="0">
                <a:solidFill>
                  <a:srgbClr val="6E6E76"/>
                </a:solidFill>
                <a:latin typeface="Yu Gothic" pitchFamily="34" charset="0"/>
                <a:ea typeface="Yu Gothic" pitchFamily="34" charset="-122"/>
                <a:cs typeface="Yu Gothic" pitchFamily="34" charset="-120"/>
              </a:rPr>
              <a:t>削減が効くのは「人が動く工程」です。撮影・機材・出演で費用の55%。ここが1/5になると単価が根本から変わります</a:t>
            </a:r>
            <a:endParaRPr lang="en-US" sz="1200" dirty="0"/>
          </a:p>
        </p:txBody>
      </p:sp>
      <p:sp>
        <p:nvSpPr>
          <p:cNvPr id="6" name="Text 4"/>
          <p:cNvSpPr txBox="1"/>
          <p:nvPr/>
        </p:nvSpPr>
        <p:spPr>
          <a:xfrm>
            <a:off x="594360" y="1353312"/>
            <a:ext cx="11000232" cy="274320"/>
          </a:xfrm>
          <a:prstGeom prst="rect">
            <a:avLst/>
          </a:prstGeom>
          <a:noFill/>
          <a:ln/>
        </p:spPr>
        <p:txBody>
          <a:bodyPr wrap="square" lIns="0" tIns="0" rIns="0" bIns="0" rtlCol="0" anchor="ctr"/>
          <a:lstStyle/>
          <a:p>
            <a:pPr indent="0" marL="0">
              <a:buNone/>
            </a:pPr>
            <a:r>
              <a:rPr lang="en-US" sz="1150" b="1" dirty="0">
                <a:solidFill>
                  <a:srgbClr val="16161A"/>
                </a:solidFill>
                <a:latin typeface="Yu Gothic" pitchFamily="34" charset="0"/>
                <a:ea typeface="Yu Gothic" pitchFamily="34" charset="-122"/>
                <a:cs typeface="Yu Gothic" pitchFamily="34" charset="-120"/>
              </a:rPr>
              <a:t>用途別｜現状の制作費 → AI導入後の制作費 → コストメリット</a:t>
            </a:r>
            <a:endParaRPr lang="en-US" sz="11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94360" y="1627632"/>
          <a:ext cx="11000232" cy="914400"/>
        </p:xfrm>
        <a:graphic>
          <a:graphicData uri="http://schemas.openxmlformats.org/drawingml/2006/table">
            <a:tbl>
              <a:tblPr/>
              <a:tblGrid>
                <a:gridCol w="2103120"/>
                <a:gridCol w="1783080"/>
                <a:gridCol w="1783080"/>
                <a:gridCol w="2057400"/>
                <a:gridCol w="868680"/>
                <a:gridCol w="2404872"/>
              </a:tblGrid>
              <a:tr h="365760">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用途</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現状の制作費</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AI導入後</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コストメリット（削減額）</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削減率</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AIの効き方</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r>
              <a:tr h="365760">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映画（実写）</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3〜5億円</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2.4〜4億円</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b="1" dirty="0">
                          <a:solidFill>
                            <a:srgbClr val="B3121B"/>
                          </a:solidFill>
                          <a:latin typeface="Yu Gothic" pitchFamily="34" charset="0"/>
                          <a:ea typeface="Yu Gothic" pitchFamily="34" charset="-122"/>
                          <a:cs typeface="Yu Gothic" pitchFamily="34" charset="-120"/>
                        </a:rPr>
                        <a:t>▲6,000万〜1億円</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algn="ctr" indent="0" marL="0">
                        <a:buNone/>
                      </a:pPr>
                      <a:r>
                        <a:rPr lang="en-US" sz="950" b="1" dirty="0">
                          <a:solidFill>
                            <a:srgbClr val="3A3A42"/>
                          </a:solidFill>
                          <a:latin typeface="Yu Gothic" pitchFamily="34" charset="0"/>
                          <a:ea typeface="Yu Gothic" pitchFamily="34" charset="-122"/>
                          <a:cs typeface="Yu Gothic" pitchFamily="34" charset="-120"/>
                        </a:rPr>
                        <a:t>▲20%</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部分適用のみ。VFX・群衆・背景</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365760">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アニメ映画</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1〜20億円</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7,000万〜14億円</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b="1" dirty="0">
                          <a:solidFill>
                            <a:srgbClr val="B3121B"/>
                          </a:solidFill>
                          <a:latin typeface="Yu Gothic" pitchFamily="34" charset="0"/>
                          <a:ea typeface="Yu Gothic" pitchFamily="34" charset="-122"/>
                          <a:cs typeface="Yu Gothic" pitchFamily="34" charset="-120"/>
                        </a:rPr>
                        <a:t>▲3,000万〜6億円</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algn="ctr" indent="0" marL="0">
                        <a:buNone/>
                      </a:pPr>
                      <a:r>
                        <a:rPr lang="en-US" sz="950" b="1" dirty="0">
                          <a:solidFill>
                            <a:srgbClr val="3A3A42"/>
                          </a:solidFill>
                          <a:latin typeface="Yu Gothic" pitchFamily="34" charset="0"/>
                          <a:ea typeface="Yu Gothic" pitchFamily="34" charset="-122"/>
                          <a:cs typeface="Yu Gothic" pitchFamily="34" charset="-120"/>
                        </a:rPr>
                        <a:t>▲30%</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中割・背景・彩色の自動化</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365760">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テレビCM（制作費）</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1,000万〜1億円</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500万〜5,000万円</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b="1" dirty="0">
                          <a:solidFill>
                            <a:srgbClr val="B3121B"/>
                          </a:solidFill>
                          <a:latin typeface="Yu Gothic" pitchFamily="34" charset="0"/>
                          <a:ea typeface="Yu Gothic" pitchFamily="34" charset="-122"/>
                          <a:cs typeface="Yu Gothic" pitchFamily="34" charset="-120"/>
                        </a:rPr>
                        <a:t>▲500万〜5,000万円</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algn="ctr" indent="0" marL="0">
                        <a:buNone/>
                      </a:pPr>
                      <a:r>
                        <a:rPr lang="en-US" sz="950" b="1" dirty="0">
                          <a:solidFill>
                            <a:srgbClr val="3A3A42"/>
                          </a:solidFill>
                          <a:latin typeface="Yu Gothic" pitchFamily="34" charset="0"/>
                          <a:ea typeface="Yu Gothic" pitchFamily="34" charset="-122"/>
                          <a:cs typeface="Yu Gothic" pitchFamily="34" charset="-120"/>
                        </a:rPr>
                        <a:t>▲50%</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実写×生成AIのハイブリッド</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365760">
                <a:tc>
                  <a:txBody>
                    <a:bodyPr/>
                    <a:lstStyle/>
                    <a:p>
                      <a:pPr indent="0" marL="0">
                        <a:buNone/>
                      </a:pPr>
                      <a:r>
                        <a:rPr lang="en-US" sz="950" b="1" dirty="0">
                          <a:solidFill>
                            <a:srgbClr val="16161A"/>
                          </a:solidFill>
                          <a:latin typeface="Yu Gothic" pitchFamily="34" charset="0"/>
                          <a:ea typeface="Yu Gothic" pitchFamily="34" charset="-122"/>
                          <a:cs typeface="Yu Gothic" pitchFamily="34" charset="-120"/>
                        </a:rPr>
                        <a:t>★ 企業VP・会社紹介</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b="1" dirty="0">
                          <a:solidFill>
                            <a:srgbClr val="3A3A42"/>
                          </a:solidFill>
                          <a:latin typeface="Yu Gothic" pitchFamily="34" charset="0"/>
                          <a:ea typeface="Yu Gothic" pitchFamily="34" charset="-122"/>
                          <a:cs typeface="Yu Gothic" pitchFamily="34" charset="-120"/>
                        </a:rPr>
                        <a:t>50〜150万円</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b="1" dirty="0">
                          <a:solidFill>
                            <a:srgbClr val="1F6F63"/>
                          </a:solidFill>
                          <a:latin typeface="Yu Gothic" pitchFamily="34" charset="0"/>
                          <a:ea typeface="Yu Gothic" pitchFamily="34" charset="-122"/>
                          <a:cs typeface="Yu Gothic" pitchFamily="34" charset="-120"/>
                        </a:rPr>
                        <a:t>18〜52万円</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b="1" dirty="0">
                          <a:solidFill>
                            <a:srgbClr val="B3121B"/>
                          </a:solidFill>
                          <a:latin typeface="Yu Gothic" pitchFamily="34" charset="0"/>
                          <a:ea typeface="Yu Gothic" pitchFamily="34" charset="-122"/>
                          <a:cs typeface="Yu Gothic" pitchFamily="34" charset="-120"/>
                        </a:rPr>
                        <a:t>▲32〜98万円</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algn="ctr" indent="0" marL="0">
                        <a:buNone/>
                      </a:pPr>
                      <a:r>
                        <a:rPr lang="en-US" sz="950" b="1" dirty="0">
                          <a:solidFill>
                            <a:srgbClr val="B3121B"/>
                          </a:solidFill>
                          <a:latin typeface="Yu Gothic" pitchFamily="34" charset="0"/>
                          <a:ea typeface="Yu Gothic" pitchFamily="34" charset="-122"/>
                          <a:cs typeface="Yu Gothic" pitchFamily="34" charset="-120"/>
                        </a:rPr>
                        <a:t>▲65%</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b="1" dirty="0">
                          <a:solidFill>
                            <a:srgbClr val="3A3A42"/>
                          </a:solidFill>
                          <a:latin typeface="Yu Gothic" pitchFamily="34" charset="0"/>
                          <a:ea typeface="Yu Gothic" pitchFamily="34" charset="-122"/>
                          <a:cs typeface="Yu Gothic" pitchFamily="34" charset="-120"/>
                        </a:rPr>
                        <a:t>フル生成AIが成立。撮影が消える</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365760">
                <a:tc>
                  <a:txBody>
                    <a:bodyPr/>
                    <a:lstStyle/>
                    <a:p>
                      <a:pPr indent="0" marL="0">
                        <a:buNone/>
                      </a:pPr>
                      <a:r>
                        <a:rPr lang="en-US" sz="950" b="1" dirty="0">
                          <a:solidFill>
                            <a:srgbClr val="16161A"/>
                          </a:solidFill>
                          <a:latin typeface="Yu Gothic" pitchFamily="34" charset="0"/>
                          <a:ea typeface="Yu Gothic" pitchFamily="34" charset="-122"/>
                          <a:cs typeface="Yu Gothic" pitchFamily="34" charset="-120"/>
                        </a:rPr>
                        <a:t>★ 展示会・社内イベント映像</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b="1" dirty="0">
                          <a:solidFill>
                            <a:srgbClr val="3A3A42"/>
                          </a:solidFill>
                          <a:latin typeface="Yu Gothic" pitchFamily="34" charset="0"/>
                          <a:ea typeface="Yu Gothic" pitchFamily="34" charset="-122"/>
                          <a:cs typeface="Yu Gothic" pitchFamily="34" charset="-120"/>
                        </a:rPr>
                        <a:t>20〜100万円</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b="1" dirty="0">
                          <a:solidFill>
                            <a:srgbClr val="1F6F63"/>
                          </a:solidFill>
                          <a:latin typeface="Yu Gothic" pitchFamily="34" charset="0"/>
                          <a:ea typeface="Yu Gothic" pitchFamily="34" charset="-122"/>
                          <a:cs typeface="Yu Gothic" pitchFamily="34" charset="-120"/>
                        </a:rPr>
                        <a:t>6〜30万円</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b="1" dirty="0">
                          <a:solidFill>
                            <a:srgbClr val="B3121B"/>
                          </a:solidFill>
                          <a:latin typeface="Yu Gothic" pitchFamily="34" charset="0"/>
                          <a:ea typeface="Yu Gothic" pitchFamily="34" charset="-122"/>
                          <a:cs typeface="Yu Gothic" pitchFamily="34" charset="-120"/>
                        </a:rPr>
                        <a:t>▲14〜70万円</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algn="ctr" indent="0" marL="0">
                        <a:buNone/>
                      </a:pPr>
                      <a:r>
                        <a:rPr lang="en-US" sz="950" b="1" dirty="0">
                          <a:solidFill>
                            <a:srgbClr val="B3121B"/>
                          </a:solidFill>
                          <a:latin typeface="Yu Gothic" pitchFamily="34" charset="0"/>
                          <a:ea typeface="Yu Gothic" pitchFamily="34" charset="-122"/>
                          <a:cs typeface="Yu Gothic" pitchFamily="34" charset="-120"/>
                        </a:rPr>
                        <a:t>▲70%</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b="1" dirty="0">
                          <a:solidFill>
                            <a:srgbClr val="3A3A42"/>
                          </a:solidFill>
                          <a:latin typeface="Yu Gothic" pitchFamily="34" charset="0"/>
                          <a:ea typeface="Yu Gothic" pitchFamily="34" charset="-122"/>
                          <a:cs typeface="Yu Gothic" pitchFamily="34" charset="-120"/>
                        </a:rPr>
                        <a:t>同上。ループ素材は特に効く</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365760">
                <a:tc>
                  <a:txBody>
                    <a:bodyPr/>
                    <a:lstStyle/>
                    <a:p>
                      <a:pPr indent="0" marL="0">
                        <a:buNone/>
                      </a:pPr>
                      <a:r>
                        <a:rPr lang="en-US" sz="950" b="1" dirty="0">
                          <a:solidFill>
                            <a:srgbClr val="16161A"/>
                          </a:solidFill>
                          <a:latin typeface="Yu Gothic" pitchFamily="34" charset="0"/>
                          <a:ea typeface="Yu Gothic" pitchFamily="34" charset="-122"/>
                          <a:cs typeface="Yu Gothic" pitchFamily="34" charset="-120"/>
                        </a:rPr>
                        <a:t>★ PR素材・SNS縦型</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b="1" dirty="0">
                          <a:solidFill>
                            <a:srgbClr val="3A3A42"/>
                          </a:solidFill>
                          <a:latin typeface="Yu Gothic" pitchFamily="34" charset="0"/>
                          <a:ea typeface="Yu Gothic" pitchFamily="34" charset="-122"/>
                          <a:cs typeface="Yu Gothic" pitchFamily="34" charset="-120"/>
                        </a:rPr>
                        <a:t>10〜50万円</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b="1" dirty="0">
                          <a:solidFill>
                            <a:srgbClr val="1F6F63"/>
                          </a:solidFill>
                          <a:latin typeface="Yu Gothic" pitchFamily="34" charset="0"/>
                          <a:ea typeface="Yu Gothic" pitchFamily="34" charset="-122"/>
                          <a:cs typeface="Yu Gothic" pitchFamily="34" charset="-120"/>
                        </a:rPr>
                        <a:t>2〜10万円</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b="1" dirty="0">
                          <a:solidFill>
                            <a:srgbClr val="B3121B"/>
                          </a:solidFill>
                          <a:latin typeface="Yu Gothic" pitchFamily="34" charset="0"/>
                          <a:ea typeface="Yu Gothic" pitchFamily="34" charset="-122"/>
                          <a:cs typeface="Yu Gothic" pitchFamily="34" charset="-120"/>
                        </a:rPr>
                        <a:t>▲8〜40万円</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algn="ctr" indent="0" marL="0">
                        <a:buNone/>
                      </a:pPr>
                      <a:r>
                        <a:rPr lang="en-US" sz="950" b="1" dirty="0">
                          <a:solidFill>
                            <a:srgbClr val="B3121B"/>
                          </a:solidFill>
                          <a:latin typeface="Yu Gothic" pitchFamily="34" charset="0"/>
                          <a:ea typeface="Yu Gothic" pitchFamily="34" charset="-122"/>
                          <a:cs typeface="Yu Gothic" pitchFamily="34" charset="-120"/>
                        </a:rPr>
                        <a:t>▲80%</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b="1" dirty="0">
                          <a:solidFill>
                            <a:srgbClr val="3A3A42"/>
                          </a:solidFill>
                          <a:latin typeface="Yu Gothic" pitchFamily="34" charset="0"/>
                          <a:ea typeface="Yu Gothic" pitchFamily="34" charset="-122"/>
                          <a:cs typeface="Yu Gothic" pitchFamily="34" charset="-120"/>
                        </a:rPr>
                        <a:t>量産前提。1本あたりが最も下がる</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bl>
          </a:graphicData>
        </a:graphic>
      </p:graphicFrame>
      <p:sp>
        <p:nvSpPr>
          <p:cNvPr id="8" name="Text 5"/>
          <p:cNvSpPr txBox="1"/>
          <p:nvPr/>
        </p:nvSpPr>
        <p:spPr>
          <a:xfrm>
            <a:off x="594360" y="4224528"/>
            <a:ext cx="11000232" cy="256032"/>
          </a:xfrm>
          <a:prstGeom prst="rect">
            <a:avLst/>
          </a:prstGeom>
          <a:noFill/>
          <a:ln/>
        </p:spPr>
        <p:txBody>
          <a:bodyPr wrap="square" lIns="0" tIns="0" rIns="0" bIns="0" rtlCol="0" anchor="ctr"/>
          <a:lstStyle/>
          <a:p>
            <a:pPr indent="0" marL="0">
              <a:buNone/>
            </a:pPr>
            <a:r>
              <a:rPr lang="en-US" sz="1000" b="1" dirty="0">
                <a:solidFill>
                  <a:srgbClr val="B3121B"/>
                </a:solidFill>
                <a:latin typeface="Yu Gothic" pitchFamily="34" charset="0"/>
                <a:ea typeface="Yu Gothic" pitchFamily="34" charset="-122"/>
                <a:cs typeface="Yu Gothic" pitchFamily="34" charset="-120"/>
              </a:rPr>
              <a:t>★ 下3行がフル生成AIの成立帯です。当社が取りに行くのはこの帯です。映画・CMは部分適用にとどまり、桁は変わりません。</a:t>
            </a:r>
            <a:endParaRPr lang="en-US" sz="1000" dirty="0"/>
          </a:p>
        </p:txBody>
      </p:sp>
      <p:sp>
        <p:nvSpPr>
          <p:cNvPr id="9" name="Text 6"/>
          <p:cNvSpPr txBox="1"/>
          <p:nvPr/>
        </p:nvSpPr>
        <p:spPr>
          <a:xfrm>
            <a:off x="594360" y="4553712"/>
            <a:ext cx="5394960" cy="274320"/>
          </a:xfrm>
          <a:prstGeom prst="rect">
            <a:avLst/>
          </a:prstGeom>
          <a:noFill/>
          <a:ln/>
        </p:spPr>
        <p:txBody>
          <a:bodyPr wrap="square" lIns="0" tIns="0" rIns="0" bIns="0" rtlCol="0" anchor="ctr"/>
          <a:lstStyle/>
          <a:p>
            <a:pPr indent="0" marL="0">
              <a:buNone/>
            </a:pPr>
            <a:r>
              <a:rPr lang="en-US" sz="1150" b="1" dirty="0">
                <a:solidFill>
                  <a:srgbClr val="16161A"/>
                </a:solidFill>
                <a:latin typeface="Yu Gothic" pitchFamily="34" charset="0"/>
                <a:ea typeface="Yu Gothic" pitchFamily="34" charset="-122"/>
                <a:cs typeface="Yu Gothic" pitchFamily="34" charset="-120"/>
              </a:rPr>
              <a:t>内訳はこう変わる｜企業VP 1本　100万円 → 35万円</a:t>
            </a:r>
            <a:endParaRPr lang="en-US" sz="1150" dirty="0"/>
          </a:p>
        </p:txBody>
      </p:sp>
      <p:sp>
        <p:nvSpPr>
          <p:cNvPr id="10" name="Text 7"/>
          <p:cNvSpPr txBox="1"/>
          <p:nvPr/>
        </p:nvSpPr>
        <p:spPr>
          <a:xfrm>
            <a:off x="594360" y="4882896"/>
            <a:ext cx="932688" cy="274320"/>
          </a:xfrm>
          <a:prstGeom prst="rect">
            <a:avLst/>
          </a:prstGeom>
          <a:noFill/>
          <a:ln/>
        </p:spPr>
        <p:txBody>
          <a:bodyPr wrap="square" lIns="0" tIns="0" rIns="0" bIns="0" rtlCol="0" anchor="ctr"/>
          <a:lstStyle/>
          <a:p>
            <a:pPr indent="0" marL="0">
              <a:buNone/>
            </a:pPr>
            <a:r>
              <a:rPr lang="en-US" sz="950" b="1" dirty="0">
                <a:solidFill>
                  <a:srgbClr val="16161A"/>
                </a:solidFill>
                <a:latin typeface="Yu Gothic" pitchFamily="34" charset="0"/>
                <a:ea typeface="Yu Gothic" pitchFamily="34" charset="-122"/>
                <a:cs typeface="Yu Gothic" pitchFamily="34" charset="-120"/>
              </a:rPr>
              <a:t>現状</a:t>
            </a:r>
            <a:endParaRPr lang="en-US" sz="950" dirty="0"/>
          </a:p>
        </p:txBody>
      </p:sp>
      <p:sp>
        <p:nvSpPr>
          <p:cNvPr id="11" name="Shape 8"/>
          <p:cNvSpPr/>
          <p:nvPr/>
        </p:nvSpPr>
        <p:spPr>
          <a:xfrm>
            <a:off x="1600200" y="4882896"/>
            <a:ext cx="569214" cy="274320"/>
          </a:xfrm>
          <a:prstGeom prst="rect">
            <a:avLst/>
          </a:prstGeom>
          <a:solidFill>
            <a:srgbClr val="2A3563"/>
          </a:solidFill>
          <a:ln/>
        </p:spPr>
      </p:sp>
      <p:sp>
        <p:nvSpPr>
          <p:cNvPr id="12" name="Text 9"/>
          <p:cNvSpPr txBox="1"/>
          <p:nvPr/>
        </p:nvSpPr>
        <p:spPr>
          <a:xfrm>
            <a:off x="1600200" y="4882896"/>
            <a:ext cx="569214"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Yu Gothic" pitchFamily="34" charset="0"/>
                <a:ea typeface="Yu Gothic" pitchFamily="34" charset="-122"/>
                <a:cs typeface="Yu Gothic" pitchFamily="34" charset="-120"/>
              </a:rPr>
              <a:t>15</a:t>
            </a:r>
            <a:endParaRPr lang="en-US" sz="850" dirty="0"/>
          </a:p>
        </p:txBody>
      </p:sp>
      <p:sp>
        <p:nvSpPr>
          <p:cNvPr id="13" name="Shape 10"/>
          <p:cNvSpPr/>
          <p:nvPr/>
        </p:nvSpPr>
        <p:spPr>
          <a:xfrm>
            <a:off x="2169414" y="4882896"/>
            <a:ext cx="1442009" cy="274320"/>
          </a:xfrm>
          <a:prstGeom prst="rect">
            <a:avLst/>
          </a:prstGeom>
          <a:solidFill>
            <a:srgbClr val="B3121B"/>
          </a:solidFill>
          <a:ln/>
        </p:spPr>
      </p:sp>
      <p:sp>
        <p:nvSpPr>
          <p:cNvPr id="14" name="Text 11"/>
          <p:cNvSpPr txBox="1"/>
          <p:nvPr/>
        </p:nvSpPr>
        <p:spPr>
          <a:xfrm>
            <a:off x="2169414" y="4882896"/>
            <a:ext cx="1442009"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Yu Gothic" pitchFamily="34" charset="0"/>
                <a:ea typeface="Yu Gothic" pitchFamily="34" charset="-122"/>
                <a:cs typeface="Yu Gothic" pitchFamily="34" charset="-120"/>
              </a:rPr>
              <a:t>38</a:t>
            </a:r>
            <a:endParaRPr lang="en-US" sz="850" dirty="0"/>
          </a:p>
        </p:txBody>
      </p:sp>
      <p:sp>
        <p:nvSpPr>
          <p:cNvPr id="15" name="Shape 12"/>
          <p:cNvSpPr/>
          <p:nvPr/>
        </p:nvSpPr>
        <p:spPr>
          <a:xfrm>
            <a:off x="3611423" y="4882896"/>
            <a:ext cx="379476" cy="274320"/>
          </a:xfrm>
          <a:prstGeom prst="rect">
            <a:avLst/>
          </a:prstGeom>
          <a:solidFill>
            <a:srgbClr val="8C1F26"/>
          </a:solidFill>
          <a:ln/>
        </p:spPr>
      </p:sp>
      <p:sp>
        <p:nvSpPr>
          <p:cNvPr id="16" name="Shape 13"/>
          <p:cNvSpPr/>
          <p:nvPr/>
        </p:nvSpPr>
        <p:spPr>
          <a:xfrm>
            <a:off x="3990899" y="4882896"/>
            <a:ext cx="265633" cy="274320"/>
          </a:xfrm>
          <a:prstGeom prst="rect">
            <a:avLst/>
          </a:prstGeom>
          <a:solidFill>
            <a:srgbClr val="D9601A"/>
          </a:solidFill>
          <a:ln/>
        </p:spPr>
      </p:sp>
      <p:sp>
        <p:nvSpPr>
          <p:cNvPr id="17" name="Shape 14"/>
          <p:cNvSpPr/>
          <p:nvPr/>
        </p:nvSpPr>
        <p:spPr>
          <a:xfrm>
            <a:off x="4256532" y="4882896"/>
            <a:ext cx="758952" cy="274320"/>
          </a:xfrm>
          <a:prstGeom prst="rect">
            <a:avLst/>
          </a:prstGeom>
          <a:solidFill>
            <a:srgbClr val="1F6F63"/>
          </a:solidFill>
          <a:ln/>
        </p:spPr>
      </p:sp>
      <p:sp>
        <p:nvSpPr>
          <p:cNvPr id="18" name="Text 15"/>
          <p:cNvSpPr txBox="1"/>
          <p:nvPr/>
        </p:nvSpPr>
        <p:spPr>
          <a:xfrm>
            <a:off x="4256532" y="4882896"/>
            <a:ext cx="758952"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Yu Gothic" pitchFamily="34" charset="0"/>
                <a:ea typeface="Yu Gothic" pitchFamily="34" charset="-122"/>
                <a:cs typeface="Yu Gothic" pitchFamily="34" charset="-120"/>
              </a:rPr>
              <a:t>20</a:t>
            </a:r>
            <a:endParaRPr lang="en-US" sz="850" dirty="0"/>
          </a:p>
        </p:txBody>
      </p:sp>
      <p:sp>
        <p:nvSpPr>
          <p:cNvPr id="19" name="Shape 16"/>
          <p:cNvSpPr/>
          <p:nvPr/>
        </p:nvSpPr>
        <p:spPr>
          <a:xfrm>
            <a:off x="5015484" y="4882896"/>
            <a:ext cx="379476" cy="274320"/>
          </a:xfrm>
          <a:prstGeom prst="rect">
            <a:avLst/>
          </a:prstGeom>
          <a:solidFill>
            <a:srgbClr val="6E6E76"/>
          </a:solidFill>
          <a:ln/>
        </p:spPr>
      </p:sp>
      <p:sp>
        <p:nvSpPr>
          <p:cNvPr id="20" name="Text 17"/>
          <p:cNvSpPr txBox="1"/>
          <p:nvPr/>
        </p:nvSpPr>
        <p:spPr>
          <a:xfrm>
            <a:off x="5468112" y="4882896"/>
            <a:ext cx="914400" cy="274320"/>
          </a:xfrm>
          <a:prstGeom prst="rect">
            <a:avLst/>
          </a:prstGeom>
          <a:noFill/>
          <a:ln/>
        </p:spPr>
        <p:txBody>
          <a:bodyPr wrap="square" lIns="0" tIns="0" rIns="0" bIns="0" rtlCol="0" anchor="ctr"/>
          <a:lstStyle/>
          <a:p>
            <a:pPr indent="0" marL="0">
              <a:buNone/>
            </a:pPr>
            <a:r>
              <a:rPr lang="en-US" sz="1000" b="1" dirty="0">
                <a:solidFill>
                  <a:srgbClr val="16161A"/>
                </a:solidFill>
                <a:latin typeface="Yu Gothic" pitchFamily="34" charset="0"/>
                <a:ea typeface="Yu Gothic" pitchFamily="34" charset="-122"/>
                <a:cs typeface="Yu Gothic" pitchFamily="34" charset="-120"/>
              </a:rPr>
              <a:t>100万円</a:t>
            </a:r>
            <a:endParaRPr lang="en-US" sz="1000" dirty="0"/>
          </a:p>
        </p:txBody>
      </p:sp>
      <p:sp>
        <p:nvSpPr>
          <p:cNvPr id="21" name="Text 18"/>
          <p:cNvSpPr txBox="1"/>
          <p:nvPr/>
        </p:nvSpPr>
        <p:spPr>
          <a:xfrm>
            <a:off x="594360" y="5266944"/>
            <a:ext cx="932688" cy="274320"/>
          </a:xfrm>
          <a:prstGeom prst="rect">
            <a:avLst/>
          </a:prstGeom>
          <a:noFill/>
          <a:ln/>
        </p:spPr>
        <p:txBody>
          <a:bodyPr wrap="square" lIns="0" tIns="0" rIns="0" bIns="0" rtlCol="0" anchor="ctr"/>
          <a:lstStyle/>
          <a:p>
            <a:pPr indent="0" marL="0">
              <a:buNone/>
            </a:pPr>
            <a:r>
              <a:rPr lang="en-US" sz="950" b="1" dirty="0">
                <a:solidFill>
                  <a:srgbClr val="16161A"/>
                </a:solidFill>
                <a:latin typeface="Yu Gothic" pitchFamily="34" charset="0"/>
                <a:ea typeface="Yu Gothic" pitchFamily="34" charset="-122"/>
                <a:cs typeface="Yu Gothic" pitchFamily="34" charset="-120"/>
              </a:rPr>
              <a:t>AI後</a:t>
            </a:r>
            <a:endParaRPr lang="en-US" sz="950" dirty="0"/>
          </a:p>
        </p:txBody>
      </p:sp>
      <p:sp>
        <p:nvSpPr>
          <p:cNvPr id="22" name="Shape 19"/>
          <p:cNvSpPr/>
          <p:nvPr/>
        </p:nvSpPr>
        <p:spPr>
          <a:xfrm>
            <a:off x="1600200" y="5266944"/>
            <a:ext cx="284607" cy="274320"/>
          </a:xfrm>
          <a:prstGeom prst="rect">
            <a:avLst/>
          </a:prstGeom>
          <a:solidFill>
            <a:srgbClr val="2A3563"/>
          </a:solidFill>
          <a:ln/>
        </p:spPr>
      </p:sp>
      <p:sp>
        <p:nvSpPr>
          <p:cNvPr id="23" name="Shape 20"/>
          <p:cNvSpPr/>
          <p:nvPr/>
        </p:nvSpPr>
        <p:spPr>
          <a:xfrm>
            <a:off x="1884807" y="5266944"/>
            <a:ext cx="288402" cy="274320"/>
          </a:xfrm>
          <a:prstGeom prst="rect">
            <a:avLst/>
          </a:prstGeom>
          <a:solidFill>
            <a:srgbClr val="B3121B"/>
          </a:solidFill>
          <a:ln/>
        </p:spPr>
      </p:sp>
      <p:sp>
        <p:nvSpPr>
          <p:cNvPr id="24" name="Shape 21"/>
          <p:cNvSpPr/>
          <p:nvPr/>
        </p:nvSpPr>
        <p:spPr>
          <a:xfrm>
            <a:off x="2173209" y="5266944"/>
            <a:ext cx="75895" cy="274320"/>
          </a:xfrm>
          <a:prstGeom prst="rect">
            <a:avLst/>
          </a:prstGeom>
          <a:solidFill>
            <a:srgbClr val="8C1F26"/>
          </a:solidFill>
          <a:ln/>
        </p:spPr>
      </p:sp>
      <p:sp>
        <p:nvSpPr>
          <p:cNvPr id="25" name="Shape 22"/>
          <p:cNvSpPr/>
          <p:nvPr/>
        </p:nvSpPr>
        <p:spPr>
          <a:xfrm>
            <a:off x="2249104" y="5266944"/>
            <a:ext cx="26563" cy="274320"/>
          </a:xfrm>
          <a:prstGeom prst="rect">
            <a:avLst/>
          </a:prstGeom>
          <a:solidFill>
            <a:srgbClr val="D9601A"/>
          </a:solidFill>
          <a:ln/>
        </p:spPr>
      </p:sp>
      <p:sp>
        <p:nvSpPr>
          <p:cNvPr id="26" name="Shape 23"/>
          <p:cNvSpPr/>
          <p:nvPr/>
        </p:nvSpPr>
        <p:spPr>
          <a:xfrm>
            <a:off x="2275667" y="5266944"/>
            <a:ext cx="379476" cy="274320"/>
          </a:xfrm>
          <a:prstGeom prst="rect">
            <a:avLst/>
          </a:prstGeom>
          <a:solidFill>
            <a:srgbClr val="1F6F63"/>
          </a:solidFill>
          <a:ln/>
        </p:spPr>
      </p:sp>
      <p:sp>
        <p:nvSpPr>
          <p:cNvPr id="27" name="Shape 24"/>
          <p:cNvSpPr/>
          <p:nvPr/>
        </p:nvSpPr>
        <p:spPr>
          <a:xfrm>
            <a:off x="2655143" y="5266944"/>
            <a:ext cx="265633" cy="274320"/>
          </a:xfrm>
          <a:prstGeom prst="rect">
            <a:avLst/>
          </a:prstGeom>
          <a:solidFill>
            <a:srgbClr val="6E6E76"/>
          </a:solidFill>
          <a:ln/>
        </p:spPr>
      </p:sp>
      <p:sp>
        <p:nvSpPr>
          <p:cNvPr id="28" name="Text 25"/>
          <p:cNvSpPr txBox="1"/>
          <p:nvPr/>
        </p:nvSpPr>
        <p:spPr>
          <a:xfrm>
            <a:off x="2993928" y="5266944"/>
            <a:ext cx="914400" cy="274320"/>
          </a:xfrm>
          <a:prstGeom prst="rect">
            <a:avLst/>
          </a:prstGeom>
          <a:noFill/>
          <a:ln/>
        </p:spPr>
        <p:txBody>
          <a:bodyPr wrap="square" lIns="0" tIns="0" rIns="0" bIns="0" rtlCol="0" anchor="ctr"/>
          <a:lstStyle/>
          <a:p>
            <a:pPr indent="0" marL="0">
              <a:buNone/>
            </a:pPr>
            <a:r>
              <a:rPr lang="en-US" sz="1000" b="1" dirty="0">
                <a:solidFill>
                  <a:srgbClr val="1F6F63"/>
                </a:solidFill>
                <a:latin typeface="Yu Gothic" pitchFamily="34" charset="0"/>
                <a:ea typeface="Yu Gothic" pitchFamily="34" charset="-122"/>
                <a:cs typeface="Yu Gothic" pitchFamily="34" charset="-120"/>
              </a:rPr>
              <a:t>35万円</a:t>
            </a:r>
            <a:endParaRPr lang="en-US" sz="1000" dirty="0"/>
          </a:p>
        </p:txBody>
      </p:sp>
      <p:sp>
        <p:nvSpPr>
          <p:cNvPr id="29" name="Shape 26"/>
          <p:cNvSpPr/>
          <p:nvPr/>
        </p:nvSpPr>
        <p:spPr>
          <a:xfrm>
            <a:off x="594360" y="5669280"/>
            <a:ext cx="118872" cy="118872"/>
          </a:xfrm>
          <a:prstGeom prst="rect">
            <a:avLst/>
          </a:prstGeom>
          <a:solidFill>
            <a:srgbClr val="2A3563"/>
          </a:solidFill>
          <a:ln/>
        </p:spPr>
      </p:sp>
      <p:sp>
        <p:nvSpPr>
          <p:cNvPr id="30" name="Text 27"/>
          <p:cNvSpPr txBox="1"/>
          <p:nvPr/>
        </p:nvSpPr>
        <p:spPr>
          <a:xfrm>
            <a:off x="768096" y="5605272"/>
            <a:ext cx="713232" cy="237744"/>
          </a:xfrm>
          <a:prstGeom prst="rect">
            <a:avLst/>
          </a:prstGeom>
          <a:noFill/>
          <a:ln/>
        </p:spPr>
        <p:txBody>
          <a:bodyPr wrap="square" lIns="0" tIns="0" rIns="0" bIns="0" rtlCol="0" anchor="ctr"/>
          <a:lstStyle/>
          <a:p>
            <a:pPr indent="0" marL="0">
              <a:buNone/>
            </a:pPr>
            <a:r>
              <a:rPr lang="en-US" sz="800" dirty="0">
                <a:solidFill>
                  <a:srgbClr val="6E6E76"/>
                </a:solidFill>
                <a:latin typeface="Yu Gothic" pitchFamily="34" charset="0"/>
                <a:ea typeface="Yu Gothic" pitchFamily="34" charset="-122"/>
                <a:cs typeface="Yu Gothic" pitchFamily="34" charset="-120"/>
              </a:rPr>
              <a:t>企画</a:t>
            </a:r>
            <a:endParaRPr lang="en-US" sz="800" dirty="0"/>
          </a:p>
        </p:txBody>
      </p:sp>
      <p:sp>
        <p:nvSpPr>
          <p:cNvPr id="31" name="Shape 28"/>
          <p:cNvSpPr/>
          <p:nvPr/>
        </p:nvSpPr>
        <p:spPr>
          <a:xfrm>
            <a:off x="1490472" y="5669280"/>
            <a:ext cx="118872" cy="118872"/>
          </a:xfrm>
          <a:prstGeom prst="rect">
            <a:avLst/>
          </a:prstGeom>
          <a:solidFill>
            <a:srgbClr val="B3121B"/>
          </a:solidFill>
          <a:ln/>
        </p:spPr>
      </p:sp>
      <p:sp>
        <p:nvSpPr>
          <p:cNvPr id="32" name="Text 29"/>
          <p:cNvSpPr txBox="1"/>
          <p:nvPr/>
        </p:nvSpPr>
        <p:spPr>
          <a:xfrm>
            <a:off x="1664208" y="5605272"/>
            <a:ext cx="713232" cy="237744"/>
          </a:xfrm>
          <a:prstGeom prst="rect">
            <a:avLst/>
          </a:prstGeom>
          <a:noFill/>
          <a:ln/>
        </p:spPr>
        <p:txBody>
          <a:bodyPr wrap="square" lIns="0" tIns="0" rIns="0" bIns="0" rtlCol="0" anchor="ctr"/>
          <a:lstStyle/>
          <a:p>
            <a:pPr indent="0" marL="0">
              <a:buNone/>
            </a:pPr>
            <a:r>
              <a:rPr lang="en-US" sz="800" dirty="0">
                <a:solidFill>
                  <a:srgbClr val="6E6E76"/>
                </a:solidFill>
                <a:latin typeface="Yu Gothic" pitchFamily="34" charset="0"/>
                <a:ea typeface="Yu Gothic" pitchFamily="34" charset="-122"/>
                <a:cs typeface="Yu Gothic" pitchFamily="34" charset="-120"/>
              </a:rPr>
              <a:t>撮影</a:t>
            </a:r>
            <a:endParaRPr lang="en-US" sz="800" dirty="0"/>
          </a:p>
        </p:txBody>
      </p:sp>
      <p:sp>
        <p:nvSpPr>
          <p:cNvPr id="33" name="Shape 30"/>
          <p:cNvSpPr/>
          <p:nvPr/>
        </p:nvSpPr>
        <p:spPr>
          <a:xfrm>
            <a:off x="2386584" y="5669280"/>
            <a:ext cx="118872" cy="118872"/>
          </a:xfrm>
          <a:prstGeom prst="rect">
            <a:avLst/>
          </a:prstGeom>
          <a:solidFill>
            <a:srgbClr val="8C1F26"/>
          </a:solidFill>
          <a:ln/>
        </p:spPr>
      </p:sp>
      <p:sp>
        <p:nvSpPr>
          <p:cNvPr id="34" name="Text 31"/>
          <p:cNvSpPr txBox="1"/>
          <p:nvPr/>
        </p:nvSpPr>
        <p:spPr>
          <a:xfrm>
            <a:off x="2560320" y="5605272"/>
            <a:ext cx="713232" cy="237744"/>
          </a:xfrm>
          <a:prstGeom prst="rect">
            <a:avLst/>
          </a:prstGeom>
          <a:noFill/>
          <a:ln/>
        </p:spPr>
        <p:txBody>
          <a:bodyPr wrap="square" lIns="0" tIns="0" rIns="0" bIns="0" rtlCol="0" anchor="ctr"/>
          <a:lstStyle/>
          <a:p>
            <a:pPr indent="0" marL="0">
              <a:buNone/>
            </a:pPr>
            <a:r>
              <a:rPr lang="en-US" sz="800" dirty="0">
                <a:solidFill>
                  <a:srgbClr val="6E6E76"/>
                </a:solidFill>
                <a:latin typeface="Yu Gothic" pitchFamily="34" charset="0"/>
                <a:ea typeface="Yu Gothic" pitchFamily="34" charset="-122"/>
                <a:cs typeface="Yu Gothic" pitchFamily="34" charset="-120"/>
              </a:rPr>
              <a:t>機材</a:t>
            </a:r>
            <a:endParaRPr lang="en-US" sz="800" dirty="0"/>
          </a:p>
        </p:txBody>
      </p:sp>
      <p:sp>
        <p:nvSpPr>
          <p:cNvPr id="35" name="Shape 32"/>
          <p:cNvSpPr/>
          <p:nvPr/>
        </p:nvSpPr>
        <p:spPr>
          <a:xfrm>
            <a:off x="3282696" y="5669280"/>
            <a:ext cx="118872" cy="118872"/>
          </a:xfrm>
          <a:prstGeom prst="rect">
            <a:avLst/>
          </a:prstGeom>
          <a:solidFill>
            <a:srgbClr val="D9601A"/>
          </a:solidFill>
          <a:ln/>
        </p:spPr>
      </p:sp>
      <p:sp>
        <p:nvSpPr>
          <p:cNvPr id="36" name="Text 33"/>
          <p:cNvSpPr txBox="1"/>
          <p:nvPr/>
        </p:nvSpPr>
        <p:spPr>
          <a:xfrm>
            <a:off x="3456432" y="5605272"/>
            <a:ext cx="713232" cy="237744"/>
          </a:xfrm>
          <a:prstGeom prst="rect">
            <a:avLst/>
          </a:prstGeom>
          <a:noFill/>
          <a:ln/>
        </p:spPr>
        <p:txBody>
          <a:bodyPr wrap="square" lIns="0" tIns="0" rIns="0" bIns="0" rtlCol="0" anchor="ctr"/>
          <a:lstStyle/>
          <a:p>
            <a:pPr indent="0" marL="0">
              <a:buNone/>
            </a:pPr>
            <a:r>
              <a:rPr lang="en-US" sz="800" dirty="0">
                <a:solidFill>
                  <a:srgbClr val="6E6E76"/>
                </a:solidFill>
                <a:latin typeface="Yu Gothic" pitchFamily="34" charset="0"/>
                <a:ea typeface="Yu Gothic" pitchFamily="34" charset="-122"/>
                <a:cs typeface="Yu Gothic" pitchFamily="34" charset="-120"/>
              </a:rPr>
              <a:t>出演</a:t>
            </a:r>
            <a:endParaRPr lang="en-US" sz="800" dirty="0"/>
          </a:p>
        </p:txBody>
      </p:sp>
      <p:sp>
        <p:nvSpPr>
          <p:cNvPr id="37" name="Shape 34"/>
          <p:cNvSpPr/>
          <p:nvPr/>
        </p:nvSpPr>
        <p:spPr>
          <a:xfrm>
            <a:off x="4178808" y="5669280"/>
            <a:ext cx="118872" cy="118872"/>
          </a:xfrm>
          <a:prstGeom prst="rect">
            <a:avLst/>
          </a:prstGeom>
          <a:solidFill>
            <a:srgbClr val="1F6F63"/>
          </a:solidFill>
          <a:ln/>
        </p:spPr>
      </p:sp>
      <p:sp>
        <p:nvSpPr>
          <p:cNvPr id="38" name="Text 35"/>
          <p:cNvSpPr txBox="1"/>
          <p:nvPr/>
        </p:nvSpPr>
        <p:spPr>
          <a:xfrm>
            <a:off x="4352544" y="5605272"/>
            <a:ext cx="713232" cy="237744"/>
          </a:xfrm>
          <a:prstGeom prst="rect">
            <a:avLst/>
          </a:prstGeom>
          <a:noFill/>
          <a:ln/>
        </p:spPr>
        <p:txBody>
          <a:bodyPr wrap="square" lIns="0" tIns="0" rIns="0" bIns="0" rtlCol="0" anchor="ctr"/>
          <a:lstStyle/>
          <a:p>
            <a:pPr indent="0" marL="0">
              <a:buNone/>
            </a:pPr>
            <a:r>
              <a:rPr lang="en-US" sz="800" dirty="0">
                <a:solidFill>
                  <a:srgbClr val="6E6E76"/>
                </a:solidFill>
                <a:latin typeface="Yu Gothic" pitchFamily="34" charset="0"/>
                <a:ea typeface="Yu Gothic" pitchFamily="34" charset="-122"/>
                <a:cs typeface="Yu Gothic" pitchFamily="34" charset="-120"/>
              </a:rPr>
              <a:t>編集</a:t>
            </a:r>
            <a:endParaRPr lang="en-US" sz="800" dirty="0"/>
          </a:p>
        </p:txBody>
      </p:sp>
      <p:sp>
        <p:nvSpPr>
          <p:cNvPr id="39" name="Shape 36"/>
          <p:cNvSpPr/>
          <p:nvPr/>
        </p:nvSpPr>
        <p:spPr>
          <a:xfrm>
            <a:off x="5074920" y="5669280"/>
            <a:ext cx="118872" cy="118872"/>
          </a:xfrm>
          <a:prstGeom prst="rect">
            <a:avLst/>
          </a:prstGeom>
          <a:solidFill>
            <a:srgbClr val="6E6E76"/>
          </a:solidFill>
          <a:ln/>
        </p:spPr>
      </p:sp>
      <p:sp>
        <p:nvSpPr>
          <p:cNvPr id="40" name="Text 37"/>
          <p:cNvSpPr txBox="1"/>
          <p:nvPr/>
        </p:nvSpPr>
        <p:spPr>
          <a:xfrm>
            <a:off x="5248656" y="5605272"/>
            <a:ext cx="713232" cy="237744"/>
          </a:xfrm>
          <a:prstGeom prst="rect">
            <a:avLst/>
          </a:prstGeom>
          <a:noFill/>
          <a:ln/>
        </p:spPr>
        <p:txBody>
          <a:bodyPr wrap="square" lIns="0" tIns="0" rIns="0" bIns="0" rtlCol="0" anchor="ctr"/>
          <a:lstStyle/>
          <a:p>
            <a:pPr indent="0" marL="0">
              <a:buNone/>
            </a:pPr>
            <a:r>
              <a:rPr lang="en-US" sz="800" dirty="0">
                <a:solidFill>
                  <a:srgbClr val="6E6E76"/>
                </a:solidFill>
                <a:latin typeface="Yu Gothic" pitchFamily="34" charset="0"/>
                <a:ea typeface="Yu Gothic" pitchFamily="34" charset="-122"/>
                <a:cs typeface="Yu Gothic" pitchFamily="34" charset="-120"/>
              </a:rPr>
              <a:t>諸経費</a:t>
            </a:r>
            <a:endParaRPr lang="en-US" sz="800" dirty="0"/>
          </a:p>
        </p:txBody>
      </p:sp>
      <p:sp>
        <p:nvSpPr>
          <p:cNvPr id="41" name="Text 38"/>
          <p:cNvSpPr txBox="1"/>
          <p:nvPr/>
        </p:nvSpPr>
        <p:spPr>
          <a:xfrm>
            <a:off x="594360" y="5888736"/>
            <a:ext cx="5394960" cy="237744"/>
          </a:xfrm>
          <a:prstGeom prst="rect">
            <a:avLst/>
          </a:prstGeom>
          <a:noFill/>
          <a:ln/>
        </p:spPr>
        <p:txBody>
          <a:bodyPr wrap="square" lIns="0" tIns="0" rIns="0" bIns="0" rtlCol="0" anchor="ctr"/>
          <a:lstStyle/>
          <a:p>
            <a:pPr indent="0" marL="0">
              <a:buNone/>
            </a:pPr>
            <a:r>
              <a:rPr lang="en-US" sz="850" b="1" dirty="0">
                <a:solidFill>
                  <a:srgbClr val="B3121B"/>
                </a:solidFill>
                <a:latin typeface="Yu Gothic" pitchFamily="34" charset="0"/>
                <a:ea typeface="Yu Gothic" pitchFamily="34" charset="-122"/>
                <a:cs typeface="Yu Gothic" pitchFamily="34" charset="-120"/>
              </a:rPr>
              <a:t>撮影38＋機材10＋出演7＝55%が 10.3 まで落ちます。編集と諸経費は残ります。</a:t>
            </a:r>
            <a:endParaRPr lang="en-US" sz="850" dirty="0"/>
          </a:p>
        </p:txBody>
      </p:sp>
      <p:sp>
        <p:nvSpPr>
          <p:cNvPr id="42" name="Shape 39"/>
          <p:cNvSpPr/>
          <p:nvPr/>
        </p:nvSpPr>
        <p:spPr>
          <a:xfrm>
            <a:off x="6263640" y="4553712"/>
            <a:ext cx="5330952" cy="1572768"/>
          </a:xfrm>
          <a:prstGeom prst="rect">
            <a:avLst/>
          </a:prstGeom>
          <a:solidFill>
            <a:srgbClr val="FCE5CD"/>
          </a:solidFill>
          <a:ln/>
        </p:spPr>
      </p:sp>
      <p:sp>
        <p:nvSpPr>
          <p:cNvPr id="43" name="Shape 40"/>
          <p:cNvSpPr/>
          <p:nvPr/>
        </p:nvSpPr>
        <p:spPr>
          <a:xfrm>
            <a:off x="6483096" y="4809744"/>
            <a:ext cx="109728" cy="109728"/>
          </a:xfrm>
          <a:prstGeom prst="rect">
            <a:avLst/>
          </a:prstGeom>
          <a:solidFill>
            <a:srgbClr val="C9962C"/>
          </a:solidFill>
          <a:ln/>
        </p:spPr>
      </p:sp>
      <p:sp>
        <p:nvSpPr>
          <p:cNvPr id="44" name="Text 41"/>
          <p:cNvSpPr txBox="1"/>
          <p:nvPr/>
        </p:nvSpPr>
        <p:spPr>
          <a:xfrm>
            <a:off x="6702552" y="4718304"/>
            <a:ext cx="4672584"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実際に出ている削減幅（実例）</a:t>
            </a:r>
            <a:endParaRPr lang="en-US" sz="1250" dirty="0"/>
          </a:p>
        </p:txBody>
      </p:sp>
      <p:sp>
        <p:nvSpPr>
          <p:cNvPr id="45" name="Text 42"/>
          <p:cNvSpPr txBox="1"/>
          <p:nvPr/>
        </p:nvSpPr>
        <p:spPr>
          <a:xfrm>
            <a:off x="6702552" y="5065776"/>
            <a:ext cx="4672584" cy="877824"/>
          </a:xfrm>
          <a:prstGeom prst="rect">
            <a:avLst/>
          </a:prstGeom>
          <a:noFill/>
          <a:ln/>
        </p:spPr>
        <p:txBody>
          <a:bodyPr wrap="square" lIns="0" tIns="0" rIns="0" bIns="0" rtlCol="0" anchor="t"/>
          <a:lstStyle/>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大手保険のWeb広告動画　制作コスト ▲30〜50%／期間 ▲40%</a:t>
            </a:r>
            <a:endParaRPr lang="en-US" sz="950" dirty="0"/>
          </a:p>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Amazon Nova活用の広告　費用 ▲70%・効果 8倍</a:t>
            </a:r>
            <a:endParaRPr lang="en-US" sz="950" dirty="0"/>
          </a:p>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サイバーエージェント　1本 数千万円・3ヶ月 → 3本 300万円・1.5〜2週間</a:t>
            </a:r>
            <a:endParaRPr lang="en-US" sz="950" dirty="0"/>
          </a:p>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映画の群衆シーン　9,000万円 → 150万円（▲98%）</a:t>
            </a:r>
            <a:endParaRPr lang="en-US" sz="950" dirty="0"/>
          </a:p>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米国の企業動画　1分あたり 約63万円 → 約38万円（▲40%・実測）</a:t>
            </a:r>
            <a:endParaRPr lang="en-US" sz="950" dirty="0"/>
          </a:p>
        </p:txBody>
      </p:sp>
      <p:sp>
        <p:nvSpPr>
          <p:cNvPr id="46" name="Text 43"/>
          <p:cNvSpPr txBox="1"/>
          <p:nvPr/>
        </p:nvSpPr>
        <p:spPr>
          <a:xfrm>
            <a:off x="594360" y="6336792"/>
            <a:ext cx="9902952" cy="310896"/>
          </a:xfrm>
          <a:prstGeom prst="rect">
            <a:avLst/>
          </a:prstGeom>
          <a:noFill/>
          <a:ln/>
        </p:spPr>
        <p:txBody>
          <a:bodyPr wrap="square" lIns="0" tIns="0" rIns="0" bIns="0" rtlCol="0" anchor="ctr"/>
          <a:lstStyle/>
          <a:p>
            <a:pPr indent="0" marL="0">
              <a:buNone/>
            </a:pPr>
            <a:r>
              <a:rPr lang="en-US" sz="850" dirty="0">
                <a:solidFill>
                  <a:srgbClr val="6E6E76"/>
                </a:solidFill>
                <a:latin typeface="Yu Gothic" pitchFamily="34" charset="0"/>
                <a:ea typeface="Yu Gothic" pitchFamily="34" charset="-122"/>
                <a:cs typeface="Yu Gothic" pitchFamily="34" charset="-120"/>
              </a:rPr>
              <a:t>出所: 動画幹事・ムビサク・デジタルドロップ（制作費相場／撮影費は制作費の35〜40%）／ ムービーインパクト・各社プレスリリース（AI導入の削減事例）／ Vidico（米国の1分単価）。用途別の削減率は、工程別の削減率（企画▲50%・撮影▲80%・機材▲80%・出演▲90%・編集▲50%・諸経費▲30%）を費用構成に当てた当社試算です</a:t>
            </a:r>
            <a:endParaRPr lang="en-US" sz="850" dirty="0"/>
          </a:p>
        </p:txBody>
      </p:sp>
      <p:sp>
        <p:nvSpPr>
          <p:cNvPr id="47" name="Text 44"/>
          <p:cNvSpPr txBox="1"/>
          <p:nvPr/>
        </p:nvSpPr>
        <p:spPr>
          <a:xfrm>
            <a:off x="11228832" y="6336792"/>
            <a:ext cx="365760" cy="274320"/>
          </a:xfrm>
          <a:prstGeom prst="rect">
            <a:avLst/>
          </a:prstGeom>
          <a:noFill/>
          <a:ln/>
        </p:spPr>
        <p:txBody>
          <a:bodyPr wrap="square" lIns="0" tIns="0" rIns="0" bIns="0" rtlCol="0" anchor="ctr"/>
          <a:lstStyle/>
          <a:p>
            <a:pPr algn="r" indent="0" marL="0">
              <a:buNone/>
            </a:pPr>
            <a:r>
              <a:rPr lang="en-US" sz="900" dirty="0">
                <a:solidFill>
                  <a:srgbClr val="6E6E76"/>
                </a:solidFill>
                <a:latin typeface="Yu Gothic" pitchFamily="34" charset="0"/>
                <a:ea typeface="Yu Gothic" pitchFamily="34" charset="-122"/>
                <a:cs typeface="Yu Gothic" pitchFamily="34" charset="-120"/>
              </a:rPr>
              <a:t>8</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402336"/>
            <a:ext cx="475488" cy="475488"/>
          </a:xfrm>
          <a:prstGeom prst="rect">
            <a:avLst/>
          </a:prstGeom>
          <a:solidFill>
            <a:srgbClr val="B3121B"/>
          </a:solidFill>
          <a:ln/>
        </p:spPr>
      </p:sp>
      <p:sp>
        <p:nvSpPr>
          <p:cNvPr id="3" name="Text 1"/>
          <p:cNvSpPr txBox="1"/>
          <p:nvPr/>
        </p:nvSpPr>
        <p:spPr>
          <a:xfrm>
            <a:off x="594360" y="40233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3</a:t>
            </a:r>
            <a:endParaRPr lang="en-US" sz="1700" dirty="0"/>
          </a:p>
        </p:txBody>
      </p:sp>
      <p:sp>
        <p:nvSpPr>
          <p:cNvPr id="4" name="Text 2"/>
          <p:cNvSpPr txBox="1"/>
          <p:nvPr/>
        </p:nvSpPr>
        <p:spPr>
          <a:xfrm>
            <a:off x="1207008" y="365760"/>
            <a:ext cx="10387584" cy="548640"/>
          </a:xfrm>
          <a:prstGeom prst="rect">
            <a:avLst/>
          </a:prstGeom>
          <a:noFill/>
          <a:ln/>
        </p:spPr>
        <p:txBody>
          <a:bodyPr wrap="square" lIns="0" tIns="0" rIns="0" bIns="0" rtlCol="0" anchor="ctr"/>
          <a:lstStyle/>
          <a:p>
            <a:pPr indent="0" marL="0">
              <a:buNone/>
            </a:pPr>
            <a:r>
              <a:rPr lang="en-US" sz="2500" b="1" dirty="0">
                <a:solidFill>
                  <a:srgbClr val="16161A"/>
                </a:solidFill>
                <a:latin typeface="Yu Gothic" pitchFamily="34" charset="0"/>
                <a:ea typeface="Yu Gothic" pitchFamily="34" charset="-122"/>
                <a:cs typeface="Yu Gothic" pitchFamily="34" charset="-120"/>
              </a:rPr>
              <a:t>ビジネスモデル</a:t>
            </a:r>
            <a:endParaRPr lang="en-US" sz="2500" dirty="0"/>
          </a:p>
        </p:txBody>
      </p:sp>
      <p:sp>
        <p:nvSpPr>
          <p:cNvPr id="5" name="Text 3"/>
          <p:cNvSpPr txBox="1"/>
          <p:nvPr/>
        </p:nvSpPr>
        <p:spPr>
          <a:xfrm>
            <a:off x="1207008" y="932688"/>
            <a:ext cx="10387584" cy="310896"/>
          </a:xfrm>
          <a:prstGeom prst="rect">
            <a:avLst/>
          </a:prstGeom>
          <a:noFill/>
          <a:ln/>
        </p:spPr>
        <p:txBody>
          <a:bodyPr wrap="square" lIns="0" tIns="0" rIns="0" bIns="0" rtlCol="0" anchor="ctr"/>
          <a:lstStyle/>
          <a:p>
            <a:pPr indent="0" marL="0">
              <a:buNone/>
            </a:pPr>
            <a:r>
              <a:rPr lang="en-US" sz="1200" dirty="0">
                <a:solidFill>
                  <a:srgbClr val="6E6E76"/>
                </a:solidFill>
                <a:latin typeface="Yu Gothic" pitchFamily="34" charset="0"/>
                <a:ea typeface="Yu Gothic" pitchFamily="34" charset="-122"/>
                <a:cs typeface="Yu Gothic" pitchFamily="34" charset="-120"/>
              </a:rPr>
              <a:t>主軸は映像制作。そこで溜まるデータをツールに変え、余力を越境C2Cで受けます</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94360" y="1444752"/>
          <a:ext cx="11000232" cy="914400"/>
        </p:xfrm>
        <a:graphic>
          <a:graphicData uri="http://schemas.openxmlformats.org/drawingml/2006/table">
            <a:tbl>
              <a:tblPr/>
              <a:tblGrid>
                <a:gridCol w="640080"/>
                <a:gridCol w="3017520"/>
                <a:gridCol w="3200400"/>
                <a:gridCol w="2743200"/>
                <a:gridCol w="1399032"/>
              </a:tblGrid>
              <a:tr h="292608">
                <a:tc>
                  <a:txBody>
                    <a:bodyPr/>
                    <a:lstStyle/>
                    <a:p>
                      <a:pPr indent="0" marL="0">
                        <a:buNone/>
                      </a:pP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入口</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当社</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出口</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位置づけ</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r>
              <a:tr h="292608">
                <a:tc>
                  <a:txBody>
                    <a:bodyPr/>
                    <a:lstStyle/>
                    <a:p>
                      <a:pPr indent="0" marL="0">
                        <a:buNone/>
                      </a:pPr>
                      <a:r>
                        <a:rPr lang="en-US" sz="950" b="1" dirty="0">
                          <a:solidFill>
                            <a:srgbClr val="B3121B"/>
                          </a:solidFill>
                          <a:latin typeface="Yu Gothic" pitchFamily="34" charset="0"/>
                          <a:ea typeface="Yu Gothic" pitchFamily="34" charset="-122"/>
                          <a:cs typeface="Yu Gothic" pitchFamily="34" charset="-120"/>
                        </a:rPr>
                        <a:t>①</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日本の発注企業</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b="1" dirty="0">
                          <a:solidFill>
                            <a:srgbClr val="3A3A42"/>
                          </a:solidFill>
                          <a:latin typeface="Yu Gothic" pitchFamily="34" charset="0"/>
                          <a:ea typeface="Yu Gothic" pitchFamily="34" charset="-122"/>
                          <a:cs typeface="Yu Gothic" pitchFamily="34" charset="-120"/>
                        </a:rPr>
                        <a:t>当社が受注し、配分する</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登録クリエイター</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b="1" dirty="0">
                          <a:solidFill>
                            <a:srgbClr val="B3121B"/>
                          </a:solidFill>
                          <a:latin typeface="Yu Gothic" pitchFamily="34" charset="0"/>
                          <a:ea typeface="Yu Gothic" pitchFamily="34" charset="-122"/>
                          <a:cs typeface="Yu Gothic" pitchFamily="34" charset="-120"/>
                        </a:rPr>
                        <a:t>主軸</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292608">
                <a:tc>
                  <a:txBody>
                    <a:bodyPr/>
                    <a:lstStyle/>
                    <a:p>
                      <a:pPr indent="0" marL="0">
                        <a:buNone/>
                      </a:pP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事業会社・広告代理店・制作会社</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要件定義・品質保証・契約・与信・請求</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中国を中心に、案件で稼ぐ</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292608">
                <a:tc>
                  <a:txBody>
                    <a:bodyPr/>
                    <a:lstStyle/>
                    <a:p>
                      <a:pPr indent="0" marL="0">
                        <a:buNone/>
                      </a:pPr>
                      <a:r>
                        <a:rPr lang="en-US" sz="950" b="1" dirty="0">
                          <a:solidFill>
                            <a:srgbClr val="C9962C"/>
                          </a:solidFill>
                          <a:latin typeface="Yu Gothic" pitchFamily="34" charset="0"/>
                          <a:ea typeface="Yu Gothic" pitchFamily="34" charset="-122"/>
                          <a:cs typeface="Yu Gothic" pitchFamily="34" charset="-120"/>
                        </a:rPr>
                        <a:t>②</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①で溜まる制作データ</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b="1" dirty="0">
                          <a:solidFill>
                            <a:srgbClr val="3A3A42"/>
                          </a:solidFill>
                          <a:latin typeface="Yu Gothic" pitchFamily="34" charset="0"/>
                          <a:ea typeface="Yu Gothic" pitchFamily="34" charset="-122"/>
                          <a:cs typeface="Yu Gothic" pitchFamily="34" charset="-120"/>
                        </a:rPr>
                        <a:t>内製化してツール化</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チェックポイント・LoRA・制作ツール</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b="1" dirty="0">
                          <a:solidFill>
                            <a:srgbClr val="C9962C"/>
                          </a:solidFill>
                          <a:latin typeface="Yu Gothic" pitchFamily="34" charset="0"/>
                          <a:ea typeface="Yu Gothic" pitchFamily="34" charset="-122"/>
                          <a:cs typeface="Yu Gothic" pitchFamily="34" charset="-120"/>
                        </a:rPr>
                        <a:t>第2の柱</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292608">
                <a:tc>
                  <a:txBody>
                    <a:bodyPr/>
                    <a:lstStyle/>
                    <a:p>
                      <a:pPr indent="0" marL="0">
                        <a:buNone/>
                      </a:pP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指示→初稿→修正→承認／検収通過率</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工程の自動化・生成AI関連の特許取得</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粗利率80%・人数に比例しない</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292608">
                <a:tc>
                  <a:txBody>
                    <a:bodyPr/>
                    <a:lstStyle/>
                    <a:p>
                      <a:pPr indent="0" marL="0">
                        <a:buNone/>
                      </a:pPr>
                      <a:r>
                        <a:rPr lang="en-US" sz="950" b="1" dirty="0">
                          <a:solidFill>
                            <a:srgbClr val="2A3563"/>
                          </a:solidFill>
                          <a:latin typeface="Yu Gothic" pitchFamily="34" charset="0"/>
                          <a:ea typeface="Yu Gothic" pitchFamily="34" charset="-122"/>
                          <a:cs typeface="Yu Gothic" pitchFamily="34" charset="-120"/>
                        </a:rPr>
                        <a:t>③</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日本・海外の個人と中小事業者</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b="1" dirty="0">
                          <a:solidFill>
                            <a:srgbClr val="3A3A42"/>
                          </a:solidFill>
                          <a:latin typeface="Yu Gothic" pitchFamily="34" charset="0"/>
                          <a:ea typeface="Yu Gothic" pitchFamily="34" charset="-122"/>
                          <a:cs typeface="Yu Gothic" pitchFamily="34" charset="-120"/>
                        </a:rPr>
                        <a:t>越境C2C発注プラットフォーム</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中国の映像クリエイター</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2A3563"/>
                          </a:solidFill>
                          <a:latin typeface="Yu Gothic" pitchFamily="34" charset="0"/>
                          <a:ea typeface="Yu Gothic" pitchFamily="34" charset="-122"/>
                          <a:cs typeface="Yu Gothic" pitchFamily="34" charset="-120"/>
                        </a:rPr>
                        <a:t>第3の柱</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292608">
                <a:tc>
                  <a:txBody>
                    <a:bodyPr/>
                    <a:lstStyle/>
                    <a:p>
                      <a:pPr indent="0" marL="0">
                        <a:buNone/>
                      </a:pP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中国に直接発注しない／できない</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②のツールをそのまま発注導線に使う</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制作パートナー経由で受注</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bl>
          </a:graphicData>
        </a:graphic>
      </p:graphicFrame>
      <p:sp>
        <p:nvSpPr>
          <p:cNvPr id="7" name="Shape 4"/>
          <p:cNvSpPr/>
          <p:nvPr/>
        </p:nvSpPr>
        <p:spPr>
          <a:xfrm>
            <a:off x="594360" y="3785616"/>
            <a:ext cx="5362956" cy="1133856"/>
          </a:xfrm>
          <a:prstGeom prst="rect">
            <a:avLst/>
          </a:prstGeom>
          <a:solidFill>
            <a:srgbClr val="FBF1F1"/>
          </a:solidFill>
          <a:ln/>
        </p:spPr>
      </p:sp>
      <p:sp>
        <p:nvSpPr>
          <p:cNvPr id="8" name="Shape 5"/>
          <p:cNvSpPr/>
          <p:nvPr/>
        </p:nvSpPr>
        <p:spPr>
          <a:xfrm>
            <a:off x="594360" y="3785616"/>
            <a:ext cx="45720" cy="1133856"/>
          </a:xfrm>
          <a:prstGeom prst="rect">
            <a:avLst/>
          </a:prstGeom>
          <a:solidFill>
            <a:srgbClr val="B3121B"/>
          </a:solidFill>
          <a:ln/>
        </p:spPr>
      </p:sp>
      <p:sp>
        <p:nvSpPr>
          <p:cNvPr id="9" name="Text 6"/>
          <p:cNvSpPr txBox="1"/>
          <p:nvPr/>
        </p:nvSpPr>
        <p:spPr>
          <a:xfrm>
            <a:off x="850392" y="3931920"/>
            <a:ext cx="4905756" cy="274320"/>
          </a:xfrm>
          <a:prstGeom prst="rect">
            <a:avLst/>
          </a:prstGeom>
          <a:noFill/>
          <a:ln/>
        </p:spPr>
        <p:txBody>
          <a:bodyPr wrap="square" lIns="0" tIns="0" rIns="0" bIns="0" rtlCol="0" anchor="ctr"/>
          <a:lstStyle/>
          <a:p>
            <a:pPr indent="0" marL="0">
              <a:buNone/>
            </a:pPr>
            <a:r>
              <a:rPr lang="en-US" sz="1200" b="1" dirty="0">
                <a:solidFill>
                  <a:srgbClr val="B3121B"/>
                </a:solidFill>
                <a:latin typeface="Yu Gothic" pitchFamily="34" charset="0"/>
                <a:ea typeface="Yu Gothic" pitchFamily="34" charset="-122"/>
                <a:cs typeface="Yu Gothic" pitchFamily="34" charset="-120"/>
              </a:rPr>
              <a:t>⚠ ②と③は、同じシステムの内側と外側です</a:t>
            </a:r>
            <a:endParaRPr lang="en-US" sz="1200" dirty="0"/>
          </a:p>
        </p:txBody>
      </p:sp>
      <p:sp>
        <p:nvSpPr>
          <p:cNvPr id="10" name="Text 7"/>
          <p:cNvSpPr txBox="1"/>
          <p:nvPr/>
        </p:nvSpPr>
        <p:spPr>
          <a:xfrm>
            <a:off x="850392" y="4261104"/>
            <a:ext cx="4905756" cy="512064"/>
          </a:xfrm>
          <a:prstGeom prst="rect">
            <a:avLst/>
          </a:prstGeom>
          <a:noFill/>
          <a:ln/>
        </p:spPr>
        <p:txBody>
          <a:bodyPr wrap="square" lIns="0" tIns="0" rIns="0" bIns="0" rtlCol="0" anchor="t"/>
          <a:lstStyle/>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①の仲介で当社がやっている作業（要件定義・翻訳・自動チェック・決済）をツール化したものが②。</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そのツールを外部の発注者に開放したものが③。先に①があるから、②も③も成立します。</a:t>
            </a:r>
            <a:endParaRPr lang="en-US" sz="1000" dirty="0"/>
          </a:p>
        </p:txBody>
      </p:sp>
      <p:sp>
        <p:nvSpPr>
          <p:cNvPr id="11" name="Shape 8"/>
          <p:cNvSpPr/>
          <p:nvPr/>
        </p:nvSpPr>
        <p:spPr>
          <a:xfrm>
            <a:off x="6231636" y="3785616"/>
            <a:ext cx="5362956" cy="1133856"/>
          </a:xfrm>
          <a:prstGeom prst="rect">
            <a:avLst/>
          </a:prstGeom>
          <a:solidFill>
            <a:srgbClr val="FBF1F1"/>
          </a:solidFill>
          <a:ln/>
        </p:spPr>
      </p:sp>
      <p:sp>
        <p:nvSpPr>
          <p:cNvPr id="12" name="Shape 9"/>
          <p:cNvSpPr/>
          <p:nvPr/>
        </p:nvSpPr>
        <p:spPr>
          <a:xfrm>
            <a:off x="6231636" y="3785616"/>
            <a:ext cx="45720" cy="1133856"/>
          </a:xfrm>
          <a:prstGeom prst="rect">
            <a:avLst/>
          </a:prstGeom>
          <a:solidFill>
            <a:srgbClr val="B3121B"/>
          </a:solidFill>
          <a:ln/>
        </p:spPr>
      </p:sp>
      <p:sp>
        <p:nvSpPr>
          <p:cNvPr id="13" name="Text 10"/>
          <p:cNvSpPr txBox="1"/>
          <p:nvPr/>
        </p:nvSpPr>
        <p:spPr>
          <a:xfrm>
            <a:off x="6487668" y="3931920"/>
            <a:ext cx="4905756" cy="274320"/>
          </a:xfrm>
          <a:prstGeom prst="rect">
            <a:avLst/>
          </a:prstGeom>
          <a:noFill/>
          <a:ln/>
        </p:spPr>
        <p:txBody>
          <a:bodyPr wrap="square" lIns="0" tIns="0" rIns="0" bIns="0" rtlCol="0" anchor="ctr"/>
          <a:lstStyle/>
          <a:p>
            <a:pPr indent="0" marL="0">
              <a:buNone/>
            </a:pPr>
            <a:r>
              <a:rPr lang="en-US" sz="1200" b="1" dirty="0">
                <a:solidFill>
                  <a:srgbClr val="B3121B"/>
                </a:solidFill>
                <a:latin typeface="Yu Gothic" pitchFamily="34" charset="0"/>
                <a:ea typeface="Yu Gothic" pitchFamily="34" charset="-122"/>
                <a:cs typeface="Yu Gothic" pitchFamily="34" charset="-120"/>
              </a:rPr>
              <a:t>⚠ お金の流れ</a:t>
            </a:r>
            <a:endParaRPr lang="en-US" sz="1200" dirty="0"/>
          </a:p>
        </p:txBody>
      </p:sp>
      <p:sp>
        <p:nvSpPr>
          <p:cNvPr id="14" name="Text 11"/>
          <p:cNvSpPr txBox="1"/>
          <p:nvPr/>
        </p:nvSpPr>
        <p:spPr>
          <a:xfrm>
            <a:off x="6487668" y="4261104"/>
            <a:ext cx="4905756" cy="512064"/>
          </a:xfrm>
          <a:prstGeom prst="rect">
            <a:avLst/>
          </a:prstGeom>
          <a:noFill/>
          <a:ln/>
        </p:spPr>
        <p:txBody>
          <a:bodyPr wrap="square" lIns="0" tIns="0" rIns="0" bIns="0" rtlCol="0" anchor="t"/>
          <a:lstStyle/>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③の回収は Stripe。当社で資金を預からない収納代行型を前提としています。</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中国のクリエイターへの支払いは、中国の映像制作パートナー企業を経由。第三者と同条件・証憑を残す運用です。</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資金決済法の該当性は弁護士に確認中です。［確認事項］</a:t>
            </a:r>
            <a:endParaRPr lang="en-US" sz="1000" dirty="0"/>
          </a:p>
        </p:txBody>
      </p:sp>
      <p:sp>
        <p:nvSpPr>
          <p:cNvPr id="15" name="Shape 12"/>
          <p:cNvSpPr/>
          <p:nvPr/>
        </p:nvSpPr>
        <p:spPr>
          <a:xfrm>
            <a:off x="594360" y="5084064"/>
            <a:ext cx="3483864" cy="877824"/>
          </a:xfrm>
          <a:prstGeom prst="rect">
            <a:avLst/>
          </a:prstGeom>
          <a:solidFill>
            <a:srgbClr val="FFF2CC"/>
          </a:solidFill>
          <a:ln/>
        </p:spPr>
      </p:sp>
      <p:sp>
        <p:nvSpPr>
          <p:cNvPr id="16" name="Shape 13"/>
          <p:cNvSpPr/>
          <p:nvPr/>
        </p:nvSpPr>
        <p:spPr>
          <a:xfrm>
            <a:off x="813816" y="5340096"/>
            <a:ext cx="109728" cy="109728"/>
          </a:xfrm>
          <a:prstGeom prst="rect">
            <a:avLst/>
          </a:prstGeom>
          <a:solidFill>
            <a:srgbClr val="B3121B"/>
          </a:solidFill>
          <a:ln/>
        </p:spPr>
      </p:sp>
      <p:sp>
        <p:nvSpPr>
          <p:cNvPr id="17" name="Text 14"/>
          <p:cNvSpPr txBox="1"/>
          <p:nvPr/>
        </p:nvSpPr>
        <p:spPr>
          <a:xfrm>
            <a:off x="1033272" y="5248656"/>
            <a:ext cx="2825496"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アダルトは対象外です</a:t>
            </a:r>
            <a:endParaRPr lang="en-US" sz="1250" dirty="0"/>
          </a:p>
        </p:txBody>
      </p:sp>
      <p:sp>
        <p:nvSpPr>
          <p:cNvPr id="18" name="Text 15"/>
          <p:cNvSpPr txBox="1"/>
          <p:nvPr/>
        </p:nvSpPr>
        <p:spPr>
          <a:xfrm>
            <a:off x="1033272" y="5596128"/>
            <a:ext cx="2825496" cy="182880"/>
          </a:xfrm>
          <a:prstGeom prst="rect">
            <a:avLst/>
          </a:prstGeom>
          <a:noFill/>
          <a:ln/>
        </p:spPr>
        <p:txBody>
          <a:bodyPr wrap="square" lIns="0" tIns="0" rIns="0" bIns="0" rtlCol="0" anchor="t"/>
          <a:lstStyle/>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受注する案件にも、③に載せる作品にも含めません。決済・法規制・ストア審査が理由です。</a:t>
            </a:r>
            <a:endParaRPr lang="en-US" sz="950" dirty="0"/>
          </a:p>
        </p:txBody>
      </p:sp>
      <p:sp>
        <p:nvSpPr>
          <p:cNvPr id="19" name="Shape 16"/>
          <p:cNvSpPr/>
          <p:nvPr/>
        </p:nvSpPr>
        <p:spPr>
          <a:xfrm>
            <a:off x="4352544" y="5084064"/>
            <a:ext cx="3483864" cy="877824"/>
          </a:xfrm>
          <a:prstGeom prst="rect">
            <a:avLst/>
          </a:prstGeom>
          <a:solidFill>
            <a:srgbClr val="FFF2CC"/>
          </a:solidFill>
          <a:ln/>
        </p:spPr>
      </p:sp>
      <p:sp>
        <p:nvSpPr>
          <p:cNvPr id="20" name="Shape 17"/>
          <p:cNvSpPr/>
          <p:nvPr/>
        </p:nvSpPr>
        <p:spPr>
          <a:xfrm>
            <a:off x="4572000" y="5340096"/>
            <a:ext cx="109728" cy="109728"/>
          </a:xfrm>
          <a:prstGeom prst="rect">
            <a:avLst/>
          </a:prstGeom>
          <a:solidFill>
            <a:srgbClr val="2A3563"/>
          </a:solidFill>
          <a:ln/>
        </p:spPr>
      </p:sp>
      <p:sp>
        <p:nvSpPr>
          <p:cNvPr id="21" name="Text 18"/>
          <p:cNvSpPr txBox="1"/>
          <p:nvPr/>
        </p:nvSpPr>
        <p:spPr>
          <a:xfrm>
            <a:off x="4791456" y="5248656"/>
            <a:ext cx="2825496"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差別化の核心は価格ではありません</a:t>
            </a:r>
            <a:endParaRPr lang="en-US" sz="1250" dirty="0"/>
          </a:p>
        </p:txBody>
      </p:sp>
      <p:sp>
        <p:nvSpPr>
          <p:cNvPr id="22" name="Text 19"/>
          <p:cNvSpPr txBox="1"/>
          <p:nvPr/>
        </p:nvSpPr>
        <p:spPr>
          <a:xfrm>
            <a:off x="4791456" y="5596128"/>
            <a:ext cx="2825496" cy="182880"/>
          </a:xfrm>
          <a:prstGeom prst="rect">
            <a:avLst/>
          </a:prstGeom>
          <a:noFill/>
          <a:ln/>
        </p:spPr>
        <p:txBody>
          <a:bodyPr wrap="square" lIns="0" tIns="0" rIns="0" bIns="0" rtlCol="0" anchor="t"/>
          <a:lstStyle/>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海外に安く出せること自体は誰でも知っています。やらない理由は「管理しきれないから」です。</a:t>
            </a:r>
            <a:endParaRPr lang="en-US" sz="950" dirty="0"/>
          </a:p>
        </p:txBody>
      </p:sp>
      <p:sp>
        <p:nvSpPr>
          <p:cNvPr id="23" name="Shape 20"/>
          <p:cNvSpPr/>
          <p:nvPr/>
        </p:nvSpPr>
        <p:spPr>
          <a:xfrm>
            <a:off x="8110728" y="5084064"/>
            <a:ext cx="3483864" cy="877824"/>
          </a:xfrm>
          <a:prstGeom prst="rect">
            <a:avLst/>
          </a:prstGeom>
          <a:solidFill>
            <a:srgbClr val="FFF2CC"/>
          </a:solidFill>
          <a:ln/>
        </p:spPr>
      </p:sp>
      <p:sp>
        <p:nvSpPr>
          <p:cNvPr id="24" name="Shape 21"/>
          <p:cNvSpPr/>
          <p:nvPr/>
        </p:nvSpPr>
        <p:spPr>
          <a:xfrm>
            <a:off x="8330184" y="5340096"/>
            <a:ext cx="109728" cy="109728"/>
          </a:xfrm>
          <a:prstGeom prst="rect">
            <a:avLst/>
          </a:prstGeom>
          <a:solidFill>
            <a:srgbClr val="C9962C"/>
          </a:solidFill>
          <a:ln/>
        </p:spPr>
      </p:sp>
      <p:sp>
        <p:nvSpPr>
          <p:cNvPr id="25" name="Text 22"/>
          <p:cNvSpPr txBox="1"/>
          <p:nvPr/>
        </p:nvSpPr>
        <p:spPr>
          <a:xfrm>
            <a:off x="8549640" y="5248656"/>
            <a:ext cx="2825496"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発注側の管理コストがゼロになる</a:t>
            </a:r>
            <a:endParaRPr lang="en-US" sz="1250" dirty="0"/>
          </a:p>
        </p:txBody>
      </p:sp>
      <p:sp>
        <p:nvSpPr>
          <p:cNvPr id="26" name="Text 23"/>
          <p:cNvSpPr txBox="1"/>
          <p:nvPr/>
        </p:nvSpPr>
        <p:spPr>
          <a:xfrm>
            <a:off x="8549640" y="5596128"/>
            <a:ext cx="2825496" cy="182880"/>
          </a:xfrm>
          <a:prstGeom prst="rect">
            <a:avLst/>
          </a:prstGeom>
          <a:noFill/>
          <a:ln/>
        </p:spPr>
        <p:txBody>
          <a:bodyPr wrap="square" lIns="0" tIns="0" rIns="0" bIns="0" rtlCol="0" anchor="t"/>
          <a:lstStyle/>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日本語の要件定義・品質保証・契約・与信・請求。この一式を当社が引き受けます。</a:t>
            </a:r>
            <a:endParaRPr lang="en-US" sz="950" dirty="0"/>
          </a:p>
        </p:txBody>
      </p:sp>
      <p:sp>
        <p:nvSpPr>
          <p:cNvPr id="27" name="Text 24"/>
          <p:cNvSpPr txBox="1"/>
          <p:nvPr/>
        </p:nvSpPr>
        <p:spPr>
          <a:xfrm>
            <a:off x="594360" y="6336792"/>
            <a:ext cx="9902952" cy="310896"/>
          </a:xfrm>
          <a:prstGeom prst="rect">
            <a:avLst/>
          </a:prstGeom>
          <a:noFill/>
          <a:ln/>
        </p:spPr>
        <p:txBody>
          <a:bodyPr wrap="square" lIns="0" tIns="0" rIns="0" bIns="0" rtlCol="0" anchor="ctr"/>
          <a:lstStyle/>
          <a:p>
            <a:pPr indent="0" marL="0">
              <a:buNone/>
            </a:pPr>
            <a:r>
              <a:rPr lang="en-US" sz="850" dirty="0">
                <a:solidFill>
                  <a:srgbClr val="6E6E76"/>
                </a:solidFill>
                <a:latin typeface="Yu Gothic" pitchFamily="34" charset="0"/>
                <a:ea typeface="Yu Gothic" pitchFamily="34" charset="-122"/>
                <a:cs typeface="Yu Gothic" pitchFamily="34" charset="-120"/>
              </a:rPr>
              <a:t>クリエイター調達の設計は CHINA_SOURCING を参照</a:t>
            </a:r>
            <a:endParaRPr lang="en-US" sz="850" dirty="0"/>
          </a:p>
        </p:txBody>
      </p:sp>
      <p:sp>
        <p:nvSpPr>
          <p:cNvPr id="28" name="Text 25"/>
          <p:cNvSpPr txBox="1"/>
          <p:nvPr/>
        </p:nvSpPr>
        <p:spPr>
          <a:xfrm>
            <a:off x="11228832" y="6336792"/>
            <a:ext cx="365760" cy="274320"/>
          </a:xfrm>
          <a:prstGeom prst="rect">
            <a:avLst/>
          </a:prstGeom>
          <a:noFill/>
          <a:ln/>
        </p:spPr>
        <p:txBody>
          <a:bodyPr wrap="square" lIns="0" tIns="0" rIns="0" bIns="0" rtlCol="0" anchor="ctr"/>
          <a:lstStyle/>
          <a:p>
            <a:pPr algn="r" indent="0" marL="0">
              <a:buNone/>
            </a:pPr>
            <a:r>
              <a:rPr lang="en-US" sz="900" dirty="0">
                <a:solidFill>
                  <a:srgbClr val="6E6E76"/>
                </a:solidFill>
                <a:latin typeface="Yu Gothic" pitchFamily="34" charset="0"/>
                <a:ea typeface="Yu Gothic" pitchFamily="34" charset="-122"/>
                <a:cs typeface="Yu Gothic" pitchFamily="34" charset="-120"/>
              </a:rPr>
              <a:t>9</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402336"/>
            <a:ext cx="475488" cy="475488"/>
          </a:xfrm>
          <a:prstGeom prst="rect">
            <a:avLst/>
          </a:prstGeom>
          <a:solidFill>
            <a:srgbClr val="B3121B"/>
          </a:solidFill>
          <a:ln/>
        </p:spPr>
      </p:sp>
      <p:sp>
        <p:nvSpPr>
          <p:cNvPr id="3" name="Text 1"/>
          <p:cNvSpPr txBox="1"/>
          <p:nvPr/>
        </p:nvSpPr>
        <p:spPr>
          <a:xfrm>
            <a:off x="594360" y="40233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2</a:t>
            </a:r>
            <a:endParaRPr lang="en-US" sz="1700" dirty="0"/>
          </a:p>
        </p:txBody>
      </p:sp>
      <p:sp>
        <p:nvSpPr>
          <p:cNvPr id="4" name="Text 2"/>
          <p:cNvSpPr txBox="1"/>
          <p:nvPr/>
        </p:nvSpPr>
        <p:spPr>
          <a:xfrm>
            <a:off x="1207008" y="365760"/>
            <a:ext cx="10387584" cy="548640"/>
          </a:xfrm>
          <a:prstGeom prst="rect">
            <a:avLst/>
          </a:prstGeom>
          <a:noFill/>
          <a:ln/>
        </p:spPr>
        <p:txBody>
          <a:bodyPr wrap="square" lIns="0" tIns="0" rIns="0" bIns="0" rtlCol="0" anchor="ctr"/>
          <a:lstStyle/>
          <a:p>
            <a:pPr indent="0" marL="0">
              <a:buNone/>
            </a:pPr>
            <a:r>
              <a:rPr lang="en-US" sz="2500" b="1" dirty="0">
                <a:solidFill>
                  <a:srgbClr val="16161A"/>
                </a:solidFill>
                <a:latin typeface="Yu Gothic" pitchFamily="34" charset="0"/>
                <a:ea typeface="Yu Gothic" pitchFamily="34" charset="-122"/>
                <a:cs typeface="Yu Gothic" pitchFamily="34" charset="-120"/>
              </a:rPr>
              <a:t>AXは、原価を下げる装置です</a:t>
            </a:r>
            <a:endParaRPr lang="en-US" sz="2500" dirty="0"/>
          </a:p>
        </p:txBody>
      </p:sp>
      <p:sp>
        <p:nvSpPr>
          <p:cNvPr id="5" name="Text 3"/>
          <p:cNvSpPr txBox="1"/>
          <p:nvPr/>
        </p:nvSpPr>
        <p:spPr>
          <a:xfrm>
            <a:off x="1207008" y="932688"/>
            <a:ext cx="10387584" cy="310896"/>
          </a:xfrm>
          <a:prstGeom prst="rect">
            <a:avLst/>
          </a:prstGeom>
          <a:noFill/>
          <a:ln/>
        </p:spPr>
        <p:txBody>
          <a:bodyPr wrap="square" lIns="0" tIns="0" rIns="0" bIns="0" rtlCol="0" anchor="ctr"/>
          <a:lstStyle/>
          <a:p>
            <a:pPr indent="0" marL="0">
              <a:buNone/>
            </a:pPr>
            <a:r>
              <a:rPr lang="en-US" sz="1200" dirty="0">
                <a:solidFill>
                  <a:srgbClr val="6E6E76"/>
                </a:solidFill>
                <a:latin typeface="Yu Gothic" pitchFamily="34" charset="0"/>
                <a:ea typeface="Yu Gothic" pitchFamily="34" charset="-122"/>
                <a:cs typeface="Yu Gothic" pitchFamily="34" charset="-120"/>
              </a:rPr>
              <a:t>★4.0倍は現時点の仮置き。シード期間中に20案件で実測し、2027年6月に更新します</a:t>
            </a:r>
            <a:endParaRPr lang="en-US" sz="1200" dirty="0"/>
          </a:p>
        </p:txBody>
      </p:sp>
      <p:sp>
        <p:nvSpPr>
          <p:cNvPr id="6" name="Shape 4"/>
          <p:cNvSpPr/>
          <p:nvPr/>
        </p:nvSpPr>
        <p:spPr>
          <a:xfrm>
            <a:off x="594360" y="1335024"/>
            <a:ext cx="50292" cy="786384"/>
          </a:xfrm>
          <a:prstGeom prst="rect">
            <a:avLst/>
          </a:prstGeom>
          <a:solidFill>
            <a:srgbClr val="B3121B"/>
          </a:solidFill>
          <a:ln/>
        </p:spPr>
      </p:sp>
      <p:sp>
        <p:nvSpPr>
          <p:cNvPr id="7" name="Text 5"/>
          <p:cNvSpPr txBox="1"/>
          <p:nvPr/>
        </p:nvSpPr>
        <p:spPr>
          <a:xfrm>
            <a:off x="822960" y="1335024"/>
            <a:ext cx="10771632" cy="786384"/>
          </a:xfrm>
          <a:prstGeom prst="rect">
            <a:avLst/>
          </a:prstGeom>
          <a:noFill/>
          <a:ln/>
        </p:spPr>
        <p:txBody>
          <a:bodyPr wrap="square" lIns="0" tIns="0" rIns="0" bIns="0" rtlCol="0" anchor="ctr"/>
          <a:lstStyle/>
          <a:p>
            <a:pPr indent="0" marL="0">
              <a:lnSpc>
                <a:spcPct val="130000"/>
              </a:lnSpc>
              <a:buNone/>
            </a:pPr>
            <a:r>
              <a:rPr lang="en-US" sz="1550" b="1" dirty="0">
                <a:solidFill>
                  <a:srgbClr val="B3121B"/>
                </a:solidFill>
                <a:latin typeface="Yu Gothic" pitchFamily="34" charset="0"/>
                <a:ea typeface="Yu Gothic" pitchFamily="34" charset="-122"/>
                <a:cs typeface="Yu Gothic" pitchFamily="34" charset="-120"/>
              </a:rPr>
              <a:t>AXは人を減らす装置ではなく、原価を下げる装置です。</a:t>
            </a:r>
            <a:endParaRPr lang="en-US" sz="1550" dirty="0"/>
          </a:p>
          <a:p>
            <a:pPr indent="0" marL="0">
              <a:lnSpc>
                <a:spcPct val="130000"/>
              </a:lnSpc>
              <a:buNone/>
            </a:pPr>
            <a:r>
              <a:rPr lang="en-US" sz="1550" b="1" dirty="0">
                <a:solidFill>
                  <a:srgbClr val="16161A"/>
                </a:solidFill>
                <a:latin typeface="Yu Gothic" pitchFamily="34" charset="0"/>
                <a:ea typeface="Yu Gothic" pitchFamily="34" charset="-122"/>
                <a:cs typeface="Yu Gothic" pitchFamily="34" charset="-120"/>
              </a:rPr>
              <a:t>そして浮いた分は、人件費の節約として持たずに研究開発へ戻します。</a:t>
            </a:r>
            <a:endParaRPr lang="en-US" sz="15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94360" y="2395728"/>
          <a:ext cx="11000232" cy="914400"/>
        </p:xfrm>
        <a:graphic>
          <a:graphicData uri="http://schemas.openxmlformats.org/drawingml/2006/table">
            <a:tbl>
              <a:tblPr/>
              <a:tblGrid>
                <a:gridCol w="2103120"/>
                <a:gridCol w="2377440"/>
                <a:gridCol w="1737360"/>
                <a:gridCol w="1463040"/>
                <a:gridCol w="1645920"/>
                <a:gridCol w="1673352"/>
              </a:tblGrid>
              <a:tr h="402336">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AX倍率</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ディレクション費／本</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1本あたり原価</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制作の粗利率</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5期の営業利益</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営業利益率</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r>
              <a:tr h="402336">
                <a:tc>
                  <a:txBody>
                    <a:bodyPr/>
                    <a:lstStyle/>
                    <a:p>
                      <a:pPr indent="0" marL="0">
                        <a:buNone/>
                      </a:pPr>
                      <a:r>
                        <a:rPr lang="en-US" sz="1000" b="1" dirty="0">
                          <a:solidFill>
                            <a:srgbClr val="3A3A42"/>
                          </a:solidFill>
                          <a:latin typeface="Yu Gothic" pitchFamily="34" charset="0"/>
                          <a:ea typeface="Yu Gothic" pitchFamily="34" charset="-122"/>
                          <a:cs typeface="Yu Gothic" pitchFamily="34" charset="-120"/>
                        </a:rPr>
                        <a:t>1.0倍（AXなし）</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31.0万（8時間相当）</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55.0万</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41.8%</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+36.6億</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b="1" dirty="0">
                          <a:solidFill>
                            <a:srgbClr val="6E6E76"/>
                          </a:solidFill>
                          <a:latin typeface="Yu Gothic" pitchFamily="34" charset="0"/>
                          <a:ea typeface="Yu Gothic" pitchFamily="34" charset="-122"/>
                          <a:cs typeface="Yu Gothic" pitchFamily="34" charset="-120"/>
                        </a:rPr>
                        <a:t>30.5%</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402336">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2.0倍</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15.5万</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39.5万</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58.2%</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+42.4億</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35.3%</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402336">
                <a:tc>
                  <a:txBody>
                    <a:bodyPr/>
                    <a:lstStyle/>
                    <a:p>
                      <a:pPr indent="0" marL="0">
                        <a:buNone/>
                      </a:pPr>
                      <a:r>
                        <a:rPr lang="en-US" sz="1000" b="1" dirty="0">
                          <a:solidFill>
                            <a:srgbClr val="2A3563"/>
                          </a:solidFill>
                          <a:latin typeface="Yu Gothic" pitchFamily="34" charset="0"/>
                          <a:ea typeface="Yu Gothic" pitchFamily="34" charset="-122"/>
                          <a:cs typeface="Yu Gothic" pitchFamily="34" charset="-120"/>
                        </a:rPr>
                        <a:t>3.0倍（ここでも成立）</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2A3563"/>
                          </a:solidFill>
                          <a:latin typeface="Yu Gothic" pitchFamily="34" charset="0"/>
                          <a:ea typeface="Yu Gothic" pitchFamily="34" charset="-122"/>
                          <a:cs typeface="Yu Gothic" pitchFamily="34" charset="-120"/>
                        </a:rPr>
                        <a:t>10.3万</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2A3563"/>
                          </a:solidFill>
                          <a:latin typeface="Yu Gothic" pitchFamily="34" charset="0"/>
                          <a:ea typeface="Yu Gothic" pitchFamily="34" charset="-122"/>
                          <a:cs typeface="Yu Gothic" pitchFamily="34" charset="-120"/>
                        </a:rPr>
                        <a:t>34.4万</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2A3563"/>
                          </a:solidFill>
                          <a:latin typeface="Yu Gothic" pitchFamily="34" charset="0"/>
                          <a:ea typeface="Yu Gothic" pitchFamily="34" charset="-122"/>
                          <a:cs typeface="Yu Gothic" pitchFamily="34" charset="-120"/>
                        </a:rPr>
                        <a:t>63.6%</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2A3563"/>
                          </a:solidFill>
                          <a:latin typeface="Yu Gothic" pitchFamily="34" charset="0"/>
                          <a:ea typeface="Yu Gothic" pitchFamily="34" charset="-122"/>
                          <a:cs typeface="Yu Gothic" pitchFamily="34" charset="-120"/>
                        </a:rPr>
                        <a:t>+44.4億</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b="1" dirty="0">
                          <a:solidFill>
                            <a:srgbClr val="2A3563"/>
                          </a:solidFill>
                          <a:latin typeface="Yu Gothic" pitchFamily="34" charset="0"/>
                          <a:ea typeface="Yu Gothic" pitchFamily="34" charset="-122"/>
                          <a:cs typeface="Yu Gothic" pitchFamily="34" charset="-120"/>
                        </a:rPr>
                        <a:t>37.0%</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402336">
                <a:tc>
                  <a:txBody>
                    <a:bodyPr/>
                    <a:lstStyle/>
                    <a:p>
                      <a:pPr indent="0" marL="0">
                        <a:buNone/>
                      </a:pPr>
                      <a:r>
                        <a:rPr lang="en-US" sz="1000" b="1" dirty="0">
                          <a:solidFill>
                            <a:srgbClr val="B3121B"/>
                          </a:solidFill>
                          <a:latin typeface="Yu Gothic" pitchFamily="34" charset="0"/>
                          <a:ea typeface="Yu Gothic" pitchFamily="34" charset="-122"/>
                          <a:cs typeface="Yu Gothic" pitchFamily="34" charset="-120"/>
                        </a:rPr>
                        <a:t>4.0倍（計画）</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b="1" dirty="0">
                          <a:solidFill>
                            <a:srgbClr val="B3121B"/>
                          </a:solidFill>
                          <a:latin typeface="Yu Gothic" pitchFamily="34" charset="0"/>
                          <a:ea typeface="Yu Gothic" pitchFamily="34" charset="-122"/>
                          <a:cs typeface="Yu Gothic" pitchFamily="34" charset="-120"/>
                        </a:rPr>
                        <a:t>7.8万（2時間相当）</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b="1" dirty="0">
                          <a:solidFill>
                            <a:srgbClr val="B3121B"/>
                          </a:solidFill>
                          <a:latin typeface="Yu Gothic" pitchFamily="34" charset="0"/>
                          <a:ea typeface="Yu Gothic" pitchFamily="34" charset="-122"/>
                          <a:cs typeface="Yu Gothic" pitchFamily="34" charset="-120"/>
                        </a:rPr>
                        <a:t>31.8万</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b="1" dirty="0">
                          <a:solidFill>
                            <a:srgbClr val="B3121B"/>
                          </a:solidFill>
                          <a:latin typeface="Yu Gothic" pitchFamily="34" charset="0"/>
                          <a:ea typeface="Yu Gothic" pitchFamily="34" charset="-122"/>
                          <a:cs typeface="Yu Gothic" pitchFamily="34" charset="-120"/>
                        </a:rPr>
                        <a:t>66.4%</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b="1" dirty="0">
                          <a:solidFill>
                            <a:srgbClr val="B3121B"/>
                          </a:solidFill>
                          <a:latin typeface="Yu Gothic" pitchFamily="34" charset="0"/>
                          <a:ea typeface="Yu Gothic" pitchFamily="34" charset="-122"/>
                          <a:cs typeface="Yu Gothic" pitchFamily="34" charset="-120"/>
                        </a:rPr>
                        <a:t>+45.4億</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b="1" dirty="0">
                          <a:solidFill>
                            <a:srgbClr val="B3121B"/>
                          </a:solidFill>
                          <a:latin typeface="Yu Gothic" pitchFamily="34" charset="0"/>
                          <a:ea typeface="Yu Gothic" pitchFamily="34" charset="-122"/>
                          <a:cs typeface="Yu Gothic" pitchFamily="34" charset="-120"/>
                        </a:rPr>
                        <a:t>37.8%</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bl>
          </a:graphicData>
        </a:graphic>
      </p:graphicFrame>
      <p:sp>
        <p:nvSpPr>
          <p:cNvPr id="9" name="Shape 6"/>
          <p:cNvSpPr/>
          <p:nvPr/>
        </p:nvSpPr>
        <p:spPr>
          <a:xfrm>
            <a:off x="594360" y="4261104"/>
            <a:ext cx="5362956" cy="1024128"/>
          </a:xfrm>
          <a:prstGeom prst="rect">
            <a:avLst/>
          </a:prstGeom>
          <a:solidFill>
            <a:srgbClr val="FBF1F1"/>
          </a:solidFill>
          <a:ln/>
        </p:spPr>
      </p:sp>
      <p:sp>
        <p:nvSpPr>
          <p:cNvPr id="10" name="Shape 7"/>
          <p:cNvSpPr/>
          <p:nvPr/>
        </p:nvSpPr>
        <p:spPr>
          <a:xfrm>
            <a:off x="594360" y="4261104"/>
            <a:ext cx="45720" cy="1024128"/>
          </a:xfrm>
          <a:prstGeom prst="rect">
            <a:avLst/>
          </a:prstGeom>
          <a:solidFill>
            <a:srgbClr val="B3121B"/>
          </a:solidFill>
          <a:ln/>
        </p:spPr>
      </p:sp>
      <p:sp>
        <p:nvSpPr>
          <p:cNvPr id="11" name="Text 8"/>
          <p:cNvSpPr txBox="1"/>
          <p:nvPr/>
        </p:nvSpPr>
        <p:spPr>
          <a:xfrm>
            <a:off x="850392" y="4407408"/>
            <a:ext cx="4905756" cy="274320"/>
          </a:xfrm>
          <a:prstGeom prst="rect">
            <a:avLst/>
          </a:prstGeom>
          <a:noFill/>
          <a:ln/>
        </p:spPr>
        <p:txBody>
          <a:bodyPr wrap="square" lIns="0" tIns="0" rIns="0" bIns="0" rtlCol="0" anchor="ctr"/>
          <a:lstStyle/>
          <a:p>
            <a:pPr indent="0" marL="0">
              <a:buNone/>
            </a:pPr>
            <a:r>
              <a:rPr lang="en-US" sz="1200" b="1" dirty="0">
                <a:solidFill>
                  <a:srgbClr val="B3121B"/>
                </a:solidFill>
                <a:latin typeface="Yu Gothic" pitchFamily="34" charset="0"/>
                <a:ea typeface="Yu Gothic" pitchFamily="34" charset="-122"/>
                <a:cs typeface="Yu Gothic" pitchFamily="34" charset="-120"/>
              </a:rPr>
              <a:t>⚠ ★ 4.0倍は現時点の仮置きです。実測して更新します</a:t>
            </a:r>
            <a:endParaRPr lang="en-US" sz="1200" dirty="0"/>
          </a:p>
        </p:txBody>
      </p:sp>
      <p:sp>
        <p:nvSpPr>
          <p:cNvPr id="12" name="Text 9"/>
          <p:cNvSpPr txBox="1"/>
          <p:nvPr/>
        </p:nvSpPr>
        <p:spPr>
          <a:xfrm>
            <a:off x="850392" y="4736592"/>
            <a:ext cx="4905756" cy="402336"/>
          </a:xfrm>
          <a:prstGeom prst="rect">
            <a:avLst/>
          </a:prstGeom>
          <a:noFill/>
          <a:ln/>
        </p:spPr>
        <p:txBody>
          <a:bodyPr wrap="square" lIns="0" tIns="0" rIns="0" bIns="0" rtlCol="0" anchor="t"/>
          <a:lstStyle/>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1期の最初の20案件で、着手から検収までのディレクション実工数を案件ごとに記録。</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2027年6月までに実測値へ差し替えます。AXなし（1倍）でも営業利益率30.5%で成立する構造です。</a:t>
            </a:r>
            <a:endParaRPr lang="en-US" sz="1000" dirty="0"/>
          </a:p>
        </p:txBody>
      </p:sp>
      <p:sp>
        <p:nvSpPr>
          <p:cNvPr id="13" name="Shape 10"/>
          <p:cNvSpPr/>
          <p:nvPr/>
        </p:nvSpPr>
        <p:spPr>
          <a:xfrm>
            <a:off x="6231636" y="4261104"/>
            <a:ext cx="5362956" cy="1024128"/>
          </a:xfrm>
          <a:prstGeom prst="rect">
            <a:avLst/>
          </a:prstGeom>
          <a:solidFill>
            <a:srgbClr val="FBF1F1"/>
          </a:solidFill>
          <a:ln/>
        </p:spPr>
      </p:sp>
      <p:sp>
        <p:nvSpPr>
          <p:cNvPr id="14" name="Shape 11"/>
          <p:cNvSpPr/>
          <p:nvPr/>
        </p:nvSpPr>
        <p:spPr>
          <a:xfrm>
            <a:off x="6231636" y="4261104"/>
            <a:ext cx="45720" cy="1024128"/>
          </a:xfrm>
          <a:prstGeom prst="rect">
            <a:avLst/>
          </a:prstGeom>
          <a:solidFill>
            <a:srgbClr val="B3121B"/>
          </a:solidFill>
          <a:ln/>
        </p:spPr>
      </p:sp>
      <p:sp>
        <p:nvSpPr>
          <p:cNvPr id="15" name="Text 12"/>
          <p:cNvSpPr txBox="1"/>
          <p:nvPr/>
        </p:nvSpPr>
        <p:spPr>
          <a:xfrm>
            <a:off x="6487668" y="4407408"/>
            <a:ext cx="4905756" cy="274320"/>
          </a:xfrm>
          <a:prstGeom prst="rect">
            <a:avLst/>
          </a:prstGeom>
          <a:noFill/>
          <a:ln/>
        </p:spPr>
        <p:txBody>
          <a:bodyPr wrap="square" lIns="0" tIns="0" rIns="0" bIns="0" rtlCol="0" anchor="ctr"/>
          <a:lstStyle/>
          <a:p>
            <a:pPr indent="0" marL="0">
              <a:buNone/>
            </a:pPr>
            <a:r>
              <a:rPr lang="en-US" sz="1200" b="1" dirty="0">
                <a:solidFill>
                  <a:srgbClr val="B3121B"/>
                </a:solidFill>
                <a:latin typeface="Yu Gothic" pitchFamily="34" charset="0"/>
                <a:ea typeface="Yu Gothic" pitchFamily="34" charset="-122"/>
                <a:cs typeface="Yu Gothic" pitchFamily="34" charset="-120"/>
              </a:rPr>
              <a:t>⚠ 浮いた分は研究開発に戻します</a:t>
            </a:r>
            <a:endParaRPr lang="en-US" sz="1200" dirty="0"/>
          </a:p>
        </p:txBody>
      </p:sp>
      <p:sp>
        <p:nvSpPr>
          <p:cNvPr id="16" name="Text 13"/>
          <p:cNvSpPr txBox="1"/>
          <p:nvPr/>
        </p:nvSpPr>
        <p:spPr>
          <a:xfrm>
            <a:off x="6487668" y="4736592"/>
            <a:ext cx="4905756" cy="402336"/>
          </a:xfrm>
          <a:prstGeom prst="rect">
            <a:avLst/>
          </a:prstGeom>
          <a:noFill/>
          <a:ln/>
        </p:spPr>
        <p:txBody>
          <a:bodyPr wrap="square" lIns="0" tIns="0" rIns="0" bIns="0" rtlCol="0" anchor="t"/>
          <a:lstStyle/>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5期の研究開発費は16億、売上の13.3%。モデルが強くなる→AX倍率が上がる→原価が下がる→さらに戻せる。</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この循環が、他社が同じ年数をかけないと追いつけない理由です。</a:t>
            </a:r>
            <a:endParaRPr lang="en-US" sz="1000" dirty="0"/>
          </a:p>
        </p:txBody>
      </p:sp>
      <p:sp>
        <p:nvSpPr>
          <p:cNvPr id="17" name="Text 14"/>
          <p:cNvSpPr txBox="1"/>
          <p:nvPr/>
        </p:nvSpPr>
        <p:spPr>
          <a:xfrm>
            <a:off x="594360" y="5449824"/>
            <a:ext cx="11000232" cy="274320"/>
          </a:xfrm>
          <a:prstGeom prst="rect">
            <a:avLst/>
          </a:prstGeom>
          <a:noFill/>
          <a:ln/>
        </p:spPr>
        <p:txBody>
          <a:bodyPr wrap="square" lIns="0" tIns="0" rIns="0" bIns="0" rtlCol="0" anchor="ctr"/>
          <a:lstStyle/>
          <a:p>
            <a:pPr indent="0" marL="0">
              <a:buNone/>
            </a:pPr>
            <a:r>
              <a:rPr lang="en-US" sz="1150" b="1" dirty="0">
                <a:solidFill>
                  <a:srgbClr val="16161A"/>
                </a:solidFill>
                <a:latin typeface="Yu Gothic" pitchFamily="34" charset="0"/>
                <a:ea typeface="Yu Gothic" pitchFamily="34" charset="-122"/>
                <a:cs typeface="Yu Gothic" pitchFamily="34" charset="-120"/>
              </a:rPr>
              <a:t>1本あたりの原価（単価94.5万・AX4倍・難度1.55）：クリエイター18.6万 ／ ディレクション7.8万 ／ ツール・バッファ5.4万 ＝ 31.8万</a:t>
            </a:r>
            <a:endParaRPr lang="en-US" sz="1150" dirty="0"/>
          </a:p>
        </p:txBody>
      </p:sp>
      <p:sp>
        <p:nvSpPr>
          <p:cNvPr id="18" name="Text 15"/>
          <p:cNvSpPr txBox="1"/>
          <p:nvPr/>
        </p:nvSpPr>
        <p:spPr>
          <a:xfrm>
            <a:off x="594360" y="6336792"/>
            <a:ext cx="9902952" cy="310896"/>
          </a:xfrm>
          <a:prstGeom prst="rect">
            <a:avLst/>
          </a:prstGeom>
          <a:noFill/>
          <a:ln/>
        </p:spPr>
        <p:txBody>
          <a:bodyPr wrap="square" lIns="0" tIns="0" rIns="0" bIns="0" rtlCol="0" anchor="ctr"/>
          <a:lstStyle/>
          <a:p>
            <a:pPr indent="0" marL="0">
              <a:buNone/>
            </a:pPr>
            <a:r>
              <a:rPr lang="en-US" sz="850" dirty="0">
                <a:solidFill>
                  <a:srgbClr val="6E6E76"/>
                </a:solidFill>
                <a:latin typeface="Yu Gothic" pitchFamily="34" charset="0"/>
                <a:ea typeface="Yu Gothic" pitchFamily="34" charset="-122"/>
                <a:cs typeface="Yu Gothic" pitchFamily="34" charset="-120"/>
              </a:rPr>
              <a:t>★ AX倍率は現時点で未実証の仮置きです。シード期間中（〜2027年6月）に20案件で実測し、以後は実測値で更新します。計測は案件管理台帳に工数を記録する方式（マイルストーン参照）</a:t>
            </a:r>
            <a:endParaRPr lang="en-US" sz="850" dirty="0"/>
          </a:p>
        </p:txBody>
      </p:sp>
      <p:sp>
        <p:nvSpPr>
          <p:cNvPr id="19" name="Text 16"/>
          <p:cNvSpPr txBox="1"/>
          <p:nvPr/>
        </p:nvSpPr>
        <p:spPr>
          <a:xfrm>
            <a:off x="11228832" y="6336792"/>
            <a:ext cx="365760" cy="274320"/>
          </a:xfrm>
          <a:prstGeom prst="rect">
            <a:avLst/>
          </a:prstGeom>
          <a:noFill/>
          <a:ln/>
        </p:spPr>
        <p:txBody>
          <a:bodyPr wrap="square" lIns="0" tIns="0" rIns="0" bIns="0" rtlCol="0" anchor="ctr"/>
          <a:lstStyle/>
          <a:p>
            <a:pPr algn="r" indent="0" marL="0">
              <a:buNone/>
            </a:pPr>
            <a:r>
              <a:rPr lang="en-US" sz="900" dirty="0">
                <a:solidFill>
                  <a:srgbClr val="6E6E76"/>
                </a:solidFill>
                <a:latin typeface="Yu Gothic" pitchFamily="34" charset="0"/>
                <a:ea typeface="Yu Gothic" pitchFamily="34" charset="-122"/>
                <a:cs typeface="Yu Gothic" pitchFamily="34" charset="-120"/>
              </a:rPr>
              <a:t>10</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402336"/>
            <a:ext cx="475488" cy="475488"/>
          </a:xfrm>
          <a:prstGeom prst="rect">
            <a:avLst/>
          </a:prstGeom>
          <a:solidFill>
            <a:srgbClr val="B3121B"/>
          </a:solidFill>
          <a:ln/>
        </p:spPr>
      </p:sp>
      <p:sp>
        <p:nvSpPr>
          <p:cNvPr id="3" name="Text 1"/>
          <p:cNvSpPr txBox="1"/>
          <p:nvPr/>
        </p:nvSpPr>
        <p:spPr>
          <a:xfrm>
            <a:off x="594360" y="40233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3</a:t>
            </a:r>
            <a:endParaRPr lang="en-US" sz="1700" dirty="0"/>
          </a:p>
        </p:txBody>
      </p:sp>
      <p:sp>
        <p:nvSpPr>
          <p:cNvPr id="4" name="Text 2"/>
          <p:cNvSpPr txBox="1"/>
          <p:nvPr/>
        </p:nvSpPr>
        <p:spPr>
          <a:xfrm>
            <a:off x="1207008" y="365760"/>
            <a:ext cx="10387584" cy="548640"/>
          </a:xfrm>
          <a:prstGeom prst="rect">
            <a:avLst/>
          </a:prstGeom>
          <a:noFill/>
          <a:ln/>
        </p:spPr>
        <p:txBody>
          <a:bodyPr wrap="square" lIns="0" tIns="0" rIns="0" bIns="0" rtlCol="0" anchor="ctr"/>
          <a:lstStyle/>
          <a:p>
            <a:pPr indent="0" marL="0">
              <a:buNone/>
            </a:pPr>
            <a:r>
              <a:rPr lang="en-US" sz="2500" b="1" dirty="0">
                <a:solidFill>
                  <a:srgbClr val="16161A"/>
                </a:solidFill>
                <a:latin typeface="Yu Gothic" pitchFamily="34" charset="0"/>
                <a:ea typeface="Yu Gothic" pitchFamily="34" charset="-122"/>
                <a:cs typeface="Yu Gothic" pitchFamily="34" charset="-120"/>
              </a:rPr>
              <a:t>ユニットエコノミクス</a:t>
            </a:r>
            <a:endParaRPr lang="en-US" sz="2500" dirty="0"/>
          </a:p>
        </p:txBody>
      </p:sp>
      <p:sp>
        <p:nvSpPr>
          <p:cNvPr id="5" name="Text 3"/>
          <p:cNvSpPr txBox="1"/>
          <p:nvPr/>
        </p:nvSpPr>
        <p:spPr>
          <a:xfrm>
            <a:off x="1207008" y="932688"/>
            <a:ext cx="10387584" cy="310896"/>
          </a:xfrm>
          <a:prstGeom prst="rect">
            <a:avLst/>
          </a:prstGeom>
          <a:noFill/>
          <a:ln/>
        </p:spPr>
        <p:txBody>
          <a:bodyPr wrap="square" lIns="0" tIns="0" rIns="0" bIns="0" rtlCol="0" anchor="ctr"/>
          <a:lstStyle/>
          <a:p>
            <a:pPr indent="0" marL="0">
              <a:buNone/>
            </a:pPr>
            <a:r>
              <a:rPr lang="en-US" sz="1200" dirty="0">
                <a:solidFill>
                  <a:srgbClr val="6E6E76"/>
                </a:solidFill>
                <a:latin typeface="Yu Gothic" pitchFamily="34" charset="0"/>
                <a:ea typeface="Yu Gothic" pitchFamily="34" charset="-122"/>
                <a:cs typeface="Yu Gothic" pitchFamily="34" charset="-120"/>
              </a:rPr>
              <a:t>売上120.0億が何の積み上げなのかを、1本・1契約・1取引あたりで示します</a:t>
            </a:r>
            <a:endParaRPr lang="en-US" sz="1200" dirty="0"/>
          </a:p>
        </p:txBody>
      </p:sp>
      <p:sp>
        <p:nvSpPr>
          <p:cNvPr id="6" name="Text 4"/>
          <p:cNvSpPr txBox="1"/>
          <p:nvPr/>
        </p:nvSpPr>
        <p:spPr>
          <a:xfrm>
            <a:off x="594360" y="1389888"/>
            <a:ext cx="5486400" cy="274320"/>
          </a:xfrm>
          <a:prstGeom prst="rect">
            <a:avLst/>
          </a:prstGeom>
          <a:noFill/>
          <a:ln/>
        </p:spPr>
        <p:txBody>
          <a:bodyPr wrap="square" lIns="0" tIns="0" rIns="0" bIns="0" rtlCol="0" anchor="ctr"/>
          <a:lstStyle/>
          <a:p>
            <a:pPr indent="0" marL="0">
              <a:buNone/>
            </a:pPr>
            <a:r>
              <a:rPr lang="en-US" sz="1100" b="1" dirty="0">
                <a:solidFill>
                  <a:srgbClr val="B3121B"/>
                </a:solidFill>
                <a:latin typeface="Yu Gothic" pitchFamily="34" charset="0"/>
                <a:ea typeface="Yu Gothic" pitchFamily="34" charset="-122"/>
                <a:cs typeface="Yu Gothic" pitchFamily="34" charset="-120"/>
              </a:rPr>
              <a:t>① 映像制作 — 1本あたり（単価94.5万・AX4倍）</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94360" y="1719072"/>
          <a:ext cx="5486400" cy="914400"/>
        </p:xfrm>
        <a:graphic>
          <a:graphicData uri="http://schemas.openxmlformats.org/drawingml/2006/table">
            <a:tbl>
              <a:tblPr/>
              <a:tblGrid>
                <a:gridCol w="2194560"/>
                <a:gridCol w="1280160"/>
                <a:gridCol w="2011680"/>
              </a:tblGrid>
              <a:tr h="292608">
                <a:tc>
                  <a:txBody>
                    <a:bodyPr/>
                    <a:lstStyle/>
                    <a:p>
                      <a:pPr indent="0" marL="0">
                        <a:buNone/>
                      </a:pP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金額</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誰が受け取るか</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r>
              <a:tr h="292608">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売上（企業の現行支払の50%）</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94.5万</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4商品の加重平均</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292608">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中国クリエイターへの支払</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▲18.6万</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業務委託（制作パートナー経由）</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292608">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制作ディレクション</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▲7.8万</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業務委託。AXで8時間→2時間</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292608">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ツール・素材・バッファ</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▲5.4万</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292608">
                <a:tc>
                  <a:txBody>
                    <a:bodyPr/>
                    <a:lstStyle/>
                    <a:p>
                      <a:pPr indent="0" marL="0">
                        <a:buNone/>
                      </a:pPr>
                      <a:r>
                        <a:rPr lang="en-US" sz="900" b="1" dirty="0">
                          <a:solidFill>
                            <a:srgbClr val="B3121B"/>
                          </a:solidFill>
                          <a:latin typeface="Yu Gothic" pitchFamily="34" charset="0"/>
                          <a:ea typeface="Yu Gothic" pitchFamily="34" charset="-122"/>
                          <a:cs typeface="Yu Gothic" pitchFamily="34" charset="-120"/>
                        </a:rPr>
                        <a:t>売上総利益</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b="1" dirty="0">
                          <a:solidFill>
                            <a:srgbClr val="B3121B"/>
                          </a:solidFill>
                          <a:latin typeface="Yu Gothic" pitchFamily="34" charset="0"/>
                          <a:ea typeface="Yu Gothic" pitchFamily="34" charset="-122"/>
                          <a:cs typeface="Yu Gothic" pitchFamily="34" charset="-120"/>
                        </a:rPr>
                        <a:t>62.7万（66.4%）</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b="1" dirty="0">
                          <a:solidFill>
                            <a:srgbClr val="3A3A42"/>
                          </a:solidFill>
                          <a:latin typeface="Yu Gothic" pitchFamily="34" charset="0"/>
                          <a:ea typeface="Yu Gothic" pitchFamily="34" charset="-122"/>
                          <a:cs typeface="Yu Gothic" pitchFamily="34" charset="-120"/>
                        </a:rPr>
                        <a:t>社員は1人も原価に入らない</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292608">
                <a:tc>
                  <a:txBody>
                    <a:bodyPr/>
                    <a:lstStyle/>
                    <a:p>
                      <a:pPr indent="0" marL="0">
                        <a:buNone/>
                      </a:pPr>
                      <a:r>
                        <a:rPr lang="en-US" sz="900" b="1" dirty="0">
                          <a:solidFill>
                            <a:srgbClr val="3A3A42"/>
                          </a:solidFill>
                          <a:latin typeface="Yu Gothic" pitchFamily="34" charset="0"/>
                          <a:ea typeface="Yu Gothic" pitchFamily="34" charset="-122"/>
                          <a:cs typeface="Yu Gothic" pitchFamily="34" charset="-120"/>
                        </a:rPr>
                        <a:t>5期 3,780本</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b="1" dirty="0">
                          <a:solidFill>
                            <a:srgbClr val="B3121B"/>
                          </a:solidFill>
                          <a:latin typeface="Yu Gothic" pitchFamily="34" charset="0"/>
                          <a:ea typeface="Yu Gothic" pitchFamily="34" charset="-122"/>
                          <a:cs typeface="Yu Gothic" pitchFamily="34" charset="-120"/>
                        </a:rPr>
                        <a:t>→ 35.7億</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東北新社477億の7%</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bl>
          </a:graphicData>
        </a:graphic>
      </p:graphicFrame>
      <p:sp>
        <p:nvSpPr>
          <p:cNvPr id="8" name="Text 5"/>
          <p:cNvSpPr txBox="1"/>
          <p:nvPr/>
        </p:nvSpPr>
        <p:spPr>
          <a:xfrm>
            <a:off x="6355080" y="1389888"/>
            <a:ext cx="5212080" cy="274320"/>
          </a:xfrm>
          <a:prstGeom prst="rect">
            <a:avLst/>
          </a:prstGeom>
          <a:noFill/>
          <a:ln/>
        </p:spPr>
        <p:txBody>
          <a:bodyPr wrap="square" lIns="0" tIns="0" rIns="0" bIns="0" rtlCol="0" anchor="ctr"/>
          <a:lstStyle/>
          <a:p>
            <a:pPr indent="0" marL="0">
              <a:buNone/>
            </a:pPr>
            <a:r>
              <a:rPr lang="en-US" sz="1100" b="1" dirty="0">
                <a:solidFill>
                  <a:srgbClr val="C9962C"/>
                </a:solidFill>
                <a:latin typeface="Yu Gothic" pitchFamily="34" charset="0"/>
                <a:ea typeface="Yu Gothic" pitchFamily="34" charset="-122"/>
                <a:cs typeface="Yu Gothic" pitchFamily="34" charset="-120"/>
              </a:rPr>
              <a:t>② ツール外販 — 1契約あたり</a:t>
            </a:r>
            <a:endParaRPr lang="en-US" sz="1100" dirty="0"/>
          </a:p>
        </p:txBody>
      </p:sp>
      <p:graphicFrame>
        <p:nvGraphicFramePr>
          <p:cNvPr id="25" name="Table 1"/>
          <p:cNvGraphicFramePr>
            <a:graphicFrameLocks noGrp="1"/>
          </p:cNvGraphicFramePr>
          <p:nvPr>
            <p:extLst>
              <p:ext uri="{D42A27DB-BD31-4B8C-83A1-F6EECF244321}">
                <p14:modId xmlns:p14="http://schemas.microsoft.com/office/powerpoint/2010/main" val="1579011935"/>
              </p:ext>
            </p:extLst>
          </p:nvPr>
        </p:nvGraphicFramePr>
        <p:xfrm>
          <a:off x="6355080" y="1719072"/>
          <a:ext cx="5239512" cy="914400"/>
        </p:xfrm>
        <a:graphic>
          <a:graphicData uri="http://schemas.openxmlformats.org/drawingml/2006/table">
            <a:tbl>
              <a:tblPr/>
              <a:tblGrid>
                <a:gridCol w="1673352"/>
                <a:gridCol w="1188720"/>
                <a:gridCol w="1188720"/>
                <a:gridCol w="1188720"/>
              </a:tblGrid>
              <a:tr h="292608">
                <a:tc>
                  <a:txBody>
                    <a:bodyPr/>
                    <a:lstStyle/>
                    <a:p>
                      <a:pPr indent="0" marL="0">
                        <a:buNone/>
                      </a:pP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年間単価</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5期の契約数</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5期の売上</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r>
              <a:tr h="292608">
                <a:tc>
                  <a:txBody>
                    <a:bodyPr/>
                    <a:lstStyle/>
                    <a:p>
                      <a:pPr indent="0" marL="0">
                        <a:buNone/>
                      </a:pPr>
                      <a:r>
                        <a:rPr lang="en-US" sz="900" b="1" dirty="0">
                          <a:solidFill>
                            <a:srgbClr val="C9962C"/>
                          </a:solidFill>
                          <a:latin typeface="Yu Gothic" pitchFamily="34" charset="0"/>
                          <a:ea typeface="Yu Gothic" pitchFamily="34" charset="-122"/>
                          <a:cs typeface="Yu Gothic" pitchFamily="34" charset="-120"/>
                        </a:rPr>
                        <a:t>制作会社（法人）</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326万</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600社</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b="1" dirty="0">
                          <a:solidFill>
                            <a:srgbClr val="C9962C"/>
                          </a:solidFill>
                          <a:latin typeface="Yu Gothic" pitchFamily="34" charset="0"/>
                          <a:ea typeface="Yu Gothic" pitchFamily="34" charset="-122"/>
                          <a:cs typeface="Yu Gothic" pitchFamily="34" charset="-120"/>
                        </a:rPr>
                        <a:t>19.6億</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292608">
                <a:tc>
                  <a:txBody>
                    <a:bodyPr/>
                    <a:lstStyle/>
                    <a:p>
                      <a:pPr indent="0" marL="0">
                        <a:buNone/>
                      </a:pPr>
                      <a:r>
                        <a:rPr lang="en-US" sz="900" b="1" dirty="0">
                          <a:solidFill>
                            <a:srgbClr val="C9962C"/>
                          </a:solidFill>
                          <a:latin typeface="Yu Gothic" pitchFamily="34" charset="0"/>
                          <a:ea typeface="Yu Gothic" pitchFamily="34" charset="-122"/>
                          <a:cs typeface="Yu Gothic" pitchFamily="34" charset="-120"/>
                        </a:rPr>
                        <a:t>個人クリエイター</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12万</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17,000人</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b="1" dirty="0">
                          <a:solidFill>
                            <a:srgbClr val="C9962C"/>
                          </a:solidFill>
                          <a:latin typeface="Yu Gothic" pitchFamily="34" charset="0"/>
                          <a:ea typeface="Yu Gothic" pitchFamily="34" charset="-122"/>
                          <a:cs typeface="Yu Gothic" pitchFamily="34" charset="-120"/>
                        </a:rPr>
                        <a:t>20.4億</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292608">
                <a:tc>
                  <a:txBody>
                    <a:bodyPr/>
                    <a:lstStyle/>
                    <a:p>
                      <a:pPr indent="0" marL="0">
                        <a:buNone/>
                      </a:pPr>
                      <a:r>
                        <a:rPr lang="en-US" sz="900" b="1" dirty="0">
                          <a:solidFill>
                            <a:srgbClr val="C9962C"/>
                          </a:solidFill>
                          <a:latin typeface="Yu Gothic" pitchFamily="34" charset="0"/>
                          <a:ea typeface="Yu Gothic" pitchFamily="34" charset="-122"/>
                          <a:cs typeface="Yu Gothic" pitchFamily="34" charset="-120"/>
                        </a:rPr>
                        <a:t>個人セルフサーブ</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月980円〜</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有料4万人</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b="1" dirty="0">
                          <a:solidFill>
                            <a:srgbClr val="C9962C"/>
                          </a:solidFill>
                          <a:latin typeface="Yu Gothic" pitchFamily="34" charset="0"/>
                          <a:ea typeface="Yu Gothic" pitchFamily="34" charset="-122"/>
                          <a:cs typeface="Yu Gothic" pitchFamily="34" charset="-120"/>
                        </a:rPr>
                        <a:t>1.6億</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292608">
                <a:tc>
                  <a:txBody>
                    <a:bodyPr/>
                    <a:lstStyle/>
                    <a:p>
                      <a:pPr indent="0" marL="0">
                        <a:buNone/>
                      </a:pPr>
                      <a:r>
                        <a:rPr lang="en-US" sz="900" b="1" dirty="0">
                          <a:solidFill>
                            <a:srgbClr val="3A3A42"/>
                          </a:solidFill>
                          <a:latin typeface="Yu Gothic" pitchFamily="34" charset="0"/>
                          <a:ea typeface="Yu Gothic" pitchFamily="34" charset="-122"/>
                          <a:cs typeface="Yu Gothic" pitchFamily="34" charset="-120"/>
                        </a:rPr>
                        <a:t>合計</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b="1" dirty="0">
                          <a:solidFill>
                            <a:srgbClr val="C9962C"/>
                          </a:solidFill>
                          <a:latin typeface="Yu Gothic" pitchFamily="34" charset="0"/>
                          <a:ea typeface="Yu Gothic" pitchFamily="34" charset="-122"/>
                          <a:cs typeface="Yu Gothic" pitchFamily="34" charset="-120"/>
                        </a:rPr>
                        <a:t>41.6億</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292608">
                <a:tc>
                  <a:txBody>
                    <a:bodyPr/>
                    <a:lstStyle/>
                    <a:p>
                      <a:pPr indent="0" marL="0">
                        <a:buNone/>
                      </a:pPr>
                      <a:r>
                        <a:rPr lang="en-US" sz="900" b="1" dirty="0">
                          <a:solidFill>
                            <a:srgbClr val="3A3A42"/>
                          </a:solidFill>
                          <a:latin typeface="Yu Gothic" pitchFamily="34" charset="0"/>
                          <a:ea typeface="Yu Gothic" pitchFamily="34" charset="-122"/>
                          <a:cs typeface="Yu Gothic" pitchFamily="34" charset="-120"/>
                        </a:rPr>
                        <a:t>売るもの</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C9962C"/>
                          </a:solidFill>
                          <a:latin typeface="Yu Gothic" pitchFamily="34" charset="0"/>
                          <a:ea typeface="Yu Gothic" pitchFamily="34" charset="-122"/>
                          <a:cs typeface="Yu Gothic" pitchFamily="34" charset="-120"/>
                        </a:rPr>
                        <a:t>チェックポイント・LoRA</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C9962C"/>
                          </a:solidFill>
                          <a:latin typeface="Yu Gothic" pitchFamily="34" charset="0"/>
                          <a:ea typeface="Yu Gothic" pitchFamily="34" charset="-122"/>
                          <a:cs typeface="Yu Gothic" pitchFamily="34" charset="-120"/>
                        </a:rPr>
                        <a:t>要件定義テンプレート</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C9962C"/>
                          </a:solidFill>
                          <a:latin typeface="Yu Gothic" pitchFamily="34" charset="0"/>
                          <a:ea typeface="Yu Gothic" pitchFamily="34" charset="-122"/>
                          <a:cs typeface="Yu Gothic" pitchFamily="34" charset="-120"/>
                        </a:rPr>
                        <a:t>自動チェック</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292608">
                <a:tc>
                  <a:txBody>
                    <a:bodyPr/>
                    <a:lstStyle/>
                    <a:p>
                      <a:pPr indent="0" marL="0">
                        <a:buNone/>
                      </a:pPr>
                      <a:r>
                        <a:rPr lang="en-US" sz="900" b="1" dirty="0">
                          <a:solidFill>
                            <a:srgbClr val="B3121B"/>
                          </a:solidFill>
                          <a:latin typeface="Yu Gothic" pitchFamily="34" charset="0"/>
                          <a:ea typeface="Yu Gothic" pitchFamily="34" charset="-122"/>
                          <a:cs typeface="Yu Gothic" pitchFamily="34" charset="-120"/>
                        </a:rPr>
                        <a:t>⚠ 国内だけでは届きません</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B3121B"/>
                          </a:solidFill>
                          <a:latin typeface="Yu Gothic" pitchFamily="34" charset="0"/>
                          <a:ea typeface="Yu Gothic" pitchFamily="34" charset="-122"/>
                          <a:cs typeface="Yu Gothic" pitchFamily="34" charset="-120"/>
                        </a:rPr>
                        <a:t>海外展開が前提。Synthesia 210億の19%の規模</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bl>
          </a:graphicData>
        </a:graphic>
      </p:graphicFrame>
      <p:sp>
        <p:nvSpPr>
          <p:cNvPr id="10" name="Text 6"/>
          <p:cNvSpPr txBox="1"/>
          <p:nvPr/>
        </p:nvSpPr>
        <p:spPr>
          <a:xfrm>
            <a:off x="594360" y="3822192"/>
            <a:ext cx="5486400" cy="274320"/>
          </a:xfrm>
          <a:prstGeom prst="rect">
            <a:avLst/>
          </a:prstGeom>
          <a:noFill/>
          <a:ln/>
        </p:spPr>
        <p:txBody>
          <a:bodyPr wrap="square" lIns="0" tIns="0" rIns="0" bIns="0" rtlCol="0" anchor="ctr"/>
          <a:lstStyle/>
          <a:p>
            <a:pPr indent="0" marL="0">
              <a:buNone/>
            </a:pPr>
            <a:r>
              <a:rPr lang="en-US" sz="1100" b="1" dirty="0">
                <a:solidFill>
                  <a:srgbClr val="2A3563"/>
                </a:solidFill>
                <a:latin typeface="Yu Gothic" pitchFamily="34" charset="0"/>
                <a:ea typeface="Yu Gothic" pitchFamily="34" charset="-122"/>
                <a:cs typeface="Yu Gothic" pitchFamily="34" charset="-120"/>
              </a:rPr>
              <a:t>③ 越境C2C発注 — 1取引あたり</a:t>
            </a:r>
            <a:endParaRPr lang="en-US" sz="1100" dirty="0"/>
          </a:p>
        </p:txBody>
      </p:sp>
      <p:graphicFrame>
        <p:nvGraphicFramePr>
          <p:cNvPr id="37" name="Table 2"/>
          <p:cNvGraphicFramePr>
            <a:graphicFrameLocks noGrp="1"/>
          </p:cNvGraphicFramePr>
          <p:nvPr>
            <p:extLst>
              <p:ext uri="{D42A27DB-BD31-4B8C-83A1-F6EECF244321}">
                <p14:modId xmlns:p14="http://schemas.microsoft.com/office/powerpoint/2010/main" val="1579011935"/>
              </p:ext>
            </p:extLst>
          </p:nvPr>
        </p:nvGraphicFramePr>
        <p:xfrm>
          <a:off x="594360" y="4151376"/>
          <a:ext cx="5486400" cy="914400"/>
        </p:xfrm>
        <a:graphic>
          <a:graphicData uri="http://schemas.openxmlformats.org/drawingml/2006/table">
            <a:tbl>
              <a:tblPr/>
              <a:tblGrid>
                <a:gridCol w="2011680"/>
                <a:gridCol w="1188720"/>
                <a:gridCol w="2286000"/>
              </a:tblGrid>
              <a:tr h="292608">
                <a:tc>
                  <a:txBody>
                    <a:bodyPr/>
                    <a:lstStyle/>
                    <a:p>
                      <a:pPr indent="0" marL="0">
                        <a:buNone/>
                      </a:pP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金額</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備考</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r>
              <a:tr h="292608">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発注者が支払う額（GMV）</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15.0万</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14商品。1万円〜100万円</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292608">
                <a:tc>
                  <a:txBody>
                    <a:bodyPr/>
                    <a:lstStyle/>
                    <a:p>
                      <a:pPr indent="0" marL="0">
                        <a:buNone/>
                      </a:pPr>
                      <a:r>
                        <a:rPr lang="en-US" sz="900" b="1" dirty="0">
                          <a:solidFill>
                            <a:srgbClr val="2A3563"/>
                          </a:solidFill>
                          <a:latin typeface="Yu Gothic" pitchFamily="34" charset="0"/>
                          <a:ea typeface="Yu Gothic" pitchFamily="34" charset="-122"/>
                          <a:cs typeface="Yu Gothic" pitchFamily="34" charset="-120"/>
                        </a:rPr>
                        <a:t>当社の取引手数料 30%</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b="1" dirty="0">
                          <a:solidFill>
                            <a:srgbClr val="2A3563"/>
                          </a:solidFill>
                          <a:latin typeface="Yu Gothic" pitchFamily="34" charset="0"/>
                          <a:ea typeface="Yu Gothic" pitchFamily="34" charset="-122"/>
                          <a:cs typeface="Yu Gothic" pitchFamily="34" charset="-120"/>
                        </a:rPr>
                        <a:t>4.5万</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70%はクリエイターへ渡す</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292608">
                <a:tc>
                  <a:txBody>
                    <a:bodyPr/>
                    <a:lstStyle/>
                    <a:p>
                      <a:pPr indent="0" marL="0">
                        <a:buNone/>
                      </a:pPr>
                      <a:r>
                        <a:rPr lang="en-US" sz="900" b="1" dirty="0">
                          <a:solidFill>
                            <a:srgbClr val="2A3563"/>
                          </a:solidFill>
                          <a:latin typeface="Yu Gothic" pitchFamily="34" charset="0"/>
                          <a:ea typeface="Yu Gothic" pitchFamily="34" charset="-122"/>
                          <a:cs typeface="Yu Gothic" pitchFamily="34" charset="-120"/>
                        </a:rPr>
                        <a:t>売上総利益</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b="1" dirty="0">
                          <a:solidFill>
                            <a:srgbClr val="2A3563"/>
                          </a:solidFill>
                          <a:latin typeface="Yu Gothic" pitchFamily="34" charset="0"/>
                          <a:ea typeface="Yu Gothic" pitchFamily="34" charset="-122"/>
                          <a:cs typeface="Yu Gothic" pitchFamily="34" charset="-120"/>
                        </a:rPr>
                        <a:t>3.56万（79%）</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b="1" dirty="0">
                          <a:solidFill>
                            <a:srgbClr val="3A3A42"/>
                          </a:solidFill>
                          <a:latin typeface="Yu Gothic" pitchFamily="34" charset="0"/>
                          <a:ea typeface="Yu Gothic" pitchFamily="34" charset="-122"/>
                          <a:cs typeface="Yu Gothic" pitchFamily="34" charset="-120"/>
                        </a:rPr>
                        <a:t>決済・送金・システム原価を引いた後</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292608">
                <a:tc>
                  <a:txBody>
                    <a:bodyPr/>
                    <a:lstStyle/>
                    <a:p>
                      <a:pPr indent="0" marL="0">
                        <a:buNone/>
                      </a:pPr>
                      <a:r>
                        <a:rPr lang="en-US" sz="900" b="1" dirty="0">
                          <a:solidFill>
                            <a:srgbClr val="3A3A42"/>
                          </a:solidFill>
                          <a:latin typeface="Yu Gothic" pitchFamily="34" charset="0"/>
                          <a:ea typeface="Yu Gothic" pitchFamily="34" charset="-122"/>
                          <a:cs typeface="Yu Gothic" pitchFamily="34" charset="-120"/>
                        </a:rPr>
                        <a:t>5期 年95,200件</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b="1" dirty="0">
                          <a:solidFill>
                            <a:srgbClr val="2A3563"/>
                          </a:solidFill>
                          <a:latin typeface="Yu Gothic" pitchFamily="34" charset="0"/>
                          <a:ea typeface="Yu Gothic" pitchFamily="34" charset="-122"/>
                          <a:cs typeface="Yu Gothic" pitchFamily="34" charset="-120"/>
                        </a:rPr>
                        <a:t>→ 42.7億</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GMV 142.5億</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bl>
          </a:graphicData>
        </a:graphic>
      </p:graphicFrame>
      <p:sp>
        <p:nvSpPr>
          <p:cNvPr id="12" name="Text 7"/>
          <p:cNvSpPr txBox="1"/>
          <p:nvPr/>
        </p:nvSpPr>
        <p:spPr>
          <a:xfrm>
            <a:off x="6355080" y="3822192"/>
            <a:ext cx="5239512" cy="274320"/>
          </a:xfrm>
          <a:prstGeom prst="rect">
            <a:avLst/>
          </a:prstGeom>
          <a:noFill/>
          <a:ln/>
        </p:spPr>
        <p:txBody>
          <a:bodyPr wrap="square" lIns="0" tIns="0" rIns="0" bIns="0" rtlCol="0" anchor="ctr"/>
          <a:lstStyle/>
          <a:p>
            <a:pPr indent="0" marL="0">
              <a:buNone/>
            </a:pPr>
            <a:r>
              <a:rPr lang="en-US" sz="1150" b="1" dirty="0">
                <a:solidFill>
                  <a:srgbClr val="16161A"/>
                </a:solidFill>
                <a:latin typeface="Yu Gothic" pitchFamily="34" charset="0"/>
                <a:ea typeface="Yu Gothic" pitchFamily="34" charset="-122"/>
                <a:cs typeface="Yu Gothic" pitchFamily="34" charset="-120"/>
              </a:rPr>
              <a:t>5期 売上120.0億の内訳</a:t>
            </a:r>
            <a:endParaRPr lang="en-US" sz="1150" dirty="0"/>
          </a:p>
        </p:txBody>
      </p:sp>
      <p:sp>
        <p:nvSpPr>
          <p:cNvPr id="13" name="Text 8"/>
          <p:cNvSpPr txBox="1"/>
          <p:nvPr/>
        </p:nvSpPr>
        <p:spPr>
          <a:xfrm>
            <a:off x="6355080" y="4169664"/>
            <a:ext cx="2194560" cy="310896"/>
          </a:xfrm>
          <a:prstGeom prst="rect">
            <a:avLst/>
          </a:prstGeom>
          <a:noFill/>
          <a:ln/>
        </p:spPr>
        <p:txBody>
          <a:bodyPr wrap="square" lIns="0" tIns="0" rIns="0" bIns="0" rtlCol="0" anchor="ctr"/>
          <a:lstStyle/>
          <a:p>
            <a:pPr indent="0" marL="0">
              <a:buNone/>
            </a:pPr>
            <a:r>
              <a:rPr lang="en-US" sz="950" dirty="0">
                <a:solidFill>
                  <a:srgbClr val="3A3A42"/>
                </a:solidFill>
                <a:latin typeface="Yu Gothic" pitchFamily="34" charset="0"/>
                <a:ea typeface="Yu Gothic" pitchFamily="34" charset="-122"/>
                <a:cs typeface="Yu Gothic" pitchFamily="34" charset="-120"/>
              </a:rPr>
              <a:t>③ C2C手数料</a:t>
            </a:r>
            <a:endParaRPr lang="en-US" sz="950" dirty="0"/>
          </a:p>
        </p:txBody>
      </p:sp>
      <p:sp>
        <p:nvSpPr>
          <p:cNvPr id="14" name="Shape 9"/>
          <p:cNvSpPr/>
          <p:nvPr/>
        </p:nvSpPr>
        <p:spPr>
          <a:xfrm>
            <a:off x="8659368" y="4224528"/>
            <a:ext cx="2130552" cy="201168"/>
          </a:xfrm>
          <a:prstGeom prst="rect">
            <a:avLst/>
          </a:prstGeom>
          <a:solidFill>
            <a:srgbClr val="2A3563"/>
          </a:solidFill>
          <a:ln/>
        </p:spPr>
      </p:sp>
      <p:sp>
        <p:nvSpPr>
          <p:cNvPr id="15" name="Text 10"/>
          <p:cNvSpPr txBox="1"/>
          <p:nvPr/>
        </p:nvSpPr>
        <p:spPr>
          <a:xfrm>
            <a:off x="10725912" y="4169664"/>
            <a:ext cx="868680" cy="310896"/>
          </a:xfrm>
          <a:prstGeom prst="rect">
            <a:avLst/>
          </a:prstGeom>
          <a:noFill/>
          <a:ln/>
        </p:spPr>
        <p:txBody>
          <a:bodyPr wrap="square" lIns="0" tIns="0" rIns="0" bIns="0" rtlCol="0" anchor="ctr"/>
          <a:lstStyle/>
          <a:p>
            <a:pPr algn="r" indent="0" marL="0">
              <a:buNone/>
            </a:pPr>
            <a:r>
              <a:rPr lang="en-US" sz="950" b="1" dirty="0">
                <a:solidFill>
                  <a:srgbClr val="16161A"/>
                </a:solidFill>
                <a:latin typeface="Yu Gothic" pitchFamily="34" charset="0"/>
                <a:ea typeface="Yu Gothic" pitchFamily="34" charset="-122"/>
                <a:cs typeface="Yu Gothic" pitchFamily="34" charset="-120"/>
              </a:rPr>
              <a:t>42.7億</a:t>
            </a:r>
            <a:endParaRPr lang="en-US" sz="950" dirty="0"/>
          </a:p>
        </p:txBody>
      </p:sp>
      <p:sp>
        <p:nvSpPr>
          <p:cNvPr id="16" name="Text 11"/>
          <p:cNvSpPr txBox="1"/>
          <p:nvPr/>
        </p:nvSpPr>
        <p:spPr>
          <a:xfrm>
            <a:off x="6355080" y="4517136"/>
            <a:ext cx="2194560" cy="310896"/>
          </a:xfrm>
          <a:prstGeom prst="rect">
            <a:avLst/>
          </a:prstGeom>
          <a:noFill/>
          <a:ln/>
        </p:spPr>
        <p:txBody>
          <a:bodyPr wrap="square" lIns="0" tIns="0" rIns="0" bIns="0" rtlCol="0" anchor="ctr"/>
          <a:lstStyle/>
          <a:p>
            <a:pPr indent="0" marL="0">
              <a:buNone/>
            </a:pPr>
            <a:r>
              <a:rPr lang="en-US" sz="950" dirty="0">
                <a:solidFill>
                  <a:srgbClr val="3A3A42"/>
                </a:solidFill>
                <a:latin typeface="Yu Gothic" pitchFamily="34" charset="0"/>
                <a:ea typeface="Yu Gothic" pitchFamily="34" charset="-122"/>
                <a:cs typeface="Yu Gothic" pitchFamily="34" charset="-120"/>
              </a:rPr>
              <a:t>② ツール外販</a:t>
            </a:r>
            <a:endParaRPr lang="en-US" sz="950" dirty="0"/>
          </a:p>
        </p:txBody>
      </p:sp>
      <p:sp>
        <p:nvSpPr>
          <p:cNvPr id="17" name="Shape 12"/>
          <p:cNvSpPr/>
          <p:nvPr/>
        </p:nvSpPr>
        <p:spPr>
          <a:xfrm>
            <a:off x="8659368" y="4572000"/>
            <a:ext cx="2066635" cy="201168"/>
          </a:xfrm>
          <a:prstGeom prst="rect">
            <a:avLst/>
          </a:prstGeom>
          <a:solidFill>
            <a:srgbClr val="C9962C"/>
          </a:solidFill>
          <a:ln/>
        </p:spPr>
      </p:sp>
      <p:sp>
        <p:nvSpPr>
          <p:cNvPr id="18" name="Text 13"/>
          <p:cNvSpPr txBox="1"/>
          <p:nvPr/>
        </p:nvSpPr>
        <p:spPr>
          <a:xfrm>
            <a:off x="10725912" y="4517136"/>
            <a:ext cx="868680" cy="310896"/>
          </a:xfrm>
          <a:prstGeom prst="rect">
            <a:avLst/>
          </a:prstGeom>
          <a:noFill/>
          <a:ln/>
        </p:spPr>
        <p:txBody>
          <a:bodyPr wrap="square" lIns="0" tIns="0" rIns="0" bIns="0" rtlCol="0" anchor="ctr"/>
          <a:lstStyle/>
          <a:p>
            <a:pPr algn="r" indent="0" marL="0">
              <a:buNone/>
            </a:pPr>
            <a:r>
              <a:rPr lang="en-US" sz="950" b="1" dirty="0">
                <a:solidFill>
                  <a:srgbClr val="16161A"/>
                </a:solidFill>
                <a:latin typeface="Yu Gothic" pitchFamily="34" charset="0"/>
                <a:ea typeface="Yu Gothic" pitchFamily="34" charset="-122"/>
                <a:cs typeface="Yu Gothic" pitchFamily="34" charset="-120"/>
              </a:rPr>
              <a:t>41.6億</a:t>
            </a:r>
            <a:endParaRPr lang="en-US" sz="950" dirty="0"/>
          </a:p>
        </p:txBody>
      </p:sp>
      <p:sp>
        <p:nvSpPr>
          <p:cNvPr id="19" name="Text 14"/>
          <p:cNvSpPr txBox="1"/>
          <p:nvPr/>
        </p:nvSpPr>
        <p:spPr>
          <a:xfrm>
            <a:off x="6355080" y="4864608"/>
            <a:ext cx="2194560" cy="310896"/>
          </a:xfrm>
          <a:prstGeom prst="rect">
            <a:avLst/>
          </a:prstGeom>
          <a:noFill/>
          <a:ln/>
        </p:spPr>
        <p:txBody>
          <a:bodyPr wrap="square" lIns="0" tIns="0" rIns="0" bIns="0" rtlCol="0" anchor="ctr"/>
          <a:lstStyle/>
          <a:p>
            <a:pPr indent="0" marL="0">
              <a:buNone/>
            </a:pPr>
            <a:r>
              <a:rPr lang="en-US" sz="950" dirty="0">
                <a:solidFill>
                  <a:srgbClr val="3A3A42"/>
                </a:solidFill>
                <a:latin typeface="Yu Gothic" pitchFamily="34" charset="0"/>
                <a:ea typeface="Yu Gothic" pitchFamily="34" charset="-122"/>
                <a:cs typeface="Yu Gothic" pitchFamily="34" charset="-120"/>
              </a:rPr>
              <a:t>① 映像制作 3,780本</a:t>
            </a:r>
            <a:endParaRPr lang="en-US" sz="950" dirty="0"/>
          </a:p>
        </p:txBody>
      </p:sp>
      <p:sp>
        <p:nvSpPr>
          <p:cNvPr id="20" name="Shape 15"/>
          <p:cNvSpPr/>
          <p:nvPr/>
        </p:nvSpPr>
        <p:spPr>
          <a:xfrm>
            <a:off x="8659368" y="4919472"/>
            <a:ext cx="1789664" cy="201168"/>
          </a:xfrm>
          <a:prstGeom prst="rect">
            <a:avLst/>
          </a:prstGeom>
          <a:solidFill>
            <a:srgbClr val="B3121B"/>
          </a:solidFill>
          <a:ln/>
        </p:spPr>
      </p:sp>
      <p:sp>
        <p:nvSpPr>
          <p:cNvPr id="21" name="Text 16"/>
          <p:cNvSpPr txBox="1"/>
          <p:nvPr/>
        </p:nvSpPr>
        <p:spPr>
          <a:xfrm>
            <a:off x="10725912" y="4864608"/>
            <a:ext cx="868680" cy="310896"/>
          </a:xfrm>
          <a:prstGeom prst="rect">
            <a:avLst/>
          </a:prstGeom>
          <a:noFill/>
          <a:ln/>
        </p:spPr>
        <p:txBody>
          <a:bodyPr wrap="square" lIns="0" tIns="0" rIns="0" bIns="0" rtlCol="0" anchor="ctr"/>
          <a:lstStyle/>
          <a:p>
            <a:pPr algn="r" indent="0" marL="0">
              <a:buNone/>
            </a:pPr>
            <a:r>
              <a:rPr lang="en-US" sz="950" b="1" dirty="0">
                <a:solidFill>
                  <a:srgbClr val="16161A"/>
                </a:solidFill>
                <a:latin typeface="Yu Gothic" pitchFamily="34" charset="0"/>
                <a:ea typeface="Yu Gothic" pitchFamily="34" charset="-122"/>
                <a:cs typeface="Yu Gothic" pitchFamily="34" charset="-120"/>
              </a:rPr>
              <a:t>35.7億</a:t>
            </a:r>
            <a:endParaRPr lang="en-US" sz="950" dirty="0"/>
          </a:p>
        </p:txBody>
      </p:sp>
      <p:sp>
        <p:nvSpPr>
          <p:cNvPr id="22" name="Shape 17"/>
          <p:cNvSpPr/>
          <p:nvPr/>
        </p:nvSpPr>
        <p:spPr>
          <a:xfrm>
            <a:off x="6355080" y="5193792"/>
            <a:ext cx="5239512" cy="512064"/>
          </a:xfrm>
          <a:prstGeom prst="rect">
            <a:avLst/>
          </a:prstGeom>
          <a:solidFill>
            <a:srgbClr val="FBF1F1"/>
          </a:solidFill>
          <a:ln/>
        </p:spPr>
      </p:sp>
      <p:sp>
        <p:nvSpPr>
          <p:cNvPr id="23" name="Shape 18"/>
          <p:cNvSpPr/>
          <p:nvPr/>
        </p:nvSpPr>
        <p:spPr>
          <a:xfrm>
            <a:off x="6355080" y="5193792"/>
            <a:ext cx="45720" cy="512064"/>
          </a:xfrm>
          <a:prstGeom prst="rect">
            <a:avLst/>
          </a:prstGeom>
          <a:solidFill>
            <a:srgbClr val="B3121B"/>
          </a:solidFill>
          <a:ln/>
        </p:spPr>
      </p:sp>
      <p:sp>
        <p:nvSpPr>
          <p:cNvPr id="24" name="Text 19"/>
          <p:cNvSpPr txBox="1"/>
          <p:nvPr/>
        </p:nvSpPr>
        <p:spPr>
          <a:xfrm>
            <a:off x="6611112" y="5340096"/>
            <a:ext cx="4782312" cy="274320"/>
          </a:xfrm>
          <a:prstGeom prst="rect">
            <a:avLst/>
          </a:prstGeom>
          <a:noFill/>
          <a:ln/>
        </p:spPr>
        <p:txBody>
          <a:bodyPr wrap="square" lIns="0" tIns="0" rIns="0" bIns="0" rtlCol="0" anchor="ctr"/>
          <a:lstStyle/>
          <a:p>
            <a:pPr indent="0" marL="0">
              <a:buNone/>
            </a:pPr>
            <a:r>
              <a:rPr lang="en-US" sz="1200" b="1" dirty="0">
                <a:solidFill>
                  <a:srgbClr val="B3121B"/>
                </a:solidFill>
                <a:latin typeface="Yu Gothic" pitchFamily="34" charset="0"/>
                <a:ea typeface="Yu Gothic" pitchFamily="34" charset="-122"/>
                <a:cs typeface="Yu Gothic" pitchFamily="34" charset="-120"/>
              </a:rPr>
              <a:t>⚠ ②③で売上の70%。①のAX分を足すと93%</a:t>
            </a:r>
            <a:endParaRPr lang="en-US" sz="1200" dirty="0"/>
          </a:p>
        </p:txBody>
      </p:sp>
      <p:sp>
        <p:nvSpPr>
          <p:cNvPr id="25" name="Text 20"/>
          <p:cNvSpPr txBox="1"/>
          <p:nvPr/>
        </p:nvSpPr>
        <p:spPr>
          <a:xfrm>
            <a:off x="6611112" y="5669280"/>
            <a:ext cx="4782312" cy="-109728"/>
          </a:xfrm>
          <a:prstGeom prst="rect">
            <a:avLst/>
          </a:prstGeom>
          <a:noFill/>
          <a:ln/>
        </p:spPr>
        <p:txBody>
          <a:bodyPr wrap="square" lIns="0" tIns="0" rIns="0" bIns="0" rtlCol="0" anchor="t"/>
          <a:lstStyle/>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人を増やさずに伸ばせる収益が、5期で9割を超えます。</a:t>
            </a:r>
            <a:endParaRPr lang="en-US" sz="1000" dirty="0"/>
          </a:p>
        </p:txBody>
      </p:sp>
      <p:sp>
        <p:nvSpPr>
          <p:cNvPr id="26" name="Text 21"/>
          <p:cNvSpPr txBox="1"/>
          <p:nvPr/>
        </p:nvSpPr>
        <p:spPr>
          <a:xfrm>
            <a:off x="594360" y="6336792"/>
            <a:ext cx="9902952" cy="310896"/>
          </a:xfrm>
          <a:prstGeom prst="rect">
            <a:avLst/>
          </a:prstGeom>
          <a:noFill/>
          <a:ln/>
        </p:spPr>
        <p:txBody>
          <a:bodyPr wrap="square" lIns="0" tIns="0" rIns="0" bIns="0" rtlCol="0" anchor="ctr"/>
          <a:lstStyle/>
          <a:p>
            <a:pPr indent="0" marL="0">
              <a:buNone/>
            </a:pPr>
            <a:r>
              <a:rPr lang="en-US" sz="850" dirty="0">
                <a:solidFill>
                  <a:srgbClr val="6E6E76"/>
                </a:solidFill>
                <a:latin typeface="Yu Gothic" pitchFamily="34" charset="0"/>
                <a:ea typeface="Yu Gothic" pitchFamily="34" charset="-122"/>
                <a:cs typeface="Yu Gothic" pitchFamily="34" charset="-120"/>
              </a:rPr>
              <a:t>①の単価は企業の現行支払の50%。③の価格は日本の発注者の支払意思の上限を採用。契約数・件数・AX倍率はすべて未実測の［仮置き］です</a:t>
            </a:r>
            <a:endParaRPr lang="en-US" sz="850" dirty="0"/>
          </a:p>
        </p:txBody>
      </p:sp>
      <p:sp>
        <p:nvSpPr>
          <p:cNvPr id="27" name="Text 22"/>
          <p:cNvSpPr txBox="1"/>
          <p:nvPr/>
        </p:nvSpPr>
        <p:spPr>
          <a:xfrm>
            <a:off x="11228832" y="6336792"/>
            <a:ext cx="365760" cy="274320"/>
          </a:xfrm>
          <a:prstGeom prst="rect">
            <a:avLst/>
          </a:prstGeom>
          <a:noFill/>
          <a:ln/>
        </p:spPr>
        <p:txBody>
          <a:bodyPr wrap="square" lIns="0" tIns="0" rIns="0" bIns="0" rtlCol="0" anchor="ctr"/>
          <a:lstStyle/>
          <a:p>
            <a:pPr algn="r" indent="0" marL="0">
              <a:buNone/>
            </a:pPr>
            <a:r>
              <a:rPr lang="en-US" sz="900" dirty="0">
                <a:solidFill>
                  <a:srgbClr val="6E6E76"/>
                </a:solidFill>
                <a:latin typeface="Yu Gothic" pitchFamily="34" charset="0"/>
                <a:ea typeface="Yu Gothic" pitchFamily="34" charset="-122"/>
                <a:cs typeface="Yu Gothic" pitchFamily="34" charset="-120"/>
              </a:rPr>
              <a:t>11</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402336"/>
            <a:ext cx="475488" cy="475488"/>
          </a:xfrm>
          <a:prstGeom prst="rect">
            <a:avLst/>
          </a:prstGeom>
          <a:solidFill>
            <a:srgbClr val="B3121B"/>
          </a:solidFill>
          <a:ln/>
        </p:spPr>
      </p:sp>
      <p:sp>
        <p:nvSpPr>
          <p:cNvPr id="3" name="Text 1"/>
          <p:cNvSpPr txBox="1"/>
          <p:nvPr/>
        </p:nvSpPr>
        <p:spPr>
          <a:xfrm>
            <a:off x="594360" y="40233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3</a:t>
            </a:r>
            <a:endParaRPr lang="en-US" sz="1700" dirty="0"/>
          </a:p>
        </p:txBody>
      </p:sp>
      <p:sp>
        <p:nvSpPr>
          <p:cNvPr id="4" name="Text 2"/>
          <p:cNvSpPr txBox="1"/>
          <p:nvPr/>
        </p:nvSpPr>
        <p:spPr>
          <a:xfrm>
            <a:off x="1207008" y="365760"/>
            <a:ext cx="10387584" cy="548640"/>
          </a:xfrm>
          <a:prstGeom prst="rect">
            <a:avLst/>
          </a:prstGeom>
          <a:noFill/>
          <a:ln/>
        </p:spPr>
        <p:txBody>
          <a:bodyPr wrap="square" lIns="0" tIns="0" rIns="0" bIns="0" rtlCol="0" anchor="ctr"/>
          <a:lstStyle/>
          <a:p>
            <a:pPr indent="0" marL="0">
              <a:buNone/>
            </a:pPr>
            <a:r>
              <a:rPr lang="en-US" sz="2500" b="1" dirty="0">
                <a:solidFill>
                  <a:srgbClr val="16161A"/>
                </a:solidFill>
                <a:latin typeface="Yu Gothic" pitchFamily="34" charset="0"/>
                <a:ea typeface="Yu Gothic" pitchFamily="34" charset="-122"/>
                <a:cs typeface="Yu Gothic" pitchFamily="34" charset="-120"/>
              </a:rPr>
              <a:t>収益モデル</a:t>
            </a:r>
            <a:endParaRPr lang="en-US" sz="2500" dirty="0"/>
          </a:p>
        </p:txBody>
      </p:sp>
      <p:sp>
        <p:nvSpPr>
          <p:cNvPr id="5" name="Text 3"/>
          <p:cNvSpPr txBox="1"/>
          <p:nvPr/>
        </p:nvSpPr>
        <p:spPr>
          <a:xfrm>
            <a:off x="1207008" y="932688"/>
            <a:ext cx="10387584" cy="310896"/>
          </a:xfrm>
          <a:prstGeom prst="rect">
            <a:avLst/>
          </a:prstGeom>
          <a:noFill/>
          <a:ln/>
        </p:spPr>
        <p:txBody>
          <a:bodyPr wrap="square" lIns="0" tIns="0" rIns="0" bIns="0" rtlCol="0" anchor="ctr"/>
          <a:lstStyle/>
          <a:p>
            <a:pPr indent="0" marL="0">
              <a:buNone/>
            </a:pPr>
            <a:r>
              <a:rPr lang="en-US" sz="1200" dirty="0">
                <a:solidFill>
                  <a:srgbClr val="6E6E76"/>
                </a:solidFill>
                <a:latin typeface="Yu Gothic" pitchFamily="34" charset="0"/>
                <a:ea typeface="Yu Gothic" pitchFamily="34" charset="-122"/>
                <a:cs typeface="Yu Gothic" pitchFamily="34" charset="-120"/>
              </a:rPr>
              <a:t>主軸は①の映像制作。そこで溜まるデータが②になり、②を外に開いたものが③です</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94360" y="1444752"/>
          <a:ext cx="11000232" cy="914400"/>
        </p:xfrm>
        <a:graphic>
          <a:graphicData uri="http://schemas.openxmlformats.org/drawingml/2006/table">
            <a:tbl>
              <a:tblPr/>
              <a:tblGrid>
                <a:gridCol w="640080"/>
                <a:gridCol w="3657600"/>
                <a:gridCol w="914400"/>
                <a:gridCol w="1097280"/>
                <a:gridCol w="1188720"/>
                <a:gridCol w="3502152"/>
              </a:tblGrid>
              <a:tr h="420624">
                <a:tc>
                  <a:txBody>
                    <a:bodyPr/>
                    <a:lstStyle/>
                    <a:p>
                      <a:pPr indent="0" marL="0">
                        <a:buNone/>
                      </a:pP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収益ライン</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型</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開始</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5期の売上</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備考</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r>
              <a:tr h="420624">
                <a:tc>
                  <a:txBody>
                    <a:bodyPr/>
                    <a:lstStyle/>
                    <a:p>
                      <a:pPr indent="0" marL="0">
                        <a:buNone/>
                      </a:pPr>
                      <a:r>
                        <a:rPr lang="en-US" sz="950" b="1" dirty="0">
                          <a:solidFill>
                            <a:srgbClr val="B3121B"/>
                          </a:solidFill>
                          <a:latin typeface="Yu Gothic" pitchFamily="34" charset="0"/>
                          <a:ea typeface="Yu Gothic" pitchFamily="34" charset="-122"/>
                          <a:cs typeface="Yu Gothic" pitchFamily="34" charset="-120"/>
                        </a:rPr>
                        <a:t>①</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b="1" dirty="0">
                          <a:solidFill>
                            <a:srgbClr val="3A3A42"/>
                          </a:solidFill>
                          <a:latin typeface="Yu Gothic" pitchFamily="34" charset="0"/>
                          <a:ea typeface="Yu Gothic" pitchFamily="34" charset="-122"/>
                          <a:cs typeface="Yu Gothic" pitchFamily="34" charset="-120"/>
                        </a:rPr>
                        <a:t>AI映像制作の受注 → クリエイターへ配分</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フロー</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b="1" dirty="0">
                          <a:solidFill>
                            <a:srgbClr val="3A3A42"/>
                          </a:solidFill>
                          <a:latin typeface="Yu Gothic" pitchFamily="34" charset="0"/>
                          <a:ea typeface="Yu Gothic" pitchFamily="34" charset="-122"/>
                          <a:cs typeface="Yu Gothic" pitchFamily="34" charset="-120"/>
                        </a:rPr>
                        <a:t>初日から</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b="1" dirty="0">
                          <a:solidFill>
                            <a:srgbClr val="B3121B"/>
                          </a:solidFill>
                          <a:latin typeface="Yu Gothic" pitchFamily="34" charset="0"/>
                          <a:ea typeface="Yu Gothic" pitchFamily="34" charset="-122"/>
                          <a:cs typeface="Yu Gothic" pitchFamily="34" charset="-120"/>
                        </a:rPr>
                        <a:t>35.7億</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粗利率66%。事業の主体。ここでデータが溜まる</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420624">
                <a:tc>
                  <a:txBody>
                    <a:bodyPr/>
                    <a:lstStyle/>
                    <a:p>
                      <a:pPr indent="0" marL="0">
                        <a:buNone/>
                      </a:pPr>
                      <a:r>
                        <a:rPr lang="en-US" sz="950" b="1" dirty="0">
                          <a:solidFill>
                            <a:srgbClr val="C9962C"/>
                          </a:solidFill>
                          <a:latin typeface="Yu Gothic" pitchFamily="34" charset="0"/>
                          <a:ea typeface="Yu Gothic" pitchFamily="34" charset="-122"/>
                          <a:cs typeface="Yu Gothic" pitchFamily="34" charset="-120"/>
                        </a:rPr>
                        <a:t>②</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b="1" dirty="0">
                          <a:solidFill>
                            <a:srgbClr val="3A3A42"/>
                          </a:solidFill>
                          <a:latin typeface="Yu Gothic" pitchFamily="34" charset="0"/>
                          <a:ea typeface="Yu Gothic" pitchFamily="34" charset="-122"/>
                          <a:cs typeface="Yu Gothic" pitchFamily="34" charset="-120"/>
                        </a:rPr>
                        <a:t>特許・制作用ツールの外販（国内・海外）</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ストック</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b="1" dirty="0">
                          <a:solidFill>
                            <a:srgbClr val="3A3A42"/>
                          </a:solidFill>
                          <a:latin typeface="Yu Gothic" pitchFamily="34" charset="0"/>
                          <a:ea typeface="Yu Gothic" pitchFamily="34" charset="-122"/>
                          <a:cs typeface="Yu Gothic" pitchFamily="34" charset="-120"/>
                        </a:rPr>
                        <a:t>2期〜</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b="1" dirty="0">
                          <a:solidFill>
                            <a:srgbClr val="C9962C"/>
                          </a:solidFill>
                          <a:latin typeface="Yu Gothic" pitchFamily="34" charset="0"/>
                          <a:ea typeface="Yu Gothic" pitchFamily="34" charset="-122"/>
                          <a:cs typeface="Yu Gothic" pitchFamily="34" charset="-120"/>
                        </a:rPr>
                        <a:t>41.6億</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チェックポイント・LoRA・工程ツール。粗利率80%</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420624">
                <a:tc>
                  <a:txBody>
                    <a:bodyPr/>
                    <a:lstStyle/>
                    <a:p>
                      <a:pPr indent="0" marL="0">
                        <a:buNone/>
                      </a:pPr>
                      <a:r>
                        <a:rPr lang="en-US" sz="950" b="1" dirty="0">
                          <a:solidFill>
                            <a:srgbClr val="2A3563"/>
                          </a:solidFill>
                          <a:latin typeface="Yu Gothic" pitchFamily="34" charset="0"/>
                          <a:ea typeface="Yu Gothic" pitchFamily="34" charset="-122"/>
                          <a:cs typeface="Yu Gothic" pitchFamily="34" charset="-120"/>
                        </a:rPr>
                        <a:t>③</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越境C2C発注の取引手数料</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ストック</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6ヶ月目〜</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b="1" dirty="0">
                          <a:solidFill>
                            <a:srgbClr val="2A3563"/>
                          </a:solidFill>
                          <a:latin typeface="Yu Gothic" pitchFamily="34" charset="0"/>
                          <a:ea typeface="Yu Gothic" pitchFamily="34" charset="-122"/>
                          <a:cs typeface="Yu Gothic" pitchFamily="34" charset="-120"/>
                        </a:rPr>
                        <a:t>42.7億</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手数料率30%。70%をクリエイターへ。②を外部に開放したもの</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bl>
          </a:graphicData>
        </a:graphic>
      </p:graphicFrame>
      <p:sp>
        <p:nvSpPr>
          <p:cNvPr id="7" name="Text 4"/>
          <p:cNvSpPr txBox="1"/>
          <p:nvPr/>
        </p:nvSpPr>
        <p:spPr>
          <a:xfrm>
            <a:off x="594360" y="3255264"/>
            <a:ext cx="5486400" cy="274320"/>
          </a:xfrm>
          <a:prstGeom prst="rect">
            <a:avLst/>
          </a:prstGeom>
          <a:noFill/>
          <a:ln/>
        </p:spPr>
        <p:txBody>
          <a:bodyPr wrap="square" lIns="0" tIns="0" rIns="0" bIns="0" rtlCol="0" anchor="ctr"/>
          <a:lstStyle/>
          <a:p>
            <a:pPr indent="0" marL="0">
              <a:buNone/>
            </a:pPr>
            <a:r>
              <a:rPr lang="en-US" sz="1150" b="1" dirty="0">
                <a:solidFill>
                  <a:srgbClr val="16161A"/>
                </a:solidFill>
                <a:latin typeface="Yu Gothic" pitchFamily="34" charset="0"/>
                <a:ea typeface="Yu Gothic" pitchFamily="34" charset="-122"/>
                <a:cs typeface="Yu Gothic" pitchFamily="34" charset="-120"/>
              </a:rPr>
              <a:t>②で売るもの — ①の制作で溜まったデータから作る</a:t>
            </a:r>
            <a:endParaRPr lang="en-US" sz="1150" dirty="0"/>
          </a:p>
        </p:txBody>
      </p:sp>
      <p:sp>
        <p:nvSpPr>
          <p:cNvPr id="8" name="Shape 5"/>
          <p:cNvSpPr/>
          <p:nvPr/>
        </p:nvSpPr>
        <p:spPr>
          <a:xfrm>
            <a:off x="594360" y="3584448"/>
            <a:ext cx="2606040" cy="841248"/>
          </a:xfrm>
          <a:prstGeom prst="rect">
            <a:avLst/>
          </a:prstGeom>
          <a:solidFill>
            <a:srgbClr val="FCE5CD"/>
          </a:solidFill>
          <a:ln/>
        </p:spPr>
      </p:sp>
      <p:sp>
        <p:nvSpPr>
          <p:cNvPr id="9" name="Shape 6"/>
          <p:cNvSpPr/>
          <p:nvPr/>
        </p:nvSpPr>
        <p:spPr>
          <a:xfrm>
            <a:off x="813816" y="3840480"/>
            <a:ext cx="109728" cy="109728"/>
          </a:xfrm>
          <a:prstGeom prst="rect">
            <a:avLst/>
          </a:prstGeom>
          <a:solidFill>
            <a:srgbClr val="C9962C"/>
          </a:solidFill>
          <a:ln/>
        </p:spPr>
      </p:sp>
      <p:sp>
        <p:nvSpPr>
          <p:cNvPr id="10" name="Text 7"/>
          <p:cNvSpPr txBox="1"/>
          <p:nvPr/>
        </p:nvSpPr>
        <p:spPr>
          <a:xfrm>
            <a:off x="1033272" y="3749040"/>
            <a:ext cx="1947672"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チェックポイント</a:t>
            </a:r>
            <a:endParaRPr lang="en-US" sz="1250" dirty="0"/>
          </a:p>
        </p:txBody>
      </p:sp>
      <p:sp>
        <p:nvSpPr>
          <p:cNvPr id="11" name="Text 8"/>
          <p:cNvSpPr txBox="1"/>
          <p:nvPr/>
        </p:nvSpPr>
        <p:spPr>
          <a:xfrm>
            <a:off x="1033272" y="4096512"/>
            <a:ext cx="1947672" cy="146304"/>
          </a:xfrm>
          <a:prstGeom prst="rect">
            <a:avLst/>
          </a:prstGeom>
          <a:noFill/>
          <a:ln/>
        </p:spPr>
        <p:txBody>
          <a:bodyPr wrap="square" lIns="0" tIns="0" rIns="0" bIns="0" rtlCol="0" anchor="t"/>
          <a:lstStyle/>
          <a:p>
            <a:pPr indent="0" marL="0">
              <a:lnSpc>
                <a:spcPct val="126000"/>
              </a:lnSpc>
              <a:buNone/>
            </a:pPr>
            <a:r>
              <a:rPr lang="en-US" sz="900" dirty="0">
                <a:solidFill>
                  <a:srgbClr val="3A3A42"/>
                </a:solidFill>
                <a:latin typeface="Yu Gothic" pitchFamily="34" charset="0"/>
                <a:ea typeface="Yu Gothic" pitchFamily="34" charset="-122"/>
                <a:cs typeface="Yu Gothic" pitchFamily="34" charset="-120"/>
              </a:rPr>
              <a:t>日本市場の要求で追い込んだ基盤モデル</a:t>
            </a:r>
            <a:endParaRPr lang="en-US" sz="900" dirty="0"/>
          </a:p>
        </p:txBody>
      </p:sp>
      <p:sp>
        <p:nvSpPr>
          <p:cNvPr id="12" name="Shape 9"/>
          <p:cNvSpPr/>
          <p:nvPr/>
        </p:nvSpPr>
        <p:spPr>
          <a:xfrm>
            <a:off x="3474720" y="3584448"/>
            <a:ext cx="2606040" cy="841248"/>
          </a:xfrm>
          <a:prstGeom prst="rect">
            <a:avLst/>
          </a:prstGeom>
          <a:solidFill>
            <a:srgbClr val="FCE5CD"/>
          </a:solidFill>
          <a:ln/>
        </p:spPr>
      </p:sp>
      <p:sp>
        <p:nvSpPr>
          <p:cNvPr id="13" name="Shape 10"/>
          <p:cNvSpPr/>
          <p:nvPr/>
        </p:nvSpPr>
        <p:spPr>
          <a:xfrm>
            <a:off x="3694176" y="3840480"/>
            <a:ext cx="109728" cy="109728"/>
          </a:xfrm>
          <a:prstGeom prst="rect">
            <a:avLst/>
          </a:prstGeom>
          <a:solidFill>
            <a:srgbClr val="C9962C"/>
          </a:solidFill>
          <a:ln/>
        </p:spPr>
      </p:sp>
      <p:sp>
        <p:nvSpPr>
          <p:cNvPr id="14" name="Text 11"/>
          <p:cNvSpPr txBox="1"/>
          <p:nvPr/>
        </p:nvSpPr>
        <p:spPr>
          <a:xfrm>
            <a:off x="3913632" y="3749040"/>
            <a:ext cx="1947672"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LoRA</a:t>
            </a:r>
            <a:endParaRPr lang="en-US" sz="1250" dirty="0"/>
          </a:p>
        </p:txBody>
      </p:sp>
      <p:sp>
        <p:nvSpPr>
          <p:cNvPr id="15" name="Text 12"/>
          <p:cNvSpPr txBox="1"/>
          <p:nvPr/>
        </p:nvSpPr>
        <p:spPr>
          <a:xfrm>
            <a:off x="3913632" y="4096512"/>
            <a:ext cx="1947672" cy="146304"/>
          </a:xfrm>
          <a:prstGeom prst="rect">
            <a:avLst/>
          </a:prstGeom>
          <a:noFill/>
          <a:ln/>
        </p:spPr>
        <p:txBody>
          <a:bodyPr wrap="square" lIns="0" tIns="0" rIns="0" bIns="0" rtlCol="0" anchor="t"/>
          <a:lstStyle/>
          <a:p>
            <a:pPr indent="0" marL="0">
              <a:lnSpc>
                <a:spcPct val="126000"/>
              </a:lnSpc>
              <a:buNone/>
            </a:pPr>
            <a:r>
              <a:rPr lang="en-US" sz="900" dirty="0">
                <a:solidFill>
                  <a:srgbClr val="3A3A42"/>
                </a:solidFill>
                <a:latin typeface="Yu Gothic" pitchFamily="34" charset="0"/>
                <a:ea typeface="Yu Gothic" pitchFamily="34" charset="-122"/>
                <a:cs typeface="Yu Gothic" pitchFamily="34" charset="-120"/>
              </a:rPr>
              <a:t>用途別・画風別の追加学習データ</a:t>
            </a:r>
            <a:endParaRPr lang="en-US" sz="900" dirty="0"/>
          </a:p>
        </p:txBody>
      </p:sp>
      <p:sp>
        <p:nvSpPr>
          <p:cNvPr id="16" name="Shape 13"/>
          <p:cNvSpPr/>
          <p:nvPr/>
        </p:nvSpPr>
        <p:spPr>
          <a:xfrm>
            <a:off x="594360" y="4608576"/>
            <a:ext cx="2606040" cy="841248"/>
          </a:xfrm>
          <a:prstGeom prst="rect">
            <a:avLst/>
          </a:prstGeom>
          <a:solidFill>
            <a:srgbClr val="FCE5CD"/>
          </a:solidFill>
          <a:ln/>
        </p:spPr>
      </p:sp>
      <p:sp>
        <p:nvSpPr>
          <p:cNvPr id="17" name="Shape 14"/>
          <p:cNvSpPr/>
          <p:nvPr/>
        </p:nvSpPr>
        <p:spPr>
          <a:xfrm>
            <a:off x="813816" y="4864608"/>
            <a:ext cx="109728" cy="109728"/>
          </a:xfrm>
          <a:prstGeom prst="rect">
            <a:avLst/>
          </a:prstGeom>
          <a:solidFill>
            <a:srgbClr val="C9962C"/>
          </a:solidFill>
          <a:ln/>
        </p:spPr>
      </p:sp>
      <p:sp>
        <p:nvSpPr>
          <p:cNvPr id="18" name="Text 15"/>
          <p:cNvSpPr txBox="1"/>
          <p:nvPr/>
        </p:nvSpPr>
        <p:spPr>
          <a:xfrm>
            <a:off x="1033272" y="4773168"/>
            <a:ext cx="1947672"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要件定義テンプレート</a:t>
            </a:r>
            <a:endParaRPr lang="en-US" sz="1250" dirty="0"/>
          </a:p>
        </p:txBody>
      </p:sp>
      <p:sp>
        <p:nvSpPr>
          <p:cNvPr id="19" name="Text 16"/>
          <p:cNvSpPr txBox="1"/>
          <p:nvPr/>
        </p:nvSpPr>
        <p:spPr>
          <a:xfrm>
            <a:off x="1033272" y="5120640"/>
            <a:ext cx="1947672" cy="146304"/>
          </a:xfrm>
          <a:prstGeom prst="rect">
            <a:avLst/>
          </a:prstGeom>
          <a:noFill/>
          <a:ln/>
        </p:spPr>
        <p:txBody>
          <a:bodyPr wrap="square" lIns="0" tIns="0" rIns="0" bIns="0" rtlCol="0" anchor="t"/>
          <a:lstStyle/>
          <a:p>
            <a:pPr indent="0" marL="0">
              <a:lnSpc>
                <a:spcPct val="126000"/>
              </a:lnSpc>
              <a:buNone/>
            </a:pPr>
            <a:r>
              <a:rPr lang="en-US" sz="900" dirty="0">
                <a:solidFill>
                  <a:srgbClr val="3A3A42"/>
                </a:solidFill>
                <a:latin typeface="Yu Gothic" pitchFamily="34" charset="0"/>
                <a:ea typeface="Yu Gothic" pitchFamily="34" charset="-122"/>
                <a:cs typeface="Yu Gothic" pitchFamily="34" charset="-120"/>
              </a:rPr>
              <a:t>日本語で答えるだけで発注仕様になる</a:t>
            </a:r>
            <a:endParaRPr lang="en-US" sz="900" dirty="0"/>
          </a:p>
        </p:txBody>
      </p:sp>
      <p:sp>
        <p:nvSpPr>
          <p:cNvPr id="20" name="Shape 17"/>
          <p:cNvSpPr/>
          <p:nvPr/>
        </p:nvSpPr>
        <p:spPr>
          <a:xfrm>
            <a:off x="3474720" y="4608576"/>
            <a:ext cx="2606040" cy="841248"/>
          </a:xfrm>
          <a:prstGeom prst="rect">
            <a:avLst/>
          </a:prstGeom>
          <a:solidFill>
            <a:srgbClr val="FCE5CD"/>
          </a:solidFill>
          <a:ln/>
        </p:spPr>
      </p:sp>
      <p:sp>
        <p:nvSpPr>
          <p:cNvPr id="21" name="Shape 18"/>
          <p:cNvSpPr/>
          <p:nvPr/>
        </p:nvSpPr>
        <p:spPr>
          <a:xfrm>
            <a:off x="3694176" y="4864608"/>
            <a:ext cx="109728" cy="109728"/>
          </a:xfrm>
          <a:prstGeom prst="rect">
            <a:avLst/>
          </a:prstGeom>
          <a:solidFill>
            <a:srgbClr val="C9962C"/>
          </a:solidFill>
          <a:ln/>
        </p:spPr>
      </p:sp>
      <p:sp>
        <p:nvSpPr>
          <p:cNvPr id="22" name="Text 19"/>
          <p:cNvSpPr txBox="1"/>
          <p:nvPr/>
        </p:nvSpPr>
        <p:spPr>
          <a:xfrm>
            <a:off x="3913632" y="4773168"/>
            <a:ext cx="1947672"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成果物の自動チェック</a:t>
            </a:r>
            <a:endParaRPr lang="en-US" sz="1250" dirty="0"/>
          </a:p>
        </p:txBody>
      </p:sp>
      <p:sp>
        <p:nvSpPr>
          <p:cNvPr id="23" name="Text 20"/>
          <p:cNvSpPr txBox="1"/>
          <p:nvPr/>
        </p:nvSpPr>
        <p:spPr>
          <a:xfrm>
            <a:off x="3913632" y="5120640"/>
            <a:ext cx="1947672" cy="146304"/>
          </a:xfrm>
          <a:prstGeom prst="rect">
            <a:avLst/>
          </a:prstGeom>
          <a:noFill/>
          <a:ln/>
        </p:spPr>
        <p:txBody>
          <a:bodyPr wrap="square" lIns="0" tIns="0" rIns="0" bIns="0" rtlCol="0" anchor="t"/>
          <a:lstStyle/>
          <a:p>
            <a:pPr indent="0" marL="0">
              <a:lnSpc>
                <a:spcPct val="126000"/>
              </a:lnSpc>
              <a:buNone/>
            </a:pPr>
            <a:r>
              <a:rPr lang="en-US" sz="900" dirty="0">
                <a:solidFill>
                  <a:srgbClr val="3A3A42"/>
                </a:solidFill>
                <a:latin typeface="Yu Gothic" pitchFamily="34" charset="0"/>
                <a:ea typeface="Yu Gothic" pitchFamily="34" charset="-122"/>
                <a:cs typeface="Yu Gothic" pitchFamily="34" charset="-120"/>
              </a:rPr>
              <a:t>尺・解像度・指示との整合</a:t>
            </a:r>
            <a:endParaRPr lang="en-US" sz="900" dirty="0"/>
          </a:p>
        </p:txBody>
      </p:sp>
      <p:sp>
        <p:nvSpPr>
          <p:cNvPr id="24" name="Shape 21"/>
          <p:cNvSpPr/>
          <p:nvPr/>
        </p:nvSpPr>
        <p:spPr>
          <a:xfrm>
            <a:off x="6355080" y="3255264"/>
            <a:ext cx="5239512" cy="1298448"/>
          </a:xfrm>
          <a:prstGeom prst="rect">
            <a:avLst/>
          </a:prstGeom>
          <a:solidFill>
            <a:srgbClr val="FBF1F1"/>
          </a:solidFill>
          <a:ln/>
        </p:spPr>
      </p:sp>
      <p:sp>
        <p:nvSpPr>
          <p:cNvPr id="25" name="Shape 22"/>
          <p:cNvSpPr/>
          <p:nvPr/>
        </p:nvSpPr>
        <p:spPr>
          <a:xfrm>
            <a:off x="6355080" y="3255264"/>
            <a:ext cx="45720" cy="1298448"/>
          </a:xfrm>
          <a:prstGeom prst="rect">
            <a:avLst/>
          </a:prstGeom>
          <a:solidFill>
            <a:srgbClr val="B3121B"/>
          </a:solidFill>
          <a:ln/>
        </p:spPr>
      </p:sp>
      <p:sp>
        <p:nvSpPr>
          <p:cNvPr id="26" name="Text 23"/>
          <p:cNvSpPr txBox="1"/>
          <p:nvPr/>
        </p:nvSpPr>
        <p:spPr>
          <a:xfrm>
            <a:off x="6611112" y="3401568"/>
            <a:ext cx="4782312" cy="274320"/>
          </a:xfrm>
          <a:prstGeom prst="rect">
            <a:avLst/>
          </a:prstGeom>
          <a:noFill/>
          <a:ln/>
        </p:spPr>
        <p:txBody>
          <a:bodyPr wrap="square" lIns="0" tIns="0" rIns="0" bIns="0" rtlCol="0" anchor="ctr"/>
          <a:lstStyle/>
          <a:p>
            <a:pPr indent="0" marL="0">
              <a:buNone/>
            </a:pPr>
            <a:r>
              <a:rPr lang="en-US" sz="1200" b="1" dirty="0">
                <a:solidFill>
                  <a:srgbClr val="B3121B"/>
                </a:solidFill>
                <a:latin typeface="Yu Gothic" pitchFamily="34" charset="0"/>
                <a:ea typeface="Yu Gothic" pitchFamily="34" charset="-122"/>
                <a:cs typeface="Yu Gothic" pitchFamily="34" charset="-120"/>
              </a:rPr>
              <a:t>⚠ 順番が大事です</a:t>
            </a:r>
            <a:endParaRPr lang="en-US" sz="1200" dirty="0"/>
          </a:p>
        </p:txBody>
      </p:sp>
      <p:sp>
        <p:nvSpPr>
          <p:cNvPr id="27" name="Text 24"/>
          <p:cNvSpPr txBox="1"/>
          <p:nvPr/>
        </p:nvSpPr>
        <p:spPr>
          <a:xfrm>
            <a:off x="6611112" y="3730752"/>
            <a:ext cx="4782312" cy="676656"/>
          </a:xfrm>
          <a:prstGeom prst="rect">
            <a:avLst/>
          </a:prstGeom>
          <a:noFill/>
          <a:ln/>
        </p:spPr>
        <p:txBody>
          <a:bodyPr wrap="square" lIns="0" tIns="0" rIns="0" bIns="0" rtlCol="0" anchor="t"/>
          <a:lstStyle/>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①の制作を数千本こなさないと、②で売れるチェックポイントもLoRAも育ちません。</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制作が先、ツールが後。この順序だから、他社が同じものを作るには同じ年数がかかります。</a:t>
            </a:r>
            <a:endParaRPr lang="en-US" sz="1000" dirty="0"/>
          </a:p>
        </p:txBody>
      </p:sp>
      <p:sp>
        <p:nvSpPr>
          <p:cNvPr id="28" name="Shape 25"/>
          <p:cNvSpPr/>
          <p:nvPr/>
        </p:nvSpPr>
        <p:spPr>
          <a:xfrm>
            <a:off x="6355080" y="4626864"/>
            <a:ext cx="5239512" cy="1078992"/>
          </a:xfrm>
          <a:prstGeom prst="rect">
            <a:avLst/>
          </a:prstGeom>
          <a:solidFill>
            <a:srgbClr val="FBF1F1"/>
          </a:solidFill>
          <a:ln/>
        </p:spPr>
      </p:sp>
      <p:sp>
        <p:nvSpPr>
          <p:cNvPr id="29" name="Shape 26"/>
          <p:cNvSpPr/>
          <p:nvPr/>
        </p:nvSpPr>
        <p:spPr>
          <a:xfrm>
            <a:off x="6355080" y="4626864"/>
            <a:ext cx="45720" cy="1078992"/>
          </a:xfrm>
          <a:prstGeom prst="rect">
            <a:avLst/>
          </a:prstGeom>
          <a:solidFill>
            <a:srgbClr val="B3121B"/>
          </a:solidFill>
          <a:ln/>
        </p:spPr>
      </p:sp>
      <p:sp>
        <p:nvSpPr>
          <p:cNvPr id="30" name="Text 27"/>
          <p:cNvSpPr txBox="1"/>
          <p:nvPr/>
        </p:nvSpPr>
        <p:spPr>
          <a:xfrm>
            <a:off x="6611112" y="4773168"/>
            <a:ext cx="4782312" cy="274320"/>
          </a:xfrm>
          <a:prstGeom prst="rect">
            <a:avLst/>
          </a:prstGeom>
          <a:noFill/>
          <a:ln/>
        </p:spPr>
        <p:txBody>
          <a:bodyPr wrap="square" lIns="0" tIns="0" rIns="0" bIns="0" rtlCol="0" anchor="ctr"/>
          <a:lstStyle/>
          <a:p>
            <a:pPr indent="0" marL="0">
              <a:buNone/>
            </a:pPr>
            <a:r>
              <a:rPr lang="en-US" sz="1200" b="1" dirty="0">
                <a:solidFill>
                  <a:srgbClr val="B3121B"/>
                </a:solidFill>
                <a:latin typeface="Yu Gothic" pitchFamily="34" charset="0"/>
                <a:ea typeface="Yu Gothic" pitchFamily="34" charset="-122"/>
                <a:cs typeface="Yu Gothic" pitchFamily="34" charset="-120"/>
              </a:rPr>
              <a:t>⚠ ①は規模を追いません</a:t>
            </a:r>
            <a:endParaRPr lang="en-US" sz="1200" dirty="0"/>
          </a:p>
        </p:txBody>
      </p:sp>
      <p:sp>
        <p:nvSpPr>
          <p:cNvPr id="31" name="Text 28"/>
          <p:cNvSpPr txBox="1"/>
          <p:nvPr/>
        </p:nvSpPr>
        <p:spPr>
          <a:xfrm>
            <a:off x="6611112" y="5102352"/>
            <a:ext cx="4782312" cy="457200"/>
          </a:xfrm>
          <a:prstGeom prst="rect">
            <a:avLst/>
          </a:prstGeom>
          <a:noFill/>
          <a:ln/>
        </p:spPr>
        <p:txBody>
          <a:bodyPr wrap="square" lIns="0" tIns="0" rIns="0" bIns="0" rtlCol="0" anchor="t"/>
          <a:lstStyle/>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5期でも東北新社の7%。①は売上ではなく、②を育てるためのデータ源として持ちます。</a:t>
            </a:r>
            <a:endParaRPr lang="en-US" sz="1000" dirty="0"/>
          </a:p>
        </p:txBody>
      </p:sp>
      <p:sp>
        <p:nvSpPr>
          <p:cNvPr id="32" name="Text 29"/>
          <p:cNvSpPr txBox="1"/>
          <p:nvPr/>
        </p:nvSpPr>
        <p:spPr>
          <a:xfrm>
            <a:off x="594360" y="6336792"/>
            <a:ext cx="9902952" cy="310896"/>
          </a:xfrm>
          <a:prstGeom prst="rect">
            <a:avLst/>
          </a:prstGeom>
          <a:noFill/>
          <a:ln/>
        </p:spPr>
        <p:txBody>
          <a:bodyPr wrap="square" lIns="0" tIns="0" rIns="0" bIns="0" rtlCol="0" anchor="ctr"/>
          <a:lstStyle/>
          <a:p>
            <a:pPr indent="0" marL="0">
              <a:buNone/>
            </a:pPr>
            <a:r>
              <a:rPr lang="en-US" sz="850" dirty="0">
                <a:solidFill>
                  <a:srgbClr val="6E6E76"/>
                </a:solidFill>
                <a:latin typeface="Yu Gothic" pitchFamily="34" charset="0"/>
                <a:ea typeface="Yu Gothic" pitchFamily="34" charset="-122"/>
                <a:cs typeface="Yu Gothic" pitchFamily="34" charset="-120"/>
              </a:rPr>
              <a:t>ツールの契約数と単価、C2Cの手数料率・発注件数・平均単価は、すべて未実測の［仮置き］です。1期に実測して差し替えます</a:t>
            </a:r>
            <a:endParaRPr lang="en-US" sz="850" dirty="0"/>
          </a:p>
        </p:txBody>
      </p:sp>
      <p:sp>
        <p:nvSpPr>
          <p:cNvPr id="33" name="Text 30"/>
          <p:cNvSpPr txBox="1"/>
          <p:nvPr/>
        </p:nvSpPr>
        <p:spPr>
          <a:xfrm>
            <a:off x="11228832" y="6336792"/>
            <a:ext cx="365760" cy="274320"/>
          </a:xfrm>
          <a:prstGeom prst="rect">
            <a:avLst/>
          </a:prstGeom>
          <a:noFill/>
          <a:ln/>
        </p:spPr>
        <p:txBody>
          <a:bodyPr wrap="square" lIns="0" tIns="0" rIns="0" bIns="0" rtlCol="0" anchor="ctr"/>
          <a:lstStyle/>
          <a:p>
            <a:pPr algn="r" indent="0" marL="0">
              <a:buNone/>
            </a:pPr>
            <a:r>
              <a:rPr lang="en-US" sz="900" dirty="0">
                <a:solidFill>
                  <a:srgbClr val="6E6E76"/>
                </a:solidFill>
                <a:latin typeface="Yu Gothic" pitchFamily="34" charset="0"/>
                <a:ea typeface="Yu Gothic" pitchFamily="34" charset="-122"/>
                <a:cs typeface="Yu Gothic" pitchFamily="34" charset="-120"/>
              </a:rPr>
              <a:t>12</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402336"/>
            <a:ext cx="475488" cy="475488"/>
          </a:xfrm>
          <a:prstGeom prst="rect">
            <a:avLst/>
          </a:prstGeom>
          <a:solidFill>
            <a:srgbClr val="B3121B"/>
          </a:solidFill>
          <a:ln/>
        </p:spPr>
      </p:sp>
      <p:sp>
        <p:nvSpPr>
          <p:cNvPr id="3" name="Text 1"/>
          <p:cNvSpPr txBox="1"/>
          <p:nvPr/>
        </p:nvSpPr>
        <p:spPr>
          <a:xfrm>
            <a:off x="594360" y="40233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3</a:t>
            </a:r>
            <a:endParaRPr lang="en-US" sz="1700" dirty="0"/>
          </a:p>
        </p:txBody>
      </p:sp>
      <p:sp>
        <p:nvSpPr>
          <p:cNvPr id="4" name="Text 2"/>
          <p:cNvSpPr txBox="1"/>
          <p:nvPr/>
        </p:nvSpPr>
        <p:spPr>
          <a:xfrm>
            <a:off x="1207008" y="365760"/>
            <a:ext cx="10387584" cy="548640"/>
          </a:xfrm>
          <a:prstGeom prst="rect">
            <a:avLst/>
          </a:prstGeom>
          <a:noFill/>
          <a:ln/>
        </p:spPr>
        <p:txBody>
          <a:bodyPr wrap="square" lIns="0" tIns="0" rIns="0" bIns="0" rtlCol="0" anchor="ctr"/>
          <a:lstStyle/>
          <a:p>
            <a:pPr indent="0" marL="0">
              <a:buNone/>
            </a:pPr>
            <a:r>
              <a:rPr lang="en-US" sz="2500" b="1" dirty="0">
                <a:solidFill>
                  <a:srgbClr val="16161A"/>
                </a:solidFill>
                <a:latin typeface="Yu Gothic" pitchFamily="34" charset="0"/>
                <a:ea typeface="Yu Gothic" pitchFamily="34" charset="-122"/>
                <a:cs typeface="Yu Gothic" pitchFamily="34" charset="-120"/>
              </a:rPr>
              <a:t>日本IPを使った作品制作 — アニメ化されないマンガを動かす</a:t>
            </a:r>
            <a:endParaRPr lang="en-US" sz="2500" dirty="0"/>
          </a:p>
        </p:txBody>
      </p:sp>
      <p:sp>
        <p:nvSpPr>
          <p:cNvPr id="5" name="Text 3"/>
          <p:cNvSpPr txBox="1"/>
          <p:nvPr/>
        </p:nvSpPr>
        <p:spPr>
          <a:xfrm>
            <a:off x="1207008" y="932688"/>
            <a:ext cx="10387584" cy="310896"/>
          </a:xfrm>
          <a:prstGeom prst="rect">
            <a:avLst/>
          </a:prstGeom>
          <a:noFill/>
          <a:ln/>
        </p:spPr>
        <p:txBody>
          <a:bodyPr wrap="square" lIns="0" tIns="0" rIns="0" bIns="0" rtlCol="0" anchor="ctr"/>
          <a:lstStyle/>
          <a:p>
            <a:pPr indent="0" marL="0">
              <a:buNone/>
            </a:pPr>
            <a:r>
              <a:rPr lang="en-US" sz="1200" dirty="0">
                <a:solidFill>
                  <a:srgbClr val="6E6E76"/>
                </a:solidFill>
                <a:latin typeface="Yu Gothic" pitchFamily="34" charset="0"/>
                <a:ea typeface="Yu Gothic" pitchFamily="34" charset="-122"/>
                <a:cs typeface="Yu Gothic" pitchFamily="34" charset="-120"/>
              </a:rPr>
              <a:t>中小出版社には「アニメ化したい作品」はあっても、1話3,000万円の制作費がありません</a:t>
            </a:r>
            <a:endParaRPr lang="en-US" sz="1200" dirty="0"/>
          </a:p>
        </p:txBody>
      </p:sp>
      <p:sp>
        <p:nvSpPr>
          <p:cNvPr id="6" name="Shape 4"/>
          <p:cNvSpPr/>
          <p:nvPr/>
        </p:nvSpPr>
        <p:spPr>
          <a:xfrm>
            <a:off x="594360" y="1371600"/>
            <a:ext cx="11000232" cy="1060704"/>
          </a:xfrm>
          <a:prstGeom prst="rect">
            <a:avLst/>
          </a:prstGeom>
          <a:solidFill>
            <a:srgbClr val="FBF1F1"/>
          </a:solidFill>
          <a:ln/>
        </p:spPr>
      </p:sp>
      <p:sp>
        <p:nvSpPr>
          <p:cNvPr id="7" name="Shape 5"/>
          <p:cNvSpPr/>
          <p:nvPr/>
        </p:nvSpPr>
        <p:spPr>
          <a:xfrm>
            <a:off x="594360" y="1371600"/>
            <a:ext cx="45720" cy="1060704"/>
          </a:xfrm>
          <a:prstGeom prst="rect">
            <a:avLst/>
          </a:prstGeom>
          <a:solidFill>
            <a:srgbClr val="B3121B"/>
          </a:solidFill>
          <a:ln/>
        </p:spPr>
      </p:sp>
      <p:sp>
        <p:nvSpPr>
          <p:cNvPr id="8" name="Text 6"/>
          <p:cNvSpPr txBox="1"/>
          <p:nvPr/>
        </p:nvSpPr>
        <p:spPr>
          <a:xfrm>
            <a:off x="850392" y="1517904"/>
            <a:ext cx="10543032" cy="274320"/>
          </a:xfrm>
          <a:prstGeom prst="rect">
            <a:avLst/>
          </a:prstGeom>
          <a:noFill/>
          <a:ln/>
        </p:spPr>
        <p:txBody>
          <a:bodyPr wrap="square" lIns="0" tIns="0" rIns="0" bIns="0" rtlCol="0" anchor="ctr"/>
          <a:lstStyle/>
          <a:p>
            <a:pPr indent="0" marL="0">
              <a:buNone/>
            </a:pPr>
            <a:r>
              <a:rPr lang="en-US" sz="1200" b="1" dirty="0">
                <a:solidFill>
                  <a:srgbClr val="B3121B"/>
                </a:solidFill>
                <a:latin typeface="Yu Gothic" pitchFamily="34" charset="0"/>
                <a:ea typeface="Yu Gothic" pitchFamily="34" charset="-122"/>
                <a:cs typeface="Yu Gothic" pitchFamily="34" charset="-120"/>
              </a:rPr>
              <a:t>⚠ アニメ化の壁は、面白さではなく資金です</a:t>
            </a:r>
            <a:endParaRPr lang="en-US" sz="1200" dirty="0"/>
          </a:p>
        </p:txBody>
      </p:sp>
      <p:sp>
        <p:nvSpPr>
          <p:cNvPr id="9" name="Text 7"/>
          <p:cNvSpPr txBox="1"/>
          <p:nvPr/>
        </p:nvSpPr>
        <p:spPr>
          <a:xfrm>
            <a:off x="850392" y="1847088"/>
            <a:ext cx="10543032" cy="438912"/>
          </a:xfrm>
          <a:prstGeom prst="rect">
            <a:avLst/>
          </a:prstGeom>
          <a:noFill/>
          <a:ln/>
        </p:spPr>
        <p:txBody>
          <a:bodyPr wrap="square" lIns="0" tIns="0" rIns="0" bIns="0" rtlCol="0" anchor="t"/>
          <a:lstStyle/>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深夜アニメ1クール（12話）の制作費は一般に数億円規模とされ、製作委員会を組まないと着手できません。</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だから中小出版社の既刊マンガは、評価されていても映像化されないまま眠っています。AIで作れるなら、この在庫が動きます。</a:t>
            </a:r>
            <a:endParaRPr lang="en-US" sz="1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94360" y="2578608"/>
          <a:ext cx="11000232" cy="914400"/>
        </p:xfrm>
        <a:graphic>
          <a:graphicData uri="http://schemas.openxmlformats.org/drawingml/2006/table">
            <a:tbl>
              <a:tblPr/>
              <a:tblGrid>
                <a:gridCol w="548640"/>
                <a:gridCol w="3017520"/>
                <a:gridCol w="3291840"/>
                <a:gridCol w="1737360"/>
                <a:gridCol w="2404872"/>
              </a:tblGrid>
              <a:tr h="384048">
                <a:tc>
                  <a:txBody>
                    <a:bodyPr/>
                    <a:lstStyle/>
                    <a:p>
                      <a:pPr indent="0" marL="0">
                        <a:buNone/>
                      </a:pP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対象IP</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なぜ映像化されてこなかったか</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版権コスト</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当社の出口</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r>
              <a:tr h="384048">
                <a:tc>
                  <a:txBody>
                    <a:bodyPr/>
                    <a:lstStyle/>
                    <a:p>
                      <a:pPr indent="0" marL="0">
                        <a:buNone/>
                      </a:pPr>
                      <a:r>
                        <a:rPr lang="en-US" sz="950" b="1" dirty="0">
                          <a:solidFill>
                            <a:srgbClr val="C9962C"/>
                          </a:solidFill>
                          <a:latin typeface="Yu Gothic" pitchFamily="34" charset="0"/>
                          <a:ea typeface="Yu Gothic" pitchFamily="34" charset="-122"/>
                          <a:cs typeface="Yu Gothic" pitchFamily="34" charset="-120"/>
                        </a:rPr>
                        <a:t>A</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b="1" dirty="0">
                          <a:solidFill>
                            <a:srgbClr val="3A3A42"/>
                          </a:solidFill>
                          <a:latin typeface="Yu Gothic" pitchFamily="34" charset="0"/>
                          <a:ea typeface="Yu Gothic" pitchFamily="34" charset="-122"/>
                          <a:cs typeface="Yu Gothic" pitchFamily="34" charset="-120"/>
                        </a:rPr>
                        <a:t>中小出版社の既刊マンガ（未映像化）</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b="1" dirty="0">
                          <a:solidFill>
                            <a:srgbClr val="B3121B"/>
                          </a:solidFill>
                          <a:latin typeface="Yu Gothic" pitchFamily="34" charset="0"/>
                          <a:ea typeface="Yu Gothic" pitchFamily="34" charset="-122"/>
                          <a:cs typeface="Yu Gothic" pitchFamily="34" charset="-120"/>
                        </a:rPr>
                        <a:t>製作委員会を組める規模ではない。制作費が出ない</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数万〜数十万／作品</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他社PFの看板作品・海外展開</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384048">
                <a:tc>
                  <a:txBody>
                    <a:bodyPr/>
                    <a:lstStyle/>
                    <a:p>
                      <a:pPr indent="0" marL="0">
                        <a:buNone/>
                      </a:pPr>
                      <a:r>
                        <a:rPr lang="en-US" sz="950" b="1" dirty="0">
                          <a:solidFill>
                            <a:srgbClr val="2A3563"/>
                          </a:solidFill>
                          <a:latin typeface="Yu Gothic" pitchFamily="34" charset="0"/>
                          <a:ea typeface="Yu Gothic" pitchFamily="34" charset="-122"/>
                          <a:cs typeface="Yu Gothic" pitchFamily="34" charset="-120"/>
                        </a:rPr>
                        <a:t>C</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個人作家・Web小説（なろう系・pixiv）</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権利者が1人。映像化の話が来ない</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ほぼゼロ（成功報酬型）</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他社PFの課金枠へ供給</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384048">
                <a:tc>
                  <a:txBody>
                    <a:bodyPr/>
                    <a:lstStyle/>
                    <a:p>
                      <a:pPr indent="0" marL="0">
                        <a:buNone/>
                      </a:pPr>
                      <a:r>
                        <a:rPr lang="en-US" sz="950" b="1" dirty="0">
                          <a:solidFill>
                            <a:srgbClr val="2A3563"/>
                          </a:solidFill>
                          <a:latin typeface="Yu Gothic" pitchFamily="34" charset="0"/>
                          <a:ea typeface="Yu Gothic" pitchFamily="34" charset="-122"/>
                          <a:cs typeface="Yu Gothic" pitchFamily="34" charset="-120"/>
                        </a:rPr>
                        <a:t>B</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自治体・企業のキャラクター</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予算が単発で、動かす発想がない</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ゼロ（先方負担）</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自治体PR・企業広報・ふるさと納税</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384048">
                <a:tc>
                  <a:txBody>
                    <a:bodyPr/>
                    <a:lstStyle/>
                    <a:p>
                      <a:pPr indent="0" marL="0">
                        <a:buNone/>
                      </a:pPr>
                      <a:r>
                        <a:rPr lang="en-US" sz="950" b="1" dirty="0">
                          <a:solidFill>
                            <a:srgbClr val="B3121B"/>
                          </a:solidFill>
                          <a:latin typeface="Yu Gothic" pitchFamily="34" charset="0"/>
                          <a:ea typeface="Yu Gothic" pitchFamily="34" charset="-122"/>
                          <a:cs typeface="Yu Gothic" pitchFamily="34" charset="-120"/>
                        </a:rPr>
                        <a:t>D</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パブリックドメイン（青空文庫・古典）</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—（権利処理が不要）</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b="1" dirty="0">
                          <a:solidFill>
                            <a:srgbClr val="B3121B"/>
                          </a:solidFill>
                          <a:latin typeface="Yu Gothic" pitchFamily="34" charset="0"/>
                          <a:ea typeface="Yu Gothic" pitchFamily="34" charset="-122"/>
                          <a:cs typeface="Yu Gothic" pitchFamily="34" charset="-120"/>
                        </a:rPr>
                        <a:t>ゼロ</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他社PFに投入し、実績づくり</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bl>
          </a:graphicData>
        </a:graphic>
      </p:graphicFrame>
      <p:sp>
        <p:nvSpPr>
          <p:cNvPr id="11" name="Shape 8"/>
          <p:cNvSpPr/>
          <p:nvPr/>
        </p:nvSpPr>
        <p:spPr>
          <a:xfrm>
            <a:off x="594360" y="4443984"/>
            <a:ext cx="5362956" cy="1261872"/>
          </a:xfrm>
          <a:prstGeom prst="rect">
            <a:avLst/>
          </a:prstGeom>
          <a:solidFill>
            <a:srgbClr val="FBF1F1"/>
          </a:solidFill>
          <a:ln/>
        </p:spPr>
      </p:sp>
      <p:sp>
        <p:nvSpPr>
          <p:cNvPr id="12" name="Shape 9"/>
          <p:cNvSpPr/>
          <p:nvPr/>
        </p:nvSpPr>
        <p:spPr>
          <a:xfrm>
            <a:off x="594360" y="4443984"/>
            <a:ext cx="45720" cy="1261872"/>
          </a:xfrm>
          <a:prstGeom prst="rect">
            <a:avLst/>
          </a:prstGeom>
          <a:solidFill>
            <a:srgbClr val="B3121B"/>
          </a:solidFill>
          <a:ln/>
        </p:spPr>
      </p:sp>
      <p:sp>
        <p:nvSpPr>
          <p:cNvPr id="13" name="Text 10"/>
          <p:cNvSpPr txBox="1"/>
          <p:nvPr/>
        </p:nvSpPr>
        <p:spPr>
          <a:xfrm>
            <a:off x="850392" y="4590288"/>
            <a:ext cx="4905756" cy="274320"/>
          </a:xfrm>
          <a:prstGeom prst="rect">
            <a:avLst/>
          </a:prstGeom>
          <a:noFill/>
          <a:ln/>
        </p:spPr>
        <p:txBody>
          <a:bodyPr wrap="square" lIns="0" tIns="0" rIns="0" bIns="0" rtlCol="0" anchor="ctr"/>
          <a:lstStyle/>
          <a:p>
            <a:pPr indent="0" marL="0">
              <a:buNone/>
            </a:pPr>
            <a:r>
              <a:rPr lang="en-US" sz="1200" b="1" dirty="0">
                <a:solidFill>
                  <a:srgbClr val="B3121B"/>
                </a:solidFill>
                <a:latin typeface="Yu Gothic" pitchFamily="34" charset="0"/>
                <a:ea typeface="Yu Gothic" pitchFamily="34" charset="-122"/>
                <a:cs typeface="Yu Gothic" pitchFamily="34" charset="-120"/>
              </a:rPr>
              <a:t>⚠ 着手はDから。Aが本命です</a:t>
            </a:r>
            <a:endParaRPr lang="en-US" sz="1200" dirty="0"/>
          </a:p>
        </p:txBody>
      </p:sp>
      <p:sp>
        <p:nvSpPr>
          <p:cNvPr id="14" name="Text 11"/>
          <p:cNvSpPr txBox="1"/>
          <p:nvPr/>
        </p:nvSpPr>
        <p:spPr>
          <a:xfrm>
            <a:off x="850392" y="4919472"/>
            <a:ext cx="4905756" cy="640080"/>
          </a:xfrm>
          <a:prstGeom prst="rect">
            <a:avLst/>
          </a:prstGeom>
          <a:noFill/>
          <a:ln/>
        </p:spPr>
        <p:txBody>
          <a:bodyPr wrap="square" lIns="0" tIns="0" rIns="0" bIns="0" rtlCol="0" anchor="t"/>
          <a:lstStyle/>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D（版権ゼロ）で制作力を示し、他社PFでの再生数を実績にする。</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その実績を持って中小出版社へ行き、Aの未映像化マンガをレベニューシェアでアニメ化する。</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先方は制作費ゼロ、当社は版権コストほぼゼロ。噛み合います。</a:t>
            </a:r>
            <a:endParaRPr lang="en-US" sz="1000" dirty="0"/>
          </a:p>
        </p:txBody>
      </p:sp>
      <p:sp>
        <p:nvSpPr>
          <p:cNvPr id="15" name="Shape 12"/>
          <p:cNvSpPr/>
          <p:nvPr/>
        </p:nvSpPr>
        <p:spPr>
          <a:xfrm>
            <a:off x="6231636" y="4443984"/>
            <a:ext cx="5362956" cy="1261872"/>
          </a:xfrm>
          <a:prstGeom prst="rect">
            <a:avLst/>
          </a:prstGeom>
          <a:solidFill>
            <a:srgbClr val="FBF1F1"/>
          </a:solidFill>
          <a:ln/>
        </p:spPr>
      </p:sp>
      <p:sp>
        <p:nvSpPr>
          <p:cNvPr id="16" name="Shape 13"/>
          <p:cNvSpPr/>
          <p:nvPr/>
        </p:nvSpPr>
        <p:spPr>
          <a:xfrm>
            <a:off x="6231636" y="4443984"/>
            <a:ext cx="45720" cy="1261872"/>
          </a:xfrm>
          <a:prstGeom prst="rect">
            <a:avLst/>
          </a:prstGeom>
          <a:solidFill>
            <a:srgbClr val="B3121B"/>
          </a:solidFill>
          <a:ln/>
        </p:spPr>
      </p:sp>
      <p:sp>
        <p:nvSpPr>
          <p:cNvPr id="17" name="Text 14"/>
          <p:cNvSpPr txBox="1"/>
          <p:nvPr/>
        </p:nvSpPr>
        <p:spPr>
          <a:xfrm>
            <a:off x="6487668" y="4590288"/>
            <a:ext cx="4905756" cy="274320"/>
          </a:xfrm>
          <a:prstGeom prst="rect">
            <a:avLst/>
          </a:prstGeom>
          <a:noFill/>
          <a:ln/>
        </p:spPr>
        <p:txBody>
          <a:bodyPr wrap="square" lIns="0" tIns="0" rIns="0" bIns="0" rtlCol="0" anchor="ctr"/>
          <a:lstStyle/>
          <a:p>
            <a:pPr indent="0" marL="0">
              <a:buNone/>
            </a:pPr>
            <a:r>
              <a:rPr lang="en-US" sz="1200" b="1" dirty="0">
                <a:solidFill>
                  <a:srgbClr val="B3121B"/>
                </a:solidFill>
                <a:latin typeface="Yu Gothic" pitchFamily="34" charset="0"/>
                <a:ea typeface="Yu Gothic" pitchFamily="34" charset="-122"/>
                <a:cs typeface="Yu Gothic" pitchFamily="34" charset="-120"/>
              </a:rPr>
              <a:t>⚠ IPホルダーはAI生成を警戒します</a:t>
            </a:r>
            <a:endParaRPr lang="en-US" sz="1200" dirty="0"/>
          </a:p>
        </p:txBody>
      </p:sp>
      <p:sp>
        <p:nvSpPr>
          <p:cNvPr id="18" name="Text 15"/>
          <p:cNvSpPr txBox="1"/>
          <p:nvPr/>
        </p:nvSpPr>
        <p:spPr>
          <a:xfrm>
            <a:off x="6487668" y="4919472"/>
            <a:ext cx="4905756" cy="640080"/>
          </a:xfrm>
          <a:prstGeom prst="rect">
            <a:avLst/>
          </a:prstGeom>
          <a:noFill/>
          <a:ln/>
        </p:spPr>
        <p:txBody>
          <a:bodyPr wrap="square" lIns="0" tIns="0" rIns="0" bIns="0" rtlCol="0" anchor="t"/>
          <a:lstStyle/>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原作ファンの反発が、原作そのものの価値を毀損しかねません。</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契約に「AI利用の可否と開示方法」を必ず明記します。JIAA調査でも受容条件1位は「AI利用が明記されている」37.6%。</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この作品群の収益は5年計画に計上していません。</a:t>
            </a:r>
            <a:endParaRPr lang="en-US" sz="1000" dirty="0"/>
          </a:p>
        </p:txBody>
      </p:sp>
      <p:sp>
        <p:nvSpPr>
          <p:cNvPr id="19" name="Text 16"/>
          <p:cNvSpPr txBox="1"/>
          <p:nvPr/>
        </p:nvSpPr>
        <p:spPr>
          <a:xfrm>
            <a:off x="594360" y="6336792"/>
            <a:ext cx="9902952" cy="310896"/>
          </a:xfrm>
          <a:prstGeom prst="rect">
            <a:avLst/>
          </a:prstGeom>
          <a:noFill/>
          <a:ln/>
        </p:spPr>
        <p:txBody>
          <a:bodyPr wrap="square" lIns="0" tIns="0" rIns="0" bIns="0" rtlCol="0" anchor="ctr"/>
          <a:lstStyle/>
          <a:p>
            <a:pPr indent="0" marL="0">
              <a:buNone/>
            </a:pPr>
            <a:r>
              <a:rPr lang="en-US" sz="850" dirty="0">
                <a:solidFill>
                  <a:srgbClr val="6E6E76"/>
                </a:solidFill>
                <a:latin typeface="Yu Gothic" pitchFamily="34" charset="0"/>
                <a:ea typeface="Yu Gothic" pitchFamily="34" charset="-122"/>
                <a:cs typeface="Yu Gothic" pitchFamily="34" charset="-120"/>
              </a:rPr>
              <a:t>出所: 日本動画協会 アニメ産業レポート（制作市場4,662億円・海外売上2兆1,700億円）／ JIAA「2026年インターネット広告に関するユーザー意識調査」。アニメ1話あたりの制作費は業界で広く言及される水準で、当社の実測ではありません</a:t>
            </a:r>
            <a:endParaRPr lang="en-US" sz="850" dirty="0"/>
          </a:p>
        </p:txBody>
      </p:sp>
      <p:sp>
        <p:nvSpPr>
          <p:cNvPr id="20" name="Text 17"/>
          <p:cNvSpPr txBox="1"/>
          <p:nvPr/>
        </p:nvSpPr>
        <p:spPr>
          <a:xfrm>
            <a:off x="11228832" y="6336792"/>
            <a:ext cx="365760" cy="274320"/>
          </a:xfrm>
          <a:prstGeom prst="rect">
            <a:avLst/>
          </a:prstGeom>
          <a:noFill/>
          <a:ln/>
        </p:spPr>
        <p:txBody>
          <a:bodyPr wrap="square" lIns="0" tIns="0" rIns="0" bIns="0" rtlCol="0" anchor="ctr"/>
          <a:lstStyle/>
          <a:p>
            <a:pPr algn="r" indent="0" marL="0">
              <a:buNone/>
            </a:pPr>
            <a:r>
              <a:rPr lang="en-US" sz="900" dirty="0">
                <a:solidFill>
                  <a:srgbClr val="6E6E76"/>
                </a:solidFill>
                <a:latin typeface="Yu Gothic" pitchFamily="34" charset="0"/>
                <a:ea typeface="Yu Gothic" pitchFamily="34" charset="-122"/>
                <a:cs typeface="Yu Gothic" pitchFamily="34" charset="-120"/>
              </a:rPr>
              <a:t>13</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402336"/>
            <a:ext cx="475488" cy="475488"/>
          </a:xfrm>
          <a:prstGeom prst="rect">
            <a:avLst/>
          </a:prstGeom>
          <a:solidFill>
            <a:srgbClr val="B3121B"/>
          </a:solidFill>
          <a:ln/>
        </p:spPr>
      </p:sp>
      <p:sp>
        <p:nvSpPr>
          <p:cNvPr id="3" name="Text 1"/>
          <p:cNvSpPr txBox="1"/>
          <p:nvPr/>
        </p:nvSpPr>
        <p:spPr>
          <a:xfrm>
            <a:off x="594360" y="40233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1</a:t>
            </a:r>
            <a:endParaRPr lang="en-US" sz="1700" dirty="0"/>
          </a:p>
        </p:txBody>
      </p:sp>
      <p:sp>
        <p:nvSpPr>
          <p:cNvPr id="4" name="Text 2"/>
          <p:cNvSpPr txBox="1"/>
          <p:nvPr/>
        </p:nvSpPr>
        <p:spPr>
          <a:xfrm>
            <a:off x="1207008" y="365760"/>
            <a:ext cx="10387584" cy="548640"/>
          </a:xfrm>
          <a:prstGeom prst="rect">
            <a:avLst/>
          </a:prstGeom>
          <a:noFill/>
          <a:ln/>
        </p:spPr>
        <p:txBody>
          <a:bodyPr wrap="square" lIns="0" tIns="0" rIns="0" bIns="0" rtlCol="0" anchor="ctr"/>
          <a:lstStyle/>
          <a:p>
            <a:pPr indent="0" marL="0">
              <a:buNone/>
            </a:pPr>
            <a:r>
              <a:rPr lang="en-US" sz="2500" b="1" dirty="0">
                <a:solidFill>
                  <a:srgbClr val="16161A"/>
                </a:solidFill>
                <a:latin typeface="Yu Gothic" pitchFamily="34" charset="0"/>
                <a:ea typeface="Yu Gothic" pitchFamily="34" charset="-122"/>
                <a:cs typeface="Yu Gothic" pitchFamily="34" charset="-120"/>
              </a:rPr>
              <a:t>政策も同じ方向を向いている</a:t>
            </a:r>
            <a:endParaRPr lang="en-US" sz="2500" dirty="0"/>
          </a:p>
        </p:txBody>
      </p:sp>
      <p:sp>
        <p:nvSpPr>
          <p:cNvPr id="5" name="Text 3"/>
          <p:cNvSpPr txBox="1"/>
          <p:nvPr/>
        </p:nvSpPr>
        <p:spPr>
          <a:xfrm>
            <a:off x="1207008" y="932688"/>
            <a:ext cx="10387584" cy="310896"/>
          </a:xfrm>
          <a:prstGeom prst="rect">
            <a:avLst/>
          </a:prstGeom>
          <a:noFill/>
          <a:ln/>
        </p:spPr>
        <p:txBody>
          <a:bodyPr wrap="square" lIns="0" tIns="0" rIns="0" bIns="0" rtlCol="0" anchor="ctr"/>
          <a:lstStyle/>
          <a:p>
            <a:pPr indent="0" marL="0">
              <a:buNone/>
            </a:pPr>
            <a:r>
              <a:rPr lang="en-US" sz="1200" dirty="0">
                <a:solidFill>
                  <a:srgbClr val="6E6E76"/>
                </a:solidFill>
                <a:latin typeface="Yu Gothic" pitchFamily="34" charset="0"/>
                <a:ea typeface="Yu Gothic" pitchFamily="34" charset="-122"/>
                <a:cs typeface="Yu Gothic" pitchFamily="34" charset="-120"/>
              </a:rPr>
              <a:t>国はコンテンツを輸出産業にすると決め、予算を3倍にした</a:t>
            </a:r>
            <a:endParaRPr lang="en-US" sz="1200" dirty="0"/>
          </a:p>
        </p:txBody>
      </p:sp>
      <p:pic>
        <p:nvPicPr>
          <p:cNvPr id="6" name="Image 0" descr="assets/image4.png"/>
          <p:cNvPicPr>
            <a:picLocks noChangeAspect="1"/>
          </p:cNvPicPr>
          <p:nvPr/>
        </p:nvPicPr>
        <p:blipFill>
          <a:blip r:embed="rId1"/>
          <a:stretch>
            <a:fillRect/>
          </a:stretch>
        </p:blipFill>
        <p:spPr>
          <a:xfrm>
            <a:off x="9582912" y="155448"/>
            <a:ext cx="2203704" cy="1472184"/>
          </a:xfrm>
          <a:prstGeom prst="rect">
            <a:avLst/>
          </a:prstGeom>
        </p:spPr>
      </p:pic>
      <p:sp>
        <p:nvSpPr>
          <p:cNvPr id="7" name="Shape 4"/>
          <p:cNvSpPr/>
          <p:nvPr/>
        </p:nvSpPr>
        <p:spPr>
          <a:xfrm>
            <a:off x="594360" y="1627632"/>
            <a:ext cx="3483864" cy="1316736"/>
          </a:xfrm>
          <a:prstGeom prst="rect">
            <a:avLst/>
          </a:prstGeom>
          <a:solidFill>
            <a:srgbClr val="FCE5CD"/>
          </a:solidFill>
          <a:ln/>
        </p:spPr>
      </p:sp>
      <p:sp>
        <p:nvSpPr>
          <p:cNvPr id="8" name="Text 5"/>
          <p:cNvSpPr txBox="1"/>
          <p:nvPr/>
        </p:nvSpPr>
        <p:spPr>
          <a:xfrm>
            <a:off x="832104" y="1792224"/>
            <a:ext cx="3008376" cy="603504"/>
          </a:xfrm>
          <a:prstGeom prst="rect">
            <a:avLst/>
          </a:prstGeom>
          <a:noFill/>
          <a:ln/>
        </p:spPr>
        <p:txBody>
          <a:bodyPr wrap="square" lIns="0" tIns="0" rIns="0" bIns="0" rtlCol="0" anchor="ctr"/>
          <a:lstStyle/>
          <a:p>
            <a:pPr indent="0" marL="0">
              <a:buNone/>
            </a:pPr>
            <a:r>
              <a:rPr lang="en-US" sz="2700" b="1" dirty="0">
                <a:solidFill>
                  <a:srgbClr val="B3121B"/>
                </a:solidFill>
                <a:latin typeface="Yu Gothic" pitchFamily="34" charset="0"/>
                <a:ea typeface="Yu Gothic" pitchFamily="34" charset="-122"/>
                <a:cs typeface="Yu Gothic" pitchFamily="34" charset="-120"/>
              </a:rPr>
              <a:t>20兆円</a:t>
            </a:r>
            <a:endParaRPr lang="en-US" sz="2700" dirty="0"/>
          </a:p>
        </p:txBody>
      </p:sp>
      <p:sp>
        <p:nvSpPr>
          <p:cNvPr id="9" name="Text 6"/>
          <p:cNvSpPr txBox="1"/>
          <p:nvPr/>
        </p:nvSpPr>
        <p:spPr>
          <a:xfrm>
            <a:off x="832104" y="2414016"/>
            <a:ext cx="3008376" cy="256032"/>
          </a:xfrm>
          <a:prstGeom prst="rect">
            <a:avLst/>
          </a:prstGeom>
          <a:noFill/>
          <a:ln/>
        </p:spPr>
        <p:txBody>
          <a:bodyPr wrap="square" lIns="0" tIns="0" rIns="0" bIns="0" rtlCol="0" anchor="ctr"/>
          <a:lstStyle/>
          <a:p>
            <a:pPr indent="0" marL="0">
              <a:buNone/>
            </a:pPr>
            <a:r>
              <a:rPr lang="en-US" sz="1100" b="1" dirty="0">
                <a:solidFill>
                  <a:srgbClr val="16161A"/>
                </a:solidFill>
                <a:latin typeface="Yu Gothic" pitchFamily="34" charset="0"/>
                <a:ea typeface="Yu Gothic" pitchFamily="34" charset="-122"/>
                <a:cs typeface="Yu Gothic" pitchFamily="34" charset="-120"/>
              </a:rPr>
              <a:t>コンテンツ海外売上 目標（2033年）</a:t>
            </a:r>
            <a:endParaRPr lang="en-US" sz="1100" dirty="0"/>
          </a:p>
        </p:txBody>
      </p:sp>
      <p:sp>
        <p:nvSpPr>
          <p:cNvPr id="10" name="Text 7"/>
          <p:cNvSpPr txBox="1"/>
          <p:nvPr/>
        </p:nvSpPr>
        <p:spPr>
          <a:xfrm>
            <a:off x="832104" y="2688336"/>
            <a:ext cx="3008376" cy="128016"/>
          </a:xfrm>
          <a:prstGeom prst="rect">
            <a:avLst/>
          </a:prstGeom>
          <a:noFill/>
          <a:ln/>
        </p:spPr>
        <p:txBody>
          <a:bodyPr wrap="square" lIns="0" tIns="0" rIns="0" bIns="0" rtlCol="0" anchor="t"/>
          <a:lstStyle/>
          <a:p>
            <a:pPr indent="0" marL="0">
              <a:lnSpc>
                <a:spcPct val="120000"/>
              </a:lnSpc>
              <a:buNone/>
            </a:pPr>
            <a:r>
              <a:rPr lang="en-US" sz="900" dirty="0">
                <a:solidFill>
                  <a:srgbClr val="6E6E76"/>
                </a:solidFill>
                <a:latin typeface="Yu Gothic" pitchFamily="34" charset="0"/>
                <a:ea typeface="Yu Gothic" pitchFamily="34" charset="-122"/>
                <a:cs typeface="Yu Gothic" pitchFamily="34" charset="-120"/>
              </a:rPr>
              <a:t>経産省「エンタメ・クリエイティブ産業戦略2026」</a:t>
            </a:r>
            <a:endParaRPr lang="en-US" sz="900" dirty="0"/>
          </a:p>
        </p:txBody>
      </p:sp>
      <p:sp>
        <p:nvSpPr>
          <p:cNvPr id="11" name="Shape 8"/>
          <p:cNvSpPr/>
          <p:nvPr/>
        </p:nvSpPr>
        <p:spPr>
          <a:xfrm>
            <a:off x="4352544" y="1627632"/>
            <a:ext cx="3483864" cy="1316736"/>
          </a:xfrm>
          <a:prstGeom prst="rect">
            <a:avLst/>
          </a:prstGeom>
          <a:solidFill>
            <a:srgbClr val="FCE5CD"/>
          </a:solidFill>
          <a:ln/>
        </p:spPr>
      </p:sp>
      <p:sp>
        <p:nvSpPr>
          <p:cNvPr id="12" name="Text 9"/>
          <p:cNvSpPr txBox="1"/>
          <p:nvPr/>
        </p:nvSpPr>
        <p:spPr>
          <a:xfrm>
            <a:off x="4590288" y="1792224"/>
            <a:ext cx="3008376" cy="603504"/>
          </a:xfrm>
          <a:prstGeom prst="rect">
            <a:avLst/>
          </a:prstGeom>
          <a:noFill/>
          <a:ln/>
        </p:spPr>
        <p:txBody>
          <a:bodyPr wrap="square" lIns="0" tIns="0" rIns="0" bIns="0" rtlCol="0" anchor="ctr"/>
          <a:lstStyle/>
          <a:p>
            <a:pPr indent="0" marL="0">
              <a:buNone/>
            </a:pPr>
            <a:r>
              <a:rPr lang="en-US" sz="2700" b="1" dirty="0">
                <a:solidFill>
                  <a:srgbClr val="2A3563"/>
                </a:solidFill>
                <a:latin typeface="Yu Gothic" pitchFamily="34" charset="0"/>
                <a:ea typeface="Yu Gothic" pitchFamily="34" charset="-122"/>
                <a:cs typeface="Yu Gothic" pitchFamily="34" charset="-120"/>
              </a:rPr>
              <a:t>3.5倍</a:t>
            </a:r>
            <a:endParaRPr lang="en-US" sz="2700" dirty="0"/>
          </a:p>
        </p:txBody>
      </p:sp>
      <p:sp>
        <p:nvSpPr>
          <p:cNvPr id="13" name="Text 10"/>
          <p:cNvSpPr txBox="1"/>
          <p:nvPr/>
        </p:nvSpPr>
        <p:spPr>
          <a:xfrm>
            <a:off x="4590288" y="2414016"/>
            <a:ext cx="3008376" cy="256032"/>
          </a:xfrm>
          <a:prstGeom prst="rect">
            <a:avLst/>
          </a:prstGeom>
          <a:noFill/>
          <a:ln/>
        </p:spPr>
        <p:txBody>
          <a:bodyPr wrap="square" lIns="0" tIns="0" rIns="0" bIns="0" rtlCol="0" anchor="ctr"/>
          <a:lstStyle/>
          <a:p>
            <a:pPr indent="0" marL="0">
              <a:buNone/>
            </a:pPr>
            <a:r>
              <a:rPr lang="en-US" sz="1100" b="1" dirty="0">
                <a:solidFill>
                  <a:srgbClr val="16161A"/>
                </a:solidFill>
                <a:latin typeface="Yu Gothic" pitchFamily="34" charset="0"/>
                <a:ea typeface="Yu Gothic" pitchFamily="34" charset="-122"/>
                <a:cs typeface="Yu Gothic" pitchFamily="34" charset="-120"/>
              </a:rPr>
              <a:t>経産省の財政支援規模</a:t>
            </a:r>
            <a:endParaRPr lang="en-US" sz="1100" dirty="0"/>
          </a:p>
        </p:txBody>
      </p:sp>
      <p:sp>
        <p:nvSpPr>
          <p:cNvPr id="14" name="Text 11"/>
          <p:cNvSpPr txBox="1"/>
          <p:nvPr/>
        </p:nvSpPr>
        <p:spPr>
          <a:xfrm>
            <a:off x="4590288" y="2688336"/>
            <a:ext cx="3008376" cy="128016"/>
          </a:xfrm>
          <a:prstGeom prst="rect">
            <a:avLst/>
          </a:prstGeom>
          <a:noFill/>
          <a:ln/>
        </p:spPr>
        <p:txBody>
          <a:bodyPr wrap="square" lIns="0" tIns="0" rIns="0" bIns="0" rtlCol="0" anchor="t"/>
          <a:lstStyle/>
          <a:p>
            <a:pPr indent="0" marL="0">
              <a:lnSpc>
                <a:spcPct val="120000"/>
              </a:lnSpc>
              <a:buNone/>
            </a:pPr>
            <a:r>
              <a:rPr lang="en-US" sz="900" dirty="0">
                <a:solidFill>
                  <a:srgbClr val="6E6E76"/>
                </a:solidFill>
                <a:latin typeface="Yu Gothic" pitchFamily="34" charset="0"/>
                <a:ea typeface="Yu Gothic" pitchFamily="34" charset="-122"/>
                <a:cs typeface="Yu Gothic" pitchFamily="34" charset="-120"/>
              </a:rPr>
              <a:t>令和6年度補正 101.1億円 → 令和7年度補正 350.2億円</a:t>
            </a:r>
            <a:endParaRPr lang="en-US" sz="900" dirty="0"/>
          </a:p>
        </p:txBody>
      </p:sp>
      <p:sp>
        <p:nvSpPr>
          <p:cNvPr id="15" name="Shape 12"/>
          <p:cNvSpPr/>
          <p:nvPr/>
        </p:nvSpPr>
        <p:spPr>
          <a:xfrm>
            <a:off x="8110728" y="1627632"/>
            <a:ext cx="3483864" cy="1316736"/>
          </a:xfrm>
          <a:prstGeom prst="rect">
            <a:avLst/>
          </a:prstGeom>
          <a:solidFill>
            <a:srgbClr val="FCE5CD"/>
          </a:solidFill>
          <a:ln/>
        </p:spPr>
      </p:sp>
      <p:sp>
        <p:nvSpPr>
          <p:cNvPr id="16" name="Text 13"/>
          <p:cNvSpPr txBox="1"/>
          <p:nvPr/>
        </p:nvSpPr>
        <p:spPr>
          <a:xfrm>
            <a:off x="8348472" y="1792224"/>
            <a:ext cx="3008376" cy="603504"/>
          </a:xfrm>
          <a:prstGeom prst="rect">
            <a:avLst/>
          </a:prstGeom>
          <a:noFill/>
          <a:ln/>
        </p:spPr>
        <p:txBody>
          <a:bodyPr wrap="square" lIns="0" tIns="0" rIns="0" bIns="0" rtlCol="0" anchor="ctr"/>
          <a:lstStyle/>
          <a:p>
            <a:pPr indent="0" marL="0">
              <a:buNone/>
            </a:pPr>
            <a:r>
              <a:rPr lang="en-US" sz="2700" b="1" dirty="0">
                <a:solidFill>
                  <a:srgbClr val="C9962C"/>
                </a:solidFill>
                <a:latin typeface="Yu Gothic" pitchFamily="34" charset="0"/>
                <a:ea typeface="Yu Gothic" pitchFamily="34" charset="-122"/>
                <a:cs typeface="Yu Gothic" pitchFamily="34" charset="-120"/>
              </a:rPr>
              <a:t>+26%</a:t>
            </a:r>
            <a:endParaRPr lang="en-US" sz="2700" dirty="0"/>
          </a:p>
        </p:txBody>
      </p:sp>
      <p:sp>
        <p:nvSpPr>
          <p:cNvPr id="17" name="Text 14"/>
          <p:cNvSpPr txBox="1"/>
          <p:nvPr/>
        </p:nvSpPr>
        <p:spPr>
          <a:xfrm>
            <a:off x="8348472" y="2414016"/>
            <a:ext cx="3008376" cy="256032"/>
          </a:xfrm>
          <a:prstGeom prst="rect">
            <a:avLst/>
          </a:prstGeom>
          <a:noFill/>
          <a:ln/>
        </p:spPr>
        <p:txBody>
          <a:bodyPr wrap="square" lIns="0" tIns="0" rIns="0" bIns="0" rtlCol="0" anchor="ctr"/>
          <a:lstStyle/>
          <a:p>
            <a:pPr indent="0" marL="0">
              <a:buNone/>
            </a:pPr>
            <a:r>
              <a:rPr lang="en-US" sz="1100" b="1" dirty="0">
                <a:solidFill>
                  <a:srgbClr val="16161A"/>
                </a:solidFill>
                <a:latin typeface="Yu Gothic" pitchFamily="34" charset="0"/>
                <a:ea typeface="Yu Gothic" pitchFamily="34" charset="-122"/>
                <a:cs typeface="Yu Gothic" pitchFamily="34" charset="-120"/>
              </a:rPr>
              <a:t>アニメの海外売上（2024年）</a:t>
            </a:r>
            <a:endParaRPr lang="en-US" sz="1100" dirty="0"/>
          </a:p>
        </p:txBody>
      </p:sp>
      <p:sp>
        <p:nvSpPr>
          <p:cNvPr id="18" name="Text 15"/>
          <p:cNvSpPr txBox="1"/>
          <p:nvPr/>
        </p:nvSpPr>
        <p:spPr>
          <a:xfrm>
            <a:off x="8348472" y="2688336"/>
            <a:ext cx="3008376" cy="128016"/>
          </a:xfrm>
          <a:prstGeom prst="rect">
            <a:avLst/>
          </a:prstGeom>
          <a:noFill/>
          <a:ln/>
        </p:spPr>
        <p:txBody>
          <a:bodyPr wrap="square" lIns="0" tIns="0" rIns="0" bIns="0" rtlCol="0" anchor="t"/>
          <a:lstStyle/>
          <a:p>
            <a:pPr indent="0" marL="0">
              <a:lnSpc>
                <a:spcPct val="120000"/>
              </a:lnSpc>
              <a:buNone/>
            </a:pPr>
            <a:r>
              <a:rPr lang="en-US" sz="900" dirty="0">
                <a:solidFill>
                  <a:srgbClr val="6E6E76"/>
                </a:solidFill>
                <a:latin typeface="Yu Gothic" pitchFamily="34" charset="0"/>
                <a:ea typeface="Yu Gothic" pitchFamily="34" charset="-122"/>
                <a:cs typeface="Yu Gothic" pitchFamily="34" charset="-120"/>
              </a:rPr>
              <a:t>2兆1,700億円。市場全体は3兆8,400億円</a:t>
            </a:r>
            <a:endParaRPr lang="en-US" sz="900" dirty="0"/>
          </a:p>
        </p:txBody>
      </p:sp>
      <p:sp>
        <p:nvSpPr>
          <p:cNvPr id="19" name="Shape 16"/>
          <p:cNvSpPr/>
          <p:nvPr/>
        </p:nvSpPr>
        <p:spPr>
          <a:xfrm>
            <a:off x="594360" y="3127248"/>
            <a:ext cx="5362956" cy="1463040"/>
          </a:xfrm>
          <a:prstGeom prst="rect">
            <a:avLst/>
          </a:prstGeom>
          <a:solidFill>
            <a:srgbClr val="FCE5CD"/>
          </a:solidFill>
          <a:ln/>
        </p:spPr>
      </p:sp>
      <p:sp>
        <p:nvSpPr>
          <p:cNvPr id="20" name="Shape 17"/>
          <p:cNvSpPr/>
          <p:nvPr/>
        </p:nvSpPr>
        <p:spPr>
          <a:xfrm>
            <a:off x="813816" y="3383280"/>
            <a:ext cx="109728" cy="109728"/>
          </a:xfrm>
          <a:prstGeom prst="rect">
            <a:avLst/>
          </a:prstGeom>
          <a:solidFill>
            <a:srgbClr val="2A3563"/>
          </a:solidFill>
          <a:ln/>
        </p:spPr>
      </p:sp>
      <p:sp>
        <p:nvSpPr>
          <p:cNvPr id="21" name="Text 18"/>
          <p:cNvSpPr txBox="1"/>
          <p:nvPr/>
        </p:nvSpPr>
        <p:spPr>
          <a:xfrm>
            <a:off x="1033272" y="3291840"/>
            <a:ext cx="4704588"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AI政策</a:t>
            </a:r>
            <a:endParaRPr lang="en-US" sz="1250" dirty="0"/>
          </a:p>
        </p:txBody>
      </p:sp>
      <p:sp>
        <p:nvSpPr>
          <p:cNvPr id="22" name="Text 19"/>
          <p:cNvSpPr txBox="1"/>
          <p:nvPr/>
        </p:nvSpPr>
        <p:spPr>
          <a:xfrm>
            <a:off x="1033272" y="3639312"/>
            <a:ext cx="4704588" cy="768096"/>
          </a:xfrm>
          <a:prstGeom prst="rect">
            <a:avLst/>
          </a:prstGeom>
          <a:noFill/>
          <a:ln/>
        </p:spPr>
        <p:txBody>
          <a:bodyPr wrap="square" lIns="0" tIns="0" rIns="0" bIns="0" rtlCol="0" anchor="t"/>
          <a:lstStyle/>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AI推進法（人工知能関連技術の研究開発及び活用の推進に関する法律）</a:t>
            </a:r>
            <a:endParaRPr lang="en-US" sz="950" dirty="0"/>
          </a:p>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2025年5月28日成立 ／ 6月4日公布。日本初のAI基本法。</a:t>
            </a:r>
            <a:endParaRPr lang="en-US" sz="950" dirty="0"/>
          </a:p>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AI基本計画を2025年12月23日に閣議決定。内閣にAI戦略本部を設置。</a:t>
            </a:r>
            <a:endParaRPr lang="en-US" sz="950" dirty="0"/>
          </a:p>
        </p:txBody>
      </p:sp>
      <p:sp>
        <p:nvSpPr>
          <p:cNvPr id="23" name="Shape 20"/>
          <p:cNvSpPr/>
          <p:nvPr/>
        </p:nvSpPr>
        <p:spPr>
          <a:xfrm>
            <a:off x="6231636" y="3127248"/>
            <a:ext cx="5362956" cy="1463040"/>
          </a:xfrm>
          <a:prstGeom prst="rect">
            <a:avLst/>
          </a:prstGeom>
          <a:solidFill>
            <a:srgbClr val="FCE5CD"/>
          </a:solidFill>
          <a:ln/>
        </p:spPr>
      </p:sp>
      <p:sp>
        <p:nvSpPr>
          <p:cNvPr id="24" name="Shape 21"/>
          <p:cNvSpPr/>
          <p:nvPr/>
        </p:nvSpPr>
        <p:spPr>
          <a:xfrm>
            <a:off x="6451092" y="3383280"/>
            <a:ext cx="109728" cy="109728"/>
          </a:xfrm>
          <a:prstGeom prst="rect">
            <a:avLst/>
          </a:prstGeom>
          <a:solidFill>
            <a:srgbClr val="C9962C"/>
          </a:solidFill>
          <a:ln/>
        </p:spPr>
      </p:sp>
      <p:sp>
        <p:nvSpPr>
          <p:cNvPr id="25" name="Text 22"/>
          <p:cNvSpPr txBox="1"/>
          <p:nvPr/>
        </p:nvSpPr>
        <p:spPr>
          <a:xfrm>
            <a:off x="6670548" y="3291840"/>
            <a:ext cx="4704588"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当社が実際に狙える支援</a:t>
            </a:r>
            <a:endParaRPr lang="en-US" sz="1250" dirty="0"/>
          </a:p>
        </p:txBody>
      </p:sp>
      <p:sp>
        <p:nvSpPr>
          <p:cNvPr id="26" name="Text 23"/>
          <p:cNvSpPr txBox="1"/>
          <p:nvPr/>
        </p:nvSpPr>
        <p:spPr>
          <a:xfrm>
            <a:off x="6670548" y="3639312"/>
            <a:ext cx="4704588" cy="768096"/>
          </a:xfrm>
          <a:prstGeom prst="rect">
            <a:avLst/>
          </a:prstGeom>
          <a:noFill/>
          <a:ln/>
        </p:spPr>
        <p:txBody>
          <a:bodyPr wrap="square" lIns="0" tIns="0" rIns="0" bIns="0" rtlCol="0" anchor="t"/>
          <a:lstStyle/>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東京都 創業助成事業 — 上限400万円・助成率2/3・最長2年</a:t>
            </a:r>
            <a:endParaRPr lang="en-US" sz="950" dirty="0"/>
          </a:p>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特許料等の減免 — 設立10年未満・資本金3億円以下なら1/3に軽減</a:t>
            </a:r>
            <a:endParaRPr lang="en-US" sz="950" dirty="0"/>
          </a:p>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JLOX+ — 「制作の生産性向上に資するシステムの開発・実証」枠</a:t>
            </a:r>
            <a:endParaRPr lang="en-US" sz="950" dirty="0"/>
          </a:p>
        </p:txBody>
      </p:sp>
      <p:sp>
        <p:nvSpPr>
          <p:cNvPr id="27" name="Shape 24"/>
          <p:cNvSpPr/>
          <p:nvPr/>
        </p:nvSpPr>
        <p:spPr>
          <a:xfrm>
            <a:off x="594360" y="4773168"/>
            <a:ext cx="11000232" cy="932688"/>
          </a:xfrm>
          <a:prstGeom prst="rect">
            <a:avLst/>
          </a:prstGeom>
          <a:solidFill>
            <a:srgbClr val="FBF1F1"/>
          </a:solidFill>
          <a:ln/>
        </p:spPr>
      </p:sp>
      <p:sp>
        <p:nvSpPr>
          <p:cNvPr id="28" name="Shape 25"/>
          <p:cNvSpPr/>
          <p:nvPr/>
        </p:nvSpPr>
        <p:spPr>
          <a:xfrm>
            <a:off x="594360" y="4773168"/>
            <a:ext cx="45720" cy="932688"/>
          </a:xfrm>
          <a:prstGeom prst="rect">
            <a:avLst/>
          </a:prstGeom>
          <a:solidFill>
            <a:srgbClr val="B3121B"/>
          </a:solidFill>
          <a:ln/>
        </p:spPr>
      </p:sp>
      <p:sp>
        <p:nvSpPr>
          <p:cNvPr id="29" name="Text 26"/>
          <p:cNvSpPr txBox="1"/>
          <p:nvPr/>
        </p:nvSpPr>
        <p:spPr>
          <a:xfrm>
            <a:off x="850392" y="4919472"/>
            <a:ext cx="10543032" cy="274320"/>
          </a:xfrm>
          <a:prstGeom prst="rect">
            <a:avLst/>
          </a:prstGeom>
          <a:noFill/>
          <a:ln/>
        </p:spPr>
        <p:txBody>
          <a:bodyPr wrap="square" lIns="0" tIns="0" rIns="0" bIns="0" rtlCol="0" anchor="ctr"/>
          <a:lstStyle/>
          <a:p>
            <a:pPr indent="0" marL="0">
              <a:buNone/>
            </a:pPr>
            <a:r>
              <a:rPr lang="en-US" sz="1200" b="1" dirty="0">
                <a:solidFill>
                  <a:srgbClr val="B3121B"/>
                </a:solidFill>
                <a:latin typeface="Yu Gothic" pitchFamily="34" charset="0"/>
                <a:ea typeface="Yu Gothic" pitchFamily="34" charset="-122"/>
                <a:cs typeface="Yu Gothic" pitchFamily="34" charset="-120"/>
              </a:rPr>
              <a:t>⚠ 補助金は資金計画に算入していません</a:t>
            </a:r>
            <a:endParaRPr lang="en-US" sz="1200" dirty="0"/>
          </a:p>
        </p:txBody>
      </p:sp>
      <p:sp>
        <p:nvSpPr>
          <p:cNvPr id="30" name="Text 27"/>
          <p:cNvSpPr txBox="1"/>
          <p:nvPr/>
        </p:nvSpPr>
        <p:spPr>
          <a:xfrm>
            <a:off x="850392" y="5248656"/>
            <a:ext cx="10543032" cy="310896"/>
          </a:xfrm>
          <a:prstGeom prst="rect">
            <a:avLst/>
          </a:prstGeom>
          <a:noFill/>
          <a:ln/>
        </p:spPr>
        <p:txBody>
          <a:bodyPr wrap="square" lIns="0" tIns="0" rIns="0" bIns="0" rtlCol="0" anchor="t"/>
          <a:lstStyle/>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いずれも後払い（精算払い）で、入金が1年以上先になります。資金繰りの当てにはできません。</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取れた場合は上振れとして扱います。</a:t>
            </a:r>
            <a:endParaRPr lang="en-US" sz="1000" dirty="0"/>
          </a:p>
        </p:txBody>
      </p:sp>
      <p:sp>
        <p:nvSpPr>
          <p:cNvPr id="31" name="Text 28"/>
          <p:cNvSpPr txBox="1"/>
          <p:nvPr/>
        </p:nvSpPr>
        <p:spPr>
          <a:xfrm>
            <a:off x="594360" y="6336792"/>
            <a:ext cx="9902952" cy="310896"/>
          </a:xfrm>
          <a:prstGeom prst="rect">
            <a:avLst/>
          </a:prstGeom>
          <a:noFill/>
          <a:ln/>
        </p:spPr>
        <p:txBody>
          <a:bodyPr wrap="square" lIns="0" tIns="0" rIns="0" bIns="0" rtlCol="0" anchor="ctr"/>
          <a:lstStyle/>
          <a:p>
            <a:pPr indent="0" marL="0">
              <a:buNone/>
            </a:pPr>
            <a:r>
              <a:rPr lang="en-US" sz="850" dirty="0">
                <a:solidFill>
                  <a:srgbClr val="6E6E76"/>
                </a:solidFill>
                <a:latin typeface="Yu Gothic" pitchFamily="34" charset="0"/>
                <a:ea typeface="Yu Gothic" pitchFamily="34" charset="-122"/>
                <a:cs typeface="Yu Gothic" pitchFamily="34" charset="-120"/>
              </a:rPr>
              <a:t>出所: 経済産業省「エンタメ・クリエイティブ産業戦略2026」／ 内閣府 AI戦略 ／ 東京都中小企業振興公社 ／ 特許庁</a:t>
            </a:r>
            <a:endParaRPr lang="en-US" sz="850" dirty="0"/>
          </a:p>
        </p:txBody>
      </p:sp>
      <p:sp>
        <p:nvSpPr>
          <p:cNvPr id="32" name="Text 29"/>
          <p:cNvSpPr txBox="1"/>
          <p:nvPr/>
        </p:nvSpPr>
        <p:spPr>
          <a:xfrm>
            <a:off x="11228832" y="6336792"/>
            <a:ext cx="365760" cy="274320"/>
          </a:xfrm>
          <a:prstGeom prst="rect">
            <a:avLst/>
          </a:prstGeom>
          <a:noFill/>
          <a:ln/>
        </p:spPr>
        <p:txBody>
          <a:bodyPr wrap="square" lIns="0" tIns="0" rIns="0" bIns="0" rtlCol="0" anchor="ctr"/>
          <a:lstStyle/>
          <a:p>
            <a:pPr algn="r" indent="0" marL="0">
              <a:buNone/>
            </a:pPr>
            <a:r>
              <a:rPr lang="en-US" sz="900" dirty="0">
                <a:solidFill>
                  <a:srgbClr val="6E6E76"/>
                </a:solidFill>
                <a:latin typeface="Yu Gothic" pitchFamily="34" charset="0"/>
                <a:ea typeface="Yu Gothic" pitchFamily="34" charset="-122"/>
                <a:cs typeface="Yu Gothic" pitchFamily="34" charset="-120"/>
              </a:rPr>
              <a:t>14</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402336"/>
            <a:ext cx="475488" cy="475488"/>
          </a:xfrm>
          <a:prstGeom prst="rect">
            <a:avLst/>
          </a:prstGeom>
          <a:solidFill>
            <a:srgbClr val="B3121B"/>
          </a:solidFill>
          <a:ln/>
        </p:spPr>
      </p:sp>
      <p:sp>
        <p:nvSpPr>
          <p:cNvPr id="3" name="Text 1"/>
          <p:cNvSpPr txBox="1"/>
          <p:nvPr/>
        </p:nvSpPr>
        <p:spPr>
          <a:xfrm>
            <a:off x="594360" y="40233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4</a:t>
            </a:r>
            <a:endParaRPr lang="en-US" sz="1700" dirty="0"/>
          </a:p>
        </p:txBody>
      </p:sp>
      <p:sp>
        <p:nvSpPr>
          <p:cNvPr id="4" name="Text 2"/>
          <p:cNvSpPr txBox="1"/>
          <p:nvPr/>
        </p:nvSpPr>
        <p:spPr>
          <a:xfrm>
            <a:off x="1207008" y="365760"/>
            <a:ext cx="10387584" cy="548640"/>
          </a:xfrm>
          <a:prstGeom prst="rect">
            <a:avLst/>
          </a:prstGeom>
          <a:noFill/>
          <a:ln/>
        </p:spPr>
        <p:txBody>
          <a:bodyPr wrap="square" lIns="0" tIns="0" rIns="0" bIns="0" rtlCol="0" anchor="ctr"/>
          <a:lstStyle/>
          <a:p>
            <a:pPr indent="0" marL="0">
              <a:buNone/>
            </a:pPr>
            <a:r>
              <a:rPr lang="en-US" sz="2500" b="1" dirty="0">
                <a:solidFill>
                  <a:srgbClr val="16161A"/>
                </a:solidFill>
                <a:latin typeface="Yu Gothic" pitchFamily="34" charset="0"/>
                <a:ea typeface="Yu Gothic" pitchFamily="34" charset="-122"/>
                <a:cs typeface="Yu Gothic" pitchFamily="34" charset="-120"/>
              </a:rPr>
              <a:t>なぜショートムービー配信プラットフォームをやらないのか</a:t>
            </a:r>
            <a:endParaRPr lang="en-US" sz="2500" dirty="0"/>
          </a:p>
        </p:txBody>
      </p:sp>
      <p:sp>
        <p:nvSpPr>
          <p:cNvPr id="5" name="Text 3"/>
          <p:cNvSpPr txBox="1"/>
          <p:nvPr/>
        </p:nvSpPr>
        <p:spPr>
          <a:xfrm>
            <a:off x="1207008" y="932688"/>
            <a:ext cx="10387584" cy="310896"/>
          </a:xfrm>
          <a:prstGeom prst="rect">
            <a:avLst/>
          </a:prstGeom>
          <a:noFill/>
          <a:ln/>
        </p:spPr>
        <p:txBody>
          <a:bodyPr wrap="square" lIns="0" tIns="0" rIns="0" bIns="0" rtlCol="0" anchor="ctr"/>
          <a:lstStyle/>
          <a:p>
            <a:pPr indent="0" marL="0">
              <a:buNone/>
            </a:pPr>
            <a:r>
              <a:rPr lang="en-US" sz="1200" dirty="0">
                <a:solidFill>
                  <a:srgbClr val="6E6E76"/>
                </a:solidFill>
                <a:latin typeface="Yu Gothic" pitchFamily="34" charset="0"/>
                <a:ea typeface="Yu Gothic" pitchFamily="34" charset="-122"/>
                <a:cs typeface="Yu Gothic" pitchFamily="34" charset="-120"/>
              </a:rPr>
              <a:t>一度は検討しました。やらない理由を先に出します</a:t>
            </a:r>
            <a:endParaRPr lang="en-US" sz="1200" dirty="0"/>
          </a:p>
        </p:txBody>
      </p:sp>
      <p:sp>
        <p:nvSpPr>
          <p:cNvPr id="6" name="Shape 4"/>
          <p:cNvSpPr/>
          <p:nvPr/>
        </p:nvSpPr>
        <p:spPr>
          <a:xfrm>
            <a:off x="594360" y="1371600"/>
            <a:ext cx="2544318" cy="1335024"/>
          </a:xfrm>
          <a:prstGeom prst="rect">
            <a:avLst/>
          </a:prstGeom>
          <a:solidFill>
            <a:srgbClr val="FCE5CD"/>
          </a:solidFill>
          <a:ln/>
        </p:spPr>
      </p:sp>
      <p:sp>
        <p:nvSpPr>
          <p:cNvPr id="7" name="Shape 5"/>
          <p:cNvSpPr/>
          <p:nvPr/>
        </p:nvSpPr>
        <p:spPr>
          <a:xfrm>
            <a:off x="813816" y="1627632"/>
            <a:ext cx="109728" cy="109728"/>
          </a:xfrm>
          <a:prstGeom prst="rect">
            <a:avLst/>
          </a:prstGeom>
          <a:solidFill>
            <a:srgbClr val="B3121B"/>
          </a:solidFill>
          <a:ln/>
        </p:spPr>
      </p:sp>
      <p:sp>
        <p:nvSpPr>
          <p:cNvPr id="8" name="Text 6"/>
          <p:cNvSpPr txBox="1"/>
          <p:nvPr/>
        </p:nvSpPr>
        <p:spPr>
          <a:xfrm>
            <a:off x="1033272" y="1536192"/>
            <a:ext cx="1885950"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1  先行が8社いる</a:t>
            </a:r>
            <a:endParaRPr lang="en-US" sz="1250" dirty="0"/>
          </a:p>
        </p:txBody>
      </p:sp>
      <p:sp>
        <p:nvSpPr>
          <p:cNvPr id="9" name="Text 7"/>
          <p:cNvSpPr txBox="1"/>
          <p:nvPr/>
        </p:nvSpPr>
        <p:spPr>
          <a:xfrm>
            <a:off x="1033272" y="1883664"/>
            <a:ext cx="1885950" cy="640080"/>
          </a:xfrm>
          <a:prstGeom prst="rect">
            <a:avLst/>
          </a:prstGeom>
          <a:noFill/>
          <a:ln/>
        </p:spPr>
        <p:txBody>
          <a:bodyPr wrap="square" lIns="0" tIns="0" rIns="0" bIns="0" rtlCol="0" anchor="t"/>
          <a:lstStyle/>
          <a:p>
            <a:pPr indent="0" marL="0">
              <a:lnSpc>
                <a:spcPct val="126000"/>
              </a:lnSpc>
              <a:buNone/>
            </a:pPr>
            <a:r>
              <a:rPr lang="en-US" sz="900" dirty="0">
                <a:solidFill>
                  <a:srgbClr val="3A3A42"/>
                </a:solidFill>
                <a:latin typeface="Yu Gothic" pitchFamily="34" charset="0"/>
                <a:ea typeface="Yu Gothic" pitchFamily="34" charset="-122"/>
                <a:cs typeface="Yu Gothic" pitchFamily="34" charset="-120"/>
              </a:rPr>
              <a:t>BUMP（DL400万・国内1位）／POPCORN（累計120億再生）／FANY:D／FOD SHORT ほか。</a:t>
            </a:r>
            <a:endParaRPr lang="en-US" sz="900" dirty="0"/>
          </a:p>
          <a:p>
            <a:pPr indent="0" marL="0">
              <a:lnSpc>
                <a:spcPct val="126000"/>
              </a:lnSpc>
              <a:buNone/>
            </a:pPr>
            <a:r>
              <a:rPr lang="en-US" sz="900" dirty="0">
                <a:solidFill>
                  <a:srgbClr val="3A3A42"/>
                </a:solidFill>
                <a:latin typeface="Yu Gothic" pitchFamily="34" charset="0"/>
                <a:ea typeface="Yu Gothic" pitchFamily="34" charset="-122"/>
                <a:cs typeface="Yu Gothic" pitchFamily="34" charset="-120"/>
              </a:rPr>
              <a:t>中国発アプリがアプリ市場シェア9割超。</a:t>
            </a:r>
            <a:endParaRPr lang="en-US" sz="900" dirty="0"/>
          </a:p>
        </p:txBody>
      </p:sp>
      <p:sp>
        <p:nvSpPr>
          <p:cNvPr id="10" name="Shape 8"/>
          <p:cNvSpPr/>
          <p:nvPr/>
        </p:nvSpPr>
        <p:spPr>
          <a:xfrm>
            <a:off x="3412998" y="1371600"/>
            <a:ext cx="2544318" cy="1335024"/>
          </a:xfrm>
          <a:prstGeom prst="rect">
            <a:avLst/>
          </a:prstGeom>
          <a:solidFill>
            <a:srgbClr val="FCE5CD"/>
          </a:solidFill>
          <a:ln/>
        </p:spPr>
      </p:sp>
      <p:sp>
        <p:nvSpPr>
          <p:cNvPr id="11" name="Shape 9"/>
          <p:cNvSpPr/>
          <p:nvPr/>
        </p:nvSpPr>
        <p:spPr>
          <a:xfrm>
            <a:off x="3632454" y="1627632"/>
            <a:ext cx="109728" cy="109728"/>
          </a:xfrm>
          <a:prstGeom prst="rect">
            <a:avLst/>
          </a:prstGeom>
          <a:solidFill>
            <a:srgbClr val="B3121B"/>
          </a:solidFill>
          <a:ln/>
        </p:spPr>
      </p:sp>
      <p:sp>
        <p:nvSpPr>
          <p:cNvPr id="12" name="Text 10"/>
          <p:cNvSpPr txBox="1"/>
          <p:nvPr/>
        </p:nvSpPr>
        <p:spPr>
          <a:xfrm>
            <a:off x="3851910" y="1536192"/>
            <a:ext cx="1885950"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2  勝敗は広告費で決まる</a:t>
            </a:r>
            <a:endParaRPr lang="en-US" sz="1250" dirty="0"/>
          </a:p>
        </p:txBody>
      </p:sp>
      <p:sp>
        <p:nvSpPr>
          <p:cNvPr id="13" name="Text 11"/>
          <p:cNvSpPr txBox="1"/>
          <p:nvPr/>
        </p:nvSpPr>
        <p:spPr>
          <a:xfrm>
            <a:off x="3851910" y="1883664"/>
            <a:ext cx="1885950" cy="640080"/>
          </a:xfrm>
          <a:prstGeom prst="rect">
            <a:avLst/>
          </a:prstGeom>
          <a:noFill/>
          <a:ln/>
        </p:spPr>
        <p:txBody>
          <a:bodyPr wrap="square" lIns="0" tIns="0" rIns="0" bIns="0" rtlCol="0" anchor="t"/>
          <a:lstStyle/>
          <a:p>
            <a:pPr indent="0" marL="0">
              <a:lnSpc>
                <a:spcPct val="126000"/>
              </a:lnSpc>
              <a:buNone/>
            </a:pPr>
            <a:r>
              <a:rPr lang="en-US" sz="900" dirty="0">
                <a:solidFill>
                  <a:srgbClr val="3A3A42"/>
                </a:solidFill>
                <a:latin typeface="Yu Gothic" pitchFamily="34" charset="0"/>
                <a:ea typeface="Yu Gothic" pitchFamily="34" charset="-122"/>
                <a:cs typeface="Yu Gothic" pitchFamily="34" charset="-120"/>
              </a:rPr>
              <a:t>視聴者獲得（流量投放）が総コストの約70%。</a:t>
            </a:r>
            <a:endParaRPr lang="en-US" sz="900" dirty="0"/>
          </a:p>
          <a:p>
            <a:pPr indent="0" marL="0">
              <a:lnSpc>
                <a:spcPct val="126000"/>
              </a:lnSpc>
              <a:buNone/>
            </a:pPr>
            <a:r>
              <a:rPr lang="en-US" sz="900" dirty="0">
                <a:solidFill>
                  <a:srgbClr val="3A3A42"/>
                </a:solidFill>
                <a:latin typeface="Yu Gothic" pitchFamily="34" charset="0"/>
                <a:ea typeface="Yu Gothic" pitchFamily="34" charset="-122"/>
                <a:cs typeface="Yu Gothic" pitchFamily="34" charset="-120"/>
              </a:rPr>
              <a:t>先に広告費を張れる側が勝つ消耗戦。</a:t>
            </a:r>
            <a:endParaRPr lang="en-US" sz="900" dirty="0"/>
          </a:p>
        </p:txBody>
      </p:sp>
      <p:sp>
        <p:nvSpPr>
          <p:cNvPr id="14" name="Shape 12"/>
          <p:cNvSpPr/>
          <p:nvPr/>
        </p:nvSpPr>
        <p:spPr>
          <a:xfrm>
            <a:off x="6231636" y="1371600"/>
            <a:ext cx="2544318" cy="1335024"/>
          </a:xfrm>
          <a:prstGeom prst="rect">
            <a:avLst/>
          </a:prstGeom>
          <a:solidFill>
            <a:srgbClr val="FCE5CD"/>
          </a:solidFill>
          <a:ln/>
        </p:spPr>
      </p:sp>
      <p:sp>
        <p:nvSpPr>
          <p:cNvPr id="15" name="Shape 13"/>
          <p:cNvSpPr/>
          <p:nvPr/>
        </p:nvSpPr>
        <p:spPr>
          <a:xfrm>
            <a:off x="6451092" y="1627632"/>
            <a:ext cx="109728" cy="109728"/>
          </a:xfrm>
          <a:prstGeom prst="rect">
            <a:avLst/>
          </a:prstGeom>
          <a:solidFill>
            <a:srgbClr val="2A3563"/>
          </a:solidFill>
          <a:ln/>
        </p:spPr>
      </p:sp>
      <p:sp>
        <p:nvSpPr>
          <p:cNvPr id="16" name="Text 14"/>
          <p:cNvSpPr txBox="1"/>
          <p:nvPr/>
        </p:nvSpPr>
        <p:spPr>
          <a:xfrm>
            <a:off x="6670548" y="1536192"/>
            <a:ext cx="1885950"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3  当社の強みが効かない</a:t>
            </a:r>
            <a:endParaRPr lang="en-US" sz="1250" dirty="0"/>
          </a:p>
        </p:txBody>
      </p:sp>
      <p:sp>
        <p:nvSpPr>
          <p:cNvPr id="17" name="Text 15"/>
          <p:cNvSpPr txBox="1"/>
          <p:nvPr/>
        </p:nvSpPr>
        <p:spPr>
          <a:xfrm>
            <a:off x="6670548" y="1883664"/>
            <a:ext cx="1885950" cy="640080"/>
          </a:xfrm>
          <a:prstGeom prst="rect">
            <a:avLst/>
          </a:prstGeom>
          <a:noFill/>
          <a:ln/>
        </p:spPr>
        <p:txBody>
          <a:bodyPr wrap="square" lIns="0" tIns="0" rIns="0" bIns="0" rtlCol="0" anchor="t"/>
          <a:lstStyle/>
          <a:p>
            <a:pPr indent="0" marL="0">
              <a:lnSpc>
                <a:spcPct val="126000"/>
              </a:lnSpc>
              <a:buNone/>
            </a:pPr>
            <a:r>
              <a:rPr lang="en-US" sz="900" dirty="0">
                <a:solidFill>
                  <a:srgbClr val="3A3A42"/>
                </a:solidFill>
                <a:latin typeface="Yu Gothic" pitchFamily="34" charset="0"/>
                <a:ea typeface="Yu Gothic" pitchFamily="34" charset="-122"/>
                <a:cs typeface="Yu Gothic" pitchFamily="34" charset="-120"/>
              </a:rPr>
              <a:t>要件定義・品質保証・契約・与信は、視聴者には関係がない。</a:t>
            </a:r>
            <a:endParaRPr lang="en-US" sz="900" dirty="0"/>
          </a:p>
          <a:p>
            <a:pPr indent="0" marL="0">
              <a:lnSpc>
                <a:spcPct val="126000"/>
              </a:lnSpc>
              <a:buNone/>
            </a:pPr>
            <a:r>
              <a:rPr lang="en-US" sz="900" dirty="0">
                <a:solidFill>
                  <a:srgbClr val="3A3A42"/>
                </a:solidFill>
                <a:latin typeface="Yu Gothic" pitchFamily="34" charset="0"/>
                <a:ea typeface="Yu Gothic" pitchFamily="34" charset="-122"/>
                <a:cs typeface="Yu Gothic" pitchFamily="34" charset="-120"/>
              </a:rPr>
              <a:t>制作力で差がつかない土俵。</a:t>
            </a:r>
            <a:endParaRPr lang="en-US" sz="900" dirty="0"/>
          </a:p>
        </p:txBody>
      </p:sp>
      <p:sp>
        <p:nvSpPr>
          <p:cNvPr id="18" name="Shape 16"/>
          <p:cNvSpPr/>
          <p:nvPr/>
        </p:nvSpPr>
        <p:spPr>
          <a:xfrm>
            <a:off x="9050274" y="1371600"/>
            <a:ext cx="2544318" cy="1335024"/>
          </a:xfrm>
          <a:prstGeom prst="rect">
            <a:avLst/>
          </a:prstGeom>
          <a:solidFill>
            <a:srgbClr val="FCE5CD"/>
          </a:solidFill>
          <a:ln/>
        </p:spPr>
      </p:sp>
      <p:sp>
        <p:nvSpPr>
          <p:cNvPr id="19" name="Shape 17"/>
          <p:cNvSpPr/>
          <p:nvPr/>
        </p:nvSpPr>
        <p:spPr>
          <a:xfrm>
            <a:off x="9269730" y="1627632"/>
            <a:ext cx="109728" cy="109728"/>
          </a:xfrm>
          <a:prstGeom prst="rect">
            <a:avLst/>
          </a:prstGeom>
          <a:solidFill>
            <a:srgbClr val="C9962C"/>
          </a:solidFill>
          <a:ln/>
        </p:spPr>
      </p:sp>
      <p:sp>
        <p:nvSpPr>
          <p:cNvPr id="20" name="Text 18"/>
          <p:cNvSpPr txBox="1"/>
          <p:nvPr/>
        </p:nvSpPr>
        <p:spPr>
          <a:xfrm>
            <a:off x="9489186" y="1536192"/>
            <a:ext cx="1885950"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4  資金が足りない</a:t>
            </a:r>
            <a:endParaRPr lang="en-US" sz="1250" dirty="0"/>
          </a:p>
        </p:txBody>
      </p:sp>
      <p:sp>
        <p:nvSpPr>
          <p:cNvPr id="21" name="Text 19"/>
          <p:cNvSpPr txBox="1"/>
          <p:nvPr/>
        </p:nvSpPr>
        <p:spPr>
          <a:xfrm>
            <a:off x="9489186" y="1883664"/>
            <a:ext cx="1885950" cy="640080"/>
          </a:xfrm>
          <a:prstGeom prst="rect">
            <a:avLst/>
          </a:prstGeom>
          <a:noFill/>
          <a:ln/>
        </p:spPr>
        <p:txBody>
          <a:bodyPr wrap="square" lIns="0" tIns="0" rIns="0" bIns="0" rtlCol="0" anchor="t"/>
          <a:lstStyle/>
          <a:p>
            <a:pPr indent="0" marL="0">
              <a:lnSpc>
                <a:spcPct val="126000"/>
              </a:lnSpc>
              <a:buNone/>
            </a:pPr>
            <a:r>
              <a:rPr lang="en-US" sz="900" dirty="0">
                <a:solidFill>
                  <a:srgbClr val="3A3A42"/>
                </a:solidFill>
                <a:latin typeface="Yu Gothic" pitchFamily="34" charset="0"/>
                <a:ea typeface="Yu Gothic" pitchFamily="34" charset="-122"/>
                <a:cs typeface="Yu Gothic" pitchFamily="34" charset="-120"/>
              </a:rPr>
              <a:t>1.5億では広告費を1年も張れない。</a:t>
            </a:r>
            <a:endParaRPr lang="en-US" sz="900" dirty="0"/>
          </a:p>
          <a:p>
            <a:pPr indent="0" marL="0">
              <a:lnSpc>
                <a:spcPct val="126000"/>
              </a:lnSpc>
              <a:buNone/>
            </a:pPr>
            <a:r>
              <a:rPr lang="en-US" sz="900" dirty="0">
                <a:solidFill>
                  <a:srgbClr val="3A3A42"/>
                </a:solidFill>
                <a:latin typeface="Yu Gothic" pitchFamily="34" charset="0"/>
                <a:ea typeface="Yu Gothic" pitchFamily="34" charset="-122"/>
                <a:cs typeface="Yu Gothic" pitchFamily="34" charset="-120"/>
              </a:rPr>
              <a:t>中国のAI制作会社の約90%が赤字なのはこれが理由。</a:t>
            </a:r>
            <a:endParaRPr lang="en-US" sz="900" dirty="0"/>
          </a:p>
        </p:txBody>
      </p:sp>
      <p:sp>
        <p:nvSpPr>
          <p:cNvPr id="22" name="Shape 20"/>
          <p:cNvSpPr/>
          <p:nvPr/>
        </p:nvSpPr>
        <p:spPr>
          <a:xfrm>
            <a:off x="594360" y="2907792"/>
            <a:ext cx="11000232" cy="1005840"/>
          </a:xfrm>
          <a:prstGeom prst="rect">
            <a:avLst/>
          </a:prstGeom>
          <a:solidFill>
            <a:srgbClr val="FBF1F1"/>
          </a:solidFill>
          <a:ln/>
        </p:spPr>
      </p:sp>
      <p:sp>
        <p:nvSpPr>
          <p:cNvPr id="23" name="Shape 21"/>
          <p:cNvSpPr/>
          <p:nvPr/>
        </p:nvSpPr>
        <p:spPr>
          <a:xfrm>
            <a:off x="594360" y="2907792"/>
            <a:ext cx="45720" cy="1005840"/>
          </a:xfrm>
          <a:prstGeom prst="rect">
            <a:avLst/>
          </a:prstGeom>
          <a:solidFill>
            <a:srgbClr val="B3121B"/>
          </a:solidFill>
          <a:ln/>
        </p:spPr>
      </p:sp>
      <p:sp>
        <p:nvSpPr>
          <p:cNvPr id="24" name="Text 22"/>
          <p:cNvSpPr txBox="1"/>
          <p:nvPr/>
        </p:nvSpPr>
        <p:spPr>
          <a:xfrm>
            <a:off x="850392" y="3054096"/>
            <a:ext cx="10543032" cy="274320"/>
          </a:xfrm>
          <a:prstGeom prst="rect">
            <a:avLst/>
          </a:prstGeom>
          <a:noFill/>
          <a:ln/>
        </p:spPr>
        <p:txBody>
          <a:bodyPr wrap="square" lIns="0" tIns="0" rIns="0" bIns="0" rtlCol="0" anchor="ctr"/>
          <a:lstStyle/>
          <a:p>
            <a:pPr indent="0" marL="0">
              <a:buNone/>
            </a:pPr>
            <a:r>
              <a:rPr lang="en-US" sz="1200" b="1" dirty="0">
                <a:solidFill>
                  <a:srgbClr val="B3121B"/>
                </a:solidFill>
                <a:latin typeface="Yu Gothic" pitchFamily="34" charset="0"/>
                <a:ea typeface="Yu Gothic" pitchFamily="34" charset="-122"/>
                <a:cs typeface="Yu Gothic" pitchFamily="34" charset="-120"/>
              </a:rPr>
              <a:t>⚠ やらないと決めた代わりに、作った作品は他社のPFに載せます</a:t>
            </a:r>
            <a:endParaRPr lang="en-US" sz="1200" dirty="0"/>
          </a:p>
        </p:txBody>
      </p:sp>
      <p:sp>
        <p:nvSpPr>
          <p:cNvPr id="25" name="Text 23"/>
          <p:cNvSpPr txBox="1"/>
          <p:nvPr/>
        </p:nvSpPr>
        <p:spPr>
          <a:xfrm>
            <a:off x="850392" y="3383280"/>
            <a:ext cx="10543032" cy="384048"/>
          </a:xfrm>
          <a:prstGeom prst="rect">
            <a:avLst/>
          </a:prstGeom>
          <a:noFill/>
          <a:ln/>
        </p:spPr>
        <p:txBody>
          <a:bodyPr wrap="square" lIns="0" tIns="0" rIns="0" bIns="0" rtlCol="0" anchor="t"/>
          <a:lstStyle/>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自社で配信面を持たないので、視聴者獲得費はゼロです。日本IP（前ページ）で作った作品は YouTube・TikTok・ショートドラマ各社へ供給します。</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配信は相手の土俵。当社は制作力とIPで取り分を得ます。</a:t>
            </a:r>
            <a:endParaRPr lang="en-US" sz="1000" dirty="0"/>
          </a:p>
        </p:txBody>
      </p:sp>
      <p:sp>
        <p:nvSpPr>
          <p:cNvPr id="26" name="Text 24"/>
          <p:cNvSpPr txBox="1"/>
          <p:nvPr/>
        </p:nvSpPr>
        <p:spPr>
          <a:xfrm>
            <a:off x="594360" y="4059936"/>
            <a:ext cx="5486400" cy="274320"/>
          </a:xfrm>
          <a:prstGeom prst="rect">
            <a:avLst/>
          </a:prstGeom>
          <a:noFill/>
          <a:ln/>
        </p:spPr>
        <p:txBody>
          <a:bodyPr wrap="square" lIns="0" tIns="0" rIns="0" bIns="0" rtlCol="0" anchor="ctr"/>
          <a:lstStyle/>
          <a:p>
            <a:pPr indent="0" marL="0">
              <a:buNone/>
            </a:pPr>
            <a:r>
              <a:rPr lang="en-US" sz="1150" b="1" dirty="0">
                <a:solidFill>
                  <a:srgbClr val="16161A"/>
                </a:solidFill>
                <a:latin typeface="Yu Gothic" pitchFamily="34" charset="0"/>
                <a:ea typeface="Yu Gothic" pitchFamily="34" charset="-122"/>
                <a:cs typeface="Yu Gothic" pitchFamily="34" charset="-120"/>
              </a:rPr>
              <a:t>では当社の競合は誰か — 国内の映像制作市場です</a:t>
            </a:r>
            <a:endParaRPr lang="en-US" sz="1150" dirty="0"/>
          </a:p>
        </p:txBody>
      </p:sp>
      <p:sp>
        <p:nvSpPr>
          <p:cNvPr id="27" name="Text 25"/>
          <p:cNvSpPr txBox="1"/>
          <p:nvPr/>
        </p:nvSpPr>
        <p:spPr>
          <a:xfrm>
            <a:off x="594360" y="4389120"/>
            <a:ext cx="2103120" cy="310896"/>
          </a:xfrm>
          <a:prstGeom prst="rect">
            <a:avLst/>
          </a:prstGeom>
          <a:noFill/>
          <a:ln/>
        </p:spPr>
        <p:txBody>
          <a:bodyPr wrap="square" lIns="0" tIns="0" rIns="0" bIns="0" rtlCol="0" anchor="ctr"/>
          <a:lstStyle/>
          <a:p>
            <a:pPr indent="0" marL="0">
              <a:buNone/>
            </a:pPr>
            <a:r>
              <a:rPr lang="en-US" sz="950" dirty="0">
                <a:solidFill>
                  <a:srgbClr val="3A3A42"/>
                </a:solidFill>
                <a:latin typeface="Yu Gothic" pitchFamily="34" charset="0"/>
                <a:ea typeface="Yu Gothic" pitchFamily="34" charset="-122"/>
                <a:cs typeface="Yu Gothic" pitchFamily="34" charset="-120"/>
              </a:rPr>
              <a:t>フリーランス</a:t>
            </a:r>
            <a:endParaRPr lang="en-US" sz="950" dirty="0"/>
          </a:p>
        </p:txBody>
      </p:sp>
      <p:sp>
        <p:nvSpPr>
          <p:cNvPr id="28" name="Shape 26"/>
          <p:cNvSpPr/>
          <p:nvPr/>
        </p:nvSpPr>
        <p:spPr>
          <a:xfrm>
            <a:off x="2807208" y="4443984"/>
            <a:ext cx="493776" cy="201168"/>
          </a:xfrm>
          <a:prstGeom prst="rect">
            <a:avLst/>
          </a:prstGeom>
          <a:solidFill>
            <a:srgbClr val="D9D2E9"/>
          </a:solidFill>
          <a:ln/>
        </p:spPr>
      </p:sp>
      <p:sp>
        <p:nvSpPr>
          <p:cNvPr id="29" name="Text 27"/>
          <p:cNvSpPr txBox="1"/>
          <p:nvPr/>
        </p:nvSpPr>
        <p:spPr>
          <a:xfrm>
            <a:off x="5212080" y="4389120"/>
            <a:ext cx="868680" cy="310896"/>
          </a:xfrm>
          <a:prstGeom prst="rect">
            <a:avLst/>
          </a:prstGeom>
          <a:noFill/>
          <a:ln/>
        </p:spPr>
        <p:txBody>
          <a:bodyPr wrap="square" lIns="0" tIns="0" rIns="0" bIns="0" rtlCol="0" anchor="ctr"/>
          <a:lstStyle/>
          <a:p>
            <a:pPr algn="r" indent="0" marL="0">
              <a:buNone/>
            </a:pPr>
            <a:r>
              <a:rPr lang="en-US" sz="950" b="1" dirty="0">
                <a:solidFill>
                  <a:srgbClr val="16161A"/>
                </a:solidFill>
                <a:latin typeface="Yu Gothic" pitchFamily="34" charset="0"/>
                <a:ea typeface="Yu Gothic" pitchFamily="34" charset="-122"/>
                <a:cs typeface="Yu Gothic" pitchFamily="34" charset="-120"/>
              </a:rPr>
              <a:t>3〜30万</a:t>
            </a:r>
            <a:endParaRPr lang="en-US" sz="950" dirty="0"/>
          </a:p>
        </p:txBody>
      </p:sp>
      <p:sp>
        <p:nvSpPr>
          <p:cNvPr id="30" name="Text 28"/>
          <p:cNvSpPr txBox="1"/>
          <p:nvPr/>
        </p:nvSpPr>
        <p:spPr>
          <a:xfrm>
            <a:off x="594360" y="4718304"/>
            <a:ext cx="2103120" cy="310896"/>
          </a:xfrm>
          <a:prstGeom prst="rect">
            <a:avLst/>
          </a:prstGeom>
          <a:noFill/>
          <a:ln/>
        </p:spPr>
        <p:txBody>
          <a:bodyPr wrap="square" lIns="0" tIns="0" rIns="0" bIns="0" rtlCol="0" anchor="ctr"/>
          <a:lstStyle/>
          <a:p>
            <a:pPr indent="0" marL="0">
              <a:buNone/>
            </a:pPr>
            <a:r>
              <a:rPr lang="en-US" sz="950" dirty="0">
                <a:solidFill>
                  <a:srgbClr val="3A3A42"/>
                </a:solidFill>
                <a:latin typeface="Yu Gothic" pitchFamily="34" charset="0"/>
                <a:ea typeface="Yu Gothic" pitchFamily="34" charset="-122"/>
                <a:cs typeface="Yu Gothic" pitchFamily="34" charset="-120"/>
              </a:rPr>
              <a:t>当社</a:t>
            </a:r>
            <a:endParaRPr lang="en-US" sz="950" dirty="0"/>
          </a:p>
        </p:txBody>
      </p:sp>
      <p:sp>
        <p:nvSpPr>
          <p:cNvPr id="31" name="Shape 29"/>
          <p:cNvSpPr/>
          <p:nvPr/>
        </p:nvSpPr>
        <p:spPr>
          <a:xfrm>
            <a:off x="2807208" y="4773168"/>
            <a:ext cx="1110996" cy="201168"/>
          </a:xfrm>
          <a:prstGeom prst="rect">
            <a:avLst/>
          </a:prstGeom>
          <a:solidFill>
            <a:srgbClr val="B3121B"/>
          </a:solidFill>
          <a:ln/>
        </p:spPr>
      </p:sp>
      <p:sp>
        <p:nvSpPr>
          <p:cNvPr id="32" name="Text 30"/>
          <p:cNvSpPr txBox="1"/>
          <p:nvPr/>
        </p:nvSpPr>
        <p:spPr>
          <a:xfrm>
            <a:off x="5212080" y="4718304"/>
            <a:ext cx="868680" cy="310896"/>
          </a:xfrm>
          <a:prstGeom prst="rect">
            <a:avLst/>
          </a:prstGeom>
          <a:noFill/>
          <a:ln/>
        </p:spPr>
        <p:txBody>
          <a:bodyPr wrap="square" lIns="0" tIns="0" rIns="0" bIns="0" rtlCol="0" anchor="ctr"/>
          <a:lstStyle/>
          <a:p>
            <a:pPr algn="r" indent="0" marL="0">
              <a:buNone/>
            </a:pPr>
            <a:r>
              <a:rPr lang="en-US" sz="950" b="1" dirty="0">
                <a:solidFill>
                  <a:srgbClr val="16161A"/>
                </a:solidFill>
                <a:latin typeface="Yu Gothic" pitchFamily="34" charset="0"/>
                <a:ea typeface="Yu Gothic" pitchFamily="34" charset="-122"/>
                <a:cs typeface="Yu Gothic" pitchFamily="34" charset="-120"/>
              </a:rPr>
              <a:t>40〜80万</a:t>
            </a:r>
            <a:endParaRPr lang="en-US" sz="950" dirty="0"/>
          </a:p>
        </p:txBody>
      </p:sp>
      <p:sp>
        <p:nvSpPr>
          <p:cNvPr id="33" name="Text 31"/>
          <p:cNvSpPr txBox="1"/>
          <p:nvPr/>
        </p:nvSpPr>
        <p:spPr>
          <a:xfrm>
            <a:off x="594360" y="5047488"/>
            <a:ext cx="2103120" cy="310896"/>
          </a:xfrm>
          <a:prstGeom prst="rect">
            <a:avLst/>
          </a:prstGeom>
          <a:noFill/>
          <a:ln/>
        </p:spPr>
        <p:txBody>
          <a:bodyPr wrap="square" lIns="0" tIns="0" rIns="0" bIns="0" rtlCol="0" anchor="ctr"/>
          <a:lstStyle/>
          <a:p>
            <a:pPr indent="0" marL="0">
              <a:buNone/>
            </a:pPr>
            <a:r>
              <a:rPr lang="en-US" sz="950" dirty="0">
                <a:solidFill>
                  <a:srgbClr val="3A3A42"/>
                </a:solidFill>
                <a:latin typeface="Yu Gothic" pitchFamily="34" charset="0"/>
                <a:ea typeface="Yu Gothic" pitchFamily="34" charset="-122"/>
                <a:cs typeface="Yu Gothic" pitchFamily="34" charset="-120"/>
              </a:rPr>
              <a:t>中小の制作会社</a:t>
            </a:r>
            <a:endParaRPr lang="en-US" sz="950" dirty="0"/>
          </a:p>
        </p:txBody>
      </p:sp>
      <p:sp>
        <p:nvSpPr>
          <p:cNvPr id="34" name="Shape 32"/>
          <p:cNvSpPr/>
          <p:nvPr/>
        </p:nvSpPr>
        <p:spPr>
          <a:xfrm>
            <a:off x="2807208" y="5102352"/>
            <a:ext cx="1357884" cy="201168"/>
          </a:xfrm>
          <a:prstGeom prst="rect">
            <a:avLst/>
          </a:prstGeom>
          <a:solidFill>
            <a:srgbClr val="D9D2E9"/>
          </a:solidFill>
          <a:ln/>
        </p:spPr>
      </p:sp>
      <p:sp>
        <p:nvSpPr>
          <p:cNvPr id="35" name="Text 33"/>
          <p:cNvSpPr txBox="1"/>
          <p:nvPr/>
        </p:nvSpPr>
        <p:spPr>
          <a:xfrm>
            <a:off x="5212080" y="5047488"/>
            <a:ext cx="868680" cy="310896"/>
          </a:xfrm>
          <a:prstGeom prst="rect">
            <a:avLst/>
          </a:prstGeom>
          <a:noFill/>
          <a:ln/>
        </p:spPr>
        <p:txBody>
          <a:bodyPr wrap="square" lIns="0" tIns="0" rIns="0" bIns="0" rtlCol="0" anchor="ctr"/>
          <a:lstStyle/>
          <a:p>
            <a:pPr algn="r" indent="0" marL="0">
              <a:buNone/>
            </a:pPr>
            <a:r>
              <a:rPr lang="en-US" sz="950" b="1" dirty="0">
                <a:solidFill>
                  <a:srgbClr val="16161A"/>
                </a:solidFill>
                <a:latin typeface="Yu Gothic" pitchFamily="34" charset="0"/>
                <a:ea typeface="Yu Gothic" pitchFamily="34" charset="-122"/>
                <a:cs typeface="Yu Gothic" pitchFamily="34" charset="-120"/>
              </a:rPr>
              <a:t>10〜80万</a:t>
            </a:r>
            <a:endParaRPr lang="en-US" sz="950" dirty="0"/>
          </a:p>
        </p:txBody>
      </p:sp>
      <p:sp>
        <p:nvSpPr>
          <p:cNvPr id="36" name="Text 34"/>
          <p:cNvSpPr txBox="1"/>
          <p:nvPr/>
        </p:nvSpPr>
        <p:spPr>
          <a:xfrm>
            <a:off x="594360" y="5376672"/>
            <a:ext cx="2103120" cy="310896"/>
          </a:xfrm>
          <a:prstGeom prst="rect">
            <a:avLst/>
          </a:prstGeom>
          <a:noFill/>
          <a:ln/>
        </p:spPr>
        <p:txBody>
          <a:bodyPr wrap="square" lIns="0" tIns="0" rIns="0" bIns="0" rtlCol="0" anchor="ctr"/>
          <a:lstStyle/>
          <a:p>
            <a:pPr indent="0" marL="0">
              <a:buNone/>
            </a:pPr>
            <a:r>
              <a:rPr lang="en-US" sz="950" dirty="0">
                <a:solidFill>
                  <a:srgbClr val="3A3A42"/>
                </a:solidFill>
                <a:latin typeface="Yu Gothic" pitchFamily="34" charset="0"/>
                <a:ea typeface="Yu Gothic" pitchFamily="34" charset="-122"/>
                <a:cs typeface="Yu Gothic" pitchFamily="34" charset="-120"/>
              </a:rPr>
              <a:t>大手の制作会社</a:t>
            </a:r>
            <a:endParaRPr lang="en-US" sz="950" dirty="0"/>
          </a:p>
        </p:txBody>
      </p:sp>
      <p:sp>
        <p:nvSpPr>
          <p:cNvPr id="37" name="Shape 35"/>
          <p:cNvSpPr/>
          <p:nvPr/>
        </p:nvSpPr>
        <p:spPr>
          <a:xfrm>
            <a:off x="2807208" y="5431536"/>
            <a:ext cx="2468880" cy="201168"/>
          </a:xfrm>
          <a:prstGeom prst="rect">
            <a:avLst/>
          </a:prstGeom>
          <a:solidFill>
            <a:srgbClr val="D9D2E9"/>
          </a:solidFill>
          <a:ln/>
        </p:spPr>
      </p:sp>
      <p:sp>
        <p:nvSpPr>
          <p:cNvPr id="38" name="Text 36"/>
          <p:cNvSpPr txBox="1"/>
          <p:nvPr/>
        </p:nvSpPr>
        <p:spPr>
          <a:xfrm>
            <a:off x="5212080" y="5376672"/>
            <a:ext cx="868680" cy="310896"/>
          </a:xfrm>
          <a:prstGeom prst="rect">
            <a:avLst/>
          </a:prstGeom>
          <a:noFill/>
          <a:ln/>
        </p:spPr>
        <p:txBody>
          <a:bodyPr wrap="square" lIns="0" tIns="0" rIns="0" bIns="0" rtlCol="0" anchor="ctr"/>
          <a:lstStyle/>
          <a:p>
            <a:pPr algn="r" indent="0" marL="0">
              <a:buNone/>
            </a:pPr>
            <a:r>
              <a:rPr lang="en-US" sz="950" b="1" dirty="0">
                <a:solidFill>
                  <a:srgbClr val="16161A"/>
                </a:solidFill>
                <a:latin typeface="Yu Gothic" pitchFamily="34" charset="0"/>
                <a:ea typeface="Yu Gothic" pitchFamily="34" charset="-122"/>
                <a:cs typeface="Yu Gothic" pitchFamily="34" charset="-120"/>
              </a:rPr>
              <a:t>50〜300万</a:t>
            </a:r>
            <a:endParaRPr lang="en-US" sz="9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355080" y="4059936"/>
          <a:ext cx="5239512" cy="914400"/>
        </p:xfrm>
        <a:graphic>
          <a:graphicData uri="http://schemas.openxmlformats.org/drawingml/2006/table">
            <a:tbl>
              <a:tblPr/>
              <a:tblGrid>
                <a:gridCol w="1463040"/>
                <a:gridCol w="1371600"/>
                <a:gridCol w="2404872"/>
              </a:tblGrid>
              <a:tr h="365760">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相手</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相手の強み</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当社が勝てる点</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r>
              <a:tr h="365760">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国内の映像制作会社</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品質・信用・実績</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b="1" dirty="0">
                          <a:solidFill>
                            <a:srgbClr val="3A3A42"/>
                          </a:solidFill>
                          <a:latin typeface="Yu Gothic" pitchFamily="34" charset="0"/>
                          <a:ea typeface="Yu Gothic" pitchFamily="34" charset="-122"/>
                          <a:cs typeface="Yu Gothic" pitchFamily="34" charset="-120"/>
                        </a:rPr>
                        <a:t>価格。原価が半分以下</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365760">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国内フリーランス</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価格</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b="1" dirty="0">
                          <a:solidFill>
                            <a:srgbClr val="3A3A42"/>
                          </a:solidFill>
                          <a:latin typeface="Yu Gothic" pitchFamily="34" charset="0"/>
                          <a:ea typeface="Yu Gothic" pitchFamily="34" charset="-122"/>
                          <a:cs typeface="Yu Gothic" pitchFamily="34" charset="-120"/>
                        </a:rPr>
                        <a:t>品質保証と納期管理</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365760">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中国へ直接発注</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価格</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b="1" dirty="0">
                          <a:solidFill>
                            <a:srgbClr val="3A3A42"/>
                          </a:solidFill>
                          <a:latin typeface="Yu Gothic" pitchFamily="34" charset="0"/>
                          <a:ea typeface="Yu Gothic" pitchFamily="34" charset="-122"/>
                          <a:cs typeface="Yu Gothic" pitchFamily="34" charset="-120"/>
                        </a:rPr>
                        <a:t>契約・与信・請求。個人に直接出せる企業はほぼいない</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bl>
          </a:graphicData>
        </a:graphic>
      </p:graphicFrame>
      <p:sp>
        <p:nvSpPr>
          <p:cNvPr id="40" name="Text 37"/>
          <p:cNvSpPr txBox="1"/>
          <p:nvPr/>
        </p:nvSpPr>
        <p:spPr>
          <a:xfrm>
            <a:off x="594360" y="6336792"/>
            <a:ext cx="9902952" cy="310896"/>
          </a:xfrm>
          <a:prstGeom prst="rect">
            <a:avLst/>
          </a:prstGeom>
          <a:noFill/>
          <a:ln/>
        </p:spPr>
        <p:txBody>
          <a:bodyPr wrap="square" lIns="0" tIns="0" rIns="0" bIns="0" rtlCol="0" anchor="ctr"/>
          <a:lstStyle/>
          <a:p>
            <a:pPr indent="0" marL="0">
              <a:buNone/>
            </a:pPr>
            <a:r>
              <a:rPr lang="en-US" sz="850" dirty="0">
                <a:solidFill>
                  <a:srgbClr val="6E6E76"/>
                </a:solidFill>
                <a:latin typeface="Yu Gothic" pitchFamily="34" charset="0"/>
                <a:ea typeface="Yu Gothic" pitchFamily="34" charset="-122"/>
                <a:cs typeface="Yu Gothic" pitchFamily="34" charset="-120"/>
              </a:rPr>
              <a:t>出所: GOKKO ／ nowhere film ／ BUMP公式 ／ 36Kr Japan（中国発アプリの日本シェア）／ 第一財経・搜狐（中国AI短劇の淘汰）／ 動画幹事・ムビサク（制作費相場）。詳細は COMPETITORS.md</a:t>
            </a:r>
            <a:endParaRPr lang="en-US" sz="850" dirty="0"/>
          </a:p>
        </p:txBody>
      </p:sp>
      <p:sp>
        <p:nvSpPr>
          <p:cNvPr id="41" name="Text 38"/>
          <p:cNvSpPr txBox="1"/>
          <p:nvPr/>
        </p:nvSpPr>
        <p:spPr>
          <a:xfrm>
            <a:off x="11228832" y="6336792"/>
            <a:ext cx="365760" cy="274320"/>
          </a:xfrm>
          <a:prstGeom prst="rect">
            <a:avLst/>
          </a:prstGeom>
          <a:noFill/>
          <a:ln/>
        </p:spPr>
        <p:txBody>
          <a:bodyPr wrap="square" lIns="0" tIns="0" rIns="0" bIns="0" rtlCol="0" anchor="ctr"/>
          <a:lstStyle/>
          <a:p>
            <a:pPr algn="r" indent="0" marL="0">
              <a:buNone/>
            </a:pPr>
            <a:r>
              <a:rPr lang="en-US" sz="900" dirty="0">
                <a:solidFill>
                  <a:srgbClr val="6E6E76"/>
                </a:solidFill>
                <a:latin typeface="Yu Gothic" pitchFamily="34" charset="0"/>
                <a:ea typeface="Yu Gothic" pitchFamily="34" charset="-122"/>
                <a:cs typeface="Yu Gothic" pitchFamily="34" charset="-120"/>
              </a:rPr>
              <a:t>15</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402336"/>
            <a:ext cx="475488" cy="475488"/>
          </a:xfrm>
          <a:prstGeom prst="rect">
            <a:avLst/>
          </a:prstGeom>
          <a:solidFill>
            <a:srgbClr val="B3121B"/>
          </a:solidFill>
          <a:ln/>
        </p:spPr>
      </p:sp>
      <p:sp>
        <p:nvSpPr>
          <p:cNvPr id="3" name="Text 1"/>
          <p:cNvSpPr txBox="1"/>
          <p:nvPr/>
        </p:nvSpPr>
        <p:spPr>
          <a:xfrm>
            <a:off x="594360" y="40233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4</a:t>
            </a:r>
            <a:endParaRPr lang="en-US" sz="1700" dirty="0"/>
          </a:p>
        </p:txBody>
      </p:sp>
      <p:sp>
        <p:nvSpPr>
          <p:cNvPr id="4" name="Text 2"/>
          <p:cNvSpPr txBox="1"/>
          <p:nvPr/>
        </p:nvSpPr>
        <p:spPr>
          <a:xfrm>
            <a:off x="1207008" y="365760"/>
            <a:ext cx="10387584" cy="548640"/>
          </a:xfrm>
          <a:prstGeom prst="rect">
            <a:avLst/>
          </a:prstGeom>
          <a:noFill/>
          <a:ln/>
        </p:spPr>
        <p:txBody>
          <a:bodyPr wrap="square" lIns="0" tIns="0" rIns="0" bIns="0" rtlCol="0" anchor="ctr"/>
          <a:lstStyle/>
          <a:p>
            <a:pPr indent="0" marL="0">
              <a:buNone/>
            </a:pPr>
            <a:r>
              <a:rPr lang="en-US" sz="2500" b="1" dirty="0">
                <a:solidFill>
                  <a:srgbClr val="16161A"/>
                </a:solidFill>
                <a:latin typeface="Yu Gothic" pitchFamily="34" charset="0"/>
                <a:ea typeface="Yu Gothic" pitchFamily="34" charset="-122"/>
                <a:cs typeface="Yu Gothic" pitchFamily="34" charset="-120"/>
              </a:rPr>
              <a:t>では、なぜクリエイターは当社に来るのか</a:t>
            </a:r>
            <a:endParaRPr lang="en-US" sz="2500" dirty="0"/>
          </a:p>
        </p:txBody>
      </p:sp>
      <p:sp>
        <p:nvSpPr>
          <p:cNvPr id="5" name="Text 3"/>
          <p:cNvSpPr txBox="1"/>
          <p:nvPr/>
        </p:nvSpPr>
        <p:spPr>
          <a:xfrm>
            <a:off x="1207008" y="932688"/>
            <a:ext cx="10387584" cy="310896"/>
          </a:xfrm>
          <a:prstGeom prst="rect">
            <a:avLst/>
          </a:prstGeom>
          <a:noFill/>
          <a:ln/>
        </p:spPr>
        <p:txBody>
          <a:bodyPr wrap="square" lIns="0" tIns="0" rIns="0" bIns="0" rtlCol="0" anchor="ctr"/>
          <a:lstStyle/>
          <a:p>
            <a:pPr indent="0" marL="0">
              <a:buNone/>
            </a:pPr>
            <a:r>
              <a:rPr lang="en-US" sz="1200" dirty="0">
                <a:solidFill>
                  <a:srgbClr val="6E6E76"/>
                </a:solidFill>
                <a:latin typeface="Yu Gothic" pitchFamily="34" charset="0"/>
                <a:ea typeface="Yu Gothic" pitchFamily="34" charset="-122"/>
                <a:cs typeface="Yu Gothic" pitchFamily="34" charset="-120"/>
              </a:rPr>
              <a:t>分成率ではなく、3つの別の理由で選ばれる設計にします</a:t>
            </a:r>
            <a:endParaRPr lang="en-US" sz="1200" dirty="0"/>
          </a:p>
        </p:txBody>
      </p:sp>
      <p:sp>
        <p:nvSpPr>
          <p:cNvPr id="6" name="Shape 4"/>
          <p:cNvSpPr/>
          <p:nvPr/>
        </p:nvSpPr>
        <p:spPr>
          <a:xfrm>
            <a:off x="594360" y="1481328"/>
            <a:ext cx="3483864" cy="1792224"/>
          </a:xfrm>
          <a:prstGeom prst="rect">
            <a:avLst/>
          </a:prstGeom>
          <a:solidFill>
            <a:srgbClr val="FCE5CD"/>
          </a:solidFill>
          <a:ln/>
        </p:spPr>
      </p:sp>
      <p:sp>
        <p:nvSpPr>
          <p:cNvPr id="7" name="Shape 5"/>
          <p:cNvSpPr/>
          <p:nvPr/>
        </p:nvSpPr>
        <p:spPr>
          <a:xfrm>
            <a:off x="813816" y="1737360"/>
            <a:ext cx="109728" cy="109728"/>
          </a:xfrm>
          <a:prstGeom prst="rect">
            <a:avLst/>
          </a:prstGeom>
          <a:solidFill>
            <a:srgbClr val="B3121B"/>
          </a:solidFill>
          <a:ln/>
        </p:spPr>
      </p:sp>
      <p:sp>
        <p:nvSpPr>
          <p:cNvPr id="8" name="Text 6"/>
          <p:cNvSpPr txBox="1"/>
          <p:nvPr/>
        </p:nvSpPr>
        <p:spPr>
          <a:xfrm>
            <a:off x="1033272" y="1645920"/>
            <a:ext cx="2825496"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再生数に関係なく収入がある</a:t>
            </a:r>
            <a:endParaRPr lang="en-US" sz="1250" dirty="0"/>
          </a:p>
        </p:txBody>
      </p:sp>
      <p:sp>
        <p:nvSpPr>
          <p:cNvPr id="9" name="Text 7"/>
          <p:cNvSpPr txBox="1"/>
          <p:nvPr/>
        </p:nvSpPr>
        <p:spPr>
          <a:xfrm>
            <a:off x="1033272" y="1993392"/>
            <a:ext cx="2825496" cy="1097280"/>
          </a:xfrm>
          <a:prstGeom prst="rect">
            <a:avLst/>
          </a:prstGeom>
          <a:noFill/>
          <a:ln/>
        </p:spPr>
        <p:txBody>
          <a:bodyPr wrap="square" lIns="0" tIns="0" rIns="0" bIns="0" rtlCol="0" anchor="t"/>
          <a:lstStyle/>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大手PFには無い仕組みです。</a:t>
            </a:r>
            <a:endParaRPr lang="en-US" sz="950" dirty="0"/>
          </a:p>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当社が受注して配分するので、再生数に関係なく報酬が出ます。</a:t>
            </a:r>
            <a:endParaRPr lang="en-US" sz="950" dirty="0"/>
          </a:p>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①の越境発注が立てば、個人からの発注も同じ導線で受けられます。</a:t>
            </a:r>
            <a:endParaRPr lang="en-US" sz="950" dirty="0"/>
          </a:p>
        </p:txBody>
      </p:sp>
      <p:sp>
        <p:nvSpPr>
          <p:cNvPr id="10" name="Shape 8"/>
          <p:cNvSpPr/>
          <p:nvPr/>
        </p:nvSpPr>
        <p:spPr>
          <a:xfrm>
            <a:off x="4352544" y="1481328"/>
            <a:ext cx="3483864" cy="1792224"/>
          </a:xfrm>
          <a:prstGeom prst="rect">
            <a:avLst/>
          </a:prstGeom>
          <a:solidFill>
            <a:srgbClr val="FCE5CD"/>
          </a:solidFill>
          <a:ln/>
        </p:spPr>
      </p:sp>
      <p:sp>
        <p:nvSpPr>
          <p:cNvPr id="11" name="Shape 9"/>
          <p:cNvSpPr/>
          <p:nvPr/>
        </p:nvSpPr>
        <p:spPr>
          <a:xfrm>
            <a:off x="4572000" y="1737360"/>
            <a:ext cx="109728" cy="109728"/>
          </a:xfrm>
          <a:prstGeom prst="rect">
            <a:avLst/>
          </a:prstGeom>
          <a:solidFill>
            <a:srgbClr val="2A3563"/>
          </a:solidFill>
          <a:ln/>
        </p:spPr>
      </p:sp>
      <p:sp>
        <p:nvSpPr>
          <p:cNvPr id="12" name="Text 10"/>
          <p:cNvSpPr txBox="1"/>
          <p:nvPr/>
        </p:nvSpPr>
        <p:spPr>
          <a:xfrm>
            <a:off x="4791456" y="1645920"/>
            <a:ext cx="2825496"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AIを冷遇しない</a:t>
            </a:r>
            <a:endParaRPr lang="en-US" sz="1250" dirty="0"/>
          </a:p>
        </p:txBody>
      </p:sp>
      <p:sp>
        <p:nvSpPr>
          <p:cNvPr id="13" name="Text 11"/>
          <p:cNvSpPr txBox="1"/>
          <p:nvPr/>
        </p:nvSpPr>
        <p:spPr>
          <a:xfrm>
            <a:off x="4791456" y="1993392"/>
            <a:ext cx="2825496" cy="1097280"/>
          </a:xfrm>
          <a:prstGeom prst="rect">
            <a:avLst/>
          </a:prstGeom>
          <a:noFill/>
          <a:ln/>
        </p:spPr>
        <p:txBody>
          <a:bodyPr wrap="square" lIns="0" tIns="0" rIns="0" bIns="0" rtlCol="0" anchor="t"/>
          <a:lstStyle/>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2026年、中国PFは純AIコンテンツの分成を圧縮し、最低保証を廃止しました。</a:t>
            </a:r>
            <a:endParaRPr lang="en-US" sz="950" dirty="0"/>
          </a:p>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リソースは実写短劇へ移っています。</a:t>
            </a:r>
            <a:endParaRPr lang="en-US" sz="950" dirty="0"/>
          </a:p>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AI専業のクリエイターは相対的に冷遇され始めています。</a:t>
            </a:r>
            <a:endParaRPr lang="en-US" sz="950" dirty="0"/>
          </a:p>
        </p:txBody>
      </p:sp>
      <p:sp>
        <p:nvSpPr>
          <p:cNvPr id="14" name="Shape 12"/>
          <p:cNvSpPr/>
          <p:nvPr/>
        </p:nvSpPr>
        <p:spPr>
          <a:xfrm>
            <a:off x="8110728" y="1481328"/>
            <a:ext cx="3483864" cy="1792224"/>
          </a:xfrm>
          <a:prstGeom prst="rect">
            <a:avLst/>
          </a:prstGeom>
          <a:solidFill>
            <a:srgbClr val="FCE5CD"/>
          </a:solidFill>
          <a:ln/>
        </p:spPr>
      </p:sp>
      <p:sp>
        <p:nvSpPr>
          <p:cNvPr id="15" name="Shape 13"/>
          <p:cNvSpPr/>
          <p:nvPr/>
        </p:nvSpPr>
        <p:spPr>
          <a:xfrm>
            <a:off x="8330184" y="1737360"/>
            <a:ext cx="109728" cy="109728"/>
          </a:xfrm>
          <a:prstGeom prst="rect">
            <a:avLst/>
          </a:prstGeom>
          <a:solidFill>
            <a:srgbClr val="C9962C"/>
          </a:solidFill>
          <a:ln/>
        </p:spPr>
      </p:sp>
      <p:sp>
        <p:nvSpPr>
          <p:cNvPr id="16" name="Text 14"/>
          <p:cNvSpPr txBox="1"/>
          <p:nvPr/>
        </p:nvSpPr>
        <p:spPr>
          <a:xfrm>
            <a:off x="8549640" y="1645920"/>
            <a:ext cx="2825496"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日本市場への窓</a:t>
            </a:r>
            <a:endParaRPr lang="en-US" sz="1250" dirty="0"/>
          </a:p>
        </p:txBody>
      </p:sp>
      <p:sp>
        <p:nvSpPr>
          <p:cNvPr id="17" name="Text 15"/>
          <p:cNvSpPr txBox="1"/>
          <p:nvPr/>
        </p:nvSpPr>
        <p:spPr>
          <a:xfrm>
            <a:off x="8549640" y="1993392"/>
            <a:ext cx="2825496" cy="1097280"/>
          </a:xfrm>
          <a:prstGeom prst="rect">
            <a:avLst/>
          </a:prstGeom>
          <a:noFill/>
          <a:ln/>
        </p:spPr>
        <p:txBody>
          <a:bodyPr wrap="square" lIns="0" tIns="0" rIns="0" bIns="0" rtlCol="0" anchor="t"/>
          <a:lstStyle/>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日本語の要件定義・稟議・与信・請求。</a:t>
            </a:r>
            <a:endParaRPr lang="en-US" sz="950" dirty="0"/>
          </a:p>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個人では越えられない壁を当社が代行します。</a:t>
            </a:r>
            <a:endParaRPr lang="en-US" sz="950" dirty="0"/>
          </a:p>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日本の発注は単価が高く、支払いが確実です。</a:t>
            </a:r>
            <a:endParaRPr lang="en-US" sz="950" dirty="0"/>
          </a:p>
        </p:txBody>
      </p:sp>
      <p:sp>
        <p:nvSpPr>
          <p:cNvPr id="18" name="Shape 16"/>
          <p:cNvSpPr/>
          <p:nvPr/>
        </p:nvSpPr>
        <p:spPr>
          <a:xfrm>
            <a:off x="594360" y="3474720"/>
            <a:ext cx="11000232" cy="1188720"/>
          </a:xfrm>
          <a:prstGeom prst="rect">
            <a:avLst/>
          </a:prstGeom>
          <a:solidFill>
            <a:srgbClr val="FBF1F1"/>
          </a:solidFill>
          <a:ln/>
        </p:spPr>
      </p:sp>
      <p:sp>
        <p:nvSpPr>
          <p:cNvPr id="19" name="Shape 17"/>
          <p:cNvSpPr/>
          <p:nvPr/>
        </p:nvSpPr>
        <p:spPr>
          <a:xfrm>
            <a:off x="594360" y="3474720"/>
            <a:ext cx="45720" cy="1188720"/>
          </a:xfrm>
          <a:prstGeom prst="rect">
            <a:avLst/>
          </a:prstGeom>
          <a:solidFill>
            <a:srgbClr val="B3121B"/>
          </a:solidFill>
          <a:ln/>
        </p:spPr>
      </p:sp>
      <p:sp>
        <p:nvSpPr>
          <p:cNvPr id="20" name="Text 18"/>
          <p:cNvSpPr txBox="1"/>
          <p:nvPr/>
        </p:nvSpPr>
        <p:spPr>
          <a:xfrm>
            <a:off x="850392" y="3621024"/>
            <a:ext cx="10543032" cy="274320"/>
          </a:xfrm>
          <a:prstGeom prst="rect">
            <a:avLst/>
          </a:prstGeom>
          <a:noFill/>
          <a:ln/>
        </p:spPr>
        <p:txBody>
          <a:bodyPr wrap="square" lIns="0" tIns="0" rIns="0" bIns="0" rtlCol="0" anchor="ctr"/>
          <a:lstStyle/>
          <a:p>
            <a:pPr indent="0" marL="0">
              <a:buNone/>
            </a:pPr>
            <a:r>
              <a:rPr lang="en-US" sz="1200" b="1" dirty="0">
                <a:solidFill>
                  <a:srgbClr val="B3121B"/>
                </a:solidFill>
                <a:latin typeface="Yu Gothic" pitchFamily="34" charset="0"/>
                <a:ea typeface="Yu Gothic" pitchFamily="34" charset="-122"/>
                <a:cs typeface="Yu Gothic" pitchFamily="34" charset="-120"/>
              </a:rPr>
              <a:t>⚠ 発注者側は、国内C2Cが開けていない市場です</a:t>
            </a:r>
            <a:endParaRPr lang="en-US" sz="1200" dirty="0"/>
          </a:p>
        </p:txBody>
      </p:sp>
      <p:sp>
        <p:nvSpPr>
          <p:cNvPr id="21" name="Text 19"/>
          <p:cNvSpPr txBox="1"/>
          <p:nvPr/>
        </p:nvSpPr>
        <p:spPr>
          <a:xfrm>
            <a:off x="850392" y="3950208"/>
            <a:ext cx="10543032" cy="566928"/>
          </a:xfrm>
          <a:prstGeom prst="rect">
            <a:avLst/>
          </a:prstGeom>
          <a:noFill/>
          <a:ln/>
        </p:spPr>
        <p:txBody>
          <a:bodyPr wrap="square" lIns="0" tIns="0" rIns="0" bIns="0" rtlCol="0" anchor="t"/>
          <a:lstStyle/>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ココナラ・ランサーズ・クラウドワークスに、中国のクリエイターへ発注する導線はありません。</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言語・決済・品質保証・契約の4つが壁で、個人同士の直接取引が成立しないからです。当社はその4つを機能として持ちます。</a:t>
            </a:r>
            <a:endParaRPr lang="en-US" sz="1000" dirty="0"/>
          </a:p>
        </p:txBody>
      </p:sp>
      <p:sp>
        <p:nvSpPr>
          <p:cNvPr id="22" name="Shape 20"/>
          <p:cNvSpPr/>
          <p:nvPr/>
        </p:nvSpPr>
        <p:spPr>
          <a:xfrm>
            <a:off x="594360" y="4791456"/>
            <a:ext cx="11000232" cy="914400"/>
          </a:xfrm>
          <a:prstGeom prst="rect">
            <a:avLst/>
          </a:prstGeom>
          <a:solidFill>
            <a:srgbClr val="FBF1F1"/>
          </a:solidFill>
          <a:ln/>
        </p:spPr>
      </p:sp>
      <p:sp>
        <p:nvSpPr>
          <p:cNvPr id="23" name="Shape 21"/>
          <p:cNvSpPr/>
          <p:nvPr/>
        </p:nvSpPr>
        <p:spPr>
          <a:xfrm>
            <a:off x="594360" y="4791456"/>
            <a:ext cx="45720" cy="914400"/>
          </a:xfrm>
          <a:prstGeom prst="rect">
            <a:avLst/>
          </a:prstGeom>
          <a:solidFill>
            <a:srgbClr val="B3121B"/>
          </a:solidFill>
          <a:ln/>
        </p:spPr>
      </p:sp>
      <p:sp>
        <p:nvSpPr>
          <p:cNvPr id="24" name="Text 22"/>
          <p:cNvSpPr txBox="1"/>
          <p:nvPr/>
        </p:nvSpPr>
        <p:spPr>
          <a:xfrm>
            <a:off x="850392" y="4937760"/>
            <a:ext cx="10543032" cy="274320"/>
          </a:xfrm>
          <a:prstGeom prst="rect">
            <a:avLst/>
          </a:prstGeom>
          <a:noFill/>
          <a:ln/>
        </p:spPr>
        <p:txBody>
          <a:bodyPr wrap="square" lIns="0" tIns="0" rIns="0" bIns="0" rtlCol="0" anchor="ctr"/>
          <a:lstStyle/>
          <a:p>
            <a:pPr indent="0" marL="0">
              <a:buNone/>
            </a:pPr>
            <a:r>
              <a:rPr lang="en-US" sz="1200" b="1" dirty="0">
                <a:solidFill>
                  <a:srgbClr val="B3121B"/>
                </a:solidFill>
                <a:latin typeface="Yu Gothic" pitchFamily="34" charset="0"/>
                <a:ea typeface="Yu Gothic" pitchFamily="34" charset="-122"/>
                <a:cs typeface="Yu Gothic" pitchFamily="34" charset="-120"/>
              </a:rPr>
              <a:t>⚠ だから、発注者は「後から」取ります</a:t>
            </a:r>
            <a:endParaRPr lang="en-US" sz="1200" dirty="0"/>
          </a:p>
        </p:txBody>
      </p:sp>
      <p:sp>
        <p:nvSpPr>
          <p:cNvPr id="25" name="Text 23"/>
          <p:cNvSpPr txBox="1"/>
          <p:nvPr/>
        </p:nvSpPr>
        <p:spPr>
          <a:xfrm>
            <a:off x="850392" y="5266944"/>
            <a:ext cx="10543032" cy="292608"/>
          </a:xfrm>
          <a:prstGeom prst="rect">
            <a:avLst/>
          </a:prstGeom>
          <a:noFill/>
          <a:ln/>
        </p:spPr>
        <p:txBody>
          <a:bodyPr wrap="square" lIns="0" tIns="0" rIns="0" bIns="0" rtlCol="0" anchor="t"/>
          <a:lstStyle/>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初日はクリエイター側だけを取りに行きます。②の企業案件が、その口実と原資になります。</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発注者の獲得は6ヶ月目のPF公開以降です。①②で取引のある相手から載せるので、広告費を先に張る必要がありません。</a:t>
            </a:r>
            <a:endParaRPr lang="en-US" sz="1000" dirty="0"/>
          </a:p>
        </p:txBody>
      </p:sp>
      <p:sp>
        <p:nvSpPr>
          <p:cNvPr id="26" name="Text 24"/>
          <p:cNvSpPr txBox="1"/>
          <p:nvPr/>
        </p:nvSpPr>
        <p:spPr>
          <a:xfrm>
            <a:off x="594360" y="6336792"/>
            <a:ext cx="9902952" cy="310896"/>
          </a:xfrm>
          <a:prstGeom prst="rect">
            <a:avLst/>
          </a:prstGeom>
          <a:noFill/>
          <a:ln/>
        </p:spPr>
        <p:txBody>
          <a:bodyPr wrap="square" lIns="0" tIns="0" rIns="0" bIns="0" rtlCol="0" anchor="ctr"/>
          <a:lstStyle/>
          <a:p>
            <a:pPr indent="0" marL="0">
              <a:buNone/>
            </a:pPr>
            <a:r>
              <a:rPr lang="en-US" sz="850" dirty="0">
                <a:solidFill>
                  <a:srgbClr val="6E6E76"/>
                </a:solidFill>
                <a:latin typeface="Yu Gothic" pitchFamily="34" charset="0"/>
                <a:ea typeface="Yu Gothic" pitchFamily="34" charset="-122"/>
                <a:cs typeface="Yu Gothic" pitchFamily="34" charset="-120"/>
              </a:rPr>
              <a:t>出所: ココナラ・ランサーズ公開単価 ／ 36Kr Japan（中国発アプリの日本シェア）。詳細は COMPETITORS.md</a:t>
            </a:r>
            <a:endParaRPr lang="en-US" sz="850" dirty="0"/>
          </a:p>
        </p:txBody>
      </p:sp>
      <p:sp>
        <p:nvSpPr>
          <p:cNvPr id="27" name="Text 25"/>
          <p:cNvSpPr txBox="1"/>
          <p:nvPr/>
        </p:nvSpPr>
        <p:spPr>
          <a:xfrm>
            <a:off x="11228832" y="6336792"/>
            <a:ext cx="365760" cy="274320"/>
          </a:xfrm>
          <a:prstGeom prst="rect">
            <a:avLst/>
          </a:prstGeom>
          <a:noFill/>
          <a:ln/>
        </p:spPr>
        <p:txBody>
          <a:bodyPr wrap="square" lIns="0" tIns="0" rIns="0" bIns="0" rtlCol="0" anchor="ctr"/>
          <a:lstStyle/>
          <a:p>
            <a:pPr algn="r" indent="0" marL="0">
              <a:buNone/>
            </a:pPr>
            <a:r>
              <a:rPr lang="en-US" sz="900" dirty="0">
                <a:solidFill>
                  <a:srgbClr val="6E6E76"/>
                </a:solidFill>
                <a:latin typeface="Yu Gothic" pitchFamily="34" charset="0"/>
                <a:ea typeface="Yu Gothic" pitchFamily="34" charset="-122"/>
                <a:cs typeface="Yu Gothic" pitchFamily="34" charset="-120"/>
              </a:rPr>
              <a:t>16</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402336"/>
            <a:ext cx="475488" cy="475488"/>
          </a:xfrm>
          <a:prstGeom prst="rect">
            <a:avLst/>
          </a:prstGeom>
          <a:solidFill>
            <a:srgbClr val="B3121B"/>
          </a:solidFill>
          <a:ln/>
        </p:spPr>
      </p:sp>
      <p:sp>
        <p:nvSpPr>
          <p:cNvPr id="3" name="Text 1"/>
          <p:cNvSpPr txBox="1"/>
          <p:nvPr/>
        </p:nvSpPr>
        <p:spPr>
          <a:xfrm>
            <a:off x="594360" y="40233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5</a:t>
            </a:r>
            <a:endParaRPr lang="en-US" sz="1700" dirty="0"/>
          </a:p>
        </p:txBody>
      </p:sp>
      <p:sp>
        <p:nvSpPr>
          <p:cNvPr id="4" name="Text 2"/>
          <p:cNvSpPr txBox="1"/>
          <p:nvPr/>
        </p:nvSpPr>
        <p:spPr>
          <a:xfrm>
            <a:off x="1207008" y="365760"/>
            <a:ext cx="10387584" cy="548640"/>
          </a:xfrm>
          <a:prstGeom prst="rect">
            <a:avLst/>
          </a:prstGeom>
          <a:noFill/>
          <a:ln/>
        </p:spPr>
        <p:txBody>
          <a:bodyPr wrap="square" lIns="0" tIns="0" rIns="0" bIns="0" rtlCol="0" anchor="ctr"/>
          <a:lstStyle/>
          <a:p>
            <a:pPr indent="0" marL="0">
              <a:buNone/>
            </a:pPr>
            <a:r>
              <a:rPr lang="en-US" sz="2500" b="1" dirty="0">
                <a:solidFill>
                  <a:srgbClr val="16161A"/>
                </a:solidFill>
                <a:latin typeface="Yu Gothic" pitchFamily="34" charset="0"/>
                <a:ea typeface="Yu Gothic" pitchFamily="34" charset="-122"/>
                <a:cs typeface="Yu Gothic" pitchFamily="34" charset="-120"/>
              </a:rPr>
              <a:t>課題と、その解決方法</a:t>
            </a:r>
            <a:endParaRPr lang="en-US" sz="2500" dirty="0"/>
          </a:p>
        </p:txBody>
      </p:sp>
      <p:sp>
        <p:nvSpPr>
          <p:cNvPr id="5" name="Text 3"/>
          <p:cNvSpPr txBox="1"/>
          <p:nvPr/>
        </p:nvSpPr>
        <p:spPr>
          <a:xfrm>
            <a:off x="1207008" y="932688"/>
            <a:ext cx="10387584" cy="310896"/>
          </a:xfrm>
          <a:prstGeom prst="rect">
            <a:avLst/>
          </a:prstGeom>
          <a:noFill/>
          <a:ln/>
        </p:spPr>
        <p:txBody>
          <a:bodyPr wrap="square" lIns="0" tIns="0" rIns="0" bIns="0" rtlCol="0" anchor="ctr"/>
          <a:lstStyle/>
          <a:p>
            <a:pPr indent="0" marL="0">
              <a:buNone/>
            </a:pPr>
            <a:r>
              <a:rPr lang="en-US" sz="1200" dirty="0">
                <a:solidFill>
                  <a:srgbClr val="6E6E76"/>
                </a:solidFill>
                <a:latin typeface="Yu Gothic" pitchFamily="34" charset="0"/>
                <a:ea typeface="Yu Gothic" pitchFamily="34" charset="-122"/>
                <a:cs typeface="Yu Gothic" pitchFamily="34" charset="-120"/>
              </a:rPr>
              <a:t>最大の課題は両面市場のコールドスタート。②の企業案件が、この輪を回り始める前に断ちます</a:t>
            </a:r>
            <a:endParaRPr lang="en-US" sz="1200" dirty="0"/>
          </a:p>
        </p:txBody>
      </p:sp>
      <p:sp>
        <p:nvSpPr>
          <p:cNvPr id="6" name="Shape 4"/>
          <p:cNvSpPr/>
          <p:nvPr/>
        </p:nvSpPr>
        <p:spPr>
          <a:xfrm>
            <a:off x="594360" y="1444752"/>
            <a:ext cx="2103120" cy="713232"/>
          </a:xfrm>
          <a:prstGeom prst="rect">
            <a:avLst/>
          </a:prstGeom>
          <a:solidFill>
            <a:srgbClr val="FCE5CD"/>
          </a:solidFill>
          <a:ln/>
        </p:spPr>
      </p:sp>
      <p:sp>
        <p:nvSpPr>
          <p:cNvPr id="7" name="Text 5"/>
          <p:cNvSpPr txBox="1"/>
          <p:nvPr/>
        </p:nvSpPr>
        <p:spPr>
          <a:xfrm>
            <a:off x="740664" y="1536192"/>
            <a:ext cx="1810512" cy="310896"/>
          </a:xfrm>
          <a:prstGeom prst="rect">
            <a:avLst/>
          </a:prstGeom>
          <a:noFill/>
          <a:ln/>
        </p:spPr>
        <p:txBody>
          <a:bodyPr wrap="square" lIns="0" tIns="0" rIns="0" bIns="0" rtlCol="0" anchor="ctr"/>
          <a:lstStyle/>
          <a:p>
            <a:pPr algn="ctr" indent="0" marL="0">
              <a:buNone/>
            </a:pPr>
            <a:r>
              <a:rPr lang="en-US" sz="1100" b="1" dirty="0">
                <a:solidFill>
                  <a:srgbClr val="6E6E76"/>
                </a:solidFill>
                <a:latin typeface="Yu Gothic" pitchFamily="34" charset="0"/>
                <a:ea typeface="Yu Gothic" pitchFamily="34" charset="-122"/>
                <a:cs typeface="Yu Gothic" pitchFamily="34" charset="-120"/>
              </a:rPr>
              <a:t>発注がない</a:t>
            </a:r>
            <a:endParaRPr lang="en-US" sz="1100" dirty="0"/>
          </a:p>
        </p:txBody>
      </p:sp>
      <p:sp>
        <p:nvSpPr>
          <p:cNvPr id="8" name="Shape 6"/>
          <p:cNvSpPr/>
          <p:nvPr/>
        </p:nvSpPr>
        <p:spPr>
          <a:xfrm>
            <a:off x="2788920" y="1636776"/>
            <a:ext cx="384048" cy="329184"/>
          </a:xfrm>
          <a:prstGeom prst="rightArrow">
            <a:avLst/>
          </a:prstGeom>
          <a:solidFill>
            <a:srgbClr val="DCD9D4"/>
          </a:solidFill>
          <a:ln/>
        </p:spPr>
      </p:sp>
      <p:sp>
        <p:nvSpPr>
          <p:cNvPr id="9" name="Shape 7"/>
          <p:cNvSpPr/>
          <p:nvPr/>
        </p:nvSpPr>
        <p:spPr>
          <a:xfrm>
            <a:off x="3264408" y="1444752"/>
            <a:ext cx="2103120" cy="713232"/>
          </a:xfrm>
          <a:prstGeom prst="rect">
            <a:avLst/>
          </a:prstGeom>
          <a:solidFill>
            <a:srgbClr val="FCE5CD"/>
          </a:solidFill>
          <a:ln/>
        </p:spPr>
      </p:sp>
      <p:sp>
        <p:nvSpPr>
          <p:cNvPr id="10" name="Text 8"/>
          <p:cNvSpPr txBox="1"/>
          <p:nvPr/>
        </p:nvSpPr>
        <p:spPr>
          <a:xfrm>
            <a:off x="3410712" y="1536192"/>
            <a:ext cx="1810512" cy="310896"/>
          </a:xfrm>
          <a:prstGeom prst="rect">
            <a:avLst/>
          </a:prstGeom>
          <a:noFill/>
          <a:ln/>
        </p:spPr>
        <p:txBody>
          <a:bodyPr wrap="square" lIns="0" tIns="0" rIns="0" bIns="0" rtlCol="0" anchor="ctr"/>
          <a:lstStyle/>
          <a:p>
            <a:pPr algn="ctr" indent="0" marL="0">
              <a:buNone/>
            </a:pPr>
            <a:r>
              <a:rPr lang="en-US" sz="1100" b="1" dirty="0">
                <a:solidFill>
                  <a:srgbClr val="6E6E76"/>
                </a:solidFill>
                <a:latin typeface="Yu Gothic" pitchFamily="34" charset="0"/>
                <a:ea typeface="Yu Gothic" pitchFamily="34" charset="-122"/>
                <a:cs typeface="Yu Gothic" pitchFamily="34" charset="-120"/>
              </a:rPr>
              <a:t>分配の原資が出ない</a:t>
            </a:r>
            <a:endParaRPr lang="en-US" sz="1100" dirty="0"/>
          </a:p>
        </p:txBody>
      </p:sp>
      <p:sp>
        <p:nvSpPr>
          <p:cNvPr id="11" name="Shape 9"/>
          <p:cNvSpPr/>
          <p:nvPr/>
        </p:nvSpPr>
        <p:spPr>
          <a:xfrm>
            <a:off x="5458968" y="1636776"/>
            <a:ext cx="384048" cy="329184"/>
          </a:xfrm>
          <a:prstGeom prst="rightArrow">
            <a:avLst/>
          </a:prstGeom>
          <a:solidFill>
            <a:srgbClr val="DCD9D4"/>
          </a:solidFill>
          <a:ln/>
        </p:spPr>
      </p:sp>
      <p:sp>
        <p:nvSpPr>
          <p:cNvPr id="12" name="Shape 10"/>
          <p:cNvSpPr/>
          <p:nvPr/>
        </p:nvSpPr>
        <p:spPr>
          <a:xfrm>
            <a:off x="5934456" y="1444752"/>
            <a:ext cx="2103120" cy="713232"/>
          </a:xfrm>
          <a:prstGeom prst="rect">
            <a:avLst/>
          </a:prstGeom>
          <a:solidFill>
            <a:srgbClr val="FCE5CD"/>
          </a:solidFill>
          <a:ln/>
        </p:spPr>
      </p:sp>
      <p:sp>
        <p:nvSpPr>
          <p:cNvPr id="13" name="Text 11"/>
          <p:cNvSpPr txBox="1"/>
          <p:nvPr/>
        </p:nvSpPr>
        <p:spPr>
          <a:xfrm>
            <a:off x="6080760" y="1536192"/>
            <a:ext cx="1810512" cy="310896"/>
          </a:xfrm>
          <a:prstGeom prst="rect">
            <a:avLst/>
          </a:prstGeom>
          <a:noFill/>
          <a:ln/>
        </p:spPr>
        <p:txBody>
          <a:bodyPr wrap="square" lIns="0" tIns="0" rIns="0" bIns="0" rtlCol="0" anchor="ctr"/>
          <a:lstStyle/>
          <a:p>
            <a:pPr algn="ctr" indent="0" marL="0">
              <a:buNone/>
            </a:pPr>
            <a:r>
              <a:rPr lang="en-US" sz="1100" b="1" dirty="0">
                <a:solidFill>
                  <a:srgbClr val="6E6E76"/>
                </a:solidFill>
                <a:latin typeface="Yu Gothic" pitchFamily="34" charset="0"/>
                <a:ea typeface="Yu Gothic" pitchFamily="34" charset="-122"/>
                <a:cs typeface="Yu Gothic" pitchFamily="34" charset="-120"/>
              </a:rPr>
              <a:t>クリエイターが去る</a:t>
            </a:r>
            <a:endParaRPr lang="en-US" sz="1100" dirty="0"/>
          </a:p>
        </p:txBody>
      </p:sp>
      <p:sp>
        <p:nvSpPr>
          <p:cNvPr id="14" name="Shape 12"/>
          <p:cNvSpPr/>
          <p:nvPr/>
        </p:nvSpPr>
        <p:spPr>
          <a:xfrm>
            <a:off x="8129016" y="1636776"/>
            <a:ext cx="384048" cy="329184"/>
          </a:xfrm>
          <a:prstGeom prst="rightArrow">
            <a:avLst/>
          </a:prstGeom>
          <a:solidFill>
            <a:srgbClr val="DCD9D4"/>
          </a:solidFill>
          <a:ln/>
        </p:spPr>
      </p:sp>
      <p:sp>
        <p:nvSpPr>
          <p:cNvPr id="15" name="Shape 13"/>
          <p:cNvSpPr/>
          <p:nvPr/>
        </p:nvSpPr>
        <p:spPr>
          <a:xfrm>
            <a:off x="8604504" y="1444752"/>
            <a:ext cx="2103120" cy="713232"/>
          </a:xfrm>
          <a:prstGeom prst="rect">
            <a:avLst/>
          </a:prstGeom>
          <a:solidFill>
            <a:srgbClr val="FCE5CD"/>
          </a:solidFill>
          <a:ln/>
        </p:spPr>
      </p:sp>
      <p:sp>
        <p:nvSpPr>
          <p:cNvPr id="16" name="Text 14"/>
          <p:cNvSpPr txBox="1"/>
          <p:nvPr/>
        </p:nvSpPr>
        <p:spPr>
          <a:xfrm>
            <a:off x="8750808" y="1536192"/>
            <a:ext cx="1810512" cy="310896"/>
          </a:xfrm>
          <a:prstGeom prst="rect">
            <a:avLst/>
          </a:prstGeom>
          <a:noFill/>
          <a:ln/>
        </p:spPr>
        <p:txBody>
          <a:bodyPr wrap="square" lIns="0" tIns="0" rIns="0" bIns="0" rtlCol="0" anchor="ctr"/>
          <a:lstStyle/>
          <a:p>
            <a:pPr algn="ctr" indent="0" marL="0">
              <a:buNone/>
            </a:pPr>
            <a:r>
              <a:rPr lang="en-US" sz="1100" b="1" dirty="0">
                <a:solidFill>
                  <a:srgbClr val="B3121B"/>
                </a:solidFill>
                <a:latin typeface="Yu Gothic" pitchFamily="34" charset="0"/>
                <a:ea typeface="Yu Gothic" pitchFamily="34" charset="-122"/>
                <a:cs typeface="Yu Gothic" pitchFamily="34" charset="-120"/>
              </a:rPr>
              <a:t>供給が減る</a:t>
            </a:r>
            <a:endParaRPr lang="en-US" sz="1100" dirty="0"/>
          </a:p>
        </p:txBody>
      </p:sp>
      <p:sp>
        <p:nvSpPr>
          <p:cNvPr id="17" name="Text 15"/>
          <p:cNvSpPr txBox="1"/>
          <p:nvPr/>
        </p:nvSpPr>
        <p:spPr>
          <a:xfrm>
            <a:off x="594360" y="2267712"/>
            <a:ext cx="11000232" cy="310896"/>
          </a:xfrm>
          <a:prstGeom prst="rect">
            <a:avLst/>
          </a:prstGeom>
          <a:noFill/>
          <a:ln/>
        </p:spPr>
        <p:txBody>
          <a:bodyPr wrap="square" lIns="0" tIns="0" rIns="0" bIns="0" rtlCol="0" anchor="ctr"/>
          <a:lstStyle/>
          <a:p>
            <a:pPr indent="0" marL="0">
              <a:buNone/>
            </a:pPr>
            <a:r>
              <a:rPr lang="en-US" sz="1000" dirty="0">
                <a:solidFill>
                  <a:srgbClr val="3A3A42"/>
                </a:solidFill>
                <a:latin typeface="Yu Gothic" pitchFamily="34" charset="0"/>
                <a:ea typeface="Yu Gothic" pitchFamily="34" charset="-122"/>
                <a:cs typeface="Yu Gothic" pitchFamily="34" charset="-120"/>
              </a:rPr>
              <a:t>この輪が回り続けるのが、両面市場のコールドスタートです。② は発注者を必要としません。案件を配ればクリエイターは集まり、その登録クリエイターが①の初期供給になります。</a:t>
            </a:r>
            <a:endParaRPr lang="en-US" sz="10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94360" y="2670048"/>
          <a:ext cx="11000232" cy="914400"/>
        </p:xfrm>
        <a:graphic>
          <a:graphicData uri="http://schemas.openxmlformats.org/drawingml/2006/table">
            <a:tbl>
              <a:tblPr/>
              <a:tblGrid>
                <a:gridCol w="2926080"/>
                <a:gridCol w="8074152"/>
              </a:tblGrid>
              <a:tr h="402336">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残りの課題</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解決方法</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r>
              <a:tr h="402336">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分成率で大手に勝てない</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分成率では戦わない。企業案件・AIを冷遇しない方針・日本市場への窓の3点で選ばれる設計にする</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402336">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発注者を集められない</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PF公開（6ヶ月目）まで投下しない。①②で取引のある制作会社・クリエイターを先に載せ、供給がある状態で開く</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402336">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制作の市場単価が下がる</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3年の時限と見ている。①の自動化機能をツール外販（P4）へ移して逃げ切る</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402336">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中国本土から当社PFに接続できない可能性</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投稿・決済の経路を設計段階で検証。国内向けミラーまたは提携PF経由の導線を用意する</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402336">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成果物の品質が担保できない</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審査基準に組み込み、品質判定の自動化を特許①として出願。検収通過率と修正回数のデータを学習側に回す</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bl>
          </a:graphicData>
        </a:graphic>
      </p:graphicFrame>
      <p:sp>
        <p:nvSpPr>
          <p:cNvPr id="19" name="Shape 16"/>
          <p:cNvSpPr/>
          <p:nvPr/>
        </p:nvSpPr>
        <p:spPr>
          <a:xfrm>
            <a:off x="594360" y="4846320"/>
            <a:ext cx="11000232" cy="859536"/>
          </a:xfrm>
          <a:prstGeom prst="rect">
            <a:avLst/>
          </a:prstGeom>
          <a:solidFill>
            <a:srgbClr val="FBF1F1"/>
          </a:solidFill>
          <a:ln/>
        </p:spPr>
      </p:sp>
      <p:sp>
        <p:nvSpPr>
          <p:cNvPr id="20" name="Shape 17"/>
          <p:cNvSpPr/>
          <p:nvPr/>
        </p:nvSpPr>
        <p:spPr>
          <a:xfrm>
            <a:off x="594360" y="4846320"/>
            <a:ext cx="45720" cy="859536"/>
          </a:xfrm>
          <a:prstGeom prst="rect">
            <a:avLst/>
          </a:prstGeom>
          <a:solidFill>
            <a:srgbClr val="B3121B"/>
          </a:solidFill>
          <a:ln/>
        </p:spPr>
      </p:sp>
      <p:sp>
        <p:nvSpPr>
          <p:cNvPr id="21" name="Text 18"/>
          <p:cNvSpPr txBox="1"/>
          <p:nvPr/>
        </p:nvSpPr>
        <p:spPr>
          <a:xfrm>
            <a:off x="850392" y="4992624"/>
            <a:ext cx="10543032" cy="274320"/>
          </a:xfrm>
          <a:prstGeom prst="rect">
            <a:avLst/>
          </a:prstGeom>
          <a:noFill/>
          <a:ln/>
        </p:spPr>
        <p:txBody>
          <a:bodyPr wrap="square" lIns="0" tIns="0" rIns="0" bIns="0" rtlCol="0" anchor="ctr"/>
          <a:lstStyle/>
          <a:p>
            <a:pPr indent="0" marL="0">
              <a:buNone/>
            </a:pPr>
            <a:r>
              <a:rPr lang="en-US" sz="1200" b="1" dirty="0">
                <a:solidFill>
                  <a:srgbClr val="B3121B"/>
                </a:solidFill>
                <a:latin typeface="Yu Gothic" pitchFamily="34" charset="0"/>
                <a:ea typeface="Yu Gothic" pitchFamily="34" charset="-122"/>
                <a:cs typeface="Yu Gothic" pitchFamily="34" charset="-120"/>
              </a:rPr>
              <a:t>⚠ 受託制作のままでは上場しません</a:t>
            </a:r>
            <a:endParaRPr lang="en-US" sz="1200" dirty="0"/>
          </a:p>
        </p:txBody>
      </p:sp>
      <p:sp>
        <p:nvSpPr>
          <p:cNvPr id="22" name="Text 19"/>
          <p:cNvSpPr txBox="1"/>
          <p:nvPr/>
        </p:nvSpPr>
        <p:spPr>
          <a:xfrm>
            <a:off x="850392" y="5321808"/>
            <a:ext cx="10543032" cy="237744"/>
          </a:xfrm>
          <a:prstGeom prst="rect">
            <a:avLst/>
          </a:prstGeom>
          <a:noFill/>
          <a:ln/>
        </p:spPr>
        <p:txBody>
          <a:bodyPr wrap="square" lIns="0" tIns="0" rIns="0" bIns="0" rtlCol="0" anchor="t"/>
          <a:lstStyle/>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労働集約型の受託は、売上が人手に比例するため「規模の割に伸びない事業」と読まれます。</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だから追うべき指標は売上ではなく、人手に比例しない収益（①②③）の比率です。5期で90%。</a:t>
            </a:r>
            <a:endParaRPr lang="en-US" sz="1000" dirty="0"/>
          </a:p>
        </p:txBody>
      </p:sp>
      <p:sp>
        <p:nvSpPr>
          <p:cNvPr id="23" name="Text 20"/>
          <p:cNvSpPr txBox="1"/>
          <p:nvPr/>
        </p:nvSpPr>
        <p:spPr>
          <a:xfrm>
            <a:off x="594360" y="6336792"/>
            <a:ext cx="9902952" cy="310896"/>
          </a:xfrm>
          <a:prstGeom prst="rect">
            <a:avLst/>
          </a:prstGeom>
          <a:noFill/>
          <a:ln/>
        </p:spPr>
        <p:txBody>
          <a:bodyPr wrap="square" lIns="0" tIns="0" rIns="0" bIns="0" rtlCol="0" anchor="ctr"/>
          <a:lstStyle/>
          <a:p>
            <a:pPr indent="0" marL="0">
              <a:buNone/>
            </a:pPr>
            <a:r>
              <a:rPr lang="en-US" sz="850" dirty="0">
                <a:solidFill>
                  <a:srgbClr val="6E6E76"/>
                </a:solidFill>
                <a:latin typeface="Yu Gothic" pitchFamily="34" charset="0"/>
                <a:ea typeface="Yu Gothic" pitchFamily="34" charset="-122"/>
                <a:cs typeface="Yu Gothic" pitchFamily="34" charset="-120"/>
              </a:rPr>
              <a:t>各課題の詳細と数値根拠は COMPETITORS ／ MOAT_TIMELINE ／ CHINA_SOURCING に記載</a:t>
            </a:r>
            <a:endParaRPr lang="en-US" sz="850" dirty="0"/>
          </a:p>
        </p:txBody>
      </p:sp>
      <p:sp>
        <p:nvSpPr>
          <p:cNvPr id="24" name="Text 21"/>
          <p:cNvSpPr txBox="1"/>
          <p:nvPr/>
        </p:nvSpPr>
        <p:spPr>
          <a:xfrm>
            <a:off x="11228832" y="6336792"/>
            <a:ext cx="365760" cy="274320"/>
          </a:xfrm>
          <a:prstGeom prst="rect">
            <a:avLst/>
          </a:prstGeom>
          <a:noFill/>
          <a:ln/>
        </p:spPr>
        <p:txBody>
          <a:bodyPr wrap="square" lIns="0" tIns="0" rIns="0" bIns="0" rtlCol="0" anchor="ctr"/>
          <a:lstStyle/>
          <a:p>
            <a:pPr algn="r" indent="0" marL="0">
              <a:buNone/>
            </a:pPr>
            <a:r>
              <a:rPr lang="en-US" sz="900" dirty="0">
                <a:solidFill>
                  <a:srgbClr val="6E6E76"/>
                </a:solidFill>
                <a:latin typeface="Yu Gothic" pitchFamily="34" charset="0"/>
                <a:ea typeface="Yu Gothic" pitchFamily="34" charset="-122"/>
                <a:cs typeface="Yu Gothic" pitchFamily="34" charset="-120"/>
              </a:rPr>
              <a:t>17</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402336"/>
            <a:ext cx="475488" cy="475488"/>
          </a:xfrm>
          <a:prstGeom prst="rect">
            <a:avLst/>
          </a:prstGeom>
          <a:solidFill>
            <a:srgbClr val="B3121B"/>
          </a:solidFill>
          <a:ln/>
        </p:spPr>
      </p:sp>
      <p:sp>
        <p:nvSpPr>
          <p:cNvPr id="3" name="Text 1"/>
          <p:cNvSpPr txBox="1"/>
          <p:nvPr/>
        </p:nvSpPr>
        <p:spPr>
          <a:xfrm>
            <a:off x="594360" y="40233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5</a:t>
            </a:r>
            <a:endParaRPr lang="en-US" sz="1700" dirty="0"/>
          </a:p>
        </p:txBody>
      </p:sp>
      <p:sp>
        <p:nvSpPr>
          <p:cNvPr id="4" name="Text 2"/>
          <p:cNvSpPr txBox="1"/>
          <p:nvPr/>
        </p:nvSpPr>
        <p:spPr>
          <a:xfrm>
            <a:off x="1207008" y="365760"/>
            <a:ext cx="10387584" cy="548640"/>
          </a:xfrm>
          <a:prstGeom prst="rect">
            <a:avLst/>
          </a:prstGeom>
          <a:noFill/>
          <a:ln/>
        </p:spPr>
        <p:txBody>
          <a:bodyPr wrap="square" lIns="0" tIns="0" rIns="0" bIns="0" rtlCol="0" anchor="ctr"/>
          <a:lstStyle/>
          <a:p>
            <a:pPr indent="0" marL="0">
              <a:buNone/>
            </a:pPr>
            <a:r>
              <a:rPr lang="en-US" sz="2500" b="1" dirty="0">
                <a:solidFill>
                  <a:srgbClr val="16161A"/>
                </a:solidFill>
                <a:latin typeface="Yu Gothic" pitchFamily="34" charset="0"/>
                <a:ea typeface="Yu Gothic" pitchFamily="34" charset="-122"/>
                <a:cs typeface="Yu Gothic" pitchFamily="34" charset="-120"/>
              </a:rPr>
              <a:t>知財 — 支払う側と、取る側</a:t>
            </a:r>
            <a:endParaRPr lang="en-US" sz="2500" dirty="0"/>
          </a:p>
        </p:txBody>
      </p:sp>
      <p:sp>
        <p:nvSpPr>
          <p:cNvPr id="5" name="Text 3"/>
          <p:cNvSpPr txBox="1"/>
          <p:nvPr/>
        </p:nvSpPr>
        <p:spPr>
          <a:xfrm>
            <a:off x="1207008" y="932688"/>
            <a:ext cx="10387584" cy="310896"/>
          </a:xfrm>
          <a:prstGeom prst="rect">
            <a:avLst/>
          </a:prstGeom>
          <a:noFill/>
          <a:ln/>
        </p:spPr>
        <p:txBody>
          <a:bodyPr wrap="square" lIns="0" tIns="0" rIns="0" bIns="0" rtlCol="0" anchor="ctr"/>
          <a:lstStyle/>
          <a:p>
            <a:pPr indent="0" marL="0">
              <a:buNone/>
            </a:pPr>
            <a:r>
              <a:rPr lang="en-US" sz="1200" dirty="0">
                <a:solidFill>
                  <a:srgbClr val="6E6E76"/>
                </a:solidFill>
                <a:latin typeface="Yu Gothic" pitchFamily="34" charset="0"/>
                <a:ea typeface="Yu Gothic" pitchFamily="34" charset="-122"/>
                <a:cs typeface="Yu Gothic" pitchFamily="34" charset="-120"/>
              </a:rPr>
              <a:t>AI映像は、他人の権利を使って作り、自分の権利を積む事業です。両方を同時に管理します</a:t>
            </a:r>
            <a:endParaRPr lang="en-US" sz="1200" dirty="0"/>
          </a:p>
        </p:txBody>
      </p:sp>
      <p:sp>
        <p:nvSpPr>
          <p:cNvPr id="6" name="Text 4"/>
          <p:cNvSpPr txBox="1"/>
          <p:nvPr/>
        </p:nvSpPr>
        <p:spPr>
          <a:xfrm>
            <a:off x="594360" y="1371600"/>
            <a:ext cx="5362956" cy="274320"/>
          </a:xfrm>
          <a:prstGeom prst="rect">
            <a:avLst/>
          </a:prstGeom>
          <a:noFill/>
          <a:ln/>
        </p:spPr>
        <p:txBody>
          <a:bodyPr wrap="square" lIns="0" tIns="0" rIns="0" bIns="0" rtlCol="0" anchor="ctr"/>
          <a:lstStyle/>
          <a:p>
            <a:pPr indent="0" marL="0">
              <a:buNone/>
            </a:pPr>
            <a:r>
              <a:rPr lang="en-US" sz="1100" b="1" dirty="0">
                <a:solidFill>
                  <a:srgbClr val="B3121B"/>
                </a:solidFill>
                <a:latin typeface="Yu Gothic" pitchFamily="34" charset="0"/>
                <a:ea typeface="Yu Gothic" pitchFamily="34" charset="-122"/>
                <a:cs typeface="Yu Gothic" pitchFamily="34" charset="-120"/>
              </a:rPr>
              <a:t>① 支払う側 — 他人の権利にいくら払うか</a:t>
            </a:r>
            <a:endParaRPr lang="en-US" sz="11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94360" y="1700784"/>
          <a:ext cx="5362956" cy="914400"/>
        </p:xfrm>
        <a:graphic>
          <a:graphicData uri="http://schemas.openxmlformats.org/drawingml/2006/table">
            <a:tbl>
              <a:tblPr/>
              <a:tblGrid>
                <a:gridCol w="1600200"/>
                <a:gridCol w="566928"/>
                <a:gridCol w="3182112"/>
              </a:tblGrid>
              <a:tr h="365760">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項目</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事業</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対応</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r>
              <a:tr h="365760">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フォント・音源・素材</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①②③</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許諾済みのホワイトリストを持ち、工程ツールで自動チェック</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365760">
                <a:tc>
                  <a:txBody>
                    <a:bodyPr/>
                    <a:lstStyle/>
                    <a:p>
                      <a:pPr indent="0" marL="0">
                        <a:buNone/>
                      </a:pPr>
                      <a:r>
                        <a:rPr lang="en-US" sz="900" b="1" dirty="0">
                          <a:solidFill>
                            <a:srgbClr val="3A3A42"/>
                          </a:solidFill>
                          <a:latin typeface="Yu Gothic" pitchFamily="34" charset="0"/>
                          <a:ea typeface="Yu Gothic" pitchFamily="34" charset="-122"/>
                          <a:cs typeface="Yu Gothic" pitchFamily="34" charset="-120"/>
                        </a:rPr>
                        <a:t>コーデック特許プール</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②</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H.264/265。アプリ配布は台数課金。②はクラウド配信を基本に</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365760">
                <a:tc>
                  <a:txBody>
                    <a:bodyPr/>
                    <a:lstStyle/>
                    <a:p>
                      <a:pPr indent="0" marL="0">
                        <a:buNone/>
                      </a:pPr>
                      <a:r>
                        <a:rPr lang="en-US" sz="900" b="1" dirty="0">
                          <a:solidFill>
                            <a:srgbClr val="3A3A42"/>
                          </a:solidFill>
                          <a:latin typeface="Yu Gothic" pitchFamily="34" charset="0"/>
                          <a:ea typeface="Yu Gothic" pitchFamily="34" charset="-122"/>
                          <a:cs typeface="Yu Gothic" pitchFamily="34" charset="-120"/>
                        </a:rPr>
                        <a:t>生成AIの商用利用条件</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①③</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登録時に使用ツールを申告。リスト外の納品物は受けない</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365760">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学習データの権利</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②</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制作委託契約に「学習利用の許諾」条項を入れる</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bl>
          </a:graphicData>
        </a:graphic>
      </p:graphicFrame>
      <p:sp>
        <p:nvSpPr>
          <p:cNvPr id="8" name="Text 5"/>
          <p:cNvSpPr txBox="1"/>
          <p:nvPr/>
        </p:nvSpPr>
        <p:spPr>
          <a:xfrm>
            <a:off x="6231636" y="1371600"/>
            <a:ext cx="5362956" cy="274320"/>
          </a:xfrm>
          <a:prstGeom prst="rect">
            <a:avLst/>
          </a:prstGeom>
          <a:noFill/>
          <a:ln/>
        </p:spPr>
        <p:txBody>
          <a:bodyPr wrap="square" lIns="0" tIns="0" rIns="0" bIns="0" rtlCol="0" anchor="ctr"/>
          <a:lstStyle/>
          <a:p>
            <a:pPr indent="0" marL="0">
              <a:buNone/>
            </a:pPr>
            <a:r>
              <a:rPr lang="en-US" sz="1100" b="1" dirty="0">
                <a:solidFill>
                  <a:srgbClr val="2A3563"/>
                </a:solidFill>
                <a:latin typeface="Yu Gothic" pitchFamily="34" charset="0"/>
                <a:ea typeface="Yu Gothic" pitchFamily="34" charset="-122"/>
                <a:cs typeface="Yu Gothic" pitchFamily="34" charset="-120"/>
              </a:rPr>
              <a:t>② 取る側 — 自分の権利をどう積むか</a:t>
            </a:r>
            <a:endParaRPr lang="en-US" sz="1100" dirty="0"/>
          </a:p>
        </p:txBody>
      </p:sp>
      <p:graphicFrame>
        <p:nvGraphicFramePr>
          <p:cNvPr id="39" name="Table 1"/>
          <p:cNvGraphicFramePr>
            <a:graphicFrameLocks noGrp="1"/>
          </p:cNvGraphicFramePr>
          <p:nvPr>
            <p:extLst>
              <p:ext uri="{D42A27DB-BD31-4B8C-83A1-F6EECF244321}">
                <p14:modId xmlns:p14="http://schemas.microsoft.com/office/powerpoint/2010/main" val="1579011935"/>
              </p:ext>
            </p:extLst>
          </p:nvPr>
        </p:nvGraphicFramePr>
        <p:xfrm>
          <a:off x="6231636" y="1700784"/>
          <a:ext cx="5362956" cy="914400"/>
        </p:xfrm>
        <a:graphic>
          <a:graphicData uri="http://schemas.openxmlformats.org/drawingml/2006/table">
            <a:tbl>
              <a:tblPr/>
              <a:tblGrid>
                <a:gridCol w="1600200"/>
                <a:gridCol w="1691640"/>
                <a:gridCol w="2057400"/>
              </a:tblGrid>
              <a:tr h="365760">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項目</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手段</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なぜ</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r>
              <a:tr h="365760">
                <a:tc>
                  <a:txBody>
                    <a:bodyPr/>
                    <a:lstStyle/>
                    <a:p>
                      <a:pPr indent="0" marL="0">
                        <a:buNone/>
                      </a:pPr>
                      <a:r>
                        <a:rPr lang="en-US" sz="900" b="1" dirty="0">
                          <a:solidFill>
                            <a:srgbClr val="3A3A42"/>
                          </a:solidFill>
                          <a:latin typeface="Yu Gothic" pitchFamily="34" charset="0"/>
                          <a:ea typeface="Yu Gothic" pitchFamily="34" charset="-122"/>
                          <a:cs typeface="Yu Gothic" pitchFamily="34" charset="-120"/>
                        </a:rPr>
                        <a:t>越境取引の機構</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ビジネスモデル特許（出願検討）</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権利処理・決済・品質保証を1本に通す仕組みごと押さえる</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365760">
                <a:tc>
                  <a:txBody>
                    <a:bodyPr/>
                    <a:lstStyle/>
                    <a:p>
                      <a:pPr indent="0" marL="0">
                        <a:buNone/>
                      </a:pPr>
                      <a:r>
                        <a:rPr lang="en-US" sz="900" b="1" dirty="0">
                          <a:solidFill>
                            <a:srgbClr val="3A3A42"/>
                          </a:solidFill>
                          <a:latin typeface="Yu Gothic" pitchFamily="34" charset="0"/>
                          <a:ea typeface="Yu Gothic" pitchFamily="34" charset="-122"/>
                          <a:cs typeface="Yu Gothic" pitchFamily="34" charset="-120"/>
                        </a:rPr>
                        <a:t>商標</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日本・中国・台湾で先行取得</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中国は先願主義。使う前に押さえないと取られる</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365760">
                <a:tc>
                  <a:txBody>
                    <a:bodyPr/>
                    <a:lstStyle/>
                    <a:p>
                      <a:pPr indent="0" marL="0">
                        <a:buNone/>
                      </a:pPr>
                      <a:r>
                        <a:rPr lang="en-US" sz="900" b="1" dirty="0">
                          <a:solidFill>
                            <a:srgbClr val="B3121B"/>
                          </a:solidFill>
                          <a:latin typeface="Yu Gothic" pitchFamily="34" charset="0"/>
                          <a:ea typeface="Yu Gothic" pitchFamily="34" charset="-122"/>
                          <a:cs typeface="Yu Gothic" pitchFamily="34" charset="-120"/>
                        </a:rPr>
                        <a:t>プロンプト・ワークフロー</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B3121B"/>
                          </a:solidFill>
                          <a:latin typeface="Yu Gothic" pitchFamily="34" charset="0"/>
                          <a:ea typeface="Yu Gothic" pitchFamily="34" charset="-122"/>
                          <a:cs typeface="Yu Gothic" pitchFamily="34" charset="-120"/>
                        </a:rPr>
                        <a:t>営業秘密（特許化しない）</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B3121B"/>
                          </a:solidFill>
                          <a:latin typeface="Yu Gothic" pitchFamily="34" charset="0"/>
                          <a:ea typeface="Yu Gothic" pitchFamily="34" charset="-122"/>
                          <a:cs typeface="Yu Gothic" pitchFamily="34" charset="-120"/>
                        </a:rPr>
                        <a:t>出願は公開。AX倍率の中核は隠したまま守る</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365760">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チェックポイント・LoRA</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著作物＋営業秘密</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②の商品そのもの。学習手順は開示しない</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bl>
          </a:graphicData>
        </a:graphic>
      </p:graphicFrame>
      <p:sp>
        <p:nvSpPr>
          <p:cNvPr id="10" name="Shape 6"/>
          <p:cNvSpPr/>
          <p:nvPr/>
        </p:nvSpPr>
        <p:spPr>
          <a:xfrm>
            <a:off x="594360" y="3621024"/>
            <a:ext cx="5362956" cy="1225296"/>
          </a:xfrm>
          <a:prstGeom prst="rect">
            <a:avLst/>
          </a:prstGeom>
          <a:solidFill>
            <a:srgbClr val="FBF1F1"/>
          </a:solidFill>
          <a:ln/>
        </p:spPr>
      </p:sp>
      <p:sp>
        <p:nvSpPr>
          <p:cNvPr id="11" name="Shape 7"/>
          <p:cNvSpPr/>
          <p:nvPr/>
        </p:nvSpPr>
        <p:spPr>
          <a:xfrm>
            <a:off x="594360" y="3621024"/>
            <a:ext cx="45720" cy="1225296"/>
          </a:xfrm>
          <a:prstGeom prst="rect">
            <a:avLst/>
          </a:prstGeom>
          <a:solidFill>
            <a:srgbClr val="B3121B"/>
          </a:solidFill>
          <a:ln/>
        </p:spPr>
      </p:sp>
      <p:sp>
        <p:nvSpPr>
          <p:cNvPr id="12" name="Text 8"/>
          <p:cNvSpPr txBox="1"/>
          <p:nvPr/>
        </p:nvSpPr>
        <p:spPr>
          <a:xfrm>
            <a:off x="850392" y="3767328"/>
            <a:ext cx="4905756" cy="274320"/>
          </a:xfrm>
          <a:prstGeom prst="rect">
            <a:avLst/>
          </a:prstGeom>
          <a:noFill/>
          <a:ln/>
        </p:spPr>
        <p:txBody>
          <a:bodyPr wrap="square" lIns="0" tIns="0" rIns="0" bIns="0" rtlCol="0" anchor="ctr"/>
          <a:lstStyle/>
          <a:p>
            <a:pPr indent="0" marL="0">
              <a:buNone/>
            </a:pPr>
            <a:r>
              <a:rPr lang="en-US" sz="1200" b="1" dirty="0">
                <a:solidFill>
                  <a:srgbClr val="B3121B"/>
                </a:solidFill>
                <a:latin typeface="Yu Gothic" pitchFamily="34" charset="0"/>
                <a:ea typeface="Yu Gothic" pitchFamily="34" charset="-122"/>
                <a:cs typeface="Yu Gothic" pitchFamily="34" charset="-120"/>
              </a:rPr>
              <a:t>⚠ 営業秘密として守るための運用（不競法の秘密管理性）</a:t>
            </a:r>
            <a:endParaRPr lang="en-US" sz="1200" dirty="0"/>
          </a:p>
        </p:txBody>
      </p:sp>
      <p:sp>
        <p:nvSpPr>
          <p:cNvPr id="13" name="Text 9"/>
          <p:cNvSpPr txBox="1"/>
          <p:nvPr/>
        </p:nvSpPr>
        <p:spPr>
          <a:xfrm>
            <a:off x="850392" y="4096512"/>
            <a:ext cx="4905756" cy="603504"/>
          </a:xfrm>
          <a:prstGeom prst="rect">
            <a:avLst/>
          </a:prstGeom>
          <a:noFill/>
          <a:ln/>
        </p:spPr>
        <p:txBody>
          <a:bodyPr wrap="square" lIns="0" tIns="0" rIns="0" bIns="0" rtlCol="0" anchor="t"/>
          <a:lstStyle/>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アクセス制限 … プロンプトとワークフローは権限者のみ。委託先には必要な範囲だけ</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秘密表示 … ファイルに「秘」を明示し、管理台帳を持つ</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NDA … 社員・ベトナム開発・制作ディレクション・中国クリエイター・パートナーの全員と締結</a:t>
            </a:r>
            <a:endParaRPr lang="en-US" sz="1000" dirty="0"/>
          </a:p>
        </p:txBody>
      </p:sp>
      <p:sp>
        <p:nvSpPr>
          <p:cNvPr id="14" name="Shape 10"/>
          <p:cNvSpPr/>
          <p:nvPr/>
        </p:nvSpPr>
        <p:spPr>
          <a:xfrm>
            <a:off x="6231636" y="3621024"/>
            <a:ext cx="5362956" cy="1225296"/>
          </a:xfrm>
          <a:prstGeom prst="rect">
            <a:avLst/>
          </a:prstGeom>
          <a:solidFill>
            <a:srgbClr val="FBF1F1"/>
          </a:solidFill>
          <a:ln/>
        </p:spPr>
      </p:sp>
      <p:sp>
        <p:nvSpPr>
          <p:cNvPr id="15" name="Shape 11"/>
          <p:cNvSpPr/>
          <p:nvPr/>
        </p:nvSpPr>
        <p:spPr>
          <a:xfrm>
            <a:off x="6231636" y="3621024"/>
            <a:ext cx="45720" cy="1225296"/>
          </a:xfrm>
          <a:prstGeom prst="rect">
            <a:avLst/>
          </a:prstGeom>
          <a:solidFill>
            <a:srgbClr val="B3121B"/>
          </a:solidFill>
          <a:ln/>
        </p:spPr>
      </p:sp>
      <p:sp>
        <p:nvSpPr>
          <p:cNvPr id="16" name="Text 12"/>
          <p:cNvSpPr txBox="1"/>
          <p:nvPr/>
        </p:nvSpPr>
        <p:spPr>
          <a:xfrm>
            <a:off x="6487668" y="3767328"/>
            <a:ext cx="4905756" cy="274320"/>
          </a:xfrm>
          <a:prstGeom prst="rect">
            <a:avLst/>
          </a:prstGeom>
          <a:noFill/>
          <a:ln/>
        </p:spPr>
        <p:txBody>
          <a:bodyPr wrap="square" lIns="0" tIns="0" rIns="0" bIns="0" rtlCol="0" anchor="ctr"/>
          <a:lstStyle/>
          <a:p>
            <a:pPr indent="0" marL="0">
              <a:buNone/>
            </a:pPr>
            <a:r>
              <a:rPr lang="en-US" sz="1200" b="1" dirty="0">
                <a:solidFill>
                  <a:srgbClr val="B3121B"/>
                </a:solidFill>
                <a:latin typeface="Yu Gothic" pitchFamily="34" charset="0"/>
                <a:ea typeface="Yu Gothic" pitchFamily="34" charset="-122"/>
                <a:cs typeface="Yu Gothic" pitchFamily="34" charset="-120"/>
              </a:rPr>
              <a:t>⚠ 知財の帰属 — 設立と同時に書面化します</a:t>
            </a:r>
            <a:endParaRPr lang="en-US" sz="1200" dirty="0"/>
          </a:p>
        </p:txBody>
      </p:sp>
      <p:sp>
        <p:nvSpPr>
          <p:cNvPr id="17" name="Text 13"/>
          <p:cNvSpPr txBox="1"/>
          <p:nvPr/>
        </p:nvSpPr>
        <p:spPr>
          <a:xfrm>
            <a:off x="6487668" y="4096512"/>
            <a:ext cx="4905756" cy="603504"/>
          </a:xfrm>
          <a:prstGeom prst="rect">
            <a:avLst/>
          </a:prstGeom>
          <a:noFill/>
          <a:ln/>
        </p:spPr>
        <p:txBody>
          <a:bodyPr wrap="square" lIns="0" tIns="0" rIns="0" bIns="0" rtlCol="0" anchor="t"/>
          <a:lstStyle/>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代表個人が設立前に開発したプロンプト・ツール類は、設立時に会社へ譲渡または実施許諾する。</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上場審査で必ず確認される項目なので、後回しにせず設立時に片づけます。</a:t>
            </a:r>
            <a:endParaRPr lang="en-US" sz="1000" dirty="0"/>
          </a:p>
        </p:txBody>
      </p:sp>
      <p:sp>
        <p:nvSpPr>
          <p:cNvPr id="18" name="Text 14"/>
          <p:cNvSpPr txBox="1"/>
          <p:nvPr/>
        </p:nvSpPr>
        <p:spPr>
          <a:xfrm>
            <a:off x="594360" y="4974336"/>
            <a:ext cx="11000232" cy="274320"/>
          </a:xfrm>
          <a:prstGeom prst="rect">
            <a:avLst/>
          </a:prstGeom>
          <a:noFill/>
          <a:ln/>
        </p:spPr>
        <p:txBody>
          <a:bodyPr wrap="square" lIns="0" tIns="0" rIns="0" bIns="0" rtlCol="0" anchor="ctr"/>
          <a:lstStyle/>
          <a:p>
            <a:pPr indent="0" marL="0">
              <a:buNone/>
            </a:pPr>
            <a:r>
              <a:rPr lang="en-US" sz="1150" b="1" dirty="0">
                <a:solidFill>
                  <a:srgbClr val="16161A"/>
                </a:solidFill>
                <a:latin typeface="Yu Gothic" pitchFamily="34" charset="0"/>
                <a:ea typeface="Yu Gothic" pitchFamily="34" charset="-122"/>
                <a:cs typeface="Yu Gothic" pitchFamily="34" charset="-120"/>
              </a:rPr>
              <a:t>知財関連費 — 1期 300万円★（特許出願＋商標3か国）／2期以降は売上の0.5%★（5期 6,000万円）</a:t>
            </a:r>
            <a:endParaRPr lang="en-US" sz="1150" dirty="0"/>
          </a:p>
        </p:txBody>
      </p:sp>
      <p:graphicFrame>
        <p:nvGraphicFramePr>
          <p:cNvPr id="58" name="Table 2"/>
          <p:cNvGraphicFramePr>
            <a:graphicFrameLocks noGrp="1"/>
          </p:cNvGraphicFramePr>
          <p:nvPr>
            <p:extLst>
              <p:ext uri="{D42A27DB-BD31-4B8C-83A1-F6EECF244321}">
                <p14:modId xmlns:p14="http://schemas.microsoft.com/office/powerpoint/2010/main" val="1579011935"/>
              </p:ext>
            </p:extLst>
          </p:nvPr>
        </p:nvGraphicFramePr>
        <p:xfrm>
          <a:off x="594360" y="5266944"/>
          <a:ext cx="11000232" cy="914400"/>
        </p:xfrm>
        <a:graphic>
          <a:graphicData uri="http://schemas.openxmlformats.org/drawingml/2006/table">
            <a:tbl>
              <a:tblPr/>
              <a:tblGrid>
                <a:gridCol w="3291840"/>
                <a:gridCol w="1463040"/>
                <a:gridCol w="1463040"/>
                <a:gridCol w="1463040"/>
                <a:gridCol w="1463040"/>
                <a:gridCol w="1490472"/>
              </a:tblGrid>
              <a:tr h="310896">
                <a:tc>
                  <a:txBody>
                    <a:bodyPr/>
                    <a:lstStyle/>
                    <a:p>
                      <a:pPr indent="0" marL="0">
                        <a:buNone/>
                      </a:pP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1期</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2期</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3期</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4期</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5期</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r>
              <a:tr h="310896">
                <a:tc>
                  <a:txBody>
                    <a:bodyPr/>
                    <a:lstStyle/>
                    <a:p>
                      <a:pPr indent="0" marL="0">
                        <a:buNone/>
                      </a:pPr>
                      <a:r>
                        <a:rPr lang="en-US" sz="950" b="1" dirty="0">
                          <a:solidFill>
                            <a:srgbClr val="3A3A42"/>
                          </a:solidFill>
                          <a:latin typeface="Yu Gothic" pitchFamily="34" charset="0"/>
                          <a:ea typeface="Yu Gothic" pitchFamily="34" charset="-122"/>
                          <a:cs typeface="Yu Gothic" pitchFamily="34" charset="-120"/>
                        </a:rPr>
                        <a:t>知財関連費（百万円）</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b="1" dirty="0">
                          <a:solidFill>
                            <a:srgbClr val="B3121B"/>
                          </a:solidFill>
                          <a:latin typeface="Yu Gothic" pitchFamily="34" charset="0"/>
                          <a:ea typeface="Yu Gothic" pitchFamily="34" charset="-122"/>
                          <a:cs typeface="Yu Gothic" pitchFamily="34" charset="-120"/>
                        </a:rPr>
                        <a:t>3</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2</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12</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34</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b="1" dirty="0">
                          <a:solidFill>
                            <a:srgbClr val="B3121B"/>
                          </a:solidFill>
                          <a:latin typeface="Yu Gothic" pitchFamily="34" charset="0"/>
                          <a:ea typeface="Yu Gothic" pitchFamily="34" charset="-122"/>
                          <a:cs typeface="Yu Gothic" pitchFamily="34" charset="-120"/>
                        </a:rPr>
                        <a:t>60</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bl>
          </a:graphicData>
        </a:graphic>
      </p:graphicFrame>
      <p:sp>
        <p:nvSpPr>
          <p:cNvPr id="20" name="Text 15"/>
          <p:cNvSpPr txBox="1"/>
          <p:nvPr/>
        </p:nvSpPr>
        <p:spPr>
          <a:xfrm>
            <a:off x="594360" y="6336792"/>
            <a:ext cx="9902952" cy="310896"/>
          </a:xfrm>
          <a:prstGeom prst="rect">
            <a:avLst/>
          </a:prstGeom>
          <a:noFill/>
          <a:ln/>
        </p:spPr>
        <p:txBody>
          <a:bodyPr wrap="square" lIns="0" tIns="0" rIns="0" bIns="0" rtlCol="0" anchor="ctr"/>
          <a:lstStyle/>
          <a:p>
            <a:pPr indent="0" marL="0">
              <a:buNone/>
            </a:pPr>
            <a:r>
              <a:rPr lang="en-US" sz="850" dirty="0">
                <a:solidFill>
                  <a:srgbClr val="6E6E76"/>
                </a:solidFill>
                <a:latin typeface="Yu Gothic" pitchFamily="34" charset="0"/>
                <a:ea typeface="Yu Gothic" pitchFamily="34" charset="-122"/>
                <a:cs typeface="Yu Gothic" pitchFamily="34" charset="-120"/>
              </a:rPr>
              <a:t>★ 金額は弁理士の見積を取っていない仮置きです。出願を複数に分けると初期費用は上振れします。コーデックのライセンス要否は配布形態が決まった時点で再確認します</a:t>
            </a:r>
            <a:endParaRPr lang="en-US" sz="850" dirty="0"/>
          </a:p>
        </p:txBody>
      </p:sp>
      <p:sp>
        <p:nvSpPr>
          <p:cNvPr id="21" name="Text 16"/>
          <p:cNvSpPr txBox="1"/>
          <p:nvPr/>
        </p:nvSpPr>
        <p:spPr>
          <a:xfrm>
            <a:off x="11228832" y="6336792"/>
            <a:ext cx="365760" cy="274320"/>
          </a:xfrm>
          <a:prstGeom prst="rect">
            <a:avLst/>
          </a:prstGeom>
          <a:noFill/>
          <a:ln/>
        </p:spPr>
        <p:txBody>
          <a:bodyPr wrap="square" lIns="0" tIns="0" rIns="0" bIns="0" rtlCol="0" anchor="ctr"/>
          <a:lstStyle/>
          <a:p>
            <a:pPr algn="r" indent="0" marL="0">
              <a:buNone/>
            </a:pPr>
            <a:r>
              <a:rPr lang="en-US" sz="900" dirty="0">
                <a:solidFill>
                  <a:srgbClr val="6E6E76"/>
                </a:solidFill>
                <a:latin typeface="Yu Gothic" pitchFamily="34" charset="0"/>
                <a:ea typeface="Yu Gothic" pitchFamily="34" charset="-122"/>
                <a:cs typeface="Yu Gothic" pitchFamily="34" charset="-120"/>
              </a:rPr>
              <a:t>18</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402336"/>
            <a:ext cx="475488" cy="475488"/>
          </a:xfrm>
          <a:prstGeom prst="rect">
            <a:avLst/>
          </a:prstGeom>
          <a:solidFill>
            <a:srgbClr val="B3121B"/>
          </a:solidFill>
          <a:ln/>
        </p:spPr>
      </p:sp>
      <p:sp>
        <p:nvSpPr>
          <p:cNvPr id="3" name="Text 1"/>
          <p:cNvSpPr txBox="1"/>
          <p:nvPr/>
        </p:nvSpPr>
        <p:spPr>
          <a:xfrm>
            <a:off x="594360" y="40233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6</a:t>
            </a:r>
            <a:endParaRPr lang="en-US" sz="1700" dirty="0"/>
          </a:p>
        </p:txBody>
      </p:sp>
      <p:sp>
        <p:nvSpPr>
          <p:cNvPr id="4" name="Text 2"/>
          <p:cNvSpPr txBox="1"/>
          <p:nvPr/>
        </p:nvSpPr>
        <p:spPr>
          <a:xfrm>
            <a:off x="1207008" y="365760"/>
            <a:ext cx="10387584" cy="548640"/>
          </a:xfrm>
          <a:prstGeom prst="rect">
            <a:avLst/>
          </a:prstGeom>
          <a:noFill/>
          <a:ln/>
        </p:spPr>
        <p:txBody>
          <a:bodyPr wrap="square" lIns="0" tIns="0" rIns="0" bIns="0" rtlCol="0" anchor="ctr"/>
          <a:lstStyle/>
          <a:p>
            <a:pPr indent="0" marL="0">
              <a:buNone/>
            </a:pPr>
            <a:r>
              <a:rPr lang="en-US" sz="2500" b="1" dirty="0">
                <a:solidFill>
                  <a:srgbClr val="16161A"/>
                </a:solidFill>
                <a:latin typeface="Yu Gothic" pitchFamily="34" charset="0"/>
                <a:ea typeface="Yu Gothic" pitchFamily="34" charset="-122"/>
                <a:cs typeface="Yu Gothic" pitchFamily="34" charset="-120"/>
              </a:rPr>
              <a:t>チーム — 社員は極小に保ちます</a:t>
            </a:r>
            <a:endParaRPr lang="en-US" sz="2500" dirty="0"/>
          </a:p>
        </p:txBody>
      </p:sp>
      <p:sp>
        <p:nvSpPr>
          <p:cNvPr id="5" name="Text 3"/>
          <p:cNvSpPr txBox="1"/>
          <p:nvPr/>
        </p:nvSpPr>
        <p:spPr>
          <a:xfrm>
            <a:off x="1207008" y="932688"/>
            <a:ext cx="10387584" cy="310896"/>
          </a:xfrm>
          <a:prstGeom prst="rect">
            <a:avLst/>
          </a:prstGeom>
          <a:noFill/>
          <a:ln/>
        </p:spPr>
        <p:txBody>
          <a:bodyPr wrap="square" lIns="0" tIns="0" rIns="0" bIns="0" rtlCol="0" anchor="ctr"/>
          <a:lstStyle/>
          <a:p>
            <a:pPr indent="0" marL="0">
              <a:buNone/>
            </a:pPr>
            <a:r>
              <a:rPr lang="en-US" sz="1200" dirty="0">
                <a:solidFill>
                  <a:srgbClr val="6E6E76"/>
                </a:solidFill>
                <a:latin typeface="Yu Gothic" pitchFamily="34" charset="0"/>
                <a:ea typeface="Yu Gothic" pitchFamily="34" charset="-122"/>
                <a:cs typeface="Yu Gothic" pitchFamily="34" charset="-120"/>
              </a:rPr>
              <a:t>モデル開発と統括だけを社員に置き、制作は業務委託と自動化で回します</a:t>
            </a:r>
            <a:endParaRPr lang="en-US" sz="1200" dirty="0"/>
          </a:p>
        </p:txBody>
      </p:sp>
      <p:sp>
        <p:nvSpPr>
          <p:cNvPr id="6" name="Shape 4"/>
          <p:cNvSpPr/>
          <p:nvPr/>
        </p:nvSpPr>
        <p:spPr>
          <a:xfrm>
            <a:off x="594360" y="1371600"/>
            <a:ext cx="3483864" cy="1371600"/>
          </a:xfrm>
          <a:prstGeom prst="rect">
            <a:avLst/>
          </a:prstGeom>
          <a:solidFill>
            <a:srgbClr val="FCE5CD"/>
          </a:solidFill>
          <a:ln/>
        </p:spPr>
      </p:sp>
      <p:sp>
        <p:nvSpPr>
          <p:cNvPr id="7" name="Shape 5"/>
          <p:cNvSpPr/>
          <p:nvPr/>
        </p:nvSpPr>
        <p:spPr>
          <a:xfrm>
            <a:off x="813816" y="1627632"/>
            <a:ext cx="109728" cy="109728"/>
          </a:xfrm>
          <a:prstGeom prst="rect">
            <a:avLst/>
          </a:prstGeom>
          <a:solidFill>
            <a:srgbClr val="B3121B"/>
          </a:solidFill>
          <a:ln/>
        </p:spPr>
      </p:sp>
      <p:sp>
        <p:nvSpPr>
          <p:cNvPr id="8" name="Text 6"/>
          <p:cNvSpPr txBox="1"/>
          <p:nvPr/>
        </p:nvSpPr>
        <p:spPr>
          <a:xfrm>
            <a:off x="1033272" y="1536192"/>
            <a:ext cx="2825496"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代表取締役</a:t>
            </a:r>
            <a:endParaRPr lang="en-US" sz="1250" dirty="0"/>
          </a:p>
        </p:txBody>
      </p:sp>
      <p:sp>
        <p:nvSpPr>
          <p:cNvPr id="9" name="Text 7"/>
          <p:cNvSpPr txBox="1"/>
          <p:nvPr/>
        </p:nvSpPr>
        <p:spPr>
          <a:xfrm>
            <a:off x="1033272" y="1883664"/>
            <a:ext cx="2825496" cy="676656"/>
          </a:xfrm>
          <a:prstGeom prst="rect">
            <a:avLst/>
          </a:prstGeom>
          <a:noFill/>
          <a:ln/>
        </p:spPr>
        <p:txBody>
          <a:bodyPr wrap="square" lIns="0" tIns="0" rIns="0" bIns="0" rtlCol="0" anchor="t"/>
          <a:lstStyle/>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会社経営・コンサルティング経験</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日本・中国・台湾をまたぐ越境実務</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（詳細は［記入予定］）</a:t>
            </a:r>
            <a:endParaRPr lang="en-US" sz="1000" dirty="0"/>
          </a:p>
        </p:txBody>
      </p:sp>
      <p:sp>
        <p:nvSpPr>
          <p:cNvPr id="10" name="Shape 8"/>
          <p:cNvSpPr/>
          <p:nvPr/>
        </p:nvSpPr>
        <p:spPr>
          <a:xfrm>
            <a:off x="4352544" y="1371600"/>
            <a:ext cx="3483864" cy="1371600"/>
          </a:xfrm>
          <a:prstGeom prst="rect">
            <a:avLst/>
          </a:prstGeom>
          <a:solidFill>
            <a:srgbClr val="FCE5CD"/>
          </a:solidFill>
          <a:ln/>
        </p:spPr>
      </p:sp>
      <p:sp>
        <p:nvSpPr>
          <p:cNvPr id="11" name="Shape 9"/>
          <p:cNvSpPr/>
          <p:nvPr/>
        </p:nvSpPr>
        <p:spPr>
          <a:xfrm>
            <a:off x="4572000" y="1627632"/>
            <a:ext cx="109728" cy="109728"/>
          </a:xfrm>
          <a:prstGeom prst="rect">
            <a:avLst/>
          </a:prstGeom>
          <a:solidFill>
            <a:srgbClr val="2A3563"/>
          </a:solidFill>
          <a:ln/>
        </p:spPr>
      </p:sp>
      <p:sp>
        <p:nvSpPr>
          <p:cNvPr id="12" name="Text 10"/>
          <p:cNvSpPr txBox="1"/>
          <p:nvPr/>
        </p:nvSpPr>
        <p:spPr>
          <a:xfrm>
            <a:off x="4791456" y="1536192"/>
            <a:ext cx="2825496"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CTO／モデル開発責任者</a:t>
            </a:r>
            <a:endParaRPr lang="en-US" sz="1250" dirty="0"/>
          </a:p>
        </p:txBody>
      </p:sp>
      <p:sp>
        <p:nvSpPr>
          <p:cNvPr id="13" name="Text 11"/>
          <p:cNvSpPr txBox="1"/>
          <p:nvPr/>
        </p:nvSpPr>
        <p:spPr>
          <a:xfrm>
            <a:off x="4791456" y="1883664"/>
            <a:ext cx="2825496" cy="676656"/>
          </a:xfrm>
          <a:prstGeom prst="rect">
            <a:avLst/>
          </a:prstGeom>
          <a:noFill/>
          <a:ln/>
        </p:spPr>
        <p:txBody>
          <a:bodyPr wrap="square" lIns="0" tIns="0" rIns="0" bIns="0" rtlCol="0" anchor="t"/>
          <a:lstStyle/>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採用計画</a:t>
            </a:r>
            <a:endParaRPr lang="en-US" sz="1000" dirty="0"/>
          </a:p>
        </p:txBody>
      </p:sp>
      <p:sp>
        <p:nvSpPr>
          <p:cNvPr id="14" name="Shape 12"/>
          <p:cNvSpPr/>
          <p:nvPr/>
        </p:nvSpPr>
        <p:spPr>
          <a:xfrm>
            <a:off x="8110728" y="1371600"/>
            <a:ext cx="3483864" cy="1371600"/>
          </a:xfrm>
          <a:prstGeom prst="rect">
            <a:avLst/>
          </a:prstGeom>
          <a:solidFill>
            <a:srgbClr val="FCE5CD"/>
          </a:solidFill>
          <a:ln/>
        </p:spPr>
      </p:sp>
      <p:sp>
        <p:nvSpPr>
          <p:cNvPr id="15" name="Shape 13"/>
          <p:cNvSpPr/>
          <p:nvPr/>
        </p:nvSpPr>
        <p:spPr>
          <a:xfrm>
            <a:off x="8330184" y="1627632"/>
            <a:ext cx="109728" cy="109728"/>
          </a:xfrm>
          <a:prstGeom prst="rect">
            <a:avLst/>
          </a:prstGeom>
          <a:solidFill>
            <a:srgbClr val="C9962C"/>
          </a:solidFill>
          <a:ln/>
        </p:spPr>
      </p:sp>
      <p:sp>
        <p:nvSpPr>
          <p:cNvPr id="16" name="Text 14"/>
          <p:cNvSpPr txBox="1"/>
          <p:nvPr/>
        </p:nvSpPr>
        <p:spPr>
          <a:xfrm>
            <a:off x="8549640" y="1536192"/>
            <a:ext cx="2825496"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制作統括</a:t>
            </a:r>
            <a:endParaRPr lang="en-US" sz="1250" dirty="0"/>
          </a:p>
        </p:txBody>
      </p:sp>
      <p:sp>
        <p:nvSpPr>
          <p:cNvPr id="17" name="Text 15"/>
          <p:cNvSpPr txBox="1"/>
          <p:nvPr/>
        </p:nvSpPr>
        <p:spPr>
          <a:xfrm>
            <a:off x="8549640" y="1883664"/>
            <a:ext cx="2825496" cy="676656"/>
          </a:xfrm>
          <a:prstGeom prst="rect">
            <a:avLst/>
          </a:prstGeom>
          <a:noFill/>
          <a:ln/>
        </p:spPr>
        <p:txBody>
          <a:bodyPr wrap="square" lIns="0" tIns="0" rIns="0" bIns="0" rtlCol="0" anchor="t"/>
          <a:lstStyle/>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採用計画</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94360" y="2926080"/>
          <a:ext cx="11000232" cy="914400"/>
        </p:xfrm>
        <a:graphic>
          <a:graphicData uri="http://schemas.openxmlformats.org/drawingml/2006/table">
            <a:tbl>
              <a:tblPr/>
              <a:tblGrid>
                <a:gridCol w="3291840"/>
                <a:gridCol w="1463040"/>
                <a:gridCol w="1463040"/>
                <a:gridCol w="1463040"/>
                <a:gridCol w="1463040"/>
                <a:gridCol w="1490472"/>
              </a:tblGrid>
              <a:tr h="310896">
                <a:tc>
                  <a:txBody>
                    <a:bodyPr/>
                    <a:lstStyle/>
                    <a:p>
                      <a:pPr indent="0" marL="0">
                        <a:buNone/>
                      </a:pP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1期</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2期</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3期</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4期</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5期</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r>
              <a:tr h="310896">
                <a:tc>
                  <a:txBody>
                    <a:bodyPr/>
                    <a:lstStyle/>
                    <a:p>
                      <a:pPr indent="0" marL="0">
                        <a:buNone/>
                      </a:pPr>
                      <a:r>
                        <a:rPr lang="en-US" sz="950" b="1" dirty="0">
                          <a:solidFill>
                            <a:srgbClr val="B3121B"/>
                          </a:solidFill>
                          <a:latin typeface="Yu Gothic" pitchFamily="34" charset="0"/>
                          <a:ea typeface="Yu Gothic" pitchFamily="34" charset="-122"/>
                          <a:cs typeface="Yu Gothic" pitchFamily="34" charset="-120"/>
                        </a:rPr>
                        <a:t>社員（日本側）</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b="1" dirty="0">
                          <a:solidFill>
                            <a:srgbClr val="3A3A42"/>
                          </a:solidFill>
                          <a:latin typeface="Yu Gothic" pitchFamily="34" charset="0"/>
                          <a:ea typeface="Yu Gothic" pitchFamily="34" charset="-122"/>
                          <a:cs typeface="Yu Gothic" pitchFamily="34" charset="-120"/>
                        </a:rPr>
                        <a:t>5</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9</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15</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20</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b="1" dirty="0">
                          <a:solidFill>
                            <a:srgbClr val="B3121B"/>
                          </a:solidFill>
                          <a:latin typeface="Yu Gothic" pitchFamily="34" charset="0"/>
                          <a:ea typeface="Yu Gothic" pitchFamily="34" charset="-122"/>
                          <a:cs typeface="Yu Gothic" pitchFamily="34" charset="-120"/>
                        </a:rPr>
                        <a:t>22</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310896">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　うちモデル開発PM</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1</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2</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3</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4</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4</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310896">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　うち経営・統括・管理</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4</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7</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12</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16</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18</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310896">
                <a:tc>
                  <a:txBody>
                    <a:bodyPr/>
                    <a:lstStyle/>
                    <a:p>
                      <a:pPr indent="0" marL="0">
                        <a:buNone/>
                      </a:pPr>
                      <a:r>
                        <a:rPr lang="en-US" sz="950" dirty="0">
                          <a:solidFill>
                            <a:srgbClr val="6E6E76"/>
                          </a:solidFill>
                          <a:latin typeface="Yu Gothic" pitchFamily="34" charset="0"/>
                          <a:ea typeface="Yu Gothic" pitchFamily="34" charset="-122"/>
                          <a:cs typeface="Yu Gothic" pitchFamily="34" charset="-120"/>
                        </a:rPr>
                        <a:t>業務委託 開発（ベトナム）</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5</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9</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14</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16</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19</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310896">
                <a:tc>
                  <a:txBody>
                    <a:bodyPr/>
                    <a:lstStyle/>
                    <a:p>
                      <a:pPr indent="0" marL="0">
                        <a:buNone/>
                      </a:pPr>
                      <a:r>
                        <a:rPr lang="en-US" sz="950" dirty="0">
                          <a:solidFill>
                            <a:srgbClr val="6E6E76"/>
                          </a:solidFill>
                          <a:latin typeface="Yu Gothic" pitchFamily="34" charset="0"/>
                          <a:ea typeface="Yu Gothic" pitchFamily="34" charset="-122"/>
                          <a:cs typeface="Yu Gothic" pitchFamily="34" charset="-120"/>
                        </a:rPr>
                        <a:t>業務委託 ディレクション</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1</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5</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16</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25</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28</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310896">
                <a:tc>
                  <a:txBody>
                    <a:bodyPr/>
                    <a:lstStyle/>
                    <a:p>
                      <a:pPr indent="0" marL="0">
                        <a:buNone/>
                      </a:pPr>
                      <a:r>
                        <a:rPr lang="en-US" sz="950" dirty="0">
                          <a:solidFill>
                            <a:srgbClr val="6E6E76"/>
                          </a:solidFill>
                          <a:latin typeface="Yu Gothic" pitchFamily="34" charset="0"/>
                          <a:ea typeface="Yu Gothic" pitchFamily="34" charset="-122"/>
                          <a:cs typeface="Yu Gothic" pitchFamily="34" charset="-120"/>
                        </a:rPr>
                        <a:t>業務委託 中国クリエイター（稼働）</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3</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26</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169</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464</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780</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310896">
                <a:tc>
                  <a:txBody>
                    <a:bodyPr/>
                    <a:lstStyle/>
                    <a:p>
                      <a:pPr indent="0" marL="0">
                        <a:buNone/>
                      </a:pPr>
                      <a:r>
                        <a:rPr lang="en-US" sz="950" b="1" dirty="0">
                          <a:solidFill>
                            <a:srgbClr val="3A3A42"/>
                          </a:solidFill>
                          <a:latin typeface="Yu Gothic" pitchFamily="34" charset="0"/>
                          <a:ea typeface="Yu Gothic" pitchFamily="34" charset="-122"/>
                          <a:cs typeface="Yu Gothic" pitchFamily="34" charset="-120"/>
                        </a:rPr>
                        <a:t>★ 売上／社員</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900万</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3,889万</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1.59億</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3.37億</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b="1" dirty="0">
                          <a:solidFill>
                            <a:srgbClr val="B3121B"/>
                          </a:solidFill>
                          <a:latin typeface="Yu Gothic" pitchFamily="34" charset="0"/>
                          <a:ea typeface="Yu Gothic" pitchFamily="34" charset="-122"/>
                          <a:cs typeface="Yu Gothic" pitchFamily="34" charset="-120"/>
                        </a:rPr>
                        <a:t>5.46億</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bl>
          </a:graphicData>
        </a:graphic>
      </p:graphicFrame>
      <p:sp>
        <p:nvSpPr>
          <p:cNvPr id="19" name="Shape 16"/>
          <p:cNvSpPr/>
          <p:nvPr/>
        </p:nvSpPr>
        <p:spPr>
          <a:xfrm>
            <a:off x="594360" y="4956048"/>
            <a:ext cx="5362956" cy="749808"/>
          </a:xfrm>
          <a:prstGeom prst="rect">
            <a:avLst/>
          </a:prstGeom>
          <a:solidFill>
            <a:srgbClr val="FBF1F1"/>
          </a:solidFill>
          <a:ln/>
        </p:spPr>
      </p:sp>
      <p:sp>
        <p:nvSpPr>
          <p:cNvPr id="20" name="Shape 17"/>
          <p:cNvSpPr/>
          <p:nvPr/>
        </p:nvSpPr>
        <p:spPr>
          <a:xfrm>
            <a:off x="594360" y="4956048"/>
            <a:ext cx="45720" cy="749808"/>
          </a:xfrm>
          <a:prstGeom prst="rect">
            <a:avLst/>
          </a:prstGeom>
          <a:solidFill>
            <a:srgbClr val="B3121B"/>
          </a:solidFill>
          <a:ln/>
        </p:spPr>
      </p:sp>
      <p:sp>
        <p:nvSpPr>
          <p:cNvPr id="21" name="Text 18"/>
          <p:cNvSpPr txBox="1"/>
          <p:nvPr/>
        </p:nvSpPr>
        <p:spPr>
          <a:xfrm>
            <a:off x="850392" y="5102352"/>
            <a:ext cx="4905756" cy="274320"/>
          </a:xfrm>
          <a:prstGeom prst="rect">
            <a:avLst/>
          </a:prstGeom>
          <a:noFill/>
          <a:ln/>
        </p:spPr>
        <p:txBody>
          <a:bodyPr wrap="square" lIns="0" tIns="0" rIns="0" bIns="0" rtlCol="0" anchor="ctr"/>
          <a:lstStyle/>
          <a:p>
            <a:pPr indent="0" marL="0">
              <a:buNone/>
            </a:pPr>
            <a:r>
              <a:rPr lang="en-US" sz="1200" b="1" dirty="0">
                <a:solidFill>
                  <a:srgbClr val="B3121B"/>
                </a:solidFill>
                <a:latin typeface="Yu Gothic" pitchFamily="34" charset="0"/>
                <a:ea typeface="Yu Gothic" pitchFamily="34" charset="-122"/>
                <a:cs typeface="Yu Gothic" pitchFamily="34" charset="-120"/>
              </a:rPr>
              <a:t>⚠ 社員はPM中心。開発も外に出します</a:t>
            </a:r>
            <a:endParaRPr lang="en-US" sz="1200" dirty="0"/>
          </a:p>
        </p:txBody>
      </p:sp>
      <p:sp>
        <p:nvSpPr>
          <p:cNvPr id="22" name="Text 19"/>
          <p:cNvSpPr txBox="1"/>
          <p:nvPr/>
        </p:nvSpPr>
        <p:spPr>
          <a:xfrm>
            <a:off x="850392" y="5431536"/>
            <a:ext cx="4905756" cy="128016"/>
          </a:xfrm>
          <a:prstGeom prst="rect">
            <a:avLst/>
          </a:prstGeom>
          <a:noFill/>
          <a:ln/>
        </p:spPr>
        <p:txBody>
          <a:bodyPr wrap="square" lIns="0" tIns="0" rIns="0" bIns="0" rtlCol="0" anchor="t"/>
          <a:lstStyle/>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5期22名のうちPMは4名。開発はベトナム19名、制作は28名の委託。人件費1.9億＋開発委託1.0億。</a:t>
            </a:r>
            <a:endParaRPr lang="en-US" sz="1000" dirty="0"/>
          </a:p>
        </p:txBody>
      </p:sp>
      <p:sp>
        <p:nvSpPr>
          <p:cNvPr id="23" name="Shape 20"/>
          <p:cNvSpPr/>
          <p:nvPr/>
        </p:nvSpPr>
        <p:spPr>
          <a:xfrm>
            <a:off x="6231636" y="4956048"/>
            <a:ext cx="5362956" cy="749808"/>
          </a:xfrm>
          <a:prstGeom prst="rect">
            <a:avLst/>
          </a:prstGeom>
          <a:solidFill>
            <a:srgbClr val="FBF1F1"/>
          </a:solidFill>
          <a:ln/>
        </p:spPr>
      </p:sp>
      <p:sp>
        <p:nvSpPr>
          <p:cNvPr id="24" name="Shape 21"/>
          <p:cNvSpPr/>
          <p:nvPr/>
        </p:nvSpPr>
        <p:spPr>
          <a:xfrm>
            <a:off x="6231636" y="4956048"/>
            <a:ext cx="45720" cy="749808"/>
          </a:xfrm>
          <a:prstGeom prst="rect">
            <a:avLst/>
          </a:prstGeom>
          <a:solidFill>
            <a:srgbClr val="B3121B"/>
          </a:solidFill>
          <a:ln/>
        </p:spPr>
      </p:sp>
      <p:sp>
        <p:nvSpPr>
          <p:cNvPr id="25" name="Text 22"/>
          <p:cNvSpPr txBox="1"/>
          <p:nvPr/>
        </p:nvSpPr>
        <p:spPr>
          <a:xfrm>
            <a:off x="6487668" y="5102352"/>
            <a:ext cx="4905756" cy="274320"/>
          </a:xfrm>
          <a:prstGeom prst="rect">
            <a:avLst/>
          </a:prstGeom>
          <a:noFill/>
          <a:ln/>
        </p:spPr>
        <p:txBody>
          <a:bodyPr wrap="square" lIns="0" tIns="0" rIns="0" bIns="0" rtlCol="0" anchor="ctr"/>
          <a:lstStyle/>
          <a:p>
            <a:pPr indent="0" marL="0">
              <a:buNone/>
            </a:pPr>
            <a:r>
              <a:rPr lang="en-US" sz="1200" b="1" dirty="0">
                <a:solidFill>
                  <a:srgbClr val="B3121B"/>
                </a:solidFill>
                <a:latin typeface="Yu Gothic" pitchFamily="34" charset="0"/>
                <a:ea typeface="Yu Gothic" pitchFamily="34" charset="-122"/>
                <a:cs typeface="Yu Gothic" pitchFamily="34" charset="-120"/>
              </a:rPr>
              <a:t>⚠ 中国の制作パートナー ［記入予定］</a:t>
            </a:r>
            <a:endParaRPr lang="en-US" sz="1200" dirty="0"/>
          </a:p>
        </p:txBody>
      </p:sp>
      <p:sp>
        <p:nvSpPr>
          <p:cNvPr id="26" name="Text 23"/>
          <p:cNvSpPr txBox="1"/>
          <p:nvPr/>
        </p:nvSpPr>
        <p:spPr>
          <a:xfrm>
            <a:off x="6487668" y="5431536"/>
            <a:ext cx="4905756" cy="128016"/>
          </a:xfrm>
          <a:prstGeom prst="rect">
            <a:avLst/>
          </a:prstGeom>
          <a:noFill/>
          <a:ln/>
        </p:spPr>
        <p:txBody>
          <a:bodyPr wrap="square" lIns="0" tIns="0" rIns="0" bIns="0" rtlCol="0" anchor="t"/>
          <a:lstStyle/>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発注・支払はパートナー経由。制作データと成果物の権利は契約により日本側に帰属させます。</a:t>
            </a:r>
            <a:endParaRPr lang="en-US" sz="1000" dirty="0"/>
          </a:p>
        </p:txBody>
      </p:sp>
      <p:sp>
        <p:nvSpPr>
          <p:cNvPr id="27" name="Text 24"/>
          <p:cNvSpPr txBox="1"/>
          <p:nvPr/>
        </p:nvSpPr>
        <p:spPr>
          <a:xfrm>
            <a:off x="594360" y="6336792"/>
            <a:ext cx="9902952" cy="310896"/>
          </a:xfrm>
          <a:prstGeom prst="rect">
            <a:avLst/>
          </a:prstGeom>
          <a:noFill/>
          <a:ln/>
        </p:spPr>
        <p:txBody>
          <a:bodyPr wrap="square" lIns="0" tIns="0" rIns="0" bIns="0" rtlCol="0" anchor="ctr"/>
          <a:lstStyle/>
          <a:p>
            <a:pPr indent="0" marL="0">
              <a:buNone/>
            </a:pPr>
            <a:r>
              <a:rPr lang="en-US" sz="850" dirty="0">
                <a:solidFill>
                  <a:srgbClr val="6E6E76"/>
                </a:solidFill>
                <a:latin typeface="Yu Gothic" pitchFamily="34" charset="0"/>
                <a:ea typeface="Yu Gothic" pitchFamily="34" charset="-122"/>
                <a:cs typeface="Yu Gothic" pitchFamily="34" charset="-120"/>
              </a:rPr>
              <a:t>⚠ 業務委託が中心になるため、偽装請負にならない契約設計（指揮命令をしない／成果物単位で発注する）が必須です。契約書の雛形を1期に弁護士と作ります</a:t>
            </a:r>
            <a:endParaRPr lang="en-US" sz="850" dirty="0"/>
          </a:p>
        </p:txBody>
      </p:sp>
      <p:sp>
        <p:nvSpPr>
          <p:cNvPr id="28" name="Text 25"/>
          <p:cNvSpPr txBox="1"/>
          <p:nvPr/>
        </p:nvSpPr>
        <p:spPr>
          <a:xfrm>
            <a:off x="11228832" y="6336792"/>
            <a:ext cx="365760" cy="274320"/>
          </a:xfrm>
          <a:prstGeom prst="rect">
            <a:avLst/>
          </a:prstGeom>
          <a:noFill/>
          <a:ln/>
        </p:spPr>
        <p:txBody>
          <a:bodyPr wrap="square" lIns="0" tIns="0" rIns="0" bIns="0" rtlCol="0" anchor="ctr"/>
          <a:lstStyle/>
          <a:p>
            <a:pPr algn="r" indent="0" marL="0">
              <a:buNone/>
            </a:pPr>
            <a:r>
              <a:rPr lang="en-US" sz="900" dirty="0">
                <a:solidFill>
                  <a:srgbClr val="6E6E76"/>
                </a:solidFill>
                <a:latin typeface="Yu Gothic" pitchFamily="34" charset="0"/>
                <a:ea typeface="Yu Gothic" pitchFamily="34" charset="-122"/>
                <a:cs typeface="Yu Gothic" pitchFamily="34" charset="-120"/>
              </a:rPr>
              <a:t>19</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402336"/>
            <a:ext cx="475488" cy="475488"/>
          </a:xfrm>
          <a:prstGeom prst="rect">
            <a:avLst/>
          </a:prstGeom>
          <a:solidFill>
            <a:srgbClr val="B3121B"/>
          </a:solidFill>
          <a:ln/>
        </p:spPr>
      </p:sp>
      <p:sp>
        <p:nvSpPr>
          <p:cNvPr id="3" name="Text 1"/>
          <p:cNvSpPr txBox="1"/>
          <p:nvPr/>
        </p:nvSpPr>
        <p:spPr>
          <a:xfrm>
            <a:off x="594360" y="40233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7</a:t>
            </a:r>
            <a:endParaRPr lang="en-US" sz="1700" dirty="0"/>
          </a:p>
        </p:txBody>
      </p:sp>
      <p:sp>
        <p:nvSpPr>
          <p:cNvPr id="4" name="Text 2"/>
          <p:cNvSpPr txBox="1"/>
          <p:nvPr/>
        </p:nvSpPr>
        <p:spPr>
          <a:xfrm>
            <a:off x="1207008" y="365760"/>
            <a:ext cx="10387584" cy="548640"/>
          </a:xfrm>
          <a:prstGeom prst="rect">
            <a:avLst/>
          </a:prstGeom>
          <a:noFill/>
          <a:ln/>
        </p:spPr>
        <p:txBody>
          <a:bodyPr wrap="square" lIns="0" tIns="0" rIns="0" bIns="0" rtlCol="0" anchor="ctr"/>
          <a:lstStyle/>
          <a:p>
            <a:pPr indent="0" marL="0">
              <a:buNone/>
            </a:pPr>
            <a:r>
              <a:rPr lang="en-US" sz="2500" b="1" dirty="0">
                <a:solidFill>
                  <a:srgbClr val="16161A"/>
                </a:solidFill>
                <a:latin typeface="Yu Gothic" pitchFamily="34" charset="0"/>
                <a:ea typeface="Yu Gothic" pitchFamily="34" charset="-122"/>
                <a:cs typeface="Yu Gothic" pitchFamily="34" charset="-120"/>
              </a:rPr>
              <a:t>事業計画</a:t>
            </a:r>
            <a:endParaRPr lang="en-US" sz="2500" dirty="0"/>
          </a:p>
        </p:txBody>
      </p:sp>
      <p:sp>
        <p:nvSpPr>
          <p:cNvPr id="5" name="Text 3"/>
          <p:cNvSpPr txBox="1"/>
          <p:nvPr/>
        </p:nvSpPr>
        <p:spPr>
          <a:xfrm>
            <a:off x="1207008" y="932688"/>
            <a:ext cx="10387584" cy="310896"/>
          </a:xfrm>
          <a:prstGeom prst="rect">
            <a:avLst/>
          </a:prstGeom>
          <a:noFill/>
          <a:ln/>
        </p:spPr>
        <p:txBody>
          <a:bodyPr wrap="square" lIns="0" tIns="0" rIns="0" bIns="0" rtlCol="0" anchor="ctr"/>
          <a:lstStyle/>
          <a:p>
            <a:pPr indent="0" marL="0">
              <a:buNone/>
            </a:pPr>
            <a:r>
              <a:rPr lang="en-US" sz="1200" dirty="0">
                <a:solidFill>
                  <a:srgbClr val="6E6E76"/>
                </a:solidFill>
                <a:latin typeface="Yu Gothic" pitchFamily="34" charset="0"/>
                <a:ea typeface="Yu Gothic" pitchFamily="34" charset="-122"/>
                <a:cs typeface="Yu Gothic" pitchFamily="34" charset="-120"/>
              </a:rPr>
              <a:t>2期まで赤字、3期に黒字化。上場申請は5期です</a:t>
            </a:r>
            <a:endParaRPr lang="en-US" sz="1200" dirty="0"/>
          </a:p>
        </p:txBody>
      </p:sp>
      <p:graphicFrame>
        <p:nvGraphicFramePr>
          <p:cNvPr id="6" name="Chart 0" descr=""/>
          <p:cNvGraphicFramePr/>
          <p:nvPr/>
        </p:nvGraphicFramePr>
        <p:xfrm>
          <a:off x="594360" y="1463040"/>
          <a:ext cx="6035040" cy="30175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6903720" y="1463040"/>
            <a:ext cx="4690872" cy="932688"/>
          </a:xfrm>
          <a:prstGeom prst="rect">
            <a:avLst/>
          </a:prstGeom>
          <a:solidFill>
            <a:srgbClr val="FCE5CD"/>
          </a:solidFill>
          <a:ln/>
        </p:spPr>
      </p:sp>
      <p:sp>
        <p:nvSpPr>
          <p:cNvPr id="8" name="Shape 5"/>
          <p:cNvSpPr/>
          <p:nvPr/>
        </p:nvSpPr>
        <p:spPr>
          <a:xfrm>
            <a:off x="7123176" y="1719072"/>
            <a:ext cx="109728" cy="109728"/>
          </a:xfrm>
          <a:prstGeom prst="rect">
            <a:avLst/>
          </a:prstGeom>
          <a:solidFill>
            <a:srgbClr val="B3121B"/>
          </a:solidFill>
          <a:ln/>
        </p:spPr>
      </p:sp>
      <p:sp>
        <p:nvSpPr>
          <p:cNvPr id="9" name="Text 6"/>
          <p:cNvSpPr txBox="1"/>
          <p:nvPr/>
        </p:nvSpPr>
        <p:spPr>
          <a:xfrm>
            <a:off x="7342632" y="1627632"/>
            <a:ext cx="4032504"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1〜2期 ― 仕組みを作る</a:t>
            </a:r>
            <a:endParaRPr lang="en-US" sz="1250" dirty="0"/>
          </a:p>
        </p:txBody>
      </p:sp>
      <p:sp>
        <p:nvSpPr>
          <p:cNvPr id="10" name="Text 7"/>
          <p:cNvSpPr txBox="1"/>
          <p:nvPr/>
        </p:nvSpPr>
        <p:spPr>
          <a:xfrm>
            <a:off x="7342632" y="1975104"/>
            <a:ext cx="4032504" cy="237744"/>
          </a:xfrm>
          <a:prstGeom prst="rect">
            <a:avLst/>
          </a:prstGeom>
          <a:noFill/>
          <a:ln/>
        </p:spPr>
        <p:txBody>
          <a:bodyPr wrap="square" lIns="0" tIns="0" rIns="0" bIns="0" rtlCol="0" anchor="t"/>
          <a:lstStyle/>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制作60本→304本でデータを溜め、2期にツール外販を立ち上げ。研究開発に1.5億を先に入れます。</a:t>
            </a:r>
            <a:endParaRPr lang="en-US" sz="950" dirty="0"/>
          </a:p>
        </p:txBody>
      </p:sp>
      <p:sp>
        <p:nvSpPr>
          <p:cNvPr id="11" name="Shape 8"/>
          <p:cNvSpPr/>
          <p:nvPr/>
        </p:nvSpPr>
        <p:spPr>
          <a:xfrm>
            <a:off x="6903720" y="2505456"/>
            <a:ext cx="4690872" cy="822960"/>
          </a:xfrm>
          <a:prstGeom prst="rect">
            <a:avLst/>
          </a:prstGeom>
          <a:solidFill>
            <a:srgbClr val="FCE5CD"/>
          </a:solidFill>
          <a:ln/>
        </p:spPr>
      </p:sp>
      <p:sp>
        <p:nvSpPr>
          <p:cNvPr id="12" name="Shape 9"/>
          <p:cNvSpPr/>
          <p:nvPr/>
        </p:nvSpPr>
        <p:spPr>
          <a:xfrm>
            <a:off x="7123176" y="2761488"/>
            <a:ext cx="109728" cy="109728"/>
          </a:xfrm>
          <a:prstGeom prst="rect">
            <a:avLst/>
          </a:prstGeom>
          <a:solidFill>
            <a:srgbClr val="C9962C"/>
          </a:solidFill>
          <a:ln/>
        </p:spPr>
      </p:sp>
      <p:sp>
        <p:nvSpPr>
          <p:cNvPr id="13" name="Text 10"/>
          <p:cNvSpPr txBox="1"/>
          <p:nvPr/>
        </p:nvSpPr>
        <p:spPr>
          <a:xfrm>
            <a:off x="7342632" y="2670048"/>
            <a:ext cx="4032504"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3期 ― ツールが立ち上がる</a:t>
            </a:r>
            <a:endParaRPr lang="en-US" sz="1250" dirty="0"/>
          </a:p>
        </p:txBody>
      </p:sp>
      <p:sp>
        <p:nvSpPr>
          <p:cNvPr id="14" name="Text 11"/>
          <p:cNvSpPr txBox="1"/>
          <p:nvPr/>
        </p:nvSpPr>
        <p:spPr>
          <a:xfrm>
            <a:off x="7342632" y="3017520"/>
            <a:ext cx="4032504" cy="128016"/>
          </a:xfrm>
          <a:prstGeom prst="rect">
            <a:avLst/>
          </a:prstGeom>
          <a:noFill/>
          <a:ln/>
        </p:spPr>
        <p:txBody>
          <a:bodyPr wrap="square" lIns="0" tIns="0" rIns="0" bIns="0" rtlCol="0" anchor="t"/>
          <a:lstStyle/>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ツール外販5.6億・C2C7.9億。ここで黒字化します（＋5.5億・22.9%）。</a:t>
            </a:r>
            <a:endParaRPr lang="en-US" sz="950" dirty="0"/>
          </a:p>
        </p:txBody>
      </p:sp>
      <p:sp>
        <p:nvSpPr>
          <p:cNvPr id="15" name="Shape 12"/>
          <p:cNvSpPr/>
          <p:nvPr/>
        </p:nvSpPr>
        <p:spPr>
          <a:xfrm>
            <a:off x="6903720" y="3438144"/>
            <a:ext cx="4690872" cy="1042416"/>
          </a:xfrm>
          <a:prstGeom prst="rect">
            <a:avLst/>
          </a:prstGeom>
          <a:solidFill>
            <a:srgbClr val="FCE5CD"/>
          </a:solidFill>
          <a:ln/>
        </p:spPr>
      </p:sp>
      <p:sp>
        <p:nvSpPr>
          <p:cNvPr id="16" name="Shape 13"/>
          <p:cNvSpPr/>
          <p:nvPr/>
        </p:nvSpPr>
        <p:spPr>
          <a:xfrm>
            <a:off x="7123176" y="3694176"/>
            <a:ext cx="109728" cy="109728"/>
          </a:xfrm>
          <a:prstGeom prst="rect">
            <a:avLst/>
          </a:prstGeom>
          <a:solidFill>
            <a:srgbClr val="2A3563"/>
          </a:solidFill>
          <a:ln/>
        </p:spPr>
      </p:sp>
      <p:sp>
        <p:nvSpPr>
          <p:cNvPr id="17" name="Text 14"/>
          <p:cNvSpPr txBox="1"/>
          <p:nvPr/>
        </p:nvSpPr>
        <p:spPr>
          <a:xfrm>
            <a:off x="7342632" y="3602736"/>
            <a:ext cx="4032504"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4〜5期 ― 回収</a:t>
            </a:r>
            <a:endParaRPr lang="en-US" sz="1250" dirty="0"/>
          </a:p>
        </p:txBody>
      </p:sp>
      <p:sp>
        <p:nvSpPr>
          <p:cNvPr id="18" name="Text 15"/>
          <p:cNvSpPr txBox="1"/>
          <p:nvPr/>
        </p:nvSpPr>
        <p:spPr>
          <a:xfrm>
            <a:off x="7342632" y="3950208"/>
            <a:ext cx="4032504" cy="347472"/>
          </a:xfrm>
          <a:prstGeom prst="rect">
            <a:avLst/>
          </a:prstGeom>
          <a:noFill/>
          <a:ln/>
        </p:spPr>
        <p:txBody>
          <a:bodyPr wrap="square" lIns="0" tIns="0" rIns="0" bIns="0" rtlCol="0" anchor="t"/>
          <a:lstStyle/>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3期に黒字化。5期に年商120.0億・営業利益45.4億（37.8%）。社員は22名にとどめます。</a:t>
            </a:r>
            <a:endParaRPr lang="en-US" sz="9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94360" y="4626864"/>
          <a:ext cx="11000232" cy="914400"/>
        </p:xfrm>
        <a:graphic>
          <a:graphicData uri="http://schemas.openxmlformats.org/drawingml/2006/table">
            <a:tbl>
              <a:tblPr/>
              <a:tblGrid>
                <a:gridCol w="2743200"/>
                <a:gridCol w="2926080"/>
                <a:gridCol w="2743200"/>
                <a:gridCol w="2587752"/>
              </a:tblGrid>
              <a:tr h="274320">
                <a:tc>
                  <a:txBody>
                    <a:bodyPr/>
                    <a:lstStyle/>
                    <a:p>
                      <a:pPr indent="0" marL="0">
                        <a:buNone/>
                      </a:pP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① 制作（本数）</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② ツール ／ ③ C2C</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人手に比例しない</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r>
              <a:tr h="274320">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1期</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39（60本）</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 ／ 6</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13%</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274320">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2期</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230（304本）</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46 ／ 74</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56%</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274320">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3期（N-2期）</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1,041（1,215本）</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558 ／ 786</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80%</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274320">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4期（N-1期）</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2,279（2,543本）</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2,024 ／ 2,442</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89%</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274320">
                <a:tc>
                  <a:txBody>
                    <a:bodyPr/>
                    <a:lstStyle/>
                    <a:p>
                      <a:pPr indent="0" marL="0">
                        <a:buNone/>
                      </a:pPr>
                      <a:r>
                        <a:rPr lang="en-US" sz="1000" b="1" dirty="0">
                          <a:solidFill>
                            <a:srgbClr val="B3121B"/>
                          </a:solidFill>
                          <a:latin typeface="Yu Gothic" pitchFamily="34" charset="0"/>
                          <a:ea typeface="Yu Gothic" pitchFamily="34" charset="-122"/>
                          <a:cs typeface="Yu Gothic" pitchFamily="34" charset="-120"/>
                        </a:rPr>
                        <a:t>5期（N期）→ 2031年 上場</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b="1" dirty="0">
                          <a:solidFill>
                            <a:srgbClr val="3A3A42"/>
                          </a:solidFill>
                          <a:latin typeface="Yu Gothic" pitchFamily="34" charset="0"/>
                          <a:ea typeface="Yu Gothic" pitchFamily="34" charset="-122"/>
                          <a:cs typeface="Yu Gothic" pitchFamily="34" charset="-120"/>
                        </a:rPr>
                        <a:t>3,572（3,780本）</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b="1" dirty="0">
                          <a:solidFill>
                            <a:srgbClr val="3A3A42"/>
                          </a:solidFill>
                          <a:latin typeface="Yu Gothic" pitchFamily="34" charset="0"/>
                          <a:ea typeface="Yu Gothic" pitchFamily="34" charset="-122"/>
                          <a:cs typeface="Yu Gothic" pitchFamily="34" charset="-120"/>
                        </a:rPr>
                        <a:t>4,158 ／ 4,274</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b="1" dirty="0">
                          <a:solidFill>
                            <a:srgbClr val="B3121B"/>
                          </a:solidFill>
                          <a:latin typeface="Yu Gothic" pitchFamily="34" charset="0"/>
                          <a:ea typeface="Yu Gothic" pitchFamily="34" charset="-122"/>
                          <a:cs typeface="Yu Gothic" pitchFamily="34" charset="-120"/>
                        </a:rPr>
                        <a:t>93%</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bl>
          </a:graphicData>
        </a:graphic>
      </p:graphicFrame>
      <p:sp>
        <p:nvSpPr>
          <p:cNvPr id="20" name="Text 16"/>
          <p:cNvSpPr txBox="1"/>
          <p:nvPr/>
        </p:nvSpPr>
        <p:spPr>
          <a:xfrm>
            <a:off x="594360" y="6336792"/>
            <a:ext cx="9902952" cy="310896"/>
          </a:xfrm>
          <a:prstGeom prst="rect">
            <a:avLst/>
          </a:prstGeom>
          <a:noFill/>
          <a:ln/>
        </p:spPr>
        <p:txBody>
          <a:bodyPr wrap="square" lIns="0" tIns="0" rIns="0" bIns="0" rtlCol="0" anchor="ctr"/>
          <a:lstStyle/>
          <a:p>
            <a:pPr indent="0" marL="0">
              <a:buNone/>
            </a:pPr>
            <a:r>
              <a:rPr lang="en-US" sz="850" dirty="0">
                <a:solidFill>
                  <a:srgbClr val="6E6E76"/>
                </a:solidFill>
                <a:latin typeface="Yu Gothic" pitchFamily="34" charset="0"/>
                <a:ea typeface="Yu Gothic" pitchFamily="34" charset="-122"/>
                <a:cs typeface="Yu Gothic" pitchFamily="34" charset="-120"/>
              </a:rPr>
              <a:t>計画値。AX倍率・本数カーブ・ツールの契約数・③の価格と件数はすべて未実測の［仮置き］です。数字は 事業計画_Ver0.7.xlsx が計算しています</a:t>
            </a:r>
            <a:endParaRPr lang="en-US" sz="850" dirty="0"/>
          </a:p>
        </p:txBody>
      </p:sp>
      <p:sp>
        <p:nvSpPr>
          <p:cNvPr id="21" name="Text 17"/>
          <p:cNvSpPr txBox="1"/>
          <p:nvPr/>
        </p:nvSpPr>
        <p:spPr>
          <a:xfrm>
            <a:off x="11228832" y="6336792"/>
            <a:ext cx="365760" cy="274320"/>
          </a:xfrm>
          <a:prstGeom prst="rect">
            <a:avLst/>
          </a:prstGeom>
          <a:noFill/>
          <a:ln/>
        </p:spPr>
        <p:txBody>
          <a:bodyPr wrap="square" lIns="0" tIns="0" rIns="0" bIns="0" rtlCol="0" anchor="ctr"/>
          <a:lstStyle/>
          <a:p>
            <a:pPr algn="r" indent="0" marL="0">
              <a:buNone/>
            </a:pPr>
            <a:r>
              <a:rPr lang="en-US" sz="900" dirty="0">
                <a:solidFill>
                  <a:srgbClr val="6E6E76"/>
                </a:solidFill>
                <a:latin typeface="Yu Gothic" pitchFamily="34" charset="0"/>
                <a:ea typeface="Yu Gothic" pitchFamily="34" charset="-122"/>
                <a:cs typeface="Yu Gothic" pitchFamily="34" charset="-120"/>
              </a:rPr>
              <a:t>20</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402336"/>
            <a:ext cx="475488" cy="475488"/>
          </a:xfrm>
          <a:prstGeom prst="rect">
            <a:avLst/>
          </a:prstGeom>
          <a:solidFill>
            <a:srgbClr val="B3121B"/>
          </a:solidFill>
          <a:ln/>
        </p:spPr>
      </p:sp>
      <p:sp>
        <p:nvSpPr>
          <p:cNvPr id="3" name="Text 1"/>
          <p:cNvSpPr txBox="1"/>
          <p:nvPr/>
        </p:nvSpPr>
        <p:spPr>
          <a:xfrm>
            <a:off x="594360" y="40233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8</a:t>
            </a:r>
            <a:endParaRPr lang="en-US" sz="1700" dirty="0"/>
          </a:p>
        </p:txBody>
      </p:sp>
      <p:sp>
        <p:nvSpPr>
          <p:cNvPr id="4" name="Text 2"/>
          <p:cNvSpPr txBox="1"/>
          <p:nvPr/>
        </p:nvSpPr>
        <p:spPr>
          <a:xfrm>
            <a:off x="1207008" y="365760"/>
            <a:ext cx="10387584" cy="548640"/>
          </a:xfrm>
          <a:prstGeom prst="rect">
            <a:avLst/>
          </a:prstGeom>
          <a:noFill/>
          <a:ln/>
        </p:spPr>
        <p:txBody>
          <a:bodyPr wrap="square" lIns="0" tIns="0" rIns="0" bIns="0" rtlCol="0" anchor="ctr"/>
          <a:lstStyle/>
          <a:p>
            <a:pPr indent="0" marL="0">
              <a:buNone/>
            </a:pPr>
            <a:r>
              <a:rPr lang="en-US" sz="2500" b="1" dirty="0">
                <a:solidFill>
                  <a:srgbClr val="16161A"/>
                </a:solidFill>
                <a:latin typeface="Yu Gothic" pitchFamily="34" charset="0"/>
                <a:ea typeface="Yu Gothic" pitchFamily="34" charset="-122"/>
                <a:cs typeface="Yu Gothic" pitchFamily="34" charset="-120"/>
              </a:rPr>
              <a:t>上場までの流れ</a:t>
            </a:r>
            <a:endParaRPr lang="en-US" sz="2500" dirty="0"/>
          </a:p>
        </p:txBody>
      </p:sp>
      <p:sp>
        <p:nvSpPr>
          <p:cNvPr id="5" name="Text 3"/>
          <p:cNvSpPr txBox="1"/>
          <p:nvPr/>
        </p:nvSpPr>
        <p:spPr>
          <a:xfrm>
            <a:off x="1207008" y="932688"/>
            <a:ext cx="10387584" cy="310896"/>
          </a:xfrm>
          <a:prstGeom prst="rect">
            <a:avLst/>
          </a:prstGeom>
          <a:noFill/>
          <a:ln/>
        </p:spPr>
        <p:txBody>
          <a:bodyPr wrap="square" lIns="0" tIns="0" rIns="0" bIns="0" rtlCol="0" anchor="ctr"/>
          <a:lstStyle/>
          <a:p>
            <a:pPr indent="0" marL="0">
              <a:buNone/>
            </a:pPr>
            <a:r>
              <a:rPr lang="en-US" sz="1200" dirty="0">
                <a:solidFill>
                  <a:srgbClr val="6E6E76"/>
                </a:solidFill>
                <a:latin typeface="Yu Gothic" pitchFamily="34" charset="0"/>
                <a:ea typeface="Yu Gothic" pitchFamily="34" charset="-122"/>
                <a:cs typeface="Yu Gothic" pitchFamily="34" charset="-120"/>
              </a:rPr>
              <a:t>5期（2031年）での上場を逆算。N-2期の監査開始は3期・2028年10月です</a:t>
            </a:r>
            <a:endParaRPr lang="en-US" sz="1200" dirty="0"/>
          </a:p>
        </p:txBody>
      </p:sp>
      <p:sp>
        <p:nvSpPr>
          <p:cNvPr id="6" name="Shape 4"/>
          <p:cNvSpPr/>
          <p:nvPr/>
        </p:nvSpPr>
        <p:spPr>
          <a:xfrm>
            <a:off x="594360" y="1481328"/>
            <a:ext cx="1980590" cy="1371600"/>
          </a:xfrm>
          <a:prstGeom prst="rect">
            <a:avLst/>
          </a:prstGeom>
          <a:solidFill>
            <a:srgbClr val="FCE5CD"/>
          </a:solidFill>
          <a:ln/>
        </p:spPr>
      </p:sp>
      <p:sp>
        <p:nvSpPr>
          <p:cNvPr id="7" name="Shape 5"/>
          <p:cNvSpPr/>
          <p:nvPr/>
        </p:nvSpPr>
        <p:spPr>
          <a:xfrm>
            <a:off x="813816" y="1737360"/>
            <a:ext cx="109728" cy="109728"/>
          </a:xfrm>
          <a:prstGeom prst="rect">
            <a:avLst/>
          </a:prstGeom>
          <a:solidFill>
            <a:srgbClr val="B3121B"/>
          </a:solidFill>
          <a:ln/>
        </p:spPr>
      </p:sp>
      <p:sp>
        <p:nvSpPr>
          <p:cNvPr id="8" name="Text 6"/>
          <p:cNvSpPr txBox="1"/>
          <p:nvPr/>
        </p:nvSpPr>
        <p:spPr>
          <a:xfrm>
            <a:off x="1033272" y="1645920"/>
            <a:ext cx="1322222"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1期  2026/10-2027/9</a:t>
            </a:r>
            <a:endParaRPr lang="en-US" sz="1250" dirty="0"/>
          </a:p>
        </p:txBody>
      </p:sp>
      <p:sp>
        <p:nvSpPr>
          <p:cNvPr id="9" name="Text 7"/>
          <p:cNvSpPr txBox="1"/>
          <p:nvPr/>
        </p:nvSpPr>
        <p:spPr>
          <a:xfrm>
            <a:off x="1033272" y="1993392"/>
            <a:ext cx="1322222" cy="676656"/>
          </a:xfrm>
          <a:prstGeom prst="rect">
            <a:avLst/>
          </a:prstGeom>
          <a:noFill/>
          <a:ln/>
        </p:spPr>
        <p:txBody>
          <a:bodyPr wrap="square" lIns="0" tIns="0" rIns="0" bIns="0" rtlCol="0" anchor="t"/>
          <a:lstStyle/>
          <a:p>
            <a:pPr indent="0" marL="0">
              <a:lnSpc>
                <a:spcPct val="126000"/>
              </a:lnSpc>
              <a:buNone/>
            </a:pPr>
            <a:r>
              <a:rPr lang="en-US" sz="900" dirty="0">
                <a:solidFill>
                  <a:srgbClr val="3A3A42"/>
                </a:solidFill>
                <a:latin typeface="Yu Gothic" pitchFamily="34" charset="0"/>
                <a:ea typeface="Yu Gothic" pitchFamily="34" charset="-122"/>
                <a:cs typeface="Yu Gothic" pitchFamily="34" charset="-120"/>
              </a:rPr>
              <a:t>・制作の受注開始</a:t>
            </a:r>
            <a:endParaRPr lang="en-US" sz="900" dirty="0"/>
          </a:p>
          <a:p>
            <a:pPr indent="0" marL="0">
              <a:lnSpc>
                <a:spcPct val="126000"/>
              </a:lnSpc>
              <a:buNone/>
            </a:pPr>
            <a:r>
              <a:rPr lang="en-US" sz="900" dirty="0">
                <a:solidFill>
                  <a:srgbClr val="3A3A42"/>
                </a:solidFill>
                <a:latin typeface="Yu Gothic" pitchFamily="34" charset="0"/>
                <a:ea typeface="Yu Gothic" pitchFamily="34" charset="-122"/>
                <a:cs typeface="Yu Gothic" pitchFamily="34" charset="-120"/>
              </a:rPr>
              <a:t>・PF開発と公開</a:t>
            </a:r>
            <a:endParaRPr lang="en-US" sz="900" dirty="0"/>
          </a:p>
          <a:p>
            <a:pPr indent="0" marL="0">
              <a:lnSpc>
                <a:spcPct val="126000"/>
              </a:lnSpc>
              <a:buNone/>
            </a:pPr>
            <a:r>
              <a:rPr lang="en-US" sz="900" dirty="0">
                <a:solidFill>
                  <a:srgbClr val="3A3A42"/>
                </a:solidFill>
                <a:latin typeface="Yu Gothic" pitchFamily="34" charset="0"/>
                <a:ea typeface="Yu Gothic" pitchFamily="34" charset="-122"/>
                <a:cs typeface="Yu Gothic" pitchFamily="34" charset="-120"/>
              </a:rPr>
              <a:t>・C2Cの手数料率を実測</a:t>
            </a:r>
            <a:endParaRPr lang="en-US" sz="900" dirty="0"/>
          </a:p>
        </p:txBody>
      </p:sp>
      <p:sp>
        <p:nvSpPr>
          <p:cNvPr id="10" name="Shape 8"/>
          <p:cNvSpPr/>
          <p:nvPr/>
        </p:nvSpPr>
        <p:spPr>
          <a:xfrm>
            <a:off x="2849270" y="1481328"/>
            <a:ext cx="1980590" cy="1371600"/>
          </a:xfrm>
          <a:prstGeom prst="rect">
            <a:avLst/>
          </a:prstGeom>
          <a:solidFill>
            <a:srgbClr val="FCE5CD"/>
          </a:solidFill>
          <a:ln/>
        </p:spPr>
      </p:sp>
      <p:sp>
        <p:nvSpPr>
          <p:cNvPr id="11" name="Shape 9"/>
          <p:cNvSpPr/>
          <p:nvPr/>
        </p:nvSpPr>
        <p:spPr>
          <a:xfrm>
            <a:off x="3068726" y="1737360"/>
            <a:ext cx="109728" cy="109728"/>
          </a:xfrm>
          <a:prstGeom prst="rect">
            <a:avLst/>
          </a:prstGeom>
          <a:solidFill>
            <a:srgbClr val="2A3563"/>
          </a:solidFill>
          <a:ln/>
        </p:spPr>
      </p:sp>
      <p:sp>
        <p:nvSpPr>
          <p:cNvPr id="12" name="Text 10"/>
          <p:cNvSpPr txBox="1"/>
          <p:nvPr/>
        </p:nvSpPr>
        <p:spPr>
          <a:xfrm>
            <a:off x="3288182" y="1645920"/>
            <a:ext cx="1322222"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2期  2027/10-2028/9</a:t>
            </a:r>
            <a:endParaRPr lang="en-US" sz="1250" dirty="0"/>
          </a:p>
        </p:txBody>
      </p:sp>
      <p:sp>
        <p:nvSpPr>
          <p:cNvPr id="13" name="Text 11"/>
          <p:cNvSpPr txBox="1"/>
          <p:nvPr/>
        </p:nvSpPr>
        <p:spPr>
          <a:xfrm>
            <a:off x="3288182" y="1993392"/>
            <a:ext cx="1322222" cy="676656"/>
          </a:xfrm>
          <a:prstGeom prst="rect">
            <a:avLst/>
          </a:prstGeom>
          <a:noFill/>
          <a:ln/>
        </p:spPr>
        <p:txBody>
          <a:bodyPr wrap="square" lIns="0" tIns="0" rIns="0" bIns="0" rtlCol="0" anchor="t"/>
          <a:lstStyle/>
          <a:p>
            <a:pPr indent="0" marL="0">
              <a:lnSpc>
                <a:spcPct val="126000"/>
              </a:lnSpc>
              <a:buNone/>
            </a:pPr>
            <a:r>
              <a:rPr lang="en-US" sz="900" dirty="0">
                <a:solidFill>
                  <a:srgbClr val="3A3A42"/>
                </a:solidFill>
                <a:latin typeface="Yu Gothic" pitchFamily="34" charset="0"/>
                <a:ea typeface="Yu Gothic" pitchFamily="34" charset="-122"/>
                <a:cs typeface="Yu Gothic" pitchFamily="34" charset="-120"/>
              </a:rPr>
              <a:t>・制作体制の拡大</a:t>
            </a:r>
            <a:endParaRPr lang="en-US" sz="900" dirty="0"/>
          </a:p>
          <a:p>
            <a:pPr indent="0" marL="0">
              <a:lnSpc>
                <a:spcPct val="126000"/>
              </a:lnSpc>
              <a:buNone/>
            </a:pPr>
            <a:r>
              <a:rPr lang="en-US" sz="900" dirty="0">
                <a:solidFill>
                  <a:srgbClr val="3A3A42"/>
                </a:solidFill>
                <a:latin typeface="Yu Gothic" pitchFamily="34" charset="0"/>
                <a:ea typeface="Yu Gothic" pitchFamily="34" charset="-122"/>
                <a:cs typeface="Yu Gothic" pitchFamily="34" charset="-120"/>
              </a:rPr>
              <a:t>・ツール外販の初期契約</a:t>
            </a:r>
            <a:endParaRPr lang="en-US" sz="900" dirty="0"/>
          </a:p>
          <a:p>
            <a:pPr indent="0" marL="0">
              <a:lnSpc>
                <a:spcPct val="126000"/>
              </a:lnSpc>
              <a:buNone/>
            </a:pPr>
            <a:r>
              <a:rPr lang="en-US" sz="900" dirty="0">
                <a:solidFill>
                  <a:srgbClr val="3A3A42"/>
                </a:solidFill>
                <a:latin typeface="Yu Gothic" pitchFamily="34" charset="0"/>
                <a:ea typeface="Yu Gothic" pitchFamily="34" charset="-122"/>
                <a:cs typeface="Yu Gothic" pitchFamily="34" charset="-120"/>
              </a:rPr>
              <a:t>・シリーズA 3億／監査法人SR</a:t>
            </a:r>
            <a:endParaRPr lang="en-US" sz="900" dirty="0"/>
          </a:p>
        </p:txBody>
      </p:sp>
      <p:sp>
        <p:nvSpPr>
          <p:cNvPr id="14" name="Shape 12"/>
          <p:cNvSpPr/>
          <p:nvPr/>
        </p:nvSpPr>
        <p:spPr>
          <a:xfrm>
            <a:off x="5104181" y="1481328"/>
            <a:ext cx="1980590" cy="1371600"/>
          </a:xfrm>
          <a:prstGeom prst="rect">
            <a:avLst/>
          </a:prstGeom>
          <a:solidFill>
            <a:srgbClr val="FCE5CD"/>
          </a:solidFill>
          <a:ln/>
        </p:spPr>
      </p:sp>
      <p:sp>
        <p:nvSpPr>
          <p:cNvPr id="15" name="Shape 13"/>
          <p:cNvSpPr/>
          <p:nvPr/>
        </p:nvSpPr>
        <p:spPr>
          <a:xfrm>
            <a:off x="5323637" y="1737360"/>
            <a:ext cx="109728" cy="109728"/>
          </a:xfrm>
          <a:prstGeom prst="rect">
            <a:avLst/>
          </a:prstGeom>
          <a:solidFill>
            <a:srgbClr val="2A3563"/>
          </a:solidFill>
          <a:ln/>
        </p:spPr>
      </p:sp>
      <p:sp>
        <p:nvSpPr>
          <p:cNvPr id="16" name="Text 14"/>
          <p:cNvSpPr txBox="1"/>
          <p:nvPr/>
        </p:nvSpPr>
        <p:spPr>
          <a:xfrm>
            <a:off x="5543093" y="1645920"/>
            <a:ext cx="1322222"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3期 N-2  2028/10-2029/9</a:t>
            </a:r>
            <a:endParaRPr lang="en-US" sz="1250" dirty="0"/>
          </a:p>
        </p:txBody>
      </p:sp>
      <p:sp>
        <p:nvSpPr>
          <p:cNvPr id="17" name="Text 15"/>
          <p:cNvSpPr txBox="1"/>
          <p:nvPr/>
        </p:nvSpPr>
        <p:spPr>
          <a:xfrm>
            <a:off x="5543093" y="1993392"/>
            <a:ext cx="1322222" cy="676656"/>
          </a:xfrm>
          <a:prstGeom prst="rect">
            <a:avLst/>
          </a:prstGeom>
          <a:noFill/>
          <a:ln/>
        </p:spPr>
        <p:txBody>
          <a:bodyPr wrap="square" lIns="0" tIns="0" rIns="0" bIns="0" rtlCol="0" anchor="t"/>
          <a:lstStyle/>
          <a:p>
            <a:pPr indent="0" marL="0">
              <a:lnSpc>
                <a:spcPct val="126000"/>
              </a:lnSpc>
              <a:buNone/>
            </a:pPr>
            <a:r>
              <a:rPr lang="en-US" sz="900" dirty="0">
                <a:solidFill>
                  <a:srgbClr val="3A3A42"/>
                </a:solidFill>
                <a:latin typeface="Yu Gothic" pitchFamily="34" charset="0"/>
                <a:ea typeface="Yu Gothic" pitchFamily="34" charset="-122"/>
                <a:cs typeface="Yu Gothic" pitchFamily="34" charset="-120"/>
              </a:rPr>
              <a:t>・監査開始</a:t>
            </a:r>
            <a:endParaRPr lang="en-US" sz="900" dirty="0"/>
          </a:p>
          <a:p>
            <a:pPr indent="0" marL="0">
              <a:lnSpc>
                <a:spcPct val="126000"/>
              </a:lnSpc>
              <a:buNone/>
            </a:pPr>
            <a:r>
              <a:rPr lang="en-US" sz="900" dirty="0">
                <a:solidFill>
                  <a:srgbClr val="3A3A42"/>
                </a:solidFill>
                <a:latin typeface="Yu Gothic" pitchFamily="34" charset="0"/>
                <a:ea typeface="Yu Gothic" pitchFamily="34" charset="-122"/>
                <a:cs typeface="Yu Gothic" pitchFamily="34" charset="-120"/>
              </a:rPr>
              <a:t>・ツール外販の本格展開</a:t>
            </a:r>
            <a:endParaRPr lang="en-US" sz="900" dirty="0"/>
          </a:p>
          <a:p>
            <a:pPr indent="0" marL="0">
              <a:lnSpc>
                <a:spcPct val="126000"/>
              </a:lnSpc>
              <a:buNone/>
            </a:pPr>
            <a:r>
              <a:rPr lang="en-US" sz="900" dirty="0">
                <a:solidFill>
                  <a:srgbClr val="3A3A42"/>
                </a:solidFill>
                <a:latin typeface="Yu Gothic" pitchFamily="34" charset="0"/>
                <a:ea typeface="Yu Gothic" pitchFamily="34" charset="-122"/>
                <a:cs typeface="Yu Gothic" pitchFamily="34" charset="-120"/>
              </a:rPr>
              <a:t>・主幹事証券の選定</a:t>
            </a:r>
            <a:endParaRPr lang="en-US" sz="900" dirty="0"/>
          </a:p>
        </p:txBody>
      </p:sp>
      <p:sp>
        <p:nvSpPr>
          <p:cNvPr id="18" name="Shape 16"/>
          <p:cNvSpPr/>
          <p:nvPr/>
        </p:nvSpPr>
        <p:spPr>
          <a:xfrm>
            <a:off x="7359091" y="1481328"/>
            <a:ext cx="1980590" cy="1371600"/>
          </a:xfrm>
          <a:prstGeom prst="rect">
            <a:avLst/>
          </a:prstGeom>
          <a:solidFill>
            <a:srgbClr val="FCE5CD"/>
          </a:solidFill>
          <a:ln/>
        </p:spPr>
      </p:sp>
      <p:sp>
        <p:nvSpPr>
          <p:cNvPr id="19" name="Shape 17"/>
          <p:cNvSpPr/>
          <p:nvPr/>
        </p:nvSpPr>
        <p:spPr>
          <a:xfrm>
            <a:off x="7578547" y="1737360"/>
            <a:ext cx="109728" cy="109728"/>
          </a:xfrm>
          <a:prstGeom prst="rect">
            <a:avLst/>
          </a:prstGeom>
          <a:solidFill>
            <a:srgbClr val="C9962C"/>
          </a:solidFill>
          <a:ln/>
        </p:spPr>
      </p:sp>
      <p:sp>
        <p:nvSpPr>
          <p:cNvPr id="20" name="Text 18"/>
          <p:cNvSpPr txBox="1"/>
          <p:nvPr/>
        </p:nvSpPr>
        <p:spPr>
          <a:xfrm>
            <a:off x="7798003" y="1645920"/>
            <a:ext cx="1322222"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4期 N-1  2029/10-2030/9</a:t>
            </a:r>
            <a:endParaRPr lang="en-US" sz="1250" dirty="0"/>
          </a:p>
        </p:txBody>
      </p:sp>
      <p:sp>
        <p:nvSpPr>
          <p:cNvPr id="21" name="Text 19"/>
          <p:cNvSpPr txBox="1"/>
          <p:nvPr/>
        </p:nvSpPr>
        <p:spPr>
          <a:xfrm>
            <a:off x="7798003" y="1993392"/>
            <a:ext cx="1322222" cy="676656"/>
          </a:xfrm>
          <a:prstGeom prst="rect">
            <a:avLst/>
          </a:prstGeom>
          <a:noFill/>
          <a:ln/>
        </p:spPr>
        <p:txBody>
          <a:bodyPr wrap="square" lIns="0" tIns="0" rIns="0" bIns="0" rtlCol="0" anchor="t"/>
          <a:lstStyle/>
          <a:p>
            <a:pPr indent="0" marL="0">
              <a:lnSpc>
                <a:spcPct val="126000"/>
              </a:lnSpc>
              <a:buNone/>
            </a:pPr>
            <a:r>
              <a:rPr lang="en-US" sz="900" dirty="0">
                <a:solidFill>
                  <a:srgbClr val="3A3A42"/>
                </a:solidFill>
                <a:latin typeface="Yu Gothic" pitchFamily="34" charset="0"/>
                <a:ea typeface="Yu Gothic" pitchFamily="34" charset="-122"/>
                <a:cs typeface="Yu Gothic" pitchFamily="34" charset="-120"/>
              </a:rPr>
              <a:t>・通期黒字化</a:t>
            </a:r>
            <a:endParaRPr lang="en-US" sz="900" dirty="0"/>
          </a:p>
          <a:p>
            <a:pPr indent="0" marL="0">
              <a:lnSpc>
                <a:spcPct val="126000"/>
              </a:lnSpc>
              <a:buNone/>
            </a:pPr>
            <a:r>
              <a:rPr lang="en-US" sz="900" dirty="0">
                <a:solidFill>
                  <a:srgbClr val="3A3A42"/>
                </a:solidFill>
                <a:latin typeface="Yu Gothic" pitchFamily="34" charset="0"/>
                <a:ea typeface="Yu Gothic" pitchFamily="34" charset="-122"/>
                <a:cs typeface="Yu Gothic" pitchFamily="34" charset="-120"/>
              </a:rPr>
              <a:t>・内部管理体制の構築</a:t>
            </a:r>
            <a:endParaRPr lang="en-US" sz="900" dirty="0"/>
          </a:p>
          <a:p>
            <a:pPr indent="0" marL="0">
              <a:lnSpc>
                <a:spcPct val="126000"/>
              </a:lnSpc>
              <a:buNone/>
            </a:pPr>
            <a:r>
              <a:rPr lang="en-US" sz="900" dirty="0">
                <a:solidFill>
                  <a:srgbClr val="3A3A42"/>
                </a:solidFill>
                <a:latin typeface="Yu Gothic" pitchFamily="34" charset="0"/>
                <a:ea typeface="Yu Gothic" pitchFamily="34" charset="-122"/>
                <a:cs typeface="Yu Gothic" pitchFamily="34" charset="-120"/>
              </a:rPr>
              <a:t>・資本政策の確定</a:t>
            </a:r>
            <a:endParaRPr lang="en-US" sz="900" dirty="0"/>
          </a:p>
        </p:txBody>
      </p:sp>
      <p:sp>
        <p:nvSpPr>
          <p:cNvPr id="22" name="Shape 20"/>
          <p:cNvSpPr/>
          <p:nvPr/>
        </p:nvSpPr>
        <p:spPr>
          <a:xfrm>
            <a:off x="9614002" y="1481328"/>
            <a:ext cx="1980590" cy="1371600"/>
          </a:xfrm>
          <a:prstGeom prst="rect">
            <a:avLst/>
          </a:prstGeom>
          <a:solidFill>
            <a:srgbClr val="FCE5CD"/>
          </a:solidFill>
          <a:ln/>
        </p:spPr>
      </p:sp>
      <p:sp>
        <p:nvSpPr>
          <p:cNvPr id="23" name="Shape 21"/>
          <p:cNvSpPr/>
          <p:nvPr/>
        </p:nvSpPr>
        <p:spPr>
          <a:xfrm>
            <a:off x="9833458" y="1737360"/>
            <a:ext cx="109728" cy="109728"/>
          </a:xfrm>
          <a:prstGeom prst="rect">
            <a:avLst/>
          </a:prstGeom>
          <a:solidFill>
            <a:srgbClr val="C9962C"/>
          </a:solidFill>
          <a:ln/>
        </p:spPr>
      </p:sp>
      <p:sp>
        <p:nvSpPr>
          <p:cNvPr id="24" name="Text 22"/>
          <p:cNvSpPr txBox="1"/>
          <p:nvPr/>
        </p:nvSpPr>
        <p:spPr>
          <a:xfrm>
            <a:off x="10052914" y="1645920"/>
            <a:ext cx="1322222"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5期 N期  2030/10-2031/9</a:t>
            </a:r>
            <a:endParaRPr lang="en-US" sz="1250" dirty="0"/>
          </a:p>
        </p:txBody>
      </p:sp>
      <p:sp>
        <p:nvSpPr>
          <p:cNvPr id="25" name="Text 23"/>
          <p:cNvSpPr txBox="1"/>
          <p:nvPr/>
        </p:nvSpPr>
        <p:spPr>
          <a:xfrm>
            <a:off x="10052914" y="1993392"/>
            <a:ext cx="1322222" cy="676656"/>
          </a:xfrm>
          <a:prstGeom prst="rect">
            <a:avLst/>
          </a:prstGeom>
          <a:noFill/>
          <a:ln/>
        </p:spPr>
        <p:txBody>
          <a:bodyPr wrap="square" lIns="0" tIns="0" rIns="0" bIns="0" rtlCol="0" anchor="t"/>
          <a:lstStyle/>
          <a:p>
            <a:pPr indent="0" marL="0">
              <a:lnSpc>
                <a:spcPct val="126000"/>
              </a:lnSpc>
              <a:buNone/>
            </a:pPr>
            <a:r>
              <a:rPr lang="en-US" sz="900" dirty="0">
                <a:solidFill>
                  <a:srgbClr val="3A3A42"/>
                </a:solidFill>
                <a:latin typeface="Yu Gothic" pitchFamily="34" charset="0"/>
                <a:ea typeface="Yu Gothic" pitchFamily="34" charset="-122"/>
                <a:cs typeface="Yu Gothic" pitchFamily="34" charset="-120"/>
              </a:rPr>
              <a:t>・上場申請</a:t>
            </a:r>
            <a:endParaRPr lang="en-US" sz="900" dirty="0"/>
          </a:p>
          <a:p>
            <a:pPr indent="0" marL="0">
              <a:lnSpc>
                <a:spcPct val="126000"/>
              </a:lnSpc>
              <a:buNone/>
            </a:pPr>
            <a:r>
              <a:rPr lang="en-US" sz="900" dirty="0">
                <a:solidFill>
                  <a:srgbClr val="3A3A42"/>
                </a:solidFill>
                <a:latin typeface="Yu Gothic" pitchFamily="34" charset="0"/>
                <a:ea typeface="Yu Gothic" pitchFamily="34" charset="-122"/>
                <a:cs typeface="Yu Gothic" pitchFamily="34" charset="-120"/>
              </a:rPr>
              <a:t>・2031年・東証グロース</a:t>
            </a:r>
            <a:endParaRPr lang="en-US" sz="900" dirty="0"/>
          </a:p>
        </p:txBody>
      </p:sp>
      <p:sp>
        <p:nvSpPr>
          <p:cNvPr id="26" name="Shape 24"/>
          <p:cNvSpPr/>
          <p:nvPr/>
        </p:nvSpPr>
        <p:spPr>
          <a:xfrm>
            <a:off x="594360" y="3054096"/>
            <a:ext cx="5362956" cy="1298448"/>
          </a:xfrm>
          <a:prstGeom prst="rect">
            <a:avLst/>
          </a:prstGeom>
          <a:solidFill>
            <a:srgbClr val="FCE5CD"/>
          </a:solidFill>
          <a:ln/>
        </p:spPr>
      </p:sp>
      <p:sp>
        <p:nvSpPr>
          <p:cNvPr id="27" name="Shape 25"/>
          <p:cNvSpPr/>
          <p:nvPr/>
        </p:nvSpPr>
        <p:spPr>
          <a:xfrm>
            <a:off x="813816" y="3310128"/>
            <a:ext cx="109728" cy="109728"/>
          </a:xfrm>
          <a:prstGeom prst="rect">
            <a:avLst/>
          </a:prstGeom>
          <a:solidFill>
            <a:srgbClr val="2A3563"/>
          </a:solidFill>
          <a:ln/>
        </p:spPr>
      </p:sp>
      <p:sp>
        <p:nvSpPr>
          <p:cNvPr id="28" name="Text 26"/>
          <p:cNvSpPr txBox="1"/>
          <p:nvPr/>
        </p:nvSpPr>
        <p:spPr>
          <a:xfrm>
            <a:off x="1033272" y="3218688"/>
            <a:ext cx="4704588"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資本政策の想定</a:t>
            </a:r>
            <a:endParaRPr lang="en-US" sz="1250" dirty="0"/>
          </a:p>
        </p:txBody>
      </p:sp>
      <p:sp>
        <p:nvSpPr>
          <p:cNvPr id="29" name="Text 27"/>
          <p:cNvSpPr txBox="1"/>
          <p:nvPr/>
        </p:nvSpPr>
        <p:spPr>
          <a:xfrm>
            <a:off x="1033272" y="3566160"/>
            <a:ext cx="4704588" cy="603504"/>
          </a:xfrm>
          <a:prstGeom prst="rect">
            <a:avLst/>
          </a:prstGeom>
          <a:noFill/>
          <a:ln/>
        </p:spPr>
        <p:txBody>
          <a:bodyPr wrap="square" lIns="0" tIns="0" rIns="0" bIns="0" rtlCol="0" anchor="t"/>
          <a:lstStyle/>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シード1.5億（今回）→ ESOP枠10% → シリーズA 3億（2期）。累計4.5億。</a:t>
            </a:r>
            <a:endParaRPr lang="en-US" sz="950" dirty="0"/>
          </a:p>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IPO公募20%を経て、上場時の創業者持分は 42%前後 を想定。</a:t>
            </a:r>
            <a:endParaRPr lang="en-US" sz="950" dirty="0"/>
          </a:p>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1ラウンドで33%超は放出しません（特別決議の拒否権を渡さないため）。</a:t>
            </a:r>
            <a:endParaRPr lang="en-US" sz="950" dirty="0"/>
          </a:p>
        </p:txBody>
      </p:sp>
      <p:sp>
        <p:nvSpPr>
          <p:cNvPr id="30" name="Shape 28"/>
          <p:cNvSpPr/>
          <p:nvPr/>
        </p:nvSpPr>
        <p:spPr>
          <a:xfrm>
            <a:off x="6231636" y="3054096"/>
            <a:ext cx="5362956" cy="1298448"/>
          </a:xfrm>
          <a:prstGeom prst="rect">
            <a:avLst/>
          </a:prstGeom>
          <a:solidFill>
            <a:srgbClr val="FBF1F1"/>
          </a:solidFill>
          <a:ln/>
        </p:spPr>
      </p:sp>
      <p:sp>
        <p:nvSpPr>
          <p:cNvPr id="31" name="Shape 29"/>
          <p:cNvSpPr/>
          <p:nvPr/>
        </p:nvSpPr>
        <p:spPr>
          <a:xfrm>
            <a:off x="6231636" y="3054096"/>
            <a:ext cx="45720" cy="1298448"/>
          </a:xfrm>
          <a:prstGeom prst="rect">
            <a:avLst/>
          </a:prstGeom>
          <a:solidFill>
            <a:srgbClr val="B3121B"/>
          </a:solidFill>
          <a:ln/>
        </p:spPr>
      </p:sp>
      <p:sp>
        <p:nvSpPr>
          <p:cNvPr id="32" name="Text 30"/>
          <p:cNvSpPr txBox="1"/>
          <p:nvPr/>
        </p:nvSpPr>
        <p:spPr>
          <a:xfrm>
            <a:off x="6487668" y="3200400"/>
            <a:ext cx="4905756" cy="274320"/>
          </a:xfrm>
          <a:prstGeom prst="rect">
            <a:avLst/>
          </a:prstGeom>
          <a:noFill/>
          <a:ln/>
        </p:spPr>
        <p:txBody>
          <a:bodyPr wrap="square" lIns="0" tIns="0" rIns="0" bIns="0" rtlCol="0" anchor="ctr"/>
          <a:lstStyle/>
          <a:p>
            <a:pPr indent="0" marL="0">
              <a:buNone/>
            </a:pPr>
            <a:r>
              <a:rPr lang="en-US" sz="1200" b="1" dirty="0">
                <a:solidFill>
                  <a:srgbClr val="B3121B"/>
                </a:solidFill>
                <a:latin typeface="Yu Gothic" pitchFamily="34" charset="0"/>
                <a:ea typeface="Yu Gothic" pitchFamily="34" charset="-122"/>
                <a:cs typeface="Yu Gothic" pitchFamily="34" charset="-120"/>
              </a:rPr>
              <a:t>⚠ 5年で上場するための最初の関門</a:t>
            </a:r>
            <a:endParaRPr lang="en-US" sz="1200" dirty="0"/>
          </a:p>
        </p:txBody>
      </p:sp>
      <p:sp>
        <p:nvSpPr>
          <p:cNvPr id="33" name="Text 31"/>
          <p:cNvSpPr txBox="1"/>
          <p:nvPr/>
        </p:nvSpPr>
        <p:spPr>
          <a:xfrm>
            <a:off x="6487668" y="3529584"/>
            <a:ext cx="4905756" cy="676656"/>
          </a:xfrm>
          <a:prstGeom prst="rect">
            <a:avLst/>
          </a:prstGeom>
          <a:noFill/>
          <a:ln/>
        </p:spPr>
        <p:txBody>
          <a:bodyPr wrap="square" lIns="0" tIns="0" rIns="0" bIns="0" rtlCol="0" anchor="t"/>
          <a:lstStyle/>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2期（2028年）に監査法人のショートレビューを受ける必要があります。</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赤字が最大化する期に監査法人を確保できるかが関門です。シリーズAの契約書を持って臨みます。</a:t>
            </a:r>
            <a:endParaRPr lang="en-US" sz="1000" dirty="0"/>
          </a:p>
        </p:txBody>
      </p:sp>
      <p:sp>
        <p:nvSpPr>
          <p:cNvPr id="34" name="Shape 32"/>
          <p:cNvSpPr/>
          <p:nvPr/>
        </p:nvSpPr>
        <p:spPr>
          <a:xfrm>
            <a:off x="594360" y="4535424"/>
            <a:ext cx="11000232" cy="1170432"/>
          </a:xfrm>
          <a:prstGeom prst="rect">
            <a:avLst/>
          </a:prstGeom>
          <a:solidFill>
            <a:srgbClr val="FBF1F1"/>
          </a:solidFill>
          <a:ln/>
        </p:spPr>
      </p:sp>
      <p:sp>
        <p:nvSpPr>
          <p:cNvPr id="35" name="Shape 33"/>
          <p:cNvSpPr/>
          <p:nvPr/>
        </p:nvSpPr>
        <p:spPr>
          <a:xfrm>
            <a:off x="594360" y="4535424"/>
            <a:ext cx="45720" cy="1170432"/>
          </a:xfrm>
          <a:prstGeom prst="rect">
            <a:avLst/>
          </a:prstGeom>
          <a:solidFill>
            <a:srgbClr val="B3121B"/>
          </a:solidFill>
          <a:ln/>
        </p:spPr>
      </p:sp>
      <p:sp>
        <p:nvSpPr>
          <p:cNvPr id="36" name="Text 34"/>
          <p:cNvSpPr txBox="1"/>
          <p:nvPr/>
        </p:nvSpPr>
        <p:spPr>
          <a:xfrm>
            <a:off x="850392" y="4681728"/>
            <a:ext cx="10543032" cy="274320"/>
          </a:xfrm>
          <a:prstGeom prst="rect">
            <a:avLst/>
          </a:prstGeom>
          <a:noFill/>
          <a:ln/>
        </p:spPr>
        <p:txBody>
          <a:bodyPr wrap="square" lIns="0" tIns="0" rIns="0" bIns="0" rtlCol="0" anchor="ctr"/>
          <a:lstStyle/>
          <a:p>
            <a:pPr indent="0" marL="0">
              <a:buNone/>
            </a:pPr>
            <a:r>
              <a:rPr lang="en-US" sz="1200" b="1" dirty="0">
                <a:solidFill>
                  <a:srgbClr val="B3121B"/>
                </a:solidFill>
                <a:latin typeface="Yu Gothic" pitchFamily="34" charset="0"/>
                <a:ea typeface="Yu Gothic" pitchFamily="34" charset="-122"/>
                <a:cs typeface="Yu Gothic" pitchFamily="34" charset="-120"/>
              </a:rPr>
              <a:t>⚠ ゴールは上場ではありません</a:t>
            </a:r>
            <a:endParaRPr lang="en-US" sz="1200" dirty="0"/>
          </a:p>
        </p:txBody>
      </p:sp>
      <p:sp>
        <p:nvSpPr>
          <p:cNvPr id="37" name="Text 35"/>
          <p:cNvSpPr txBox="1"/>
          <p:nvPr/>
        </p:nvSpPr>
        <p:spPr>
          <a:xfrm>
            <a:off x="850392" y="5010912"/>
            <a:ext cx="10543032" cy="548640"/>
          </a:xfrm>
          <a:prstGeom prst="rect">
            <a:avLst/>
          </a:prstGeom>
          <a:noFill/>
          <a:ln/>
        </p:spPr>
        <p:txBody>
          <a:bodyPr wrap="square" lIns="0" tIns="0" rIns="0" bIns="0" rtlCol="0" anchor="t"/>
          <a:lstStyle/>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グロースは2030年3月以降「上場5年経過後に時価総額100億円」の維持基準が新設されました。2031年上場なら2036年に100億円。</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当社の想定時価総額は、保守的なライン別評価でも474億。維持基準100億に対して4.7倍のバッファがあります。</a:t>
            </a:r>
            <a:endParaRPr lang="en-US" sz="1000" dirty="0"/>
          </a:p>
        </p:txBody>
      </p:sp>
      <p:sp>
        <p:nvSpPr>
          <p:cNvPr id="38" name="Text 36"/>
          <p:cNvSpPr txBox="1"/>
          <p:nvPr/>
        </p:nvSpPr>
        <p:spPr>
          <a:xfrm>
            <a:off x="594360" y="6336792"/>
            <a:ext cx="9902952" cy="310896"/>
          </a:xfrm>
          <a:prstGeom prst="rect">
            <a:avLst/>
          </a:prstGeom>
          <a:noFill/>
          <a:ln/>
        </p:spPr>
        <p:txBody>
          <a:bodyPr wrap="square" lIns="0" tIns="0" rIns="0" bIns="0" rtlCol="0" anchor="ctr"/>
          <a:lstStyle/>
          <a:p>
            <a:pPr indent="0" marL="0">
              <a:buNone/>
            </a:pPr>
            <a:r>
              <a:rPr lang="en-US" sz="850" dirty="0">
                <a:solidFill>
                  <a:srgbClr val="6E6E76"/>
                </a:solidFill>
                <a:latin typeface="Yu Gothic" pitchFamily="34" charset="0"/>
                <a:ea typeface="Yu Gothic" pitchFamily="34" charset="-122"/>
                <a:cs typeface="Yu Gothic" pitchFamily="34" charset="-120"/>
              </a:rPr>
              <a:t>出所: 日本取引所グループ 上場維持基準。上場基準は改定が続くため、準備期に入る前に最新基準を再確認します</a:t>
            </a:r>
            <a:endParaRPr lang="en-US" sz="850" dirty="0"/>
          </a:p>
        </p:txBody>
      </p:sp>
      <p:sp>
        <p:nvSpPr>
          <p:cNvPr id="39" name="Text 37"/>
          <p:cNvSpPr txBox="1"/>
          <p:nvPr/>
        </p:nvSpPr>
        <p:spPr>
          <a:xfrm>
            <a:off x="11228832" y="6336792"/>
            <a:ext cx="365760" cy="274320"/>
          </a:xfrm>
          <a:prstGeom prst="rect">
            <a:avLst/>
          </a:prstGeom>
          <a:noFill/>
          <a:ln/>
        </p:spPr>
        <p:txBody>
          <a:bodyPr wrap="square" lIns="0" tIns="0" rIns="0" bIns="0" rtlCol="0" anchor="ctr"/>
          <a:lstStyle/>
          <a:p>
            <a:pPr algn="r" indent="0" marL="0">
              <a:buNone/>
            </a:pPr>
            <a:r>
              <a:rPr lang="en-US" sz="900" dirty="0">
                <a:solidFill>
                  <a:srgbClr val="6E6E76"/>
                </a:solidFill>
                <a:latin typeface="Yu Gothic" pitchFamily="34" charset="0"/>
                <a:ea typeface="Yu Gothic" pitchFamily="34" charset="-122"/>
                <a:cs typeface="Yu Gothic" pitchFamily="34" charset="-120"/>
              </a:rPr>
              <a:t>21</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402336"/>
            <a:ext cx="475488" cy="475488"/>
          </a:xfrm>
          <a:prstGeom prst="rect">
            <a:avLst/>
          </a:prstGeom>
          <a:solidFill>
            <a:srgbClr val="B3121B"/>
          </a:solidFill>
          <a:ln/>
        </p:spPr>
      </p:sp>
      <p:sp>
        <p:nvSpPr>
          <p:cNvPr id="3" name="Text 1"/>
          <p:cNvSpPr txBox="1"/>
          <p:nvPr/>
        </p:nvSpPr>
        <p:spPr>
          <a:xfrm>
            <a:off x="594360" y="40233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8</a:t>
            </a:r>
            <a:endParaRPr lang="en-US" sz="1700" dirty="0"/>
          </a:p>
        </p:txBody>
      </p:sp>
      <p:sp>
        <p:nvSpPr>
          <p:cNvPr id="4" name="Text 2"/>
          <p:cNvSpPr txBox="1"/>
          <p:nvPr/>
        </p:nvSpPr>
        <p:spPr>
          <a:xfrm>
            <a:off x="1207008" y="365760"/>
            <a:ext cx="10387584" cy="548640"/>
          </a:xfrm>
          <a:prstGeom prst="rect">
            <a:avLst/>
          </a:prstGeom>
          <a:noFill/>
          <a:ln/>
        </p:spPr>
        <p:txBody>
          <a:bodyPr wrap="square" lIns="0" tIns="0" rIns="0" bIns="0" rtlCol="0" anchor="ctr"/>
          <a:lstStyle/>
          <a:p>
            <a:pPr indent="0" marL="0">
              <a:buNone/>
            </a:pPr>
            <a:r>
              <a:rPr lang="en-US" sz="2500" b="1" dirty="0">
                <a:solidFill>
                  <a:srgbClr val="16161A"/>
                </a:solidFill>
                <a:latin typeface="Yu Gothic" pitchFamily="34" charset="0"/>
                <a:ea typeface="Yu Gothic" pitchFamily="34" charset="-122"/>
                <a:cs typeface="Yu Gothic" pitchFamily="34" charset="-120"/>
              </a:rPr>
              <a:t>出口とリターン</a:t>
            </a:r>
            <a:endParaRPr lang="en-US" sz="2500" dirty="0"/>
          </a:p>
        </p:txBody>
      </p:sp>
      <p:sp>
        <p:nvSpPr>
          <p:cNvPr id="5" name="Text 3"/>
          <p:cNvSpPr txBox="1"/>
          <p:nvPr/>
        </p:nvSpPr>
        <p:spPr>
          <a:xfrm>
            <a:off x="1207008" y="932688"/>
            <a:ext cx="10387584" cy="310896"/>
          </a:xfrm>
          <a:prstGeom prst="rect">
            <a:avLst/>
          </a:prstGeom>
          <a:noFill/>
          <a:ln/>
        </p:spPr>
        <p:txBody>
          <a:bodyPr wrap="square" lIns="0" tIns="0" rIns="0" bIns="0" rtlCol="0" anchor="ctr"/>
          <a:lstStyle/>
          <a:p>
            <a:pPr indent="0" marL="0">
              <a:buNone/>
            </a:pPr>
            <a:r>
              <a:rPr lang="en-US" sz="1200" dirty="0">
                <a:solidFill>
                  <a:srgbClr val="6E6E76"/>
                </a:solidFill>
                <a:latin typeface="Yu Gothic" pitchFamily="34" charset="0"/>
                <a:ea typeface="Yu Gothic" pitchFamily="34" charset="-122"/>
                <a:cs typeface="Yu Gothic" pitchFamily="34" charset="-120"/>
              </a:rPr>
              <a:t>5期の売上120.0億・営業利益45.4億を前提に試算しています</a:t>
            </a:r>
            <a:endParaRPr lang="en-US" sz="1200" dirty="0"/>
          </a:p>
        </p:txBody>
      </p:sp>
      <p:sp>
        <p:nvSpPr>
          <p:cNvPr id="6" name="Shape 4"/>
          <p:cNvSpPr/>
          <p:nvPr/>
        </p:nvSpPr>
        <p:spPr>
          <a:xfrm>
            <a:off x="594360" y="1444752"/>
            <a:ext cx="3483864" cy="1335024"/>
          </a:xfrm>
          <a:prstGeom prst="rect">
            <a:avLst/>
          </a:prstGeom>
          <a:solidFill>
            <a:srgbClr val="FCE5CD"/>
          </a:solidFill>
          <a:ln/>
        </p:spPr>
      </p:sp>
      <p:sp>
        <p:nvSpPr>
          <p:cNvPr id="7" name="Text 5"/>
          <p:cNvSpPr txBox="1"/>
          <p:nvPr/>
        </p:nvSpPr>
        <p:spPr>
          <a:xfrm>
            <a:off x="832104" y="1609344"/>
            <a:ext cx="3008376" cy="603504"/>
          </a:xfrm>
          <a:prstGeom prst="rect">
            <a:avLst/>
          </a:prstGeom>
          <a:noFill/>
          <a:ln/>
        </p:spPr>
        <p:txBody>
          <a:bodyPr wrap="square" lIns="0" tIns="0" rIns="0" bIns="0" rtlCol="0" anchor="ctr"/>
          <a:lstStyle/>
          <a:p>
            <a:pPr indent="0" marL="0">
              <a:buNone/>
            </a:pPr>
            <a:r>
              <a:rPr lang="en-US" sz="2700" b="1" dirty="0">
                <a:solidFill>
                  <a:srgbClr val="B3121B"/>
                </a:solidFill>
                <a:latin typeface="Yu Gothic" pitchFamily="34" charset="0"/>
                <a:ea typeface="Yu Gothic" pitchFamily="34" charset="-122"/>
                <a:cs typeface="Yu Gothic" pitchFamily="34" charset="-120"/>
              </a:rPr>
              <a:t>474〜678億</a:t>
            </a:r>
            <a:endParaRPr lang="en-US" sz="2700" dirty="0"/>
          </a:p>
        </p:txBody>
      </p:sp>
      <p:sp>
        <p:nvSpPr>
          <p:cNvPr id="8" name="Text 6"/>
          <p:cNvSpPr txBox="1"/>
          <p:nvPr/>
        </p:nvSpPr>
        <p:spPr>
          <a:xfrm>
            <a:off x="832104" y="2231136"/>
            <a:ext cx="3008376" cy="256032"/>
          </a:xfrm>
          <a:prstGeom prst="rect">
            <a:avLst/>
          </a:prstGeom>
          <a:noFill/>
          <a:ln/>
        </p:spPr>
        <p:txBody>
          <a:bodyPr wrap="square" lIns="0" tIns="0" rIns="0" bIns="0" rtlCol="0" anchor="ctr"/>
          <a:lstStyle/>
          <a:p>
            <a:pPr indent="0" marL="0">
              <a:buNone/>
            </a:pPr>
            <a:r>
              <a:rPr lang="en-US" sz="1100" b="1" dirty="0">
                <a:solidFill>
                  <a:srgbClr val="16161A"/>
                </a:solidFill>
                <a:latin typeface="Yu Gothic" pitchFamily="34" charset="0"/>
                <a:ea typeface="Yu Gothic" pitchFamily="34" charset="-122"/>
                <a:cs typeface="Yu Gothic" pitchFamily="34" charset="-120"/>
              </a:rPr>
              <a:t>ライン別に倍率を分けた場合</a:t>
            </a:r>
            <a:endParaRPr lang="en-US" sz="1100" dirty="0"/>
          </a:p>
        </p:txBody>
      </p:sp>
      <p:sp>
        <p:nvSpPr>
          <p:cNvPr id="9" name="Text 7"/>
          <p:cNvSpPr txBox="1"/>
          <p:nvPr/>
        </p:nvSpPr>
        <p:spPr>
          <a:xfrm>
            <a:off x="832104" y="2505456"/>
            <a:ext cx="3008376" cy="146304"/>
          </a:xfrm>
          <a:prstGeom prst="rect">
            <a:avLst/>
          </a:prstGeom>
          <a:noFill/>
          <a:ln/>
        </p:spPr>
        <p:txBody>
          <a:bodyPr wrap="square" lIns="0" tIns="0" rIns="0" bIns="0" rtlCol="0" anchor="t"/>
          <a:lstStyle/>
          <a:p>
            <a:pPr indent="0" marL="0">
              <a:lnSpc>
                <a:spcPct val="120000"/>
              </a:lnSpc>
              <a:buNone/>
            </a:pPr>
            <a:r>
              <a:rPr lang="en-US" sz="900" dirty="0">
                <a:solidFill>
                  <a:srgbClr val="6E6E76"/>
                </a:solidFill>
                <a:latin typeface="Yu Gothic" pitchFamily="34" charset="0"/>
                <a:ea typeface="Yu Gothic" pitchFamily="34" charset="-122"/>
                <a:cs typeface="Yu Gothic" pitchFamily="34" charset="-120"/>
              </a:rPr>
              <a:t>ツール6〜8倍＋C2C4〜6倍＋制作1.5〜2.5倍。証券会社が実際にやる見方</a:t>
            </a:r>
            <a:endParaRPr lang="en-US" sz="900" dirty="0"/>
          </a:p>
        </p:txBody>
      </p:sp>
      <p:sp>
        <p:nvSpPr>
          <p:cNvPr id="10" name="Shape 8"/>
          <p:cNvSpPr/>
          <p:nvPr/>
        </p:nvSpPr>
        <p:spPr>
          <a:xfrm>
            <a:off x="4352544" y="1444752"/>
            <a:ext cx="3483864" cy="1335024"/>
          </a:xfrm>
          <a:prstGeom prst="rect">
            <a:avLst/>
          </a:prstGeom>
          <a:solidFill>
            <a:srgbClr val="FCE5CD"/>
          </a:solidFill>
          <a:ln/>
        </p:spPr>
      </p:sp>
      <p:sp>
        <p:nvSpPr>
          <p:cNvPr id="11" name="Text 9"/>
          <p:cNvSpPr txBox="1"/>
          <p:nvPr/>
        </p:nvSpPr>
        <p:spPr>
          <a:xfrm>
            <a:off x="4590288" y="1609344"/>
            <a:ext cx="3008376" cy="603504"/>
          </a:xfrm>
          <a:prstGeom prst="rect">
            <a:avLst/>
          </a:prstGeom>
          <a:noFill/>
          <a:ln/>
        </p:spPr>
        <p:txBody>
          <a:bodyPr wrap="square" lIns="0" tIns="0" rIns="0" bIns="0" rtlCol="0" anchor="ctr"/>
          <a:lstStyle/>
          <a:p>
            <a:pPr indent="0" marL="0">
              <a:buNone/>
            </a:pPr>
            <a:r>
              <a:rPr lang="en-US" sz="2700" b="1" dirty="0">
                <a:solidFill>
                  <a:srgbClr val="2A3563"/>
                </a:solidFill>
                <a:latin typeface="Yu Gothic" pitchFamily="34" charset="0"/>
                <a:ea typeface="Yu Gothic" pitchFamily="34" charset="-122"/>
                <a:cs typeface="Yu Gothic" pitchFamily="34" charset="-120"/>
              </a:rPr>
              <a:t>480〜600億</a:t>
            </a:r>
            <a:endParaRPr lang="en-US" sz="2700" dirty="0"/>
          </a:p>
        </p:txBody>
      </p:sp>
      <p:sp>
        <p:nvSpPr>
          <p:cNvPr id="12" name="Text 10"/>
          <p:cNvSpPr txBox="1"/>
          <p:nvPr/>
        </p:nvSpPr>
        <p:spPr>
          <a:xfrm>
            <a:off x="4590288" y="2231136"/>
            <a:ext cx="3008376" cy="256032"/>
          </a:xfrm>
          <a:prstGeom prst="rect">
            <a:avLst/>
          </a:prstGeom>
          <a:noFill/>
          <a:ln/>
        </p:spPr>
        <p:txBody>
          <a:bodyPr wrap="square" lIns="0" tIns="0" rIns="0" bIns="0" rtlCol="0" anchor="ctr"/>
          <a:lstStyle/>
          <a:p>
            <a:pPr indent="0" marL="0">
              <a:buNone/>
            </a:pPr>
            <a:r>
              <a:rPr lang="en-US" sz="1100" b="1" dirty="0">
                <a:solidFill>
                  <a:srgbClr val="16161A"/>
                </a:solidFill>
                <a:latin typeface="Yu Gothic" pitchFamily="34" charset="0"/>
                <a:ea typeface="Yu Gothic" pitchFamily="34" charset="-122"/>
                <a:cs typeface="Yu Gothic" pitchFamily="34" charset="-120"/>
              </a:rPr>
              <a:t>全社にPSR4〜5倍</a:t>
            </a:r>
            <a:endParaRPr lang="en-US" sz="1100" dirty="0"/>
          </a:p>
        </p:txBody>
      </p:sp>
      <p:sp>
        <p:nvSpPr>
          <p:cNvPr id="13" name="Text 11"/>
          <p:cNvSpPr txBox="1"/>
          <p:nvPr/>
        </p:nvSpPr>
        <p:spPr>
          <a:xfrm>
            <a:off x="4590288" y="2505456"/>
            <a:ext cx="3008376" cy="146304"/>
          </a:xfrm>
          <a:prstGeom prst="rect">
            <a:avLst/>
          </a:prstGeom>
          <a:noFill/>
          <a:ln/>
        </p:spPr>
        <p:txBody>
          <a:bodyPr wrap="square" lIns="0" tIns="0" rIns="0" bIns="0" rtlCol="0" anchor="t"/>
          <a:lstStyle/>
          <a:p>
            <a:pPr indent="0" marL="0">
              <a:lnSpc>
                <a:spcPct val="120000"/>
              </a:lnSpc>
              <a:buNone/>
            </a:pPr>
            <a:r>
              <a:rPr lang="en-US" sz="900" dirty="0">
                <a:solidFill>
                  <a:srgbClr val="6E6E76"/>
                </a:solidFill>
                <a:latin typeface="Yu Gothic" pitchFamily="34" charset="0"/>
                <a:ea typeface="Yu Gothic" pitchFamily="34" charset="-122"/>
                <a:cs typeface="Yu Gothic" pitchFamily="34" charset="-120"/>
              </a:rPr>
              <a:t>人手に比例しない収益が93%であることを根拠にする</a:t>
            </a:r>
            <a:endParaRPr lang="en-US" sz="900" dirty="0"/>
          </a:p>
        </p:txBody>
      </p:sp>
      <p:sp>
        <p:nvSpPr>
          <p:cNvPr id="14" name="Shape 12"/>
          <p:cNvSpPr/>
          <p:nvPr/>
        </p:nvSpPr>
        <p:spPr>
          <a:xfrm>
            <a:off x="8110728" y="1444752"/>
            <a:ext cx="3483864" cy="1335024"/>
          </a:xfrm>
          <a:prstGeom prst="rect">
            <a:avLst/>
          </a:prstGeom>
          <a:solidFill>
            <a:srgbClr val="FCE5CD"/>
          </a:solidFill>
          <a:ln/>
        </p:spPr>
      </p:sp>
      <p:sp>
        <p:nvSpPr>
          <p:cNvPr id="15" name="Text 13"/>
          <p:cNvSpPr txBox="1"/>
          <p:nvPr/>
        </p:nvSpPr>
        <p:spPr>
          <a:xfrm>
            <a:off x="8348472" y="1609344"/>
            <a:ext cx="3008376" cy="603504"/>
          </a:xfrm>
          <a:prstGeom prst="rect">
            <a:avLst/>
          </a:prstGeom>
          <a:noFill/>
          <a:ln/>
        </p:spPr>
        <p:txBody>
          <a:bodyPr wrap="square" lIns="0" tIns="0" rIns="0" bIns="0" rtlCol="0" anchor="ctr"/>
          <a:lstStyle/>
          <a:p>
            <a:pPr indent="0" marL="0">
              <a:buNone/>
            </a:pPr>
            <a:r>
              <a:rPr lang="en-US" sz="2700" b="1" dirty="0">
                <a:solidFill>
                  <a:srgbClr val="C9962C"/>
                </a:solidFill>
                <a:latin typeface="Yu Gothic" pitchFamily="34" charset="0"/>
                <a:ea typeface="Yu Gothic" pitchFamily="34" charset="-122"/>
                <a:cs typeface="Yu Gothic" pitchFamily="34" charset="-120"/>
              </a:rPr>
              <a:t>5.46億</a:t>
            </a:r>
            <a:endParaRPr lang="en-US" sz="2700" dirty="0"/>
          </a:p>
        </p:txBody>
      </p:sp>
      <p:sp>
        <p:nvSpPr>
          <p:cNvPr id="16" name="Text 14"/>
          <p:cNvSpPr txBox="1"/>
          <p:nvPr/>
        </p:nvSpPr>
        <p:spPr>
          <a:xfrm>
            <a:off x="8348472" y="2231136"/>
            <a:ext cx="3008376" cy="256032"/>
          </a:xfrm>
          <a:prstGeom prst="rect">
            <a:avLst/>
          </a:prstGeom>
          <a:noFill/>
          <a:ln/>
        </p:spPr>
        <p:txBody>
          <a:bodyPr wrap="square" lIns="0" tIns="0" rIns="0" bIns="0" rtlCol="0" anchor="ctr"/>
          <a:lstStyle/>
          <a:p>
            <a:pPr indent="0" marL="0">
              <a:buNone/>
            </a:pPr>
            <a:r>
              <a:rPr lang="en-US" sz="1100" b="1" dirty="0">
                <a:solidFill>
                  <a:srgbClr val="16161A"/>
                </a:solidFill>
                <a:latin typeface="Yu Gothic" pitchFamily="34" charset="0"/>
                <a:ea typeface="Yu Gothic" pitchFamily="34" charset="-122"/>
                <a:cs typeface="Yu Gothic" pitchFamily="34" charset="-120"/>
              </a:rPr>
              <a:t>売上／社員（5期）</a:t>
            </a:r>
            <a:endParaRPr lang="en-US" sz="1100" dirty="0"/>
          </a:p>
        </p:txBody>
      </p:sp>
      <p:sp>
        <p:nvSpPr>
          <p:cNvPr id="17" name="Text 15"/>
          <p:cNvSpPr txBox="1"/>
          <p:nvPr/>
        </p:nvSpPr>
        <p:spPr>
          <a:xfrm>
            <a:off x="8348472" y="2505456"/>
            <a:ext cx="3008376" cy="146304"/>
          </a:xfrm>
          <a:prstGeom prst="rect">
            <a:avLst/>
          </a:prstGeom>
          <a:noFill/>
          <a:ln/>
        </p:spPr>
        <p:txBody>
          <a:bodyPr wrap="square" lIns="0" tIns="0" rIns="0" bIns="0" rtlCol="0" anchor="t"/>
          <a:lstStyle/>
          <a:p>
            <a:pPr indent="0" marL="0">
              <a:lnSpc>
                <a:spcPct val="120000"/>
              </a:lnSpc>
              <a:buNone/>
            </a:pPr>
            <a:r>
              <a:rPr lang="en-US" sz="900" dirty="0">
                <a:solidFill>
                  <a:srgbClr val="6E6E76"/>
                </a:solidFill>
                <a:latin typeface="Yu Gothic" pitchFamily="34" charset="0"/>
                <a:ea typeface="Yu Gothic" pitchFamily="34" charset="-122"/>
                <a:cs typeface="Yu Gothic" pitchFamily="34" charset="-120"/>
              </a:rPr>
              <a:t>社員22名で年商120.0億。国内SaaSの平均2,000〜4,000万に対して桁が違う</a:t>
            </a:r>
            <a:endParaRPr lang="en-US" sz="900" dirty="0"/>
          </a:p>
        </p:txBody>
      </p:sp>
      <p:sp>
        <p:nvSpPr>
          <p:cNvPr id="18" name="Text 16"/>
          <p:cNvSpPr txBox="1"/>
          <p:nvPr/>
        </p:nvSpPr>
        <p:spPr>
          <a:xfrm>
            <a:off x="594360" y="2926080"/>
            <a:ext cx="11000232" cy="274320"/>
          </a:xfrm>
          <a:prstGeom prst="rect">
            <a:avLst/>
          </a:prstGeom>
          <a:noFill/>
          <a:ln/>
        </p:spPr>
        <p:txBody>
          <a:bodyPr wrap="square" lIns="0" tIns="0" rIns="0" bIns="0" rtlCol="0" anchor="ctr"/>
          <a:lstStyle/>
          <a:p>
            <a:pPr indent="0" marL="0">
              <a:buNone/>
            </a:pPr>
            <a:r>
              <a:rPr lang="en-US" sz="1150" b="1" dirty="0">
                <a:solidFill>
                  <a:srgbClr val="16161A"/>
                </a:solidFill>
                <a:latin typeface="Yu Gothic" pitchFamily="34" charset="0"/>
                <a:ea typeface="Yu Gothic" pitchFamily="34" charset="-122"/>
                <a:cs typeface="Yu Gothic" pitchFamily="34" charset="-120"/>
              </a:rPr>
              <a:t>シード投資家のリターン — 上場後持分 14.5%（ESOP10%・シリーズA・IPO公募20%で希薄化後）</a:t>
            </a:r>
            <a:endParaRPr lang="en-US" sz="115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94360" y="3218688"/>
          <a:ext cx="11000232" cy="914400"/>
        </p:xfrm>
        <a:graphic>
          <a:graphicData uri="http://schemas.openxmlformats.org/drawingml/2006/table">
            <a:tbl>
              <a:tblPr/>
              <a:tblGrid>
                <a:gridCol w="1828800"/>
                <a:gridCol w="4937760"/>
                <a:gridCol w="2194560"/>
                <a:gridCol w="2039112"/>
              </a:tblGrid>
              <a:tr h="365760">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時価総額</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根拠</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シードの取り分</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倍率</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r>
              <a:tr h="365760">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474億</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ツール6倍＋C2C4倍＋制作1.5倍（保守）</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68.7億</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b="1" dirty="0">
                          <a:solidFill>
                            <a:srgbClr val="B3121B"/>
                          </a:solidFill>
                          <a:latin typeface="Yu Gothic" pitchFamily="34" charset="0"/>
                          <a:ea typeface="Yu Gothic" pitchFamily="34" charset="-122"/>
                          <a:cs typeface="Yu Gothic" pitchFamily="34" charset="-120"/>
                        </a:rPr>
                        <a:t>48.4倍</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365760">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576億</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ツール7倍＋C2C5倍＋制作2.0倍</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83.5億</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b="1" dirty="0">
                          <a:solidFill>
                            <a:srgbClr val="B3121B"/>
                          </a:solidFill>
                          <a:latin typeface="Yu Gothic" pitchFamily="34" charset="0"/>
                          <a:ea typeface="Yu Gothic" pitchFamily="34" charset="-122"/>
                          <a:cs typeface="Yu Gothic" pitchFamily="34" charset="-120"/>
                        </a:rPr>
                        <a:t>58.8倍</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365760">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678億</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ツール8倍＋C2C6倍＋制作2.5倍（強気）</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98.3億</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b="1" dirty="0">
                          <a:solidFill>
                            <a:srgbClr val="B3121B"/>
                          </a:solidFill>
                          <a:latin typeface="Yu Gothic" pitchFamily="34" charset="0"/>
                          <a:ea typeface="Yu Gothic" pitchFamily="34" charset="-122"/>
                          <a:cs typeface="Yu Gothic" pitchFamily="34" charset="-120"/>
                        </a:rPr>
                        <a:t>69.3倍</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bl>
          </a:graphicData>
        </a:graphic>
      </p:graphicFrame>
      <p:sp>
        <p:nvSpPr>
          <p:cNvPr id="20" name="Shape 17"/>
          <p:cNvSpPr/>
          <p:nvPr/>
        </p:nvSpPr>
        <p:spPr>
          <a:xfrm>
            <a:off x="594360" y="4608576"/>
            <a:ext cx="5362956" cy="1097280"/>
          </a:xfrm>
          <a:prstGeom prst="rect">
            <a:avLst/>
          </a:prstGeom>
          <a:solidFill>
            <a:srgbClr val="FBF1F1"/>
          </a:solidFill>
          <a:ln/>
        </p:spPr>
      </p:sp>
      <p:sp>
        <p:nvSpPr>
          <p:cNvPr id="21" name="Shape 18"/>
          <p:cNvSpPr/>
          <p:nvPr/>
        </p:nvSpPr>
        <p:spPr>
          <a:xfrm>
            <a:off x="594360" y="4608576"/>
            <a:ext cx="45720" cy="1097280"/>
          </a:xfrm>
          <a:prstGeom prst="rect">
            <a:avLst/>
          </a:prstGeom>
          <a:solidFill>
            <a:srgbClr val="B3121B"/>
          </a:solidFill>
          <a:ln/>
        </p:spPr>
      </p:sp>
      <p:sp>
        <p:nvSpPr>
          <p:cNvPr id="22" name="Text 19"/>
          <p:cNvSpPr txBox="1"/>
          <p:nvPr/>
        </p:nvSpPr>
        <p:spPr>
          <a:xfrm>
            <a:off x="850392" y="4754880"/>
            <a:ext cx="4905756" cy="274320"/>
          </a:xfrm>
          <a:prstGeom prst="rect">
            <a:avLst/>
          </a:prstGeom>
          <a:noFill/>
          <a:ln/>
        </p:spPr>
        <p:txBody>
          <a:bodyPr wrap="square" lIns="0" tIns="0" rIns="0" bIns="0" rtlCol="0" anchor="ctr"/>
          <a:lstStyle/>
          <a:p>
            <a:pPr indent="0" marL="0">
              <a:buNone/>
            </a:pPr>
            <a:r>
              <a:rPr lang="en-US" sz="1200" b="1" dirty="0">
                <a:solidFill>
                  <a:srgbClr val="B3121B"/>
                </a:solidFill>
                <a:latin typeface="Yu Gothic" pitchFamily="34" charset="0"/>
                <a:ea typeface="Yu Gothic" pitchFamily="34" charset="-122"/>
                <a:cs typeface="Yu Gothic" pitchFamily="34" charset="-120"/>
              </a:rPr>
              <a:t>⚠ 維持基準は大きく超えます</a:t>
            </a:r>
            <a:endParaRPr lang="en-US" sz="1200" dirty="0"/>
          </a:p>
        </p:txBody>
      </p:sp>
      <p:sp>
        <p:nvSpPr>
          <p:cNvPr id="23" name="Text 20"/>
          <p:cNvSpPr txBox="1"/>
          <p:nvPr/>
        </p:nvSpPr>
        <p:spPr>
          <a:xfrm>
            <a:off x="850392" y="5084064"/>
            <a:ext cx="4905756" cy="475488"/>
          </a:xfrm>
          <a:prstGeom prst="rect">
            <a:avLst/>
          </a:prstGeom>
          <a:noFill/>
          <a:ln/>
        </p:spPr>
        <p:txBody>
          <a:bodyPr wrap="square" lIns="0" tIns="0" rIns="0" bIns="0" rtlCol="0" anchor="t"/>
          <a:lstStyle/>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グロースの「上場5年経過後に時価総額100億円」に対し、保守的な474億でも4.7倍のバッファ。</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上場時の創業者持分は42%前後、評価額は約200億（474億のとき）を想定しています。</a:t>
            </a:r>
            <a:endParaRPr lang="en-US" sz="1000" dirty="0"/>
          </a:p>
        </p:txBody>
      </p:sp>
      <p:sp>
        <p:nvSpPr>
          <p:cNvPr id="24" name="Shape 21"/>
          <p:cNvSpPr/>
          <p:nvPr/>
        </p:nvSpPr>
        <p:spPr>
          <a:xfrm>
            <a:off x="6231636" y="4608576"/>
            <a:ext cx="5362956" cy="1097280"/>
          </a:xfrm>
          <a:prstGeom prst="rect">
            <a:avLst/>
          </a:prstGeom>
          <a:solidFill>
            <a:srgbClr val="FBF1F1"/>
          </a:solidFill>
          <a:ln/>
        </p:spPr>
      </p:sp>
      <p:sp>
        <p:nvSpPr>
          <p:cNvPr id="25" name="Shape 22"/>
          <p:cNvSpPr/>
          <p:nvPr/>
        </p:nvSpPr>
        <p:spPr>
          <a:xfrm>
            <a:off x="6231636" y="4608576"/>
            <a:ext cx="45720" cy="1097280"/>
          </a:xfrm>
          <a:prstGeom prst="rect">
            <a:avLst/>
          </a:prstGeom>
          <a:solidFill>
            <a:srgbClr val="B3121B"/>
          </a:solidFill>
          <a:ln/>
        </p:spPr>
      </p:sp>
      <p:sp>
        <p:nvSpPr>
          <p:cNvPr id="26" name="Text 23"/>
          <p:cNvSpPr txBox="1"/>
          <p:nvPr/>
        </p:nvSpPr>
        <p:spPr>
          <a:xfrm>
            <a:off x="6487668" y="4754880"/>
            <a:ext cx="4905756" cy="274320"/>
          </a:xfrm>
          <a:prstGeom prst="rect">
            <a:avLst/>
          </a:prstGeom>
          <a:noFill/>
          <a:ln/>
        </p:spPr>
        <p:txBody>
          <a:bodyPr wrap="square" lIns="0" tIns="0" rIns="0" bIns="0" rtlCol="0" anchor="ctr"/>
          <a:lstStyle/>
          <a:p>
            <a:pPr indent="0" marL="0">
              <a:buNone/>
            </a:pPr>
            <a:r>
              <a:rPr lang="en-US" sz="1200" b="1" dirty="0">
                <a:solidFill>
                  <a:srgbClr val="B3121B"/>
                </a:solidFill>
                <a:latin typeface="Yu Gothic" pitchFamily="34" charset="0"/>
                <a:ea typeface="Yu Gothic" pitchFamily="34" charset="-122"/>
                <a:cs typeface="Yu Gothic" pitchFamily="34" charset="-120"/>
              </a:rPr>
              <a:t>⚠ すべて「計画が達成された場合」の試算です</a:t>
            </a:r>
            <a:endParaRPr lang="en-US" sz="1200" dirty="0"/>
          </a:p>
        </p:txBody>
      </p:sp>
      <p:sp>
        <p:nvSpPr>
          <p:cNvPr id="27" name="Text 24"/>
          <p:cNvSpPr txBox="1"/>
          <p:nvPr/>
        </p:nvSpPr>
        <p:spPr>
          <a:xfrm>
            <a:off x="6487668" y="5084064"/>
            <a:ext cx="4905756" cy="475488"/>
          </a:xfrm>
          <a:prstGeom prst="rect">
            <a:avLst/>
          </a:prstGeom>
          <a:noFill/>
          <a:ln/>
        </p:spPr>
        <p:txBody>
          <a:bodyPr wrap="square" lIns="0" tIns="0" rIns="0" bIns="0" rtlCol="0" anchor="t"/>
          <a:lstStyle/>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②のツール外販41.6億は海外展開が前提で、Synthesia 210億の19%にあたる規模です。</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2025年のグロースIPOは18社（前年34社から半減）。倍率は市況で変動し、利回りの保証ではありません。</a:t>
            </a:r>
            <a:endParaRPr lang="en-US" sz="1000" dirty="0"/>
          </a:p>
        </p:txBody>
      </p:sp>
      <p:sp>
        <p:nvSpPr>
          <p:cNvPr id="28" name="Text 25"/>
          <p:cNvSpPr txBox="1"/>
          <p:nvPr/>
        </p:nvSpPr>
        <p:spPr>
          <a:xfrm>
            <a:off x="594360" y="6336792"/>
            <a:ext cx="9902952" cy="310896"/>
          </a:xfrm>
          <a:prstGeom prst="rect">
            <a:avLst/>
          </a:prstGeom>
          <a:noFill/>
          <a:ln/>
        </p:spPr>
        <p:txBody>
          <a:bodyPr wrap="square" lIns="0" tIns="0" rIns="0" bIns="0" rtlCol="0" anchor="ctr"/>
          <a:lstStyle/>
          <a:p>
            <a:pPr indent="0" marL="0">
              <a:buNone/>
            </a:pPr>
            <a:r>
              <a:rPr lang="en-US" sz="850" dirty="0">
                <a:solidFill>
                  <a:srgbClr val="6E6E76"/>
                </a:solidFill>
                <a:latin typeface="Yu Gothic" pitchFamily="34" charset="0"/>
                <a:ea typeface="Yu Gothic" pitchFamily="34" charset="-122"/>
                <a:cs typeface="Yu Gothic" pitchFamily="34" charset="-120"/>
              </a:rPr>
              <a:t>出所: M&amp;A総研（業種別EV/EBITDA倍率）／ EY Japan（2026年以降のIPO市場）／ FiNX（グロース維持基準の制度化）／ HeyGen公式・YipitData（AI映像のARR）</a:t>
            </a:r>
            <a:endParaRPr lang="en-US" sz="850" dirty="0"/>
          </a:p>
        </p:txBody>
      </p:sp>
      <p:sp>
        <p:nvSpPr>
          <p:cNvPr id="29" name="Text 26"/>
          <p:cNvSpPr txBox="1"/>
          <p:nvPr/>
        </p:nvSpPr>
        <p:spPr>
          <a:xfrm>
            <a:off x="11228832" y="6336792"/>
            <a:ext cx="365760" cy="274320"/>
          </a:xfrm>
          <a:prstGeom prst="rect">
            <a:avLst/>
          </a:prstGeom>
          <a:noFill/>
          <a:ln/>
        </p:spPr>
        <p:txBody>
          <a:bodyPr wrap="square" lIns="0" tIns="0" rIns="0" bIns="0" rtlCol="0" anchor="ctr"/>
          <a:lstStyle/>
          <a:p>
            <a:pPr algn="r" indent="0" marL="0">
              <a:buNone/>
            </a:pPr>
            <a:r>
              <a:rPr lang="en-US" sz="900" dirty="0">
                <a:solidFill>
                  <a:srgbClr val="6E6E76"/>
                </a:solidFill>
                <a:latin typeface="Yu Gothic" pitchFamily="34" charset="0"/>
                <a:ea typeface="Yu Gothic" pitchFamily="34" charset="-122"/>
                <a:cs typeface="Yu Gothic" pitchFamily="34" charset="-120"/>
              </a:rPr>
              <a:t>22</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402336"/>
            <a:ext cx="475488" cy="475488"/>
          </a:xfrm>
          <a:prstGeom prst="rect">
            <a:avLst/>
          </a:prstGeom>
          <a:solidFill>
            <a:srgbClr val="B3121B"/>
          </a:solidFill>
          <a:ln/>
        </p:spPr>
      </p:sp>
      <p:sp>
        <p:nvSpPr>
          <p:cNvPr id="3" name="Text 1"/>
          <p:cNvSpPr txBox="1"/>
          <p:nvPr/>
        </p:nvSpPr>
        <p:spPr>
          <a:xfrm>
            <a:off x="594360" y="40233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9</a:t>
            </a:r>
            <a:endParaRPr lang="en-US" sz="1700" dirty="0"/>
          </a:p>
        </p:txBody>
      </p:sp>
      <p:sp>
        <p:nvSpPr>
          <p:cNvPr id="4" name="Text 2"/>
          <p:cNvSpPr txBox="1"/>
          <p:nvPr/>
        </p:nvSpPr>
        <p:spPr>
          <a:xfrm>
            <a:off x="1207008" y="365760"/>
            <a:ext cx="10387584" cy="548640"/>
          </a:xfrm>
          <a:prstGeom prst="rect">
            <a:avLst/>
          </a:prstGeom>
          <a:noFill/>
          <a:ln/>
        </p:spPr>
        <p:txBody>
          <a:bodyPr wrap="square" lIns="0" tIns="0" rIns="0" bIns="0" rtlCol="0" anchor="ctr"/>
          <a:lstStyle/>
          <a:p>
            <a:pPr indent="0" marL="0">
              <a:buNone/>
            </a:pPr>
            <a:r>
              <a:rPr lang="en-US" sz="2500" b="1" dirty="0">
                <a:solidFill>
                  <a:srgbClr val="16161A"/>
                </a:solidFill>
                <a:latin typeface="Yu Gothic" pitchFamily="34" charset="0"/>
                <a:ea typeface="Yu Gothic" pitchFamily="34" charset="-122"/>
                <a:cs typeface="Yu Gothic" pitchFamily="34" charset="-120"/>
              </a:rPr>
              <a:t>マイルストーン</a:t>
            </a:r>
            <a:endParaRPr lang="en-US" sz="2500" dirty="0"/>
          </a:p>
        </p:txBody>
      </p:sp>
      <p:sp>
        <p:nvSpPr>
          <p:cNvPr id="5" name="Text 3"/>
          <p:cNvSpPr txBox="1"/>
          <p:nvPr/>
        </p:nvSpPr>
        <p:spPr>
          <a:xfrm>
            <a:off x="1207008" y="932688"/>
            <a:ext cx="10387584" cy="310896"/>
          </a:xfrm>
          <a:prstGeom prst="rect">
            <a:avLst/>
          </a:prstGeom>
          <a:noFill/>
          <a:ln/>
        </p:spPr>
        <p:txBody>
          <a:bodyPr wrap="square" lIns="0" tIns="0" rIns="0" bIns="0" rtlCol="0" anchor="ctr"/>
          <a:lstStyle/>
          <a:p>
            <a:pPr indent="0" marL="0">
              <a:buNone/>
            </a:pPr>
            <a:r>
              <a:rPr lang="en-US" sz="1200" dirty="0">
                <a:solidFill>
                  <a:srgbClr val="6E6E76"/>
                </a:solidFill>
                <a:latin typeface="Yu Gothic" pitchFamily="34" charset="0"/>
                <a:ea typeface="Yu Gothic" pitchFamily="34" charset="-122"/>
                <a:cs typeface="Yu Gothic" pitchFamily="34" charset="-120"/>
              </a:rPr>
              <a:t>各フェーズは「ゲート条件」で区切ります。満たさない限り、次へは進みません</a:t>
            </a:r>
            <a:endParaRPr lang="en-US" sz="1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94360" y="1444752"/>
          <a:ext cx="11000232" cy="914400"/>
        </p:xfrm>
        <a:graphic>
          <a:graphicData uri="http://schemas.openxmlformats.org/drawingml/2006/table">
            <a:tbl>
              <a:tblPr/>
              <a:tblGrid>
                <a:gridCol w="1463040"/>
                <a:gridCol w="4206240"/>
                <a:gridCol w="5330952"/>
              </a:tblGrid>
              <a:tr h="365760">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時期</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やること</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 次へ進むゲート条件</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r>
              <a:tr h="365760">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〜2026/12</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法人設立・中国パートナーとの契約・業務委託契約の雛形作成</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パートナー契約の締結／弁護士の見解書（業務委託・資金決済法）</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365760">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2027/1-3</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制作の受注開始／ツールの内部適用を開始</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b="1" dirty="0">
                          <a:solidFill>
                            <a:srgbClr val="B3121B"/>
                          </a:solidFill>
                          <a:latin typeface="Yu Gothic" pitchFamily="34" charset="0"/>
                          <a:ea typeface="Yu Gothic" pitchFamily="34" charset="-122"/>
                          <a:cs typeface="Yu Gothic" pitchFamily="34" charset="-120"/>
                        </a:rPr>
                        <a:t>制作 累計5本／★ AX倍率の実測を開始（案件ごとに工数記録）</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365760">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2027/4-9</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C2C発注PFの公開（6ヶ月目）・D案IPの投入</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b="1" dirty="0">
                          <a:solidFill>
                            <a:srgbClr val="B3121B"/>
                          </a:solidFill>
                          <a:latin typeface="Yu Gothic" pitchFamily="34" charset="0"/>
                          <a:ea typeface="Yu Gothic" pitchFamily="34" charset="-122"/>
                          <a:cs typeface="Yu Gothic" pitchFamily="34" charset="-120"/>
                        </a:rPr>
                        <a:t>★ AX倍率を20案件で確定（〜6月）／制作 1期60本／登録30名</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365760">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2期</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制作304本・ツール外販の立ち上げ</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AX 1.5倍／ツール外販 法人15社／シリーズA 3億／監査法人SR</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365760">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3期</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制作1,215本・黒字化・ツールの海外展開に着手</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AX 2.2倍／ツール5.6億／通期黒字／監査開始</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365760">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4期</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制作2,543本・スケール</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AX 3.0倍／ツール20.2億／C2C 24.4億／流通株式25%の設計合意</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365760">
                <a:tc>
                  <a:txBody>
                    <a:bodyPr/>
                    <a:lstStyle/>
                    <a:p>
                      <a:pPr indent="0" marL="0">
                        <a:buNone/>
                      </a:pPr>
                      <a:r>
                        <a:rPr lang="en-US" sz="950" b="1" dirty="0">
                          <a:solidFill>
                            <a:srgbClr val="B3121B"/>
                          </a:solidFill>
                          <a:latin typeface="Yu Gothic" pitchFamily="34" charset="0"/>
                          <a:ea typeface="Yu Gothic" pitchFamily="34" charset="-122"/>
                          <a:cs typeface="Yu Gothic" pitchFamily="34" charset="-120"/>
                        </a:rPr>
                        <a:t>5期</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b="1" dirty="0">
                          <a:solidFill>
                            <a:srgbClr val="3A3A42"/>
                          </a:solidFill>
                          <a:latin typeface="Yu Gothic" pitchFamily="34" charset="0"/>
                          <a:ea typeface="Yu Gothic" pitchFamily="34" charset="-122"/>
                          <a:cs typeface="Yu Gothic" pitchFamily="34" charset="-120"/>
                        </a:rPr>
                        <a:t>制作3,780本・上場申請</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b="1" dirty="0">
                          <a:solidFill>
                            <a:srgbClr val="3A3A42"/>
                          </a:solidFill>
                          <a:latin typeface="Yu Gothic" pitchFamily="34" charset="0"/>
                          <a:ea typeface="Yu Gothic" pitchFamily="34" charset="-122"/>
                          <a:cs typeface="Yu Gothic" pitchFamily="34" charset="-120"/>
                        </a:rPr>
                        <a:t>AX 4.0倍／年商120.0億・営業利益45.4億</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bl>
          </a:graphicData>
        </a:graphic>
      </p:graphicFrame>
      <p:sp>
        <p:nvSpPr>
          <p:cNvPr id="7" name="Shape 4"/>
          <p:cNvSpPr/>
          <p:nvPr/>
        </p:nvSpPr>
        <p:spPr>
          <a:xfrm>
            <a:off x="594360" y="4553712"/>
            <a:ext cx="11000232" cy="1152144"/>
          </a:xfrm>
          <a:prstGeom prst="rect">
            <a:avLst/>
          </a:prstGeom>
          <a:solidFill>
            <a:srgbClr val="FBF1F1"/>
          </a:solidFill>
          <a:ln/>
        </p:spPr>
      </p:sp>
      <p:sp>
        <p:nvSpPr>
          <p:cNvPr id="8" name="Shape 5"/>
          <p:cNvSpPr/>
          <p:nvPr/>
        </p:nvSpPr>
        <p:spPr>
          <a:xfrm>
            <a:off x="594360" y="4553712"/>
            <a:ext cx="45720" cy="1152144"/>
          </a:xfrm>
          <a:prstGeom prst="rect">
            <a:avLst/>
          </a:prstGeom>
          <a:solidFill>
            <a:srgbClr val="B3121B"/>
          </a:solidFill>
          <a:ln/>
        </p:spPr>
      </p:sp>
      <p:sp>
        <p:nvSpPr>
          <p:cNvPr id="9" name="Text 6"/>
          <p:cNvSpPr txBox="1"/>
          <p:nvPr/>
        </p:nvSpPr>
        <p:spPr>
          <a:xfrm>
            <a:off x="850392" y="4700016"/>
            <a:ext cx="10543032" cy="274320"/>
          </a:xfrm>
          <a:prstGeom prst="rect">
            <a:avLst/>
          </a:prstGeom>
          <a:noFill/>
          <a:ln/>
        </p:spPr>
        <p:txBody>
          <a:bodyPr wrap="square" lIns="0" tIns="0" rIns="0" bIns="0" rtlCol="0" anchor="ctr"/>
          <a:lstStyle/>
          <a:p>
            <a:pPr indent="0" marL="0">
              <a:buNone/>
            </a:pPr>
            <a:r>
              <a:rPr lang="en-US" sz="1200" b="1" dirty="0">
                <a:solidFill>
                  <a:srgbClr val="B3121B"/>
                </a:solidFill>
                <a:latin typeface="Yu Gothic" pitchFamily="34" charset="0"/>
                <a:ea typeface="Yu Gothic" pitchFamily="34" charset="-122"/>
                <a:cs typeface="Yu Gothic" pitchFamily="34" charset="-120"/>
              </a:rPr>
              <a:t>⚠ 最優先で実測するのは ③の成約価格です</a:t>
            </a:r>
            <a:endParaRPr lang="en-US" sz="1200" dirty="0"/>
          </a:p>
        </p:txBody>
      </p:sp>
      <p:sp>
        <p:nvSpPr>
          <p:cNvPr id="10" name="Text 7"/>
          <p:cNvSpPr txBox="1"/>
          <p:nvPr/>
        </p:nvSpPr>
        <p:spPr>
          <a:xfrm>
            <a:off x="850392" y="5029200"/>
            <a:ext cx="10543032" cy="530352"/>
          </a:xfrm>
          <a:prstGeom prst="rect">
            <a:avLst/>
          </a:prstGeom>
          <a:noFill/>
          <a:ln/>
        </p:spPr>
        <p:txBody>
          <a:bodyPr wrap="square" lIns="0" tIns="0" rIns="0" bIns="0" rtlCol="0" anchor="t"/>
          <a:lstStyle/>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③は価格帯の上限で成約する前提で置いています。ここが中点に落ちると営業利益は45億→28億。</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AX倍率は次点です。★20案件で実測し2027年6月に更新。4倍なら37.8%、1倍でも30.5%で成立します。</a:t>
            </a:r>
            <a:endParaRPr lang="en-US" sz="1000" dirty="0"/>
          </a:p>
        </p:txBody>
      </p:sp>
      <p:sp>
        <p:nvSpPr>
          <p:cNvPr id="11" name="Text 8"/>
          <p:cNvSpPr txBox="1"/>
          <p:nvPr/>
        </p:nvSpPr>
        <p:spPr>
          <a:xfrm>
            <a:off x="594360" y="6336792"/>
            <a:ext cx="9902952" cy="310896"/>
          </a:xfrm>
          <a:prstGeom prst="rect">
            <a:avLst/>
          </a:prstGeom>
          <a:noFill/>
          <a:ln/>
        </p:spPr>
        <p:txBody>
          <a:bodyPr wrap="square" lIns="0" tIns="0" rIns="0" bIns="0" rtlCol="0" anchor="ctr"/>
          <a:lstStyle/>
          <a:p>
            <a:pPr indent="0" marL="0">
              <a:buNone/>
            </a:pPr>
            <a:r>
              <a:rPr lang="en-US" sz="850" dirty="0">
                <a:solidFill>
                  <a:srgbClr val="6E6E76"/>
                </a:solidFill>
                <a:latin typeface="Yu Gothic" pitchFamily="34" charset="0"/>
                <a:ea typeface="Yu Gothic" pitchFamily="34" charset="-122"/>
                <a:cs typeface="Yu Gothic" pitchFamily="34" charset="-120"/>
              </a:rPr>
              <a:t>ゲート条件を満たさない場合は次フェーズに進まず、前提を引き直します。詳細は ROADMAP.md</a:t>
            </a:r>
            <a:endParaRPr lang="en-US" sz="850" dirty="0"/>
          </a:p>
        </p:txBody>
      </p:sp>
      <p:sp>
        <p:nvSpPr>
          <p:cNvPr id="12" name="Text 9"/>
          <p:cNvSpPr txBox="1"/>
          <p:nvPr/>
        </p:nvSpPr>
        <p:spPr>
          <a:xfrm>
            <a:off x="11228832" y="6336792"/>
            <a:ext cx="365760" cy="274320"/>
          </a:xfrm>
          <a:prstGeom prst="rect">
            <a:avLst/>
          </a:prstGeom>
          <a:noFill/>
          <a:ln/>
        </p:spPr>
        <p:txBody>
          <a:bodyPr wrap="square" lIns="0" tIns="0" rIns="0" bIns="0" rtlCol="0" anchor="ctr"/>
          <a:lstStyle/>
          <a:p>
            <a:pPr algn="r" indent="0" marL="0">
              <a:buNone/>
            </a:pPr>
            <a:r>
              <a:rPr lang="en-US" sz="900" dirty="0">
                <a:solidFill>
                  <a:srgbClr val="6E6E76"/>
                </a:solidFill>
                <a:latin typeface="Yu Gothic" pitchFamily="34" charset="0"/>
                <a:ea typeface="Yu Gothic" pitchFamily="34" charset="-122"/>
                <a:cs typeface="Yu Gothic" pitchFamily="34" charset="-120"/>
              </a:rPr>
              <a:t>23</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402336"/>
            <a:ext cx="475488" cy="475488"/>
          </a:xfrm>
          <a:prstGeom prst="rect">
            <a:avLst/>
          </a:prstGeom>
          <a:solidFill>
            <a:srgbClr val="B3121B"/>
          </a:solidFill>
          <a:ln/>
        </p:spPr>
      </p:sp>
      <p:sp>
        <p:nvSpPr>
          <p:cNvPr id="3" name="Text 1"/>
          <p:cNvSpPr txBox="1"/>
          <p:nvPr/>
        </p:nvSpPr>
        <p:spPr>
          <a:xfrm>
            <a:off x="594360" y="40233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10</a:t>
            </a:r>
            <a:endParaRPr lang="en-US" sz="1700" dirty="0"/>
          </a:p>
        </p:txBody>
      </p:sp>
      <p:sp>
        <p:nvSpPr>
          <p:cNvPr id="4" name="Text 2"/>
          <p:cNvSpPr txBox="1"/>
          <p:nvPr/>
        </p:nvSpPr>
        <p:spPr>
          <a:xfrm>
            <a:off x="1207008" y="365760"/>
            <a:ext cx="10387584" cy="548640"/>
          </a:xfrm>
          <a:prstGeom prst="rect">
            <a:avLst/>
          </a:prstGeom>
          <a:noFill/>
          <a:ln/>
        </p:spPr>
        <p:txBody>
          <a:bodyPr wrap="square" lIns="0" tIns="0" rIns="0" bIns="0" rtlCol="0" anchor="ctr"/>
          <a:lstStyle/>
          <a:p>
            <a:pPr indent="0" marL="0">
              <a:buNone/>
            </a:pPr>
            <a:r>
              <a:rPr lang="en-US" sz="2500" b="1" dirty="0">
                <a:solidFill>
                  <a:srgbClr val="16161A"/>
                </a:solidFill>
                <a:latin typeface="Yu Gothic" pitchFamily="34" charset="0"/>
                <a:ea typeface="Yu Gothic" pitchFamily="34" charset="-122"/>
                <a:cs typeface="Yu Gothic" pitchFamily="34" charset="-120"/>
              </a:rPr>
              <a:t>資金計画</a:t>
            </a:r>
            <a:endParaRPr lang="en-US" sz="2500" dirty="0"/>
          </a:p>
        </p:txBody>
      </p:sp>
      <p:sp>
        <p:nvSpPr>
          <p:cNvPr id="5" name="Text 3"/>
          <p:cNvSpPr txBox="1"/>
          <p:nvPr/>
        </p:nvSpPr>
        <p:spPr>
          <a:xfrm>
            <a:off x="1207008" y="932688"/>
            <a:ext cx="10387584" cy="310896"/>
          </a:xfrm>
          <a:prstGeom prst="rect">
            <a:avLst/>
          </a:prstGeom>
          <a:noFill/>
          <a:ln/>
        </p:spPr>
        <p:txBody>
          <a:bodyPr wrap="square" lIns="0" tIns="0" rIns="0" bIns="0" rtlCol="0" anchor="ctr"/>
          <a:lstStyle/>
          <a:p>
            <a:pPr indent="0" marL="0">
              <a:buNone/>
            </a:pPr>
            <a:r>
              <a:rPr lang="en-US" sz="1200" dirty="0">
                <a:solidFill>
                  <a:srgbClr val="6E6E76"/>
                </a:solidFill>
                <a:latin typeface="Yu Gothic" pitchFamily="34" charset="0"/>
                <a:ea typeface="Yu Gothic" pitchFamily="34" charset="-122"/>
                <a:cs typeface="Yu Gothic" pitchFamily="34" charset="-120"/>
              </a:rPr>
              <a:t>調達目標 1.5億円。融資を使わず、全額をエクイティで調達します</a:t>
            </a:r>
            <a:endParaRPr lang="en-US" sz="1200" dirty="0"/>
          </a:p>
        </p:txBody>
      </p:sp>
      <p:sp>
        <p:nvSpPr>
          <p:cNvPr id="6" name="Text 4"/>
          <p:cNvSpPr txBox="1"/>
          <p:nvPr/>
        </p:nvSpPr>
        <p:spPr>
          <a:xfrm>
            <a:off x="594360" y="1389888"/>
            <a:ext cx="5760720" cy="274320"/>
          </a:xfrm>
          <a:prstGeom prst="rect">
            <a:avLst/>
          </a:prstGeom>
          <a:noFill/>
          <a:ln/>
        </p:spPr>
        <p:txBody>
          <a:bodyPr wrap="square" lIns="0" tIns="0" rIns="0" bIns="0" rtlCol="0" anchor="ctr"/>
          <a:lstStyle/>
          <a:p>
            <a:pPr indent="0" marL="0">
              <a:buNone/>
            </a:pPr>
            <a:r>
              <a:rPr lang="en-US" sz="1150" b="1" dirty="0">
                <a:solidFill>
                  <a:srgbClr val="16161A"/>
                </a:solidFill>
                <a:latin typeface="Yu Gothic" pitchFamily="34" charset="0"/>
                <a:ea typeface="Yu Gothic" pitchFamily="34" charset="-122"/>
                <a:cs typeface="Yu Gothic" pitchFamily="34" charset="-120"/>
              </a:rPr>
              <a:t>1年目の使途（単位 万円・合計 12,000万）</a:t>
            </a:r>
            <a:endParaRPr lang="en-US" sz="1150" dirty="0"/>
          </a:p>
        </p:txBody>
      </p:sp>
      <p:sp>
        <p:nvSpPr>
          <p:cNvPr id="7" name="Text 5"/>
          <p:cNvSpPr txBox="1"/>
          <p:nvPr/>
        </p:nvSpPr>
        <p:spPr>
          <a:xfrm>
            <a:off x="594360" y="1737360"/>
            <a:ext cx="3017520" cy="310896"/>
          </a:xfrm>
          <a:prstGeom prst="rect">
            <a:avLst/>
          </a:prstGeom>
          <a:noFill/>
          <a:ln/>
        </p:spPr>
        <p:txBody>
          <a:bodyPr wrap="square" lIns="0" tIns="0" rIns="0" bIns="0" rtlCol="0" anchor="ctr"/>
          <a:lstStyle/>
          <a:p>
            <a:pPr indent="0" marL="0">
              <a:buNone/>
            </a:pPr>
            <a:r>
              <a:rPr lang="en-US" sz="950" dirty="0">
                <a:solidFill>
                  <a:srgbClr val="3A3A42"/>
                </a:solidFill>
                <a:latin typeface="Yu Gothic" pitchFamily="34" charset="0"/>
                <a:ea typeface="Yu Gothic" pitchFamily="34" charset="-122"/>
                <a:cs typeface="Yu Gothic" pitchFamily="34" charset="-120"/>
              </a:rPr>
              <a:t>人件費（社員6名）</a:t>
            </a:r>
            <a:endParaRPr lang="en-US" sz="950" dirty="0"/>
          </a:p>
        </p:txBody>
      </p:sp>
      <p:sp>
        <p:nvSpPr>
          <p:cNvPr id="8" name="Shape 6"/>
          <p:cNvSpPr/>
          <p:nvPr/>
        </p:nvSpPr>
        <p:spPr>
          <a:xfrm>
            <a:off x="3721608" y="1792224"/>
            <a:ext cx="1828800" cy="201168"/>
          </a:xfrm>
          <a:prstGeom prst="rect">
            <a:avLst/>
          </a:prstGeom>
          <a:solidFill>
            <a:srgbClr val="B3121B"/>
          </a:solidFill>
          <a:ln/>
        </p:spPr>
      </p:sp>
      <p:sp>
        <p:nvSpPr>
          <p:cNvPr id="9" name="Text 7"/>
          <p:cNvSpPr txBox="1"/>
          <p:nvPr/>
        </p:nvSpPr>
        <p:spPr>
          <a:xfrm>
            <a:off x="5486400" y="1737360"/>
            <a:ext cx="868680" cy="310896"/>
          </a:xfrm>
          <a:prstGeom prst="rect">
            <a:avLst/>
          </a:prstGeom>
          <a:noFill/>
          <a:ln/>
        </p:spPr>
        <p:txBody>
          <a:bodyPr wrap="square" lIns="0" tIns="0" rIns="0" bIns="0" rtlCol="0" anchor="ctr"/>
          <a:lstStyle/>
          <a:p>
            <a:pPr algn="r" indent="0" marL="0">
              <a:buNone/>
            </a:pPr>
            <a:r>
              <a:rPr lang="en-US" sz="950" b="1" dirty="0">
                <a:solidFill>
                  <a:srgbClr val="16161A"/>
                </a:solidFill>
                <a:latin typeface="Yu Gothic" pitchFamily="34" charset="0"/>
                <a:ea typeface="Yu Gothic" pitchFamily="34" charset="-122"/>
                <a:cs typeface="Yu Gothic" pitchFamily="34" charset="-120"/>
              </a:rPr>
              <a:t>5300</a:t>
            </a:r>
            <a:endParaRPr lang="en-US" sz="950" dirty="0"/>
          </a:p>
        </p:txBody>
      </p:sp>
      <p:sp>
        <p:nvSpPr>
          <p:cNvPr id="10" name="Text 8"/>
          <p:cNvSpPr txBox="1"/>
          <p:nvPr/>
        </p:nvSpPr>
        <p:spPr>
          <a:xfrm>
            <a:off x="594360" y="2103120"/>
            <a:ext cx="3017520" cy="310896"/>
          </a:xfrm>
          <a:prstGeom prst="rect">
            <a:avLst/>
          </a:prstGeom>
          <a:noFill/>
          <a:ln/>
        </p:spPr>
        <p:txBody>
          <a:bodyPr wrap="square" lIns="0" tIns="0" rIns="0" bIns="0" rtlCol="0" anchor="ctr"/>
          <a:lstStyle/>
          <a:p>
            <a:pPr indent="0" marL="0">
              <a:buNone/>
            </a:pPr>
            <a:r>
              <a:rPr lang="en-US" sz="950" dirty="0">
                <a:solidFill>
                  <a:srgbClr val="3A3A42"/>
                </a:solidFill>
                <a:latin typeface="Yu Gothic" pitchFamily="34" charset="0"/>
                <a:ea typeface="Yu Gothic" pitchFamily="34" charset="-122"/>
                <a:cs typeface="Yu Gothic" pitchFamily="34" charset="-120"/>
              </a:rPr>
              <a:t>研究開発（GPU・モデル・データ基盤）</a:t>
            </a:r>
            <a:endParaRPr lang="en-US" sz="950" dirty="0"/>
          </a:p>
        </p:txBody>
      </p:sp>
      <p:sp>
        <p:nvSpPr>
          <p:cNvPr id="11" name="Shape 9"/>
          <p:cNvSpPr/>
          <p:nvPr/>
        </p:nvSpPr>
        <p:spPr>
          <a:xfrm>
            <a:off x="3721608" y="2157984"/>
            <a:ext cx="1035170" cy="201168"/>
          </a:xfrm>
          <a:prstGeom prst="rect">
            <a:avLst/>
          </a:prstGeom>
          <a:solidFill>
            <a:srgbClr val="C9962C"/>
          </a:solidFill>
          <a:ln/>
        </p:spPr>
      </p:sp>
      <p:sp>
        <p:nvSpPr>
          <p:cNvPr id="12" name="Text 10"/>
          <p:cNvSpPr txBox="1"/>
          <p:nvPr/>
        </p:nvSpPr>
        <p:spPr>
          <a:xfrm>
            <a:off x="5486400" y="2103120"/>
            <a:ext cx="868680" cy="310896"/>
          </a:xfrm>
          <a:prstGeom prst="rect">
            <a:avLst/>
          </a:prstGeom>
          <a:noFill/>
          <a:ln/>
        </p:spPr>
        <p:txBody>
          <a:bodyPr wrap="square" lIns="0" tIns="0" rIns="0" bIns="0" rtlCol="0" anchor="ctr"/>
          <a:lstStyle/>
          <a:p>
            <a:pPr algn="r" indent="0" marL="0">
              <a:buNone/>
            </a:pPr>
            <a:r>
              <a:rPr lang="en-US" sz="950" b="1" dirty="0">
                <a:solidFill>
                  <a:srgbClr val="16161A"/>
                </a:solidFill>
                <a:latin typeface="Yu Gothic" pitchFamily="34" charset="0"/>
                <a:ea typeface="Yu Gothic" pitchFamily="34" charset="-122"/>
                <a:cs typeface="Yu Gothic" pitchFamily="34" charset="-120"/>
              </a:rPr>
              <a:t>3000</a:t>
            </a:r>
            <a:endParaRPr lang="en-US" sz="950" dirty="0"/>
          </a:p>
        </p:txBody>
      </p:sp>
      <p:sp>
        <p:nvSpPr>
          <p:cNvPr id="13" name="Text 11"/>
          <p:cNvSpPr txBox="1"/>
          <p:nvPr/>
        </p:nvSpPr>
        <p:spPr>
          <a:xfrm>
            <a:off x="594360" y="2468880"/>
            <a:ext cx="3017520" cy="310896"/>
          </a:xfrm>
          <a:prstGeom prst="rect">
            <a:avLst/>
          </a:prstGeom>
          <a:noFill/>
          <a:ln/>
        </p:spPr>
        <p:txBody>
          <a:bodyPr wrap="square" lIns="0" tIns="0" rIns="0" bIns="0" rtlCol="0" anchor="ctr"/>
          <a:lstStyle/>
          <a:p>
            <a:pPr indent="0" marL="0">
              <a:buNone/>
            </a:pPr>
            <a:r>
              <a:rPr lang="en-US" sz="950" dirty="0">
                <a:solidFill>
                  <a:srgbClr val="3A3A42"/>
                </a:solidFill>
                <a:latin typeface="Yu Gothic" pitchFamily="34" charset="0"/>
                <a:ea typeface="Yu Gothic" pitchFamily="34" charset="-122"/>
                <a:cs typeface="Yu Gothic" pitchFamily="34" charset="-120"/>
              </a:rPr>
              <a:t>C2C発注PF 開発（初期版）</a:t>
            </a:r>
            <a:endParaRPr lang="en-US" sz="950" dirty="0"/>
          </a:p>
        </p:txBody>
      </p:sp>
      <p:sp>
        <p:nvSpPr>
          <p:cNvPr id="14" name="Shape 12"/>
          <p:cNvSpPr/>
          <p:nvPr/>
        </p:nvSpPr>
        <p:spPr>
          <a:xfrm>
            <a:off x="3721608" y="2523744"/>
            <a:ext cx="276045" cy="201168"/>
          </a:xfrm>
          <a:prstGeom prst="rect">
            <a:avLst/>
          </a:prstGeom>
          <a:solidFill>
            <a:srgbClr val="2A3563"/>
          </a:solidFill>
          <a:ln/>
        </p:spPr>
      </p:sp>
      <p:sp>
        <p:nvSpPr>
          <p:cNvPr id="15" name="Text 13"/>
          <p:cNvSpPr txBox="1"/>
          <p:nvPr/>
        </p:nvSpPr>
        <p:spPr>
          <a:xfrm>
            <a:off x="5486400" y="2468880"/>
            <a:ext cx="868680" cy="310896"/>
          </a:xfrm>
          <a:prstGeom prst="rect">
            <a:avLst/>
          </a:prstGeom>
          <a:noFill/>
          <a:ln/>
        </p:spPr>
        <p:txBody>
          <a:bodyPr wrap="square" lIns="0" tIns="0" rIns="0" bIns="0" rtlCol="0" anchor="ctr"/>
          <a:lstStyle/>
          <a:p>
            <a:pPr algn="r" indent="0" marL="0">
              <a:buNone/>
            </a:pPr>
            <a:r>
              <a:rPr lang="en-US" sz="950" b="1" dirty="0">
                <a:solidFill>
                  <a:srgbClr val="16161A"/>
                </a:solidFill>
                <a:latin typeface="Yu Gothic" pitchFamily="34" charset="0"/>
                <a:ea typeface="Yu Gothic" pitchFamily="34" charset="-122"/>
                <a:cs typeface="Yu Gothic" pitchFamily="34" charset="-120"/>
              </a:rPr>
              <a:t>800</a:t>
            </a:r>
            <a:endParaRPr lang="en-US" sz="950" dirty="0"/>
          </a:p>
        </p:txBody>
      </p:sp>
      <p:sp>
        <p:nvSpPr>
          <p:cNvPr id="16" name="Text 14"/>
          <p:cNvSpPr txBox="1"/>
          <p:nvPr/>
        </p:nvSpPr>
        <p:spPr>
          <a:xfrm>
            <a:off x="594360" y="2834640"/>
            <a:ext cx="3017520" cy="310896"/>
          </a:xfrm>
          <a:prstGeom prst="rect">
            <a:avLst/>
          </a:prstGeom>
          <a:noFill/>
          <a:ln/>
        </p:spPr>
        <p:txBody>
          <a:bodyPr wrap="square" lIns="0" tIns="0" rIns="0" bIns="0" rtlCol="0" anchor="ctr"/>
          <a:lstStyle/>
          <a:p>
            <a:pPr indent="0" marL="0">
              <a:buNone/>
            </a:pPr>
            <a:r>
              <a:rPr lang="en-US" sz="950" dirty="0">
                <a:solidFill>
                  <a:srgbClr val="3A3A42"/>
                </a:solidFill>
                <a:latin typeface="Yu Gothic" pitchFamily="34" charset="0"/>
                <a:ea typeface="Yu Gothic" pitchFamily="34" charset="-122"/>
                <a:cs typeface="Yu Gothic" pitchFamily="34" charset="-120"/>
              </a:rPr>
              <a:t>獲得費（営業・マーケティング）</a:t>
            </a:r>
            <a:endParaRPr lang="en-US" sz="950" dirty="0"/>
          </a:p>
        </p:txBody>
      </p:sp>
      <p:sp>
        <p:nvSpPr>
          <p:cNvPr id="17" name="Shape 15"/>
          <p:cNvSpPr/>
          <p:nvPr/>
        </p:nvSpPr>
        <p:spPr>
          <a:xfrm>
            <a:off x="3721608" y="2889504"/>
            <a:ext cx="207034" cy="201168"/>
          </a:xfrm>
          <a:prstGeom prst="rect">
            <a:avLst/>
          </a:prstGeom>
          <a:solidFill>
            <a:srgbClr val="B3121B"/>
          </a:solidFill>
          <a:ln/>
        </p:spPr>
      </p:sp>
      <p:sp>
        <p:nvSpPr>
          <p:cNvPr id="18" name="Text 16"/>
          <p:cNvSpPr txBox="1"/>
          <p:nvPr/>
        </p:nvSpPr>
        <p:spPr>
          <a:xfrm>
            <a:off x="5486400" y="2834640"/>
            <a:ext cx="868680" cy="310896"/>
          </a:xfrm>
          <a:prstGeom prst="rect">
            <a:avLst/>
          </a:prstGeom>
          <a:noFill/>
          <a:ln/>
        </p:spPr>
        <p:txBody>
          <a:bodyPr wrap="square" lIns="0" tIns="0" rIns="0" bIns="0" rtlCol="0" anchor="ctr"/>
          <a:lstStyle/>
          <a:p>
            <a:pPr algn="r" indent="0" marL="0">
              <a:buNone/>
            </a:pPr>
            <a:r>
              <a:rPr lang="en-US" sz="950" b="1" dirty="0">
                <a:solidFill>
                  <a:srgbClr val="16161A"/>
                </a:solidFill>
                <a:latin typeface="Yu Gothic" pitchFamily="34" charset="0"/>
                <a:ea typeface="Yu Gothic" pitchFamily="34" charset="-122"/>
                <a:cs typeface="Yu Gothic" pitchFamily="34" charset="-120"/>
              </a:rPr>
              <a:t>600</a:t>
            </a:r>
            <a:endParaRPr lang="en-US" sz="950" dirty="0"/>
          </a:p>
        </p:txBody>
      </p:sp>
      <p:sp>
        <p:nvSpPr>
          <p:cNvPr id="19" name="Text 17"/>
          <p:cNvSpPr txBox="1"/>
          <p:nvPr/>
        </p:nvSpPr>
        <p:spPr>
          <a:xfrm>
            <a:off x="594360" y="3200400"/>
            <a:ext cx="3017520" cy="310896"/>
          </a:xfrm>
          <a:prstGeom prst="rect">
            <a:avLst/>
          </a:prstGeom>
          <a:noFill/>
          <a:ln/>
        </p:spPr>
        <p:txBody>
          <a:bodyPr wrap="square" lIns="0" tIns="0" rIns="0" bIns="0" rtlCol="0" anchor="ctr"/>
          <a:lstStyle/>
          <a:p>
            <a:pPr indent="0" marL="0">
              <a:buNone/>
            </a:pPr>
            <a:r>
              <a:rPr lang="en-US" sz="950" dirty="0">
                <a:solidFill>
                  <a:srgbClr val="3A3A42"/>
                </a:solidFill>
                <a:latin typeface="Yu Gothic" pitchFamily="34" charset="0"/>
                <a:ea typeface="Yu Gothic" pitchFamily="34" charset="-122"/>
                <a:cs typeface="Yu Gothic" pitchFamily="34" charset="-120"/>
              </a:rPr>
              <a:t>制作事業の運転資金</a:t>
            </a:r>
            <a:endParaRPr lang="en-US" sz="950" dirty="0"/>
          </a:p>
        </p:txBody>
      </p:sp>
      <p:sp>
        <p:nvSpPr>
          <p:cNvPr id="20" name="Shape 18"/>
          <p:cNvSpPr/>
          <p:nvPr/>
        </p:nvSpPr>
        <p:spPr>
          <a:xfrm>
            <a:off x="3721608" y="3255264"/>
            <a:ext cx="207034" cy="201168"/>
          </a:xfrm>
          <a:prstGeom prst="rect">
            <a:avLst/>
          </a:prstGeom>
          <a:solidFill>
            <a:srgbClr val="B3121B"/>
          </a:solidFill>
          <a:ln/>
        </p:spPr>
      </p:sp>
      <p:sp>
        <p:nvSpPr>
          <p:cNvPr id="21" name="Text 19"/>
          <p:cNvSpPr txBox="1"/>
          <p:nvPr/>
        </p:nvSpPr>
        <p:spPr>
          <a:xfrm>
            <a:off x="5486400" y="3200400"/>
            <a:ext cx="868680" cy="310896"/>
          </a:xfrm>
          <a:prstGeom prst="rect">
            <a:avLst/>
          </a:prstGeom>
          <a:noFill/>
          <a:ln/>
        </p:spPr>
        <p:txBody>
          <a:bodyPr wrap="square" lIns="0" tIns="0" rIns="0" bIns="0" rtlCol="0" anchor="ctr"/>
          <a:lstStyle/>
          <a:p>
            <a:pPr algn="r" indent="0" marL="0">
              <a:buNone/>
            </a:pPr>
            <a:r>
              <a:rPr lang="en-US" sz="950" b="1" dirty="0">
                <a:solidFill>
                  <a:srgbClr val="16161A"/>
                </a:solidFill>
                <a:latin typeface="Yu Gothic" pitchFamily="34" charset="0"/>
                <a:ea typeface="Yu Gothic" pitchFamily="34" charset="-122"/>
                <a:cs typeface="Yu Gothic" pitchFamily="34" charset="-120"/>
              </a:rPr>
              <a:t>600</a:t>
            </a:r>
            <a:endParaRPr lang="en-US" sz="950" dirty="0"/>
          </a:p>
        </p:txBody>
      </p:sp>
      <p:sp>
        <p:nvSpPr>
          <p:cNvPr id="22" name="Text 20"/>
          <p:cNvSpPr txBox="1"/>
          <p:nvPr/>
        </p:nvSpPr>
        <p:spPr>
          <a:xfrm>
            <a:off x="594360" y="3566160"/>
            <a:ext cx="3017520" cy="310896"/>
          </a:xfrm>
          <a:prstGeom prst="rect">
            <a:avLst/>
          </a:prstGeom>
          <a:noFill/>
          <a:ln/>
        </p:spPr>
        <p:txBody>
          <a:bodyPr wrap="square" lIns="0" tIns="0" rIns="0" bIns="0" rtlCol="0" anchor="ctr"/>
          <a:lstStyle/>
          <a:p>
            <a:pPr indent="0" marL="0">
              <a:buNone/>
            </a:pPr>
            <a:r>
              <a:rPr lang="en-US" sz="950" dirty="0">
                <a:solidFill>
                  <a:srgbClr val="3A3A42"/>
                </a:solidFill>
                <a:latin typeface="Yu Gothic" pitchFamily="34" charset="0"/>
                <a:ea typeface="Yu Gothic" pitchFamily="34" charset="-122"/>
                <a:cs typeface="Yu Gothic" pitchFamily="34" charset="-120"/>
              </a:rPr>
              <a:t>法務（業務委託契約・資金決済法）</a:t>
            </a:r>
            <a:endParaRPr lang="en-US" sz="950" dirty="0"/>
          </a:p>
        </p:txBody>
      </p:sp>
      <p:sp>
        <p:nvSpPr>
          <p:cNvPr id="23" name="Shape 21"/>
          <p:cNvSpPr/>
          <p:nvPr/>
        </p:nvSpPr>
        <p:spPr>
          <a:xfrm>
            <a:off x="3721608" y="3621024"/>
            <a:ext cx="172528" cy="201168"/>
          </a:xfrm>
          <a:prstGeom prst="rect">
            <a:avLst/>
          </a:prstGeom>
          <a:solidFill>
            <a:srgbClr val="6E6E76"/>
          </a:solidFill>
          <a:ln/>
        </p:spPr>
      </p:sp>
      <p:sp>
        <p:nvSpPr>
          <p:cNvPr id="24" name="Text 22"/>
          <p:cNvSpPr txBox="1"/>
          <p:nvPr/>
        </p:nvSpPr>
        <p:spPr>
          <a:xfrm>
            <a:off x="5486400" y="3566160"/>
            <a:ext cx="868680" cy="310896"/>
          </a:xfrm>
          <a:prstGeom prst="rect">
            <a:avLst/>
          </a:prstGeom>
          <a:noFill/>
          <a:ln/>
        </p:spPr>
        <p:txBody>
          <a:bodyPr wrap="square" lIns="0" tIns="0" rIns="0" bIns="0" rtlCol="0" anchor="ctr"/>
          <a:lstStyle/>
          <a:p>
            <a:pPr algn="r" indent="0" marL="0">
              <a:buNone/>
            </a:pPr>
            <a:r>
              <a:rPr lang="en-US" sz="950" b="1" dirty="0">
                <a:solidFill>
                  <a:srgbClr val="16161A"/>
                </a:solidFill>
                <a:latin typeface="Yu Gothic" pitchFamily="34" charset="0"/>
                <a:ea typeface="Yu Gothic" pitchFamily="34" charset="-122"/>
                <a:cs typeface="Yu Gothic" pitchFamily="34" charset="-120"/>
              </a:rPr>
              <a:t>500</a:t>
            </a:r>
            <a:endParaRPr lang="en-US" sz="950" dirty="0"/>
          </a:p>
        </p:txBody>
      </p:sp>
      <p:sp>
        <p:nvSpPr>
          <p:cNvPr id="25" name="Text 23"/>
          <p:cNvSpPr txBox="1"/>
          <p:nvPr/>
        </p:nvSpPr>
        <p:spPr>
          <a:xfrm>
            <a:off x="594360" y="3931920"/>
            <a:ext cx="3017520" cy="310896"/>
          </a:xfrm>
          <a:prstGeom prst="rect">
            <a:avLst/>
          </a:prstGeom>
          <a:noFill/>
          <a:ln/>
        </p:spPr>
        <p:txBody>
          <a:bodyPr wrap="square" lIns="0" tIns="0" rIns="0" bIns="0" rtlCol="0" anchor="ctr"/>
          <a:lstStyle/>
          <a:p>
            <a:pPr indent="0" marL="0">
              <a:buNone/>
            </a:pPr>
            <a:r>
              <a:rPr lang="en-US" sz="950" dirty="0">
                <a:solidFill>
                  <a:srgbClr val="3A3A42"/>
                </a:solidFill>
                <a:latin typeface="Yu Gothic" pitchFamily="34" charset="0"/>
                <a:ea typeface="Yu Gothic" pitchFamily="34" charset="-122"/>
                <a:cs typeface="Yu Gothic" pitchFamily="34" charset="-120"/>
              </a:rPr>
              <a:t>設立・機材・その他初期</a:t>
            </a:r>
            <a:endParaRPr lang="en-US" sz="950" dirty="0"/>
          </a:p>
        </p:txBody>
      </p:sp>
      <p:sp>
        <p:nvSpPr>
          <p:cNvPr id="26" name="Shape 24"/>
          <p:cNvSpPr/>
          <p:nvPr/>
        </p:nvSpPr>
        <p:spPr>
          <a:xfrm>
            <a:off x="3721608" y="3986784"/>
            <a:ext cx="138023" cy="201168"/>
          </a:xfrm>
          <a:prstGeom prst="rect">
            <a:avLst/>
          </a:prstGeom>
          <a:solidFill>
            <a:srgbClr val="6E6E76"/>
          </a:solidFill>
          <a:ln/>
        </p:spPr>
      </p:sp>
      <p:sp>
        <p:nvSpPr>
          <p:cNvPr id="27" name="Text 25"/>
          <p:cNvSpPr txBox="1"/>
          <p:nvPr/>
        </p:nvSpPr>
        <p:spPr>
          <a:xfrm>
            <a:off x="5486400" y="3931920"/>
            <a:ext cx="868680" cy="310896"/>
          </a:xfrm>
          <a:prstGeom prst="rect">
            <a:avLst/>
          </a:prstGeom>
          <a:noFill/>
          <a:ln/>
        </p:spPr>
        <p:txBody>
          <a:bodyPr wrap="square" lIns="0" tIns="0" rIns="0" bIns="0" rtlCol="0" anchor="ctr"/>
          <a:lstStyle/>
          <a:p>
            <a:pPr algn="r" indent="0" marL="0">
              <a:buNone/>
            </a:pPr>
            <a:r>
              <a:rPr lang="en-US" sz="950" b="1" dirty="0">
                <a:solidFill>
                  <a:srgbClr val="16161A"/>
                </a:solidFill>
                <a:latin typeface="Yu Gothic" pitchFamily="34" charset="0"/>
                <a:ea typeface="Yu Gothic" pitchFamily="34" charset="-122"/>
                <a:cs typeface="Yu Gothic" pitchFamily="34" charset="-120"/>
              </a:rPr>
              <a:t>400</a:t>
            </a:r>
            <a:endParaRPr lang="en-US" sz="950" dirty="0"/>
          </a:p>
        </p:txBody>
      </p:sp>
      <p:sp>
        <p:nvSpPr>
          <p:cNvPr id="28" name="Text 26"/>
          <p:cNvSpPr txBox="1"/>
          <p:nvPr/>
        </p:nvSpPr>
        <p:spPr>
          <a:xfrm>
            <a:off x="594360" y="4297680"/>
            <a:ext cx="3017520" cy="310896"/>
          </a:xfrm>
          <a:prstGeom prst="rect">
            <a:avLst/>
          </a:prstGeom>
          <a:noFill/>
          <a:ln/>
        </p:spPr>
        <p:txBody>
          <a:bodyPr wrap="square" lIns="0" tIns="0" rIns="0" bIns="0" rtlCol="0" anchor="ctr"/>
          <a:lstStyle/>
          <a:p>
            <a:pPr indent="0" marL="0">
              <a:buNone/>
            </a:pPr>
            <a:r>
              <a:rPr lang="en-US" sz="950" dirty="0">
                <a:solidFill>
                  <a:srgbClr val="3A3A42"/>
                </a:solidFill>
                <a:latin typeface="Yu Gothic" pitchFamily="34" charset="0"/>
                <a:ea typeface="Yu Gothic" pitchFamily="34" charset="-122"/>
                <a:cs typeface="Yu Gothic" pitchFamily="34" charset="-120"/>
              </a:rPr>
              <a:t>中国パートナー提携・渡航</a:t>
            </a:r>
            <a:endParaRPr lang="en-US" sz="950" dirty="0"/>
          </a:p>
        </p:txBody>
      </p:sp>
      <p:sp>
        <p:nvSpPr>
          <p:cNvPr id="29" name="Shape 27"/>
          <p:cNvSpPr/>
          <p:nvPr/>
        </p:nvSpPr>
        <p:spPr>
          <a:xfrm>
            <a:off x="3721608" y="4352544"/>
            <a:ext cx="103517" cy="201168"/>
          </a:xfrm>
          <a:prstGeom prst="rect">
            <a:avLst/>
          </a:prstGeom>
          <a:solidFill>
            <a:srgbClr val="6E6E76"/>
          </a:solidFill>
          <a:ln/>
        </p:spPr>
      </p:sp>
      <p:sp>
        <p:nvSpPr>
          <p:cNvPr id="30" name="Text 28"/>
          <p:cNvSpPr txBox="1"/>
          <p:nvPr/>
        </p:nvSpPr>
        <p:spPr>
          <a:xfrm>
            <a:off x="5486400" y="4297680"/>
            <a:ext cx="868680" cy="310896"/>
          </a:xfrm>
          <a:prstGeom prst="rect">
            <a:avLst/>
          </a:prstGeom>
          <a:noFill/>
          <a:ln/>
        </p:spPr>
        <p:txBody>
          <a:bodyPr wrap="square" lIns="0" tIns="0" rIns="0" bIns="0" rtlCol="0" anchor="ctr"/>
          <a:lstStyle/>
          <a:p>
            <a:pPr algn="r" indent="0" marL="0">
              <a:buNone/>
            </a:pPr>
            <a:r>
              <a:rPr lang="en-US" sz="950" b="1" dirty="0">
                <a:solidFill>
                  <a:srgbClr val="16161A"/>
                </a:solidFill>
                <a:latin typeface="Yu Gothic" pitchFamily="34" charset="0"/>
                <a:ea typeface="Yu Gothic" pitchFamily="34" charset="-122"/>
                <a:cs typeface="Yu Gothic" pitchFamily="34" charset="-120"/>
              </a:rPr>
              <a:t>300</a:t>
            </a:r>
            <a:endParaRPr lang="en-US" sz="950" dirty="0"/>
          </a:p>
        </p:txBody>
      </p:sp>
      <p:sp>
        <p:nvSpPr>
          <p:cNvPr id="31" name="Text 29"/>
          <p:cNvSpPr txBox="1"/>
          <p:nvPr/>
        </p:nvSpPr>
        <p:spPr>
          <a:xfrm>
            <a:off x="594360" y="4663440"/>
            <a:ext cx="3017520" cy="310896"/>
          </a:xfrm>
          <a:prstGeom prst="rect">
            <a:avLst/>
          </a:prstGeom>
          <a:noFill/>
          <a:ln/>
        </p:spPr>
        <p:txBody>
          <a:bodyPr wrap="square" lIns="0" tIns="0" rIns="0" bIns="0" rtlCol="0" anchor="ctr"/>
          <a:lstStyle/>
          <a:p>
            <a:pPr indent="0" marL="0">
              <a:buNone/>
            </a:pPr>
            <a:r>
              <a:rPr lang="en-US" sz="950" dirty="0">
                <a:solidFill>
                  <a:srgbClr val="3A3A42"/>
                </a:solidFill>
                <a:latin typeface="Yu Gothic" pitchFamily="34" charset="0"/>
                <a:ea typeface="Yu Gothic" pitchFamily="34" charset="-122"/>
                <a:cs typeface="Yu Gothic" pitchFamily="34" charset="-120"/>
              </a:rPr>
              <a:t>オフィス・SaaS・その他</a:t>
            </a:r>
            <a:endParaRPr lang="en-US" sz="950" dirty="0"/>
          </a:p>
        </p:txBody>
      </p:sp>
      <p:sp>
        <p:nvSpPr>
          <p:cNvPr id="32" name="Shape 30"/>
          <p:cNvSpPr/>
          <p:nvPr/>
        </p:nvSpPr>
        <p:spPr>
          <a:xfrm>
            <a:off x="3721608" y="4718304"/>
            <a:ext cx="103517" cy="201168"/>
          </a:xfrm>
          <a:prstGeom prst="rect">
            <a:avLst/>
          </a:prstGeom>
          <a:solidFill>
            <a:srgbClr val="6E6E76"/>
          </a:solidFill>
          <a:ln/>
        </p:spPr>
      </p:sp>
      <p:sp>
        <p:nvSpPr>
          <p:cNvPr id="33" name="Text 31"/>
          <p:cNvSpPr txBox="1"/>
          <p:nvPr/>
        </p:nvSpPr>
        <p:spPr>
          <a:xfrm>
            <a:off x="5486400" y="4663440"/>
            <a:ext cx="868680" cy="310896"/>
          </a:xfrm>
          <a:prstGeom prst="rect">
            <a:avLst/>
          </a:prstGeom>
          <a:noFill/>
          <a:ln/>
        </p:spPr>
        <p:txBody>
          <a:bodyPr wrap="square" lIns="0" tIns="0" rIns="0" bIns="0" rtlCol="0" anchor="ctr"/>
          <a:lstStyle/>
          <a:p>
            <a:pPr algn="r" indent="0" marL="0">
              <a:buNone/>
            </a:pPr>
            <a:r>
              <a:rPr lang="en-US" sz="950" b="1" dirty="0">
                <a:solidFill>
                  <a:srgbClr val="16161A"/>
                </a:solidFill>
                <a:latin typeface="Yu Gothic" pitchFamily="34" charset="0"/>
                <a:ea typeface="Yu Gothic" pitchFamily="34" charset="-122"/>
                <a:cs typeface="Yu Gothic" pitchFamily="34" charset="-120"/>
              </a:rPr>
              <a:t>300</a:t>
            </a:r>
            <a:endParaRPr lang="en-US" sz="950" dirty="0"/>
          </a:p>
        </p:txBody>
      </p:sp>
      <p:sp>
        <p:nvSpPr>
          <p:cNvPr id="34" name="Text 32"/>
          <p:cNvSpPr txBox="1"/>
          <p:nvPr/>
        </p:nvSpPr>
        <p:spPr>
          <a:xfrm>
            <a:off x="594360" y="5029200"/>
            <a:ext cx="3017520" cy="310896"/>
          </a:xfrm>
          <a:prstGeom prst="rect">
            <a:avLst/>
          </a:prstGeom>
          <a:noFill/>
          <a:ln/>
        </p:spPr>
        <p:txBody>
          <a:bodyPr wrap="square" lIns="0" tIns="0" rIns="0" bIns="0" rtlCol="0" anchor="ctr"/>
          <a:lstStyle/>
          <a:p>
            <a:pPr indent="0" marL="0">
              <a:buNone/>
            </a:pPr>
            <a:r>
              <a:rPr lang="en-US" sz="950" dirty="0">
                <a:solidFill>
                  <a:srgbClr val="3A3A42"/>
                </a:solidFill>
                <a:latin typeface="Yu Gothic" pitchFamily="34" charset="0"/>
                <a:ea typeface="Yu Gothic" pitchFamily="34" charset="-122"/>
                <a:cs typeface="Yu Gothic" pitchFamily="34" charset="-120"/>
              </a:rPr>
              <a:t>特許出願（2件）</a:t>
            </a:r>
            <a:endParaRPr lang="en-US" sz="950" dirty="0"/>
          </a:p>
        </p:txBody>
      </p:sp>
      <p:sp>
        <p:nvSpPr>
          <p:cNvPr id="35" name="Shape 33"/>
          <p:cNvSpPr/>
          <p:nvPr/>
        </p:nvSpPr>
        <p:spPr>
          <a:xfrm>
            <a:off x="3721608" y="5084064"/>
            <a:ext cx="69011" cy="201168"/>
          </a:xfrm>
          <a:prstGeom prst="rect">
            <a:avLst/>
          </a:prstGeom>
          <a:solidFill>
            <a:srgbClr val="6E6E76"/>
          </a:solidFill>
          <a:ln/>
        </p:spPr>
      </p:sp>
      <p:sp>
        <p:nvSpPr>
          <p:cNvPr id="36" name="Text 34"/>
          <p:cNvSpPr txBox="1"/>
          <p:nvPr/>
        </p:nvSpPr>
        <p:spPr>
          <a:xfrm>
            <a:off x="5486400" y="5029200"/>
            <a:ext cx="868680" cy="310896"/>
          </a:xfrm>
          <a:prstGeom prst="rect">
            <a:avLst/>
          </a:prstGeom>
          <a:noFill/>
          <a:ln/>
        </p:spPr>
        <p:txBody>
          <a:bodyPr wrap="square" lIns="0" tIns="0" rIns="0" bIns="0" rtlCol="0" anchor="ctr"/>
          <a:lstStyle/>
          <a:p>
            <a:pPr algn="r" indent="0" marL="0">
              <a:buNone/>
            </a:pPr>
            <a:r>
              <a:rPr lang="en-US" sz="950" b="1" dirty="0">
                <a:solidFill>
                  <a:srgbClr val="16161A"/>
                </a:solidFill>
                <a:latin typeface="Yu Gothic" pitchFamily="34" charset="0"/>
                <a:ea typeface="Yu Gothic" pitchFamily="34" charset="-122"/>
                <a:cs typeface="Yu Gothic" pitchFamily="34" charset="-120"/>
              </a:rPr>
              <a:t>200</a:t>
            </a:r>
            <a:endParaRPr lang="en-US" sz="950" dirty="0"/>
          </a:p>
        </p:txBody>
      </p:sp>
      <p:sp>
        <p:nvSpPr>
          <p:cNvPr id="37" name="Shape 35"/>
          <p:cNvSpPr/>
          <p:nvPr/>
        </p:nvSpPr>
        <p:spPr>
          <a:xfrm>
            <a:off x="6903720" y="1737360"/>
            <a:ext cx="2208276" cy="1316736"/>
          </a:xfrm>
          <a:prstGeom prst="rect">
            <a:avLst/>
          </a:prstGeom>
          <a:solidFill>
            <a:srgbClr val="FCE5CD"/>
          </a:solidFill>
          <a:ln/>
        </p:spPr>
      </p:sp>
      <p:sp>
        <p:nvSpPr>
          <p:cNvPr id="38" name="Text 36"/>
          <p:cNvSpPr txBox="1"/>
          <p:nvPr/>
        </p:nvSpPr>
        <p:spPr>
          <a:xfrm>
            <a:off x="7141464" y="1901952"/>
            <a:ext cx="1732788" cy="603504"/>
          </a:xfrm>
          <a:prstGeom prst="rect">
            <a:avLst/>
          </a:prstGeom>
          <a:noFill/>
          <a:ln/>
        </p:spPr>
        <p:txBody>
          <a:bodyPr wrap="square" lIns="0" tIns="0" rIns="0" bIns="0" rtlCol="0" anchor="ctr"/>
          <a:lstStyle/>
          <a:p>
            <a:pPr indent="0" marL="0">
              <a:buNone/>
            </a:pPr>
            <a:r>
              <a:rPr lang="en-US" sz="2700" b="1" dirty="0">
                <a:solidFill>
                  <a:srgbClr val="C9962C"/>
                </a:solidFill>
                <a:latin typeface="Yu Gothic" pitchFamily="34" charset="0"/>
                <a:ea typeface="Yu Gothic" pitchFamily="34" charset="-122"/>
                <a:cs typeface="Yu Gothic" pitchFamily="34" charset="-120"/>
              </a:rPr>
              <a:t>800万</a:t>
            </a:r>
            <a:endParaRPr lang="en-US" sz="2700" dirty="0"/>
          </a:p>
        </p:txBody>
      </p:sp>
      <p:sp>
        <p:nvSpPr>
          <p:cNvPr id="39" name="Text 37"/>
          <p:cNvSpPr txBox="1"/>
          <p:nvPr/>
        </p:nvSpPr>
        <p:spPr>
          <a:xfrm>
            <a:off x="7141464" y="2523744"/>
            <a:ext cx="1732788" cy="256032"/>
          </a:xfrm>
          <a:prstGeom prst="rect">
            <a:avLst/>
          </a:prstGeom>
          <a:noFill/>
          <a:ln/>
        </p:spPr>
        <p:txBody>
          <a:bodyPr wrap="square" lIns="0" tIns="0" rIns="0" bIns="0" rtlCol="0" anchor="ctr"/>
          <a:lstStyle/>
          <a:p>
            <a:pPr indent="0" marL="0">
              <a:buNone/>
            </a:pPr>
            <a:r>
              <a:rPr lang="en-US" sz="1100" b="1" dirty="0">
                <a:solidFill>
                  <a:srgbClr val="16161A"/>
                </a:solidFill>
                <a:latin typeface="Yu Gothic" pitchFamily="34" charset="0"/>
                <a:ea typeface="Yu Gothic" pitchFamily="34" charset="-122"/>
                <a:cs typeface="Yu Gothic" pitchFamily="34" charset="-120"/>
              </a:rPr>
              <a:t>資本金（代表個人が直接出資）</a:t>
            </a:r>
            <a:endParaRPr lang="en-US" sz="1100" dirty="0"/>
          </a:p>
        </p:txBody>
      </p:sp>
      <p:sp>
        <p:nvSpPr>
          <p:cNvPr id="40" name="Text 38"/>
          <p:cNvSpPr txBox="1"/>
          <p:nvPr/>
        </p:nvSpPr>
        <p:spPr>
          <a:xfrm>
            <a:off x="7141464" y="2798064"/>
            <a:ext cx="1732788" cy="128016"/>
          </a:xfrm>
          <a:prstGeom prst="rect">
            <a:avLst/>
          </a:prstGeom>
          <a:noFill/>
          <a:ln/>
        </p:spPr>
        <p:txBody>
          <a:bodyPr wrap="square" lIns="0" tIns="0" rIns="0" bIns="0" rtlCol="0" anchor="t"/>
          <a:lstStyle/>
          <a:p>
            <a:pPr indent="0" marL="0">
              <a:lnSpc>
                <a:spcPct val="120000"/>
              </a:lnSpc>
              <a:buNone/>
            </a:pPr>
            <a:r>
              <a:rPr lang="en-US" sz="900" dirty="0">
                <a:solidFill>
                  <a:srgbClr val="6E6E76"/>
                </a:solidFill>
                <a:latin typeface="Yu Gothic" pitchFamily="34" charset="0"/>
                <a:ea typeface="Yu Gothic" pitchFamily="34" charset="-122"/>
                <a:cs typeface="Yu Gothic" pitchFamily="34" charset="-120"/>
              </a:rPr>
              <a:t>1,000万未満に抑え、初年度の消費税課税事業者化を回避</a:t>
            </a:r>
            <a:endParaRPr lang="en-US" sz="900" dirty="0"/>
          </a:p>
        </p:txBody>
      </p:sp>
      <p:sp>
        <p:nvSpPr>
          <p:cNvPr id="41" name="Shape 39"/>
          <p:cNvSpPr/>
          <p:nvPr/>
        </p:nvSpPr>
        <p:spPr>
          <a:xfrm>
            <a:off x="9386316" y="1737360"/>
            <a:ext cx="2208276" cy="1316736"/>
          </a:xfrm>
          <a:prstGeom prst="rect">
            <a:avLst/>
          </a:prstGeom>
          <a:solidFill>
            <a:srgbClr val="FCE5CD"/>
          </a:solidFill>
          <a:ln/>
        </p:spPr>
      </p:sp>
      <p:sp>
        <p:nvSpPr>
          <p:cNvPr id="42" name="Text 40"/>
          <p:cNvSpPr txBox="1"/>
          <p:nvPr/>
        </p:nvSpPr>
        <p:spPr>
          <a:xfrm>
            <a:off x="9624060" y="1901952"/>
            <a:ext cx="1732788" cy="603504"/>
          </a:xfrm>
          <a:prstGeom prst="rect">
            <a:avLst/>
          </a:prstGeom>
          <a:noFill/>
          <a:ln/>
        </p:spPr>
        <p:txBody>
          <a:bodyPr wrap="square" lIns="0" tIns="0" rIns="0" bIns="0" rtlCol="0" anchor="ctr"/>
          <a:lstStyle/>
          <a:p>
            <a:pPr indent="0" marL="0">
              <a:buNone/>
            </a:pPr>
            <a:r>
              <a:rPr lang="en-US" sz="2700" b="1" dirty="0">
                <a:solidFill>
                  <a:srgbClr val="2A3563"/>
                </a:solidFill>
                <a:latin typeface="Yu Gothic" pitchFamily="34" charset="0"/>
                <a:ea typeface="Yu Gothic" pitchFamily="34" charset="-122"/>
                <a:cs typeface="Yu Gothic" pitchFamily="34" charset="-120"/>
              </a:rPr>
              <a:t>1.42億</a:t>
            </a:r>
            <a:endParaRPr lang="en-US" sz="2700" dirty="0"/>
          </a:p>
        </p:txBody>
      </p:sp>
      <p:sp>
        <p:nvSpPr>
          <p:cNvPr id="43" name="Text 41"/>
          <p:cNvSpPr txBox="1"/>
          <p:nvPr/>
        </p:nvSpPr>
        <p:spPr>
          <a:xfrm>
            <a:off x="9624060" y="2523744"/>
            <a:ext cx="1732788" cy="256032"/>
          </a:xfrm>
          <a:prstGeom prst="rect">
            <a:avLst/>
          </a:prstGeom>
          <a:noFill/>
          <a:ln/>
        </p:spPr>
        <p:txBody>
          <a:bodyPr wrap="square" lIns="0" tIns="0" rIns="0" bIns="0" rtlCol="0" anchor="ctr"/>
          <a:lstStyle/>
          <a:p>
            <a:pPr indent="0" marL="0">
              <a:buNone/>
            </a:pPr>
            <a:r>
              <a:rPr lang="en-US" sz="1100" b="1" dirty="0">
                <a:solidFill>
                  <a:srgbClr val="16161A"/>
                </a:solidFill>
                <a:latin typeface="Yu Gothic" pitchFamily="34" charset="0"/>
                <a:ea typeface="Yu Gothic" pitchFamily="34" charset="-122"/>
                <a:cs typeface="Yu Gothic" pitchFamily="34" charset="-120"/>
              </a:rPr>
              <a:t>シード（創業時）</a:t>
            </a:r>
            <a:endParaRPr lang="en-US" sz="1100" dirty="0"/>
          </a:p>
        </p:txBody>
      </p:sp>
      <p:sp>
        <p:nvSpPr>
          <p:cNvPr id="44" name="Text 42"/>
          <p:cNvSpPr txBox="1"/>
          <p:nvPr/>
        </p:nvSpPr>
        <p:spPr>
          <a:xfrm>
            <a:off x="9624060" y="2798064"/>
            <a:ext cx="1732788" cy="128016"/>
          </a:xfrm>
          <a:prstGeom prst="rect">
            <a:avLst/>
          </a:prstGeom>
          <a:noFill/>
          <a:ln/>
        </p:spPr>
        <p:txBody>
          <a:bodyPr wrap="square" lIns="0" tIns="0" rIns="0" bIns="0" rtlCol="0" anchor="t"/>
          <a:lstStyle/>
          <a:p>
            <a:pPr indent="0" marL="0">
              <a:lnSpc>
                <a:spcPct val="120000"/>
              </a:lnSpc>
              <a:buNone/>
            </a:pPr>
            <a:r>
              <a:rPr lang="en-US" sz="900" dirty="0">
                <a:solidFill>
                  <a:srgbClr val="6E6E76"/>
                </a:solidFill>
                <a:latin typeface="Yu Gothic" pitchFamily="34" charset="0"/>
                <a:ea typeface="Yu Gothic" pitchFamily="34" charset="-122"/>
                <a:cs typeface="Yu Gothic" pitchFamily="34" charset="-120"/>
              </a:rPr>
              <a:t>放出20〜27%を想定。J-KISSでの価格先送りも選択肢</a:t>
            </a:r>
            <a:endParaRPr lang="en-US" sz="900" dirty="0"/>
          </a:p>
        </p:txBody>
      </p:sp>
      <p:sp>
        <p:nvSpPr>
          <p:cNvPr id="45" name="Shape 43"/>
          <p:cNvSpPr/>
          <p:nvPr/>
        </p:nvSpPr>
        <p:spPr>
          <a:xfrm>
            <a:off x="6903720" y="3218688"/>
            <a:ext cx="4690872" cy="1389888"/>
          </a:xfrm>
          <a:prstGeom prst="rect">
            <a:avLst/>
          </a:prstGeom>
          <a:solidFill>
            <a:srgbClr val="FBF1F1"/>
          </a:solidFill>
          <a:ln/>
        </p:spPr>
      </p:sp>
      <p:sp>
        <p:nvSpPr>
          <p:cNvPr id="46" name="Shape 44"/>
          <p:cNvSpPr/>
          <p:nvPr/>
        </p:nvSpPr>
        <p:spPr>
          <a:xfrm>
            <a:off x="6903720" y="3218688"/>
            <a:ext cx="45720" cy="1389888"/>
          </a:xfrm>
          <a:prstGeom prst="rect">
            <a:avLst/>
          </a:prstGeom>
          <a:solidFill>
            <a:srgbClr val="B3121B"/>
          </a:solidFill>
          <a:ln/>
        </p:spPr>
      </p:sp>
      <p:sp>
        <p:nvSpPr>
          <p:cNvPr id="47" name="Text 45"/>
          <p:cNvSpPr txBox="1"/>
          <p:nvPr/>
        </p:nvSpPr>
        <p:spPr>
          <a:xfrm>
            <a:off x="7159752" y="3364992"/>
            <a:ext cx="4233672" cy="274320"/>
          </a:xfrm>
          <a:prstGeom prst="rect">
            <a:avLst/>
          </a:prstGeom>
          <a:noFill/>
          <a:ln/>
        </p:spPr>
        <p:txBody>
          <a:bodyPr wrap="square" lIns="0" tIns="0" rIns="0" bIns="0" rtlCol="0" anchor="ctr"/>
          <a:lstStyle/>
          <a:p>
            <a:pPr indent="0" marL="0">
              <a:buNone/>
            </a:pPr>
            <a:r>
              <a:rPr lang="en-US" sz="1200" b="1" dirty="0">
                <a:solidFill>
                  <a:srgbClr val="B3121B"/>
                </a:solidFill>
                <a:latin typeface="Yu Gothic" pitchFamily="34" charset="0"/>
                <a:ea typeface="Yu Gothic" pitchFamily="34" charset="-122"/>
                <a:cs typeface="Yu Gothic" pitchFamily="34" charset="-120"/>
              </a:rPr>
              <a:t>⚠ 使途の4分の1が研究開発です</a:t>
            </a:r>
            <a:endParaRPr lang="en-US" sz="1200" dirty="0"/>
          </a:p>
        </p:txBody>
      </p:sp>
      <p:sp>
        <p:nvSpPr>
          <p:cNvPr id="48" name="Text 46"/>
          <p:cNvSpPr txBox="1"/>
          <p:nvPr/>
        </p:nvSpPr>
        <p:spPr>
          <a:xfrm>
            <a:off x="7159752" y="3694176"/>
            <a:ext cx="4233672" cy="768096"/>
          </a:xfrm>
          <a:prstGeom prst="rect">
            <a:avLst/>
          </a:prstGeom>
          <a:noFill/>
          <a:ln/>
        </p:spPr>
        <p:txBody>
          <a:bodyPr wrap="square" lIns="0" tIns="0" rIns="0" bIns="0" rtlCol="0" anchor="t"/>
          <a:lstStyle/>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1年目に使うのは 1億2,000万。残り約3,000万は2期への持ち越しです。</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最大の費目は人件費（社員6名・5,300万）、次が研究開発（3,000万）。</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社員を増やす代わりにモデルへ入れる、という配分を初年度から取ります。</a:t>
            </a:r>
            <a:endParaRPr lang="en-US" sz="1000" dirty="0"/>
          </a:p>
        </p:txBody>
      </p:sp>
      <p:sp>
        <p:nvSpPr>
          <p:cNvPr id="49" name="Shape 47"/>
          <p:cNvSpPr/>
          <p:nvPr/>
        </p:nvSpPr>
        <p:spPr>
          <a:xfrm>
            <a:off x="6903720" y="4700016"/>
            <a:ext cx="4690872" cy="1005840"/>
          </a:xfrm>
          <a:prstGeom prst="rect">
            <a:avLst/>
          </a:prstGeom>
          <a:solidFill>
            <a:srgbClr val="FBF1F1"/>
          </a:solidFill>
          <a:ln/>
        </p:spPr>
      </p:sp>
      <p:sp>
        <p:nvSpPr>
          <p:cNvPr id="50" name="Shape 48"/>
          <p:cNvSpPr/>
          <p:nvPr/>
        </p:nvSpPr>
        <p:spPr>
          <a:xfrm>
            <a:off x="6903720" y="4700016"/>
            <a:ext cx="45720" cy="1005840"/>
          </a:xfrm>
          <a:prstGeom prst="rect">
            <a:avLst/>
          </a:prstGeom>
          <a:solidFill>
            <a:srgbClr val="B3121B"/>
          </a:solidFill>
          <a:ln/>
        </p:spPr>
      </p:sp>
      <p:sp>
        <p:nvSpPr>
          <p:cNvPr id="51" name="Text 49"/>
          <p:cNvSpPr txBox="1"/>
          <p:nvPr/>
        </p:nvSpPr>
        <p:spPr>
          <a:xfrm>
            <a:off x="7159752" y="4846320"/>
            <a:ext cx="4233672" cy="274320"/>
          </a:xfrm>
          <a:prstGeom prst="rect">
            <a:avLst/>
          </a:prstGeom>
          <a:noFill/>
          <a:ln/>
        </p:spPr>
        <p:txBody>
          <a:bodyPr wrap="square" lIns="0" tIns="0" rIns="0" bIns="0" rtlCol="0" anchor="ctr"/>
          <a:lstStyle/>
          <a:p>
            <a:pPr indent="0" marL="0">
              <a:buNone/>
            </a:pPr>
            <a:r>
              <a:rPr lang="en-US" sz="1200" b="1" dirty="0">
                <a:solidFill>
                  <a:srgbClr val="B3121B"/>
                </a:solidFill>
                <a:latin typeface="Yu Gothic" pitchFamily="34" charset="0"/>
                <a:ea typeface="Yu Gothic" pitchFamily="34" charset="-122"/>
                <a:cs typeface="Yu Gothic" pitchFamily="34" charset="-120"/>
              </a:rPr>
              <a:t>⚠ 追加調達はシリーズA 3億のみ。累計4.5億です</a:t>
            </a:r>
            <a:endParaRPr lang="en-US" sz="1200" dirty="0"/>
          </a:p>
        </p:txBody>
      </p:sp>
      <p:sp>
        <p:nvSpPr>
          <p:cNvPr id="52" name="Text 50"/>
          <p:cNvSpPr txBox="1"/>
          <p:nvPr/>
        </p:nvSpPr>
        <p:spPr>
          <a:xfrm>
            <a:off x="7159752" y="5175504"/>
            <a:ext cx="4233672" cy="384048"/>
          </a:xfrm>
          <a:prstGeom prst="rect">
            <a:avLst/>
          </a:prstGeom>
          <a:noFill/>
          <a:ln/>
        </p:spPr>
        <p:txBody>
          <a:bodyPr wrap="square" lIns="0" tIns="0" rIns="0" bIns="0" rtlCol="0" anchor="t"/>
          <a:lstStyle/>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社員を増やさずに伸びる設計なので、規模を追うための大型調達が要りません。シリーズB以降は想定していません。</a:t>
            </a:r>
            <a:endParaRPr lang="en-US" sz="1000" dirty="0"/>
          </a:p>
        </p:txBody>
      </p:sp>
      <p:sp>
        <p:nvSpPr>
          <p:cNvPr id="53" name="Text 51"/>
          <p:cNvSpPr txBox="1"/>
          <p:nvPr/>
        </p:nvSpPr>
        <p:spPr>
          <a:xfrm>
            <a:off x="594360" y="5449824"/>
            <a:ext cx="5760720" cy="310896"/>
          </a:xfrm>
          <a:prstGeom prst="rect">
            <a:avLst/>
          </a:prstGeom>
          <a:noFill/>
          <a:ln/>
        </p:spPr>
        <p:txBody>
          <a:bodyPr wrap="square" lIns="0" tIns="0" rIns="0" bIns="0" rtlCol="0" anchor="t"/>
          <a:lstStyle/>
          <a:p>
            <a:pPr indent="0" marL="0">
              <a:buNone/>
            </a:pPr>
            <a:r>
              <a:rPr lang="en-US" sz="900" dirty="0">
                <a:solidFill>
                  <a:srgbClr val="6E6E76"/>
                </a:solidFill>
                <a:latin typeface="Yu Gothic" pitchFamily="34" charset="0"/>
                <a:ea typeface="Yu Gothic" pitchFamily="34" charset="-122"/>
                <a:cs typeface="Yu Gothic" pitchFamily="34" charset="-120"/>
              </a:rPr>
              <a:t>［仮置き］AX倍率と業務委託単価が未実測のため、2期以降の原価の精度が最も低い数字です。1期に実測して増減させます。</a:t>
            </a:r>
            <a:endParaRPr lang="en-US" sz="900" dirty="0"/>
          </a:p>
        </p:txBody>
      </p:sp>
      <p:sp>
        <p:nvSpPr>
          <p:cNvPr id="54" name="Text 52"/>
          <p:cNvSpPr txBox="1"/>
          <p:nvPr/>
        </p:nvSpPr>
        <p:spPr>
          <a:xfrm>
            <a:off x="594360" y="6336792"/>
            <a:ext cx="9902952" cy="310896"/>
          </a:xfrm>
          <a:prstGeom prst="rect">
            <a:avLst/>
          </a:prstGeom>
          <a:noFill/>
          <a:ln/>
        </p:spPr>
        <p:txBody>
          <a:bodyPr wrap="square" lIns="0" tIns="0" rIns="0" bIns="0" rtlCol="0" anchor="ctr"/>
          <a:lstStyle/>
          <a:p>
            <a:pPr indent="0" marL="0">
              <a:buNone/>
            </a:pPr>
            <a:r>
              <a:rPr lang="en-US" sz="850" dirty="0">
                <a:solidFill>
                  <a:srgbClr val="6E6E76"/>
                </a:solidFill>
                <a:latin typeface="Yu Gothic" pitchFamily="34" charset="0"/>
                <a:ea typeface="Yu Gothic" pitchFamily="34" charset="-122"/>
                <a:cs typeface="Yu Gothic" pitchFamily="34" charset="-120"/>
              </a:rPr>
              <a:t>※ 融資は使いません。補助金は後払いのため資金繰りに算入していません。全額をエクイティで調達します</a:t>
            </a:r>
            <a:endParaRPr lang="en-US" sz="850" dirty="0"/>
          </a:p>
        </p:txBody>
      </p:sp>
      <p:sp>
        <p:nvSpPr>
          <p:cNvPr id="55" name="Text 53"/>
          <p:cNvSpPr txBox="1"/>
          <p:nvPr/>
        </p:nvSpPr>
        <p:spPr>
          <a:xfrm>
            <a:off x="11228832" y="6336792"/>
            <a:ext cx="365760" cy="274320"/>
          </a:xfrm>
          <a:prstGeom prst="rect">
            <a:avLst/>
          </a:prstGeom>
          <a:noFill/>
          <a:ln/>
        </p:spPr>
        <p:txBody>
          <a:bodyPr wrap="square" lIns="0" tIns="0" rIns="0" bIns="0" rtlCol="0" anchor="ctr"/>
          <a:lstStyle/>
          <a:p>
            <a:pPr algn="r" indent="0" marL="0">
              <a:buNone/>
            </a:pPr>
            <a:r>
              <a:rPr lang="en-US" sz="900" dirty="0">
                <a:solidFill>
                  <a:srgbClr val="6E6E76"/>
                </a:solidFill>
                <a:latin typeface="Yu Gothic" pitchFamily="34" charset="0"/>
                <a:ea typeface="Yu Gothic" pitchFamily="34" charset="-122"/>
                <a:cs typeface="Yu Gothic" pitchFamily="34" charset="-120"/>
              </a:rPr>
              <a:t>24</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402336"/>
            <a:ext cx="475488" cy="475488"/>
          </a:xfrm>
          <a:prstGeom prst="rect">
            <a:avLst/>
          </a:prstGeom>
          <a:solidFill>
            <a:srgbClr val="B3121B"/>
          </a:solidFill>
          <a:ln/>
        </p:spPr>
      </p:sp>
      <p:sp>
        <p:nvSpPr>
          <p:cNvPr id="3" name="Text 1"/>
          <p:cNvSpPr txBox="1"/>
          <p:nvPr/>
        </p:nvSpPr>
        <p:spPr>
          <a:xfrm>
            <a:off x="594360" y="40233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11</a:t>
            </a:r>
            <a:endParaRPr lang="en-US" sz="1700" dirty="0"/>
          </a:p>
        </p:txBody>
      </p:sp>
      <p:sp>
        <p:nvSpPr>
          <p:cNvPr id="4" name="Text 2"/>
          <p:cNvSpPr txBox="1"/>
          <p:nvPr/>
        </p:nvSpPr>
        <p:spPr>
          <a:xfrm>
            <a:off x="1207008" y="365760"/>
            <a:ext cx="10387584" cy="548640"/>
          </a:xfrm>
          <a:prstGeom prst="rect">
            <a:avLst/>
          </a:prstGeom>
          <a:noFill/>
          <a:ln/>
        </p:spPr>
        <p:txBody>
          <a:bodyPr wrap="square" lIns="0" tIns="0" rIns="0" bIns="0" rtlCol="0" anchor="ctr"/>
          <a:lstStyle/>
          <a:p>
            <a:pPr indent="0" marL="0">
              <a:buNone/>
            </a:pPr>
            <a:r>
              <a:rPr lang="en-US" sz="2500" b="1" dirty="0">
                <a:solidFill>
                  <a:srgbClr val="16161A"/>
                </a:solidFill>
                <a:latin typeface="Yu Gothic" pitchFamily="34" charset="0"/>
                <a:ea typeface="Yu Gothic" pitchFamily="34" charset="-122"/>
                <a:cs typeface="Yu Gothic" pitchFamily="34" charset="-120"/>
              </a:rPr>
              <a:t>リスクと対策</a:t>
            </a:r>
            <a:endParaRPr lang="en-US" sz="2500" dirty="0"/>
          </a:p>
        </p:txBody>
      </p:sp>
      <p:sp>
        <p:nvSpPr>
          <p:cNvPr id="5" name="Text 3"/>
          <p:cNvSpPr txBox="1"/>
          <p:nvPr/>
        </p:nvSpPr>
        <p:spPr>
          <a:xfrm>
            <a:off x="1207008" y="932688"/>
            <a:ext cx="10387584" cy="310896"/>
          </a:xfrm>
          <a:prstGeom prst="rect">
            <a:avLst/>
          </a:prstGeom>
          <a:noFill/>
          <a:ln/>
        </p:spPr>
        <p:txBody>
          <a:bodyPr wrap="square" lIns="0" tIns="0" rIns="0" bIns="0" rtlCol="0" anchor="ctr"/>
          <a:lstStyle/>
          <a:p>
            <a:pPr indent="0" marL="0">
              <a:buNone/>
            </a:pPr>
            <a:r>
              <a:rPr lang="en-US" sz="1200" dirty="0">
                <a:solidFill>
                  <a:srgbClr val="6E6E76"/>
                </a:solidFill>
                <a:latin typeface="Yu Gothic" pitchFamily="34" charset="0"/>
                <a:ea typeface="Yu Gothic" pitchFamily="34" charset="-122"/>
                <a:cs typeface="Yu Gothic" pitchFamily="34" charset="-120"/>
              </a:rPr>
              <a:t>影響度と発生確率で並べています。上の2つが、この事業の生死を分けます</a:t>
            </a:r>
            <a:endParaRPr lang="en-US" sz="12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94360" y="1444752"/>
          <a:ext cx="11000232" cy="914400"/>
        </p:xfrm>
        <a:graphic>
          <a:graphicData uri="http://schemas.openxmlformats.org/drawingml/2006/table">
            <a:tbl>
              <a:tblPr/>
              <a:tblGrid>
                <a:gridCol w="457200"/>
                <a:gridCol w="822960"/>
                <a:gridCol w="914400"/>
                <a:gridCol w="3108960"/>
                <a:gridCol w="5696712"/>
              </a:tblGrid>
              <a:tr h="384048">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影響度</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発生確率</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リスク</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対策</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r>
              <a:tr h="384048">
                <a:tc>
                  <a:txBody>
                    <a:bodyPr/>
                    <a:lstStyle/>
                    <a:p>
                      <a:pPr indent="0" marL="0">
                        <a:buNone/>
                      </a:pPr>
                      <a:r>
                        <a:rPr lang="en-US" sz="900" b="1" dirty="0">
                          <a:solidFill>
                            <a:srgbClr val="3A3A42"/>
                          </a:solidFill>
                          <a:latin typeface="Yu Gothic" pitchFamily="34" charset="0"/>
                          <a:ea typeface="Yu Gothic" pitchFamily="34" charset="-122"/>
                          <a:cs typeface="Yu Gothic" pitchFamily="34" charset="-120"/>
                        </a:rPr>
                        <a:t>1</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b="1" dirty="0">
                          <a:solidFill>
                            <a:srgbClr val="B3121B"/>
                          </a:solidFill>
                          <a:latin typeface="Yu Gothic" pitchFamily="34" charset="0"/>
                          <a:ea typeface="Yu Gothic" pitchFamily="34" charset="-122"/>
                          <a:cs typeface="Yu Gothic" pitchFamily="34" charset="-120"/>
                        </a:rPr>
                        <a:t>高</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b="1" dirty="0">
                          <a:solidFill>
                            <a:srgbClr val="B3121B"/>
                          </a:solidFill>
                          <a:latin typeface="Yu Gothic" pitchFamily="34" charset="0"/>
                          <a:ea typeface="Yu Gothic" pitchFamily="34" charset="-122"/>
                          <a:cs typeface="Yu Gothic" pitchFamily="34" charset="-120"/>
                        </a:rPr>
                        <a:t>高</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b="1" dirty="0">
                          <a:solidFill>
                            <a:srgbClr val="3A3A42"/>
                          </a:solidFill>
                          <a:latin typeface="Yu Gothic" pitchFamily="34" charset="0"/>
                          <a:ea typeface="Yu Gothic" pitchFamily="34" charset="-122"/>
                          <a:cs typeface="Yu Gothic" pitchFamily="34" charset="-120"/>
                        </a:rPr>
                        <a:t>②のツール外販が海外で売れない</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5期41.6億の半分は海外。国内だけなら20億台に落ちる。1期からSynthesia・HeyGenの価格と機能を追い、勝てる領域（日本語・日本市場の要求）に絞る</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384048">
                <a:tc>
                  <a:txBody>
                    <a:bodyPr/>
                    <a:lstStyle/>
                    <a:p>
                      <a:pPr indent="0" marL="0">
                        <a:buNone/>
                      </a:pPr>
                      <a:r>
                        <a:rPr lang="en-US" sz="900" b="1" dirty="0">
                          <a:solidFill>
                            <a:srgbClr val="3A3A42"/>
                          </a:solidFill>
                          <a:latin typeface="Yu Gothic" pitchFamily="34" charset="0"/>
                          <a:ea typeface="Yu Gothic" pitchFamily="34" charset="-122"/>
                          <a:cs typeface="Yu Gothic" pitchFamily="34" charset="-120"/>
                        </a:rPr>
                        <a:t>2</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b="1" dirty="0">
                          <a:solidFill>
                            <a:srgbClr val="B3121B"/>
                          </a:solidFill>
                          <a:latin typeface="Yu Gothic" pitchFamily="34" charset="0"/>
                          <a:ea typeface="Yu Gothic" pitchFamily="34" charset="-122"/>
                          <a:cs typeface="Yu Gothic" pitchFamily="34" charset="-120"/>
                        </a:rPr>
                        <a:t>高</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B3121B"/>
                          </a:solidFill>
                          <a:latin typeface="Yu Gothic" pitchFamily="34" charset="0"/>
                          <a:ea typeface="Yu Gothic" pitchFamily="34" charset="-122"/>
                          <a:cs typeface="Yu Gothic" pitchFamily="34" charset="-120"/>
                        </a:rPr>
                        <a:t>中</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b="1" dirty="0">
                          <a:solidFill>
                            <a:srgbClr val="3A3A42"/>
                          </a:solidFill>
                          <a:latin typeface="Yu Gothic" pitchFamily="34" charset="0"/>
                          <a:ea typeface="Yu Gothic" pitchFamily="34" charset="-122"/>
                          <a:cs typeface="Yu Gothic" pitchFamily="34" charset="-120"/>
                        </a:rPr>
                        <a:t>③が価格帯の上限で成約しない</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中点なら営業利益45億→28億、下限なら11億。供給が厚いほど競争で下がる。件数と単価の両方を1期から実測する</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384048">
                <a:tc>
                  <a:txBody>
                    <a:bodyPr/>
                    <a:lstStyle/>
                    <a:p>
                      <a:pPr indent="0" marL="0">
                        <a:buNone/>
                      </a:pPr>
                      <a:r>
                        <a:rPr lang="en-US" sz="900" b="1" dirty="0">
                          <a:solidFill>
                            <a:srgbClr val="3A3A42"/>
                          </a:solidFill>
                          <a:latin typeface="Yu Gothic" pitchFamily="34" charset="0"/>
                          <a:ea typeface="Yu Gothic" pitchFamily="34" charset="-122"/>
                          <a:cs typeface="Yu Gothic" pitchFamily="34" charset="-120"/>
                        </a:rPr>
                        <a:t>3</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b="1" dirty="0">
                          <a:solidFill>
                            <a:srgbClr val="B3121B"/>
                          </a:solidFill>
                          <a:latin typeface="Yu Gothic" pitchFamily="34" charset="0"/>
                          <a:ea typeface="Yu Gothic" pitchFamily="34" charset="-122"/>
                          <a:cs typeface="Yu Gothic" pitchFamily="34" charset="-120"/>
                        </a:rPr>
                        <a:t>高</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B3121B"/>
                          </a:solidFill>
                          <a:latin typeface="Yu Gothic" pitchFamily="34" charset="0"/>
                          <a:ea typeface="Yu Gothic" pitchFamily="34" charset="-122"/>
                          <a:cs typeface="Yu Gothic" pitchFamily="34" charset="-120"/>
                        </a:rPr>
                        <a:t>中</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b="1" dirty="0">
                          <a:solidFill>
                            <a:srgbClr val="3A3A42"/>
                          </a:solidFill>
                          <a:latin typeface="Yu Gothic" pitchFamily="34" charset="0"/>
                          <a:ea typeface="Yu Gothic" pitchFamily="34" charset="-122"/>
                          <a:cs typeface="Yu Gothic" pitchFamily="34" charset="-120"/>
                        </a:rPr>
                        <a:t>業務委託が偽装請負と判定される</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指揮命令をしない／成果物単位で発注する契約設計。1期に弁護士と雛形を作り、監査法人にも事前確認</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384048">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4</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高</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中</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③のC2CがGMV142.5億に届かない</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年95,200件・月7,900件が必要。届かなければ②の法人向けに寄せる。①③を止めても②が残る構造</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384048">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5</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高</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低</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シリーズA 3億が入らない</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ツール開発の投資を止めて制作に全振り。2期の赤字は▲1.2億→▲3,000万台まで縮む</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384048">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6</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中</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高</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制作の市場単価が下がる</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①は規模を追わないので影響は限定的。3年の時限と見て②へ移す</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384048">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7</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中</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中</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中国の制作パートナーへの依存</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支払いと品質保証を1社に依存しない。2社目の提携を2期までに確保する</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384048">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8</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中</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中</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資金決済法の該当性</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00" dirty="0">
                          <a:solidFill>
                            <a:srgbClr val="3A3A42"/>
                          </a:solidFill>
                          <a:latin typeface="Yu Gothic" pitchFamily="34" charset="0"/>
                          <a:ea typeface="Yu Gothic" pitchFamily="34" charset="-122"/>
                          <a:cs typeface="Yu Gothic" pitchFamily="34" charset="-120"/>
                        </a:rPr>
                        <a:t>収納代行型（当社で預からない）を前提にPF設計の前に弁護士へ確認</a:t>
                      </a:r>
                      <a:endParaRPr lang="en-US" sz="9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bl>
          </a:graphicData>
        </a:graphic>
      </p:graphicFrame>
      <p:sp>
        <p:nvSpPr>
          <p:cNvPr id="7" name="Shape 4"/>
          <p:cNvSpPr/>
          <p:nvPr/>
        </p:nvSpPr>
        <p:spPr>
          <a:xfrm>
            <a:off x="594360" y="4956048"/>
            <a:ext cx="11000232" cy="749808"/>
          </a:xfrm>
          <a:prstGeom prst="rect">
            <a:avLst/>
          </a:prstGeom>
          <a:solidFill>
            <a:srgbClr val="FBF1F1"/>
          </a:solidFill>
          <a:ln/>
        </p:spPr>
      </p:sp>
      <p:sp>
        <p:nvSpPr>
          <p:cNvPr id="8" name="Shape 5"/>
          <p:cNvSpPr/>
          <p:nvPr/>
        </p:nvSpPr>
        <p:spPr>
          <a:xfrm>
            <a:off x="594360" y="4956048"/>
            <a:ext cx="45720" cy="749808"/>
          </a:xfrm>
          <a:prstGeom prst="rect">
            <a:avLst/>
          </a:prstGeom>
          <a:solidFill>
            <a:srgbClr val="B3121B"/>
          </a:solidFill>
          <a:ln/>
        </p:spPr>
      </p:sp>
      <p:sp>
        <p:nvSpPr>
          <p:cNvPr id="9" name="Text 6"/>
          <p:cNvSpPr txBox="1"/>
          <p:nvPr/>
        </p:nvSpPr>
        <p:spPr>
          <a:xfrm>
            <a:off x="850392" y="5102352"/>
            <a:ext cx="10543032" cy="274320"/>
          </a:xfrm>
          <a:prstGeom prst="rect">
            <a:avLst/>
          </a:prstGeom>
          <a:noFill/>
          <a:ln/>
        </p:spPr>
        <p:txBody>
          <a:bodyPr wrap="square" lIns="0" tIns="0" rIns="0" bIns="0" rtlCol="0" anchor="ctr"/>
          <a:lstStyle/>
          <a:p>
            <a:pPr indent="0" marL="0">
              <a:buNone/>
            </a:pPr>
            <a:r>
              <a:rPr lang="en-US" sz="1200" b="1" dirty="0">
                <a:solidFill>
                  <a:srgbClr val="B3121B"/>
                </a:solidFill>
                <a:latin typeface="Yu Gothic" pitchFamily="34" charset="0"/>
                <a:ea typeface="Yu Gothic" pitchFamily="34" charset="-122"/>
                <a:cs typeface="Yu Gothic" pitchFamily="34" charset="-120"/>
              </a:rPr>
              <a:t>⚠ ①の規模を追わないぶん、リスクは②に寄っています</a:t>
            </a:r>
            <a:endParaRPr lang="en-US" sz="1200" dirty="0"/>
          </a:p>
        </p:txBody>
      </p:sp>
      <p:sp>
        <p:nvSpPr>
          <p:cNvPr id="10" name="Text 7"/>
          <p:cNvSpPr txBox="1"/>
          <p:nvPr/>
        </p:nvSpPr>
        <p:spPr>
          <a:xfrm>
            <a:off x="850392" y="5431536"/>
            <a:ext cx="10543032" cy="128016"/>
          </a:xfrm>
          <a:prstGeom prst="rect">
            <a:avLst/>
          </a:prstGeom>
          <a:noFill/>
          <a:ln/>
        </p:spPr>
        <p:txBody>
          <a:bodyPr wrap="square" lIns="0" tIns="0" rIns="0" bIns="0" rtlCol="0" anchor="t"/>
          <a:lstStyle/>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制作を売上の30%に抑えた代わりに、②41.6億と③42.7億が計画の7割になりました。ここが最大の賭けです。</a:t>
            </a:r>
            <a:endParaRPr lang="en-US" sz="1000" dirty="0"/>
          </a:p>
        </p:txBody>
      </p:sp>
      <p:sp>
        <p:nvSpPr>
          <p:cNvPr id="11" name="Text 8"/>
          <p:cNvSpPr txBox="1"/>
          <p:nvPr/>
        </p:nvSpPr>
        <p:spPr>
          <a:xfrm>
            <a:off x="594360" y="6336792"/>
            <a:ext cx="9902952" cy="310896"/>
          </a:xfrm>
          <a:prstGeom prst="rect">
            <a:avLst/>
          </a:prstGeom>
          <a:noFill/>
          <a:ln/>
        </p:spPr>
        <p:txBody>
          <a:bodyPr wrap="square" lIns="0" tIns="0" rIns="0" bIns="0" rtlCol="0" anchor="ctr"/>
          <a:lstStyle/>
          <a:p>
            <a:pPr indent="0" marL="0">
              <a:buNone/>
            </a:pPr>
            <a:r>
              <a:rPr lang="en-US" sz="850" dirty="0">
                <a:solidFill>
                  <a:srgbClr val="6E6E76"/>
                </a:solidFill>
                <a:latin typeface="Yu Gothic" pitchFamily="34" charset="0"/>
                <a:ea typeface="Yu Gothic" pitchFamily="34" charset="-122"/>
                <a:cs typeface="Yu Gothic" pitchFamily="34" charset="-120"/>
              </a:rPr>
              <a:t>全リスクと対策は BUSINESS_PLAN ／ MOAT_TIMELINE ／ CHINA_SOURCING に記載しています</a:t>
            </a:r>
            <a:endParaRPr lang="en-US" sz="850" dirty="0"/>
          </a:p>
        </p:txBody>
      </p:sp>
      <p:sp>
        <p:nvSpPr>
          <p:cNvPr id="12" name="Text 9"/>
          <p:cNvSpPr txBox="1"/>
          <p:nvPr/>
        </p:nvSpPr>
        <p:spPr>
          <a:xfrm>
            <a:off x="11228832" y="6336792"/>
            <a:ext cx="365760" cy="274320"/>
          </a:xfrm>
          <a:prstGeom prst="rect">
            <a:avLst/>
          </a:prstGeom>
          <a:noFill/>
          <a:ln/>
        </p:spPr>
        <p:txBody>
          <a:bodyPr wrap="square" lIns="0" tIns="0" rIns="0" bIns="0" rtlCol="0" anchor="ctr"/>
          <a:lstStyle/>
          <a:p>
            <a:pPr algn="r" indent="0" marL="0">
              <a:buNone/>
            </a:pPr>
            <a:r>
              <a:rPr lang="en-US" sz="900" dirty="0">
                <a:solidFill>
                  <a:srgbClr val="6E6E76"/>
                </a:solidFill>
                <a:latin typeface="Yu Gothic" pitchFamily="34" charset="0"/>
                <a:ea typeface="Yu Gothic" pitchFamily="34" charset="-122"/>
                <a:cs typeface="Yu Gothic" pitchFamily="34" charset="-120"/>
              </a:rPr>
              <a:t>25</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D9601A"/>
        </a:solidFill>
      </p:bgPr>
    </p:bg>
    <p:spTree>
      <p:nvGrpSpPr>
        <p:cNvPr id="1" name=""/>
        <p:cNvGrpSpPr/>
        <p:nvPr/>
      </p:nvGrpSpPr>
      <p:grpSpPr>
        <a:xfrm>
          <a:off x="0" y="0"/>
          <a:ext cx="0" cy="0"/>
          <a:chOff x="0" y="0"/>
          <a:chExt cx="0" cy="0"/>
        </a:xfrm>
      </p:grpSpPr>
      <p:sp>
        <p:nvSpPr>
          <p:cNvPr id="2" name="Text 0"/>
          <p:cNvSpPr txBox="1"/>
          <p:nvPr/>
        </p:nvSpPr>
        <p:spPr>
          <a:xfrm>
            <a:off x="594360" y="2103120"/>
            <a:ext cx="10881360" cy="731520"/>
          </a:xfrm>
          <a:prstGeom prst="rect">
            <a:avLst/>
          </a:prstGeom>
          <a:noFill/>
          <a:ln/>
        </p:spPr>
        <p:txBody>
          <a:bodyPr wrap="square" lIns="0" tIns="0" rIns="0" bIns="0" rtlCol="0" anchor="ctr"/>
          <a:lstStyle/>
          <a:p>
            <a:pPr indent="0" marL="0">
              <a:buNone/>
            </a:pPr>
            <a:r>
              <a:rPr lang="en-US" sz="3200" b="1" dirty="0">
                <a:solidFill>
                  <a:srgbClr val="FFFFFF"/>
                </a:solidFill>
                <a:latin typeface="Yu Gothic" pitchFamily="34" charset="0"/>
                <a:ea typeface="Yu Gothic" pitchFamily="34" charset="-122"/>
                <a:cs typeface="Yu Gothic" pitchFamily="34" charset="-120"/>
              </a:rPr>
              <a:t>制作力が余っている場所と、発注が余っている場所をつなぐ。</a:t>
            </a:r>
            <a:endParaRPr lang="en-US" sz="3200" dirty="0"/>
          </a:p>
        </p:txBody>
      </p:sp>
      <p:sp>
        <p:nvSpPr>
          <p:cNvPr id="3" name="Text 1"/>
          <p:cNvSpPr txBox="1"/>
          <p:nvPr/>
        </p:nvSpPr>
        <p:spPr>
          <a:xfrm>
            <a:off x="594360" y="2926080"/>
            <a:ext cx="10881360" cy="457200"/>
          </a:xfrm>
          <a:prstGeom prst="rect">
            <a:avLst/>
          </a:prstGeom>
          <a:noFill/>
          <a:ln/>
        </p:spPr>
        <p:txBody>
          <a:bodyPr wrap="square" lIns="0" tIns="0" rIns="0" bIns="0" rtlCol="0" anchor="ctr"/>
          <a:lstStyle/>
          <a:p>
            <a:pPr indent="0" marL="0">
              <a:buNone/>
            </a:pPr>
            <a:r>
              <a:rPr lang="en-US" sz="1500" dirty="0">
                <a:solidFill>
                  <a:srgbClr val="EDEBE7"/>
                </a:solidFill>
                <a:latin typeface="Yu Gothic" pitchFamily="34" charset="0"/>
                <a:ea typeface="Yu Gothic" pitchFamily="34" charset="-122"/>
                <a:cs typeface="Yu Gothic" pitchFamily="34" charset="-120"/>
              </a:rPr>
              <a:t>中国では制作会社の42%が1四半期で消え、日本の映像制作市場は4,580億円で伸び続けています。</a:t>
            </a:r>
            <a:endParaRPr lang="en-US" sz="1500" dirty="0"/>
          </a:p>
        </p:txBody>
      </p:sp>
      <p:sp>
        <p:nvSpPr>
          <p:cNvPr id="4" name="Text 2"/>
          <p:cNvSpPr txBox="1"/>
          <p:nvPr/>
        </p:nvSpPr>
        <p:spPr>
          <a:xfrm>
            <a:off x="594360" y="3931920"/>
            <a:ext cx="3483864" cy="548640"/>
          </a:xfrm>
          <a:prstGeom prst="rect">
            <a:avLst/>
          </a:prstGeom>
          <a:noFill/>
          <a:ln/>
        </p:spPr>
        <p:txBody>
          <a:bodyPr wrap="square" lIns="0" tIns="0" rIns="0" bIns="0" rtlCol="0" anchor="ctr"/>
          <a:lstStyle/>
          <a:p>
            <a:pPr indent="0" marL="0">
              <a:buNone/>
            </a:pPr>
            <a:r>
              <a:rPr lang="en-US" sz="3000" b="1" dirty="0">
                <a:solidFill>
                  <a:srgbClr val="FFFFFF"/>
                </a:solidFill>
                <a:latin typeface="Yu Gothic" pitchFamily="34" charset="0"/>
                <a:ea typeface="Yu Gothic" pitchFamily="34" charset="-122"/>
                <a:cs typeface="Yu Gothic" pitchFamily="34" charset="-120"/>
              </a:rPr>
              <a:t>1.5億円</a:t>
            </a:r>
            <a:endParaRPr lang="en-US" sz="3000" dirty="0"/>
          </a:p>
        </p:txBody>
      </p:sp>
      <p:sp>
        <p:nvSpPr>
          <p:cNvPr id="5" name="Text 3"/>
          <p:cNvSpPr txBox="1"/>
          <p:nvPr/>
        </p:nvSpPr>
        <p:spPr>
          <a:xfrm>
            <a:off x="594360" y="4498848"/>
            <a:ext cx="3483864" cy="274320"/>
          </a:xfrm>
          <a:prstGeom prst="rect">
            <a:avLst/>
          </a:prstGeom>
          <a:noFill/>
          <a:ln/>
        </p:spPr>
        <p:txBody>
          <a:bodyPr wrap="square" lIns="0" tIns="0" rIns="0" bIns="0" rtlCol="0" anchor="ctr"/>
          <a:lstStyle/>
          <a:p>
            <a:pPr indent="0" marL="0">
              <a:buNone/>
            </a:pPr>
            <a:r>
              <a:rPr lang="en-US" sz="1100" dirty="0">
                <a:solidFill>
                  <a:srgbClr val="FBE2D2"/>
                </a:solidFill>
                <a:latin typeface="Yu Gothic" pitchFamily="34" charset="0"/>
                <a:ea typeface="Yu Gothic" pitchFamily="34" charset="-122"/>
                <a:cs typeface="Yu Gothic" pitchFamily="34" charset="-120"/>
              </a:rPr>
              <a:t>今回の調達目標</a:t>
            </a:r>
            <a:endParaRPr lang="en-US" sz="1100" dirty="0"/>
          </a:p>
        </p:txBody>
      </p:sp>
      <p:sp>
        <p:nvSpPr>
          <p:cNvPr id="6" name="Text 4"/>
          <p:cNvSpPr txBox="1"/>
          <p:nvPr/>
        </p:nvSpPr>
        <p:spPr>
          <a:xfrm>
            <a:off x="4352544" y="3931920"/>
            <a:ext cx="3483864" cy="548640"/>
          </a:xfrm>
          <a:prstGeom prst="rect">
            <a:avLst/>
          </a:prstGeom>
          <a:noFill/>
          <a:ln/>
        </p:spPr>
        <p:txBody>
          <a:bodyPr wrap="square" lIns="0" tIns="0" rIns="0" bIns="0" rtlCol="0" anchor="ctr"/>
          <a:lstStyle/>
          <a:p>
            <a:pPr indent="0" marL="0">
              <a:buNone/>
            </a:pPr>
            <a:r>
              <a:rPr lang="en-US" sz="3000" b="1" dirty="0">
                <a:solidFill>
                  <a:srgbClr val="FFFFFF"/>
                </a:solidFill>
                <a:latin typeface="Yu Gothic" pitchFamily="34" charset="0"/>
                <a:ea typeface="Yu Gothic" pitchFamily="34" charset="-122"/>
                <a:cs typeface="Yu Gothic" pitchFamily="34" charset="-120"/>
              </a:rPr>
              <a:t>3年</a:t>
            </a:r>
            <a:endParaRPr lang="en-US" sz="3000" dirty="0"/>
          </a:p>
        </p:txBody>
      </p:sp>
      <p:sp>
        <p:nvSpPr>
          <p:cNvPr id="7" name="Text 5"/>
          <p:cNvSpPr txBox="1"/>
          <p:nvPr/>
        </p:nvSpPr>
        <p:spPr>
          <a:xfrm>
            <a:off x="4352544" y="4498848"/>
            <a:ext cx="3483864" cy="274320"/>
          </a:xfrm>
          <a:prstGeom prst="rect">
            <a:avLst/>
          </a:prstGeom>
          <a:noFill/>
          <a:ln/>
        </p:spPr>
        <p:txBody>
          <a:bodyPr wrap="square" lIns="0" tIns="0" rIns="0" bIns="0" rtlCol="0" anchor="ctr"/>
          <a:lstStyle/>
          <a:p>
            <a:pPr indent="0" marL="0">
              <a:buNone/>
            </a:pPr>
            <a:r>
              <a:rPr lang="en-US" sz="1100" dirty="0">
                <a:solidFill>
                  <a:srgbClr val="FBE2D2"/>
                </a:solidFill>
                <a:latin typeface="Yu Gothic" pitchFamily="34" charset="0"/>
                <a:ea typeface="Yu Gothic" pitchFamily="34" charset="-122"/>
                <a:cs typeface="Yu Gothic" pitchFamily="34" charset="-120"/>
              </a:rPr>
              <a:t>制作単価が下がり切るまでの時限</a:t>
            </a:r>
            <a:endParaRPr lang="en-US" sz="1100" dirty="0"/>
          </a:p>
        </p:txBody>
      </p:sp>
      <p:sp>
        <p:nvSpPr>
          <p:cNvPr id="8" name="Text 6"/>
          <p:cNvSpPr txBox="1"/>
          <p:nvPr/>
        </p:nvSpPr>
        <p:spPr>
          <a:xfrm>
            <a:off x="8110728" y="3931920"/>
            <a:ext cx="3483864" cy="548640"/>
          </a:xfrm>
          <a:prstGeom prst="rect">
            <a:avLst/>
          </a:prstGeom>
          <a:noFill/>
          <a:ln/>
        </p:spPr>
        <p:txBody>
          <a:bodyPr wrap="square" lIns="0" tIns="0" rIns="0" bIns="0" rtlCol="0" anchor="ctr"/>
          <a:lstStyle/>
          <a:p>
            <a:pPr indent="0" marL="0">
              <a:buNone/>
            </a:pPr>
            <a:r>
              <a:rPr lang="en-US" sz="3000" b="1" dirty="0">
                <a:solidFill>
                  <a:srgbClr val="FFFFFF"/>
                </a:solidFill>
                <a:latin typeface="Yu Gothic" pitchFamily="34" charset="0"/>
                <a:ea typeface="Yu Gothic" pitchFamily="34" charset="-122"/>
                <a:cs typeface="Yu Gothic" pitchFamily="34" charset="-120"/>
              </a:rPr>
              <a:t>2031年</a:t>
            </a:r>
            <a:endParaRPr lang="en-US" sz="3000" dirty="0"/>
          </a:p>
        </p:txBody>
      </p:sp>
      <p:sp>
        <p:nvSpPr>
          <p:cNvPr id="9" name="Text 7"/>
          <p:cNvSpPr txBox="1"/>
          <p:nvPr/>
        </p:nvSpPr>
        <p:spPr>
          <a:xfrm>
            <a:off x="8110728" y="4498848"/>
            <a:ext cx="3483864" cy="274320"/>
          </a:xfrm>
          <a:prstGeom prst="rect">
            <a:avLst/>
          </a:prstGeom>
          <a:noFill/>
          <a:ln/>
        </p:spPr>
        <p:txBody>
          <a:bodyPr wrap="square" lIns="0" tIns="0" rIns="0" bIns="0" rtlCol="0" anchor="ctr"/>
          <a:lstStyle/>
          <a:p>
            <a:pPr indent="0" marL="0">
              <a:buNone/>
            </a:pPr>
            <a:r>
              <a:rPr lang="en-US" sz="1100" dirty="0">
                <a:solidFill>
                  <a:srgbClr val="FBE2D2"/>
                </a:solidFill>
                <a:latin typeface="Yu Gothic" pitchFamily="34" charset="0"/>
                <a:ea typeface="Yu Gothic" pitchFamily="34" charset="-122"/>
                <a:cs typeface="Yu Gothic" pitchFamily="34" charset="-120"/>
              </a:rPr>
              <a:t>東証グロース上場</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402336"/>
            <a:ext cx="475488" cy="475488"/>
          </a:xfrm>
          <a:prstGeom prst="rect">
            <a:avLst/>
          </a:prstGeom>
          <a:solidFill>
            <a:srgbClr val="B3121B"/>
          </a:solidFill>
          <a:ln/>
        </p:spPr>
      </p:sp>
      <p:sp>
        <p:nvSpPr>
          <p:cNvPr id="3" name="Text 1"/>
          <p:cNvSpPr txBox="1"/>
          <p:nvPr/>
        </p:nvSpPr>
        <p:spPr>
          <a:xfrm>
            <a:off x="594360" y="40233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1</a:t>
            </a:r>
            <a:endParaRPr lang="en-US" sz="1700" dirty="0"/>
          </a:p>
        </p:txBody>
      </p:sp>
      <p:sp>
        <p:nvSpPr>
          <p:cNvPr id="4" name="Text 2"/>
          <p:cNvSpPr txBox="1"/>
          <p:nvPr/>
        </p:nvSpPr>
        <p:spPr>
          <a:xfrm>
            <a:off x="1207008" y="365760"/>
            <a:ext cx="10387584" cy="548640"/>
          </a:xfrm>
          <a:prstGeom prst="rect">
            <a:avLst/>
          </a:prstGeom>
          <a:noFill/>
          <a:ln/>
        </p:spPr>
        <p:txBody>
          <a:bodyPr wrap="square" lIns="0" tIns="0" rIns="0" bIns="0" rtlCol="0" anchor="ctr"/>
          <a:lstStyle/>
          <a:p>
            <a:pPr indent="0" marL="0">
              <a:buNone/>
            </a:pPr>
            <a:r>
              <a:rPr lang="en-US" sz="2500" b="1" dirty="0">
                <a:solidFill>
                  <a:srgbClr val="16161A"/>
                </a:solidFill>
                <a:latin typeface="Yu Gothic" pitchFamily="34" charset="0"/>
                <a:ea typeface="Yu Gothic" pitchFamily="34" charset="-122"/>
                <a:cs typeface="Yu Gothic" pitchFamily="34" charset="-120"/>
              </a:rPr>
              <a:t>日本は一度、これをやっている</a:t>
            </a:r>
            <a:endParaRPr lang="en-US" sz="2500" dirty="0"/>
          </a:p>
        </p:txBody>
      </p:sp>
      <p:sp>
        <p:nvSpPr>
          <p:cNvPr id="5" name="Text 3"/>
          <p:cNvSpPr txBox="1"/>
          <p:nvPr/>
        </p:nvSpPr>
        <p:spPr>
          <a:xfrm>
            <a:off x="1207008" y="932688"/>
            <a:ext cx="10387584" cy="310896"/>
          </a:xfrm>
          <a:prstGeom prst="rect">
            <a:avLst/>
          </a:prstGeom>
          <a:noFill/>
          <a:ln/>
        </p:spPr>
        <p:txBody>
          <a:bodyPr wrap="square" lIns="0" tIns="0" rIns="0" bIns="0" rtlCol="0" anchor="ctr"/>
          <a:lstStyle/>
          <a:p>
            <a:pPr indent="0" marL="0">
              <a:buNone/>
            </a:pPr>
            <a:r>
              <a:rPr lang="en-US" sz="1200" dirty="0">
                <a:solidFill>
                  <a:srgbClr val="6E6E76"/>
                </a:solidFill>
                <a:latin typeface="Yu Gothic" pitchFamily="34" charset="0"/>
                <a:ea typeface="Yu Gothic" pitchFamily="34" charset="-122"/>
                <a:cs typeface="Yu Gothic" pitchFamily="34" charset="-120"/>
              </a:rPr>
              <a:t>輸入した技術を4年で国産化し、その後20年以上の改善で世界一の品質に到達した</a:t>
            </a:r>
            <a:endParaRPr lang="en-US" sz="1200" dirty="0"/>
          </a:p>
        </p:txBody>
      </p:sp>
      <p:sp>
        <p:nvSpPr>
          <p:cNvPr id="6" name="Shape 4"/>
          <p:cNvSpPr/>
          <p:nvPr/>
        </p:nvSpPr>
        <p:spPr>
          <a:xfrm>
            <a:off x="594360" y="1335024"/>
            <a:ext cx="2544318" cy="1060704"/>
          </a:xfrm>
          <a:prstGeom prst="rect">
            <a:avLst/>
          </a:prstGeom>
          <a:solidFill>
            <a:srgbClr val="FCE5CD"/>
          </a:solidFill>
          <a:ln/>
        </p:spPr>
      </p:sp>
      <p:sp>
        <p:nvSpPr>
          <p:cNvPr id="7" name="Shape 5"/>
          <p:cNvSpPr/>
          <p:nvPr/>
        </p:nvSpPr>
        <p:spPr>
          <a:xfrm>
            <a:off x="813816" y="1591056"/>
            <a:ext cx="109728" cy="109728"/>
          </a:xfrm>
          <a:prstGeom prst="rect">
            <a:avLst/>
          </a:prstGeom>
          <a:solidFill>
            <a:srgbClr val="6E6E76"/>
          </a:solidFill>
          <a:ln/>
        </p:spPr>
      </p:sp>
      <p:sp>
        <p:nvSpPr>
          <p:cNvPr id="8" name="Text 6"/>
          <p:cNvSpPr txBox="1"/>
          <p:nvPr/>
        </p:nvSpPr>
        <p:spPr>
          <a:xfrm>
            <a:off x="1033272" y="1499616"/>
            <a:ext cx="1885950"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1952</a:t>
            </a:r>
            <a:endParaRPr lang="en-US" sz="1250" dirty="0"/>
          </a:p>
        </p:txBody>
      </p:sp>
      <p:sp>
        <p:nvSpPr>
          <p:cNvPr id="9" name="Text 7"/>
          <p:cNvSpPr txBox="1"/>
          <p:nvPr/>
        </p:nvSpPr>
        <p:spPr>
          <a:xfrm>
            <a:off x="1033272" y="1847088"/>
            <a:ext cx="1885950" cy="365760"/>
          </a:xfrm>
          <a:prstGeom prst="rect">
            <a:avLst/>
          </a:prstGeom>
          <a:noFill/>
          <a:ln/>
        </p:spPr>
        <p:txBody>
          <a:bodyPr wrap="square" lIns="0" tIns="0" rIns="0" bIns="0" rtlCol="0" anchor="t"/>
          <a:lstStyle/>
          <a:p>
            <a:pPr indent="0" marL="0">
              <a:lnSpc>
                <a:spcPct val="126000"/>
              </a:lnSpc>
              <a:buNone/>
            </a:pPr>
            <a:r>
              <a:rPr lang="en-US" sz="900" dirty="0">
                <a:solidFill>
                  <a:srgbClr val="3A3A42"/>
                </a:solidFill>
                <a:latin typeface="Yu Gothic" pitchFamily="34" charset="0"/>
                <a:ea typeface="Yu Gothic" pitchFamily="34" charset="-122"/>
                <a:cs typeface="Yu Gothic" pitchFamily="34" charset="-120"/>
              </a:rPr>
              <a:t>日産＝オースチン技術提携</a:t>
            </a:r>
            <a:endParaRPr lang="en-US" sz="900" dirty="0"/>
          </a:p>
          <a:p>
            <a:pPr indent="0" marL="0">
              <a:lnSpc>
                <a:spcPct val="126000"/>
              </a:lnSpc>
              <a:buNone/>
            </a:pPr>
            <a:r>
              <a:rPr lang="en-US" sz="900" dirty="0">
                <a:solidFill>
                  <a:srgbClr val="3A3A42"/>
                </a:solidFill>
                <a:latin typeface="Yu Gothic" pitchFamily="34" charset="0"/>
                <a:ea typeface="Yu Gothic" pitchFamily="34" charset="-122"/>
                <a:cs typeface="Yu Gothic" pitchFamily="34" charset="-120"/>
              </a:rPr>
              <a:t>日野＝ルノー、いすゞ＝ルーツ</a:t>
            </a:r>
            <a:endParaRPr lang="en-US" sz="900" dirty="0"/>
          </a:p>
        </p:txBody>
      </p:sp>
      <p:sp>
        <p:nvSpPr>
          <p:cNvPr id="10" name="Shape 8"/>
          <p:cNvSpPr/>
          <p:nvPr/>
        </p:nvSpPr>
        <p:spPr>
          <a:xfrm>
            <a:off x="3412998" y="1335024"/>
            <a:ext cx="2544318" cy="1060704"/>
          </a:xfrm>
          <a:prstGeom prst="rect">
            <a:avLst/>
          </a:prstGeom>
          <a:solidFill>
            <a:srgbClr val="FCE5CD"/>
          </a:solidFill>
          <a:ln/>
        </p:spPr>
      </p:sp>
      <p:sp>
        <p:nvSpPr>
          <p:cNvPr id="11" name="Shape 9"/>
          <p:cNvSpPr/>
          <p:nvPr/>
        </p:nvSpPr>
        <p:spPr>
          <a:xfrm>
            <a:off x="3632454" y="1591056"/>
            <a:ext cx="109728" cy="109728"/>
          </a:xfrm>
          <a:prstGeom prst="rect">
            <a:avLst/>
          </a:prstGeom>
          <a:solidFill>
            <a:srgbClr val="B3121B"/>
          </a:solidFill>
          <a:ln/>
        </p:spPr>
      </p:sp>
      <p:sp>
        <p:nvSpPr>
          <p:cNvPr id="12" name="Text 10"/>
          <p:cNvSpPr txBox="1"/>
          <p:nvPr/>
        </p:nvSpPr>
        <p:spPr>
          <a:xfrm>
            <a:off x="3851910" y="1499616"/>
            <a:ext cx="1885950"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1956-57</a:t>
            </a:r>
            <a:endParaRPr lang="en-US" sz="1250" dirty="0"/>
          </a:p>
        </p:txBody>
      </p:sp>
      <p:sp>
        <p:nvSpPr>
          <p:cNvPr id="13" name="Text 11"/>
          <p:cNvSpPr txBox="1"/>
          <p:nvPr/>
        </p:nvSpPr>
        <p:spPr>
          <a:xfrm>
            <a:off x="3851910" y="1847088"/>
            <a:ext cx="1885950" cy="365760"/>
          </a:xfrm>
          <a:prstGeom prst="rect">
            <a:avLst/>
          </a:prstGeom>
          <a:noFill/>
          <a:ln/>
        </p:spPr>
        <p:txBody>
          <a:bodyPr wrap="square" lIns="0" tIns="0" rIns="0" bIns="0" rtlCol="0" anchor="t"/>
          <a:lstStyle/>
          <a:p>
            <a:pPr indent="0" marL="0">
              <a:lnSpc>
                <a:spcPct val="126000"/>
              </a:lnSpc>
              <a:buNone/>
            </a:pPr>
            <a:r>
              <a:rPr lang="en-US" sz="900" dirty="0">
                <a:solidFill>
                  <a:srgbClr val="3A3A42"/>
                </a:solidFill>
                <a:latin typeface="Yu Gothic" pitchFamily="34" charset="0"/>
                <a:ea typeface="Yu Gothic" pitchFamily="34" charset="-122"/>
                <a:cs typeface="Yu Gothic" pitchFamily="34" charset="-120"/>
              </a:rPr>
              <a:t>4社が相次いで完全国産化</a:t>
            </a:r>
            <a:endParaRPr lang="en-US" sz="900" dirty="0"/>
          </a:p>
          <a:p>
            <a:pPr indent="0" marL="0">
              <a:lnSpc>
                <a:spcPct val="126000"/>
              </a:lnSpc>
              <a:buNone/>
            </a:pPr>
            <a:r>
              <a:rPr lang="en-US" sz="900" dirty="0">
                <a:solidFill>
                  <a:srgbClr val="3A3A42"/>
                </a:solidFill>
                <a:latin typeface="Yu Gothic" pitchFamily="34" charset="0"/>
                <a:ea typeface="Yu Gothic" pitchFamily="34" charset="-122"/>
                <a:cs typeface="Yu Gothic" pitchFamily="34" charset="-120"/>
              </a:rPr>
              <a:t>ここまで4年</a:t>
            </a:r>
            <a:endParaRPr lang="en-US" sz="900" dirty="0"/>
          </a:p>
        </p:txBody>
      </p:sp>
      <p:sp>
        <p:nvSpPr>
          <p:cNvPr id="14" name="Shape 12"/>
          <p:cNvSpPr/>
          <p:nvPr/>
        </p:nvSpPr>
        <p:spPr>
          <a:xfrm>
            <a:off x="6231636" y="1335024"/>
            <a:ext cx="2544318" cy="1060704"/>
          </a:xfrm>
          <a:prstGeom prst="rect">
            <a:avLst/>
          </a:prstGeom>
          <a:solidFill>
            <a:srgbClr val="FCE5CD"/>
          </a:solidFill>
          <a:ln/>
        </p:spPr>
      </p:sp>
      <p:sp>
        <p:nvSpPr>
          <p:cNvPr id="15" name="Shape 13"/>
          <p:cNvSpPr/>
          <p:nvPr/>
        </p:nvSpPr>
        <p:spPr>
          <a:xfrm>
            <a:off x="6451092" y="1591056"/>
            <a:ext cx="109728" cy="109728"/>
          </a:xfrm>
          <a:prstGeom prst="rect">
            <a:avLst/>
          </a:prstGeom>
          <a:solidFill>
            <a:srgbClr val="2A3563"/>
          </a:solidFill>
          <a:ln/>
        </p:spPr>
      </p:sp>
      <p:sp>
        <p:nvSpPr>
          <p:cNvPr id="16" name="Text 14"/>
          <p:cNvSpPr txBox="1"/>
          <p:nvPr/>
        </p:nvSpPr>
        <p:spPr>
          <a:xfrm>
            <a:off x="6670548" y="1499616"/>
            <a:ext cx="1885950"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1960s-70s</a:t>
            </a:r>
            <a:endParaRPr lang="en-US" sz="1250" dirty="0"/>
          </a:p>
        </p:txBody>
      </p:sp>
      <p:sp>
        <p:nvSpPr>
          <p:cNvPr id="17" name="Text 15"/>
          <p:cNvSpPr txBox="1"/>
          <p:nvPr/>
        </p:nvSpPr>
        <p:spPr>
          <a:xfrm>
            <a:off x="6670548" y="1847088"/>
            <a:ext cx="1885950" cy="365760"/>
          </a:xfrm>
          <a:prstGeom prst="rect">
            <a:avLst/>
          </a:prstGeom>
          <a:noFill/>
          <a:ln/>
        </p:spPr>
        <p:txBody>
          <a:bodyPr wrap="square" lIns="0" tIns="0" rIns="0" bIns="0" rtlCol="0" anchor="t"/>
          <a:lstStyle/>
          <a:p>
            <a:pPr indent="0" marL="0">
              <a:lnSpc>
                <a:spcPct val="126000"/>
              </a:lnSpc>
              <a:buNone/>
            </a:pPr>
            <a:r>
              <a:rPr lang="en-US" sz="900" dirty="0">
                <a:solidFill>
                  <a:srgbClr val="3A3A42"/>
                </a:solidFill>
                <a:latin typeface="Yu Gothic" pitchFamily="34" charset="0"/>
                <a:ea typeface="Yu Gothic" pitchFamily="34" charset="-122"/>
                <a:cs typeface="Yu Gothic" pitchFamily="34" charset="-120"/>
              </a:rPr>
              <a:t>QCサークル・トヨタ生産方式</a:t>
            </a:r>
            <a:endParaRPr lang="en-US" sz="900" dirty="0"/>
          </a:p>
          <a:p>
            <a:pPr indent="0" marL="0">
              <a:lnSpc>
                <a:spcPct val="126000"/>
              </a:lnSpc>
              <a:buNone/>
            </a:pPr>
            <a:r>
              <a:rPr lang="en-US" sz="900" dirty="0">
                <a:solidFill>
                  <a:srgbClr val="3A3A42"/>
                </a:solidFill>
                <a:latin typeface="Yu Gothic" pitchFamily="34" charset="0"/>
                <a:ea typeface="Yu Gothic" pitchFamily="34" charset="-122"/>
                <a:cs typeface="Yu Gothic" pitchFamily="34" charset="-120"/>
              </a:rPr>
              <a:t>改善を20年以上回し続ける</a:t>
            </a:r>
            <a:endParaRPr lang="en-US" sz="900" dirty="0"/>
          </a:p>
        </p:txBody>
      </p:sp>
      <p:sp>
        <p:nvSpPr>
          <p:cNvPr id="18" name="Shape 16"/>
          <p:cNvSpPr/>
          <p:nvPr/>
        </p:nvSpPr>
        <p:spPr>
          <a:xfrm>
            <a:off x="9050274" y="1335024"/>
            <a:ext cx="2544318" cy="1060704"/>
          </a:xfrm>
          <a:prstGeom prst="rect">
            <a:avLst/>
          </a:prstGeom>
          <a:solidFill>
            <a:srgbClr val="FCE5CD"/>
          </a:solidFill>
          <a:ln/>
        </p:spPr>
      </p:sp>
      <p:sp>
        <p:nvSpPr>
          <p:cNvPr id="19" name="Shape 17"/>
          <p:cNvSpPr/>
          <p:nvPr/>
        </p:nvSpPr>
        <p:spPr>
          <a:xfrm>
            <a:off x="9269730" y="1591056"/>
            <a:ext cx="109728" cy="109728"/>
          </a:xfrm>
          <a:prstGeom prst="rect">
            <a:avLst/>
          </a:prstGeom>
          <a:solidFill>
            <a:srgbClr val="C9962C"/>
          </a:solidFill>
          <a:ln/>
        </p:spPr>
      </p:sp>
      <p:sp>
        <p:nvSpPr>
          <p:cNvPr id="20" name="Text 18"/>
          <p:cNvSpPr txBox="1"/>
          <p:nvPr/>
        </p:nvSpPr>
        <p:spPr>
          <a:xfrm>
            <a:off x="9489186" y="1499616"/>
            <a:ext cx="1885950"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1980s</a:t>
            </a:r>
            <a:endParaRPr lang="en-US" sz="1250" dirty="0"/>
          </a:p>
        </p:txBody>
      </p:sp>
      <p:sp>
        <p:nvSpPr>
          <p:cNvPr id="21" name="Text 19"/>
          <p:cNvSpPr txBox="1"/>
          <p:nvPr/>
        </p:nvSpPr>
        <p:spPr>
          <a:xfrm>
            <a:off x="9489186" y="1847088"/>
            <a:ext cx="1885950" cy="365760"/>
          </a:xfrm>
          <a:prstGeom prst="rect">
            <a:avLst/>
          </a:prstGeom>
          <a:noFill/>
          <a:ln/>
        </p:spPr>
        <p:txBody>
          <a:bodyPr wrap="square" lIns="0" tIns="0" rIns="0" bIns="0" rtlCol="0" anchor="t"/>
          <a:lstStyle/>
          <a:p>
            <a:pPr indent="0" marL="0">
              <a:lnSpc>
                <a:spcPct val="126000"/>
              </a:lnSpc>
              <a:buNone/>
            </a:pPr>
            <a:r>
              <a:rPr lang="en-US" sz="900" dirty="0">
                <a:solidFill>
                  <a:srgbClr val="3A3A42"/>
                </a:solidFill>
                <a:latin typeface="Yu Gothic" pitchFamily="34" charset="0"/>
                <a:ea typeface="Yu Gothic" pitchFamily="34" charset="-122"/>
                <a:cs typeface="Yu Gothic" pitchFamily="34" charset="-120"/>
              </a:rPr>
              <a:t>品質と燃費で世界市場を取る</a:t>
            </a:r>
            <a:endParaRPr lang="en-US" sz="900" dirty="0"/>
          </a:p>
          <a:p>
            <a:pPr indent="0" marL="0">
              <a:lnSpc>
                <a:spcPct val="126000"/>
              </a:lnSpc>
              <a:buNone/>
            </a:pPr>
            <a:r>
              <a:rPr lang="en-US" sz="900" dirty="0">
                <a:solidFill>
                  <a:srgbClr val="3A3A42"/>
                </a:solidFill>
                <a:latin typeface="Yu Gothic" pitchFamily="34" charset="0"/>
                <a:ea typeface="Yu Gothic" pitchFamily="34" charset="-122"/>
                <a:cs typeface="Yu Gothic" pitchFamily="34" charset="-120"/>
              </a:rPr>
              <a:t>米国メーカーが学びに来る側へ</a:t>
            </a:r>
            <a:endParaRPr lang="en-US" sz="900" dirty="0"/>
          </a:p>
        </p:txBody>
      </p:sp>
      <p:pic>
        <p:nvPicPr>
          <p:cNvPr id="22" name="Image 0" descr="assets/austin1959.jpg"/>
          <p:cNvPicPr>
            <a:picLocks noChangeAspect="1"/>
          </p:cNvPicPr>
          <p:nvPr/>
        </p:nvPicPr>
        <p:blipFill>
          <a:blip r:embed="rId1"/>
          <a:stretch>
            <a:fillRect/>
          </a:stretch>
        </p:blipFill>
        <p:spPr>
          <a:xfrm>
            <a:off x="594360" y="2560320"/>
            <a:ext cx="2231136" cy="1188720"/>
          </a:xfrm>
          <a:prstGeom prst="rect">
            <a:avLst/>
          </a:prstGeom>
        </p:spPr>
      </p:pic>
      <p:sp>
        <p:nvSpPr>
          <p:cNvPr id="23" name="Shape 20"/>
          <p:cNvSpPr/>
          <p:nvPr/>
        </p:nvSpPr>
        <p:spPr>
          <a:xfrm>
            <a:off x="2935224" y="2990088"/>
            <a:ext cx="402336" cy="329184"/>
          </a:xfrm>
          <a:prstGeom prst="rightArrow">
            <a:avLst/>
          </a:prstGeom>
          <a:solidFill>
            <a:srgbClr val="DCD9D4"/>
          </a:solidFill>
          <a:ln/>
        </p:spPr>
      </p:sp>
      <p:pic>
        <p:nvPicPr>
          <p:cNvPr id="24" name="Image 1" descr="assets/corolla1986.jpg"/>
          <p:cNvPicPr>
            <a:picLocks noChangeAspect="1"/>
          </p:cNvPicPr>
          <p:nvPr/>
        </p:nvPicPr>
        <p:blipFill>
          <a:blip r:embed="rId2"/>
          <a:stretch>
            <a:fillRect/>
          </a:stretch>
        </p:blipFill>
        <p:spPr>
          <a:xfrm>
            <a:off x="3447288" y="2560320"/>
            <a:ext cx="2231136" cy="1188720"/>
          </a:xfrm>
          <a:prstGeom prst="rect">
            <a:avLst/>
          </a:prstGeom>
        </p:spPr>
      </p:pic>
      <p:sp>
        <p:nvSpPr>
          <p:cNvPr id="25" name="Text 21"/>
          <p:cNvSpPr txBox="1"/>
          <p:nvPr/>
        </p:nvSpPr>
        <p:spPr>
          <a:xfrm>
            <a:off x="594360" y="3785616"/>
            <a:ext cx="2231136" cy="219456"/>
          </a:xfrm>
          <a:prstGeom prst="rect">
            <a:avLst/>
          </a:prstGeom>
          <a:noFill/>
          <a:ln/>
        </p:spPr>
        <p:txBody>
          <a:bodyPr wrap="square" lIns="0" tIns="0" rIns="0" bIns="0" rtlCol="0" anchor="ctr"/>
          <a:lstStyle/>
          <a:p>
            <a:pPr algn="ctr" indent="0" marL="0">
              <a:buNone/>
            </a:pPr>
            <a:r>
              <a:rPr lang="en-US" sz="850" dirty="0">
                <a:solidFill>
                  <a:srgbClr val="6E6E76"/>
                </a:solidFill>
                <a:latin typeface="Yu Gothic" pitchFamily="34" charset="0"/>
                <a:ea typeface="Yu Gothic" pitchFamily="34" charset="-122"/>
                <a:cs typeface="Yu Gothic" pitchFamily="34" charset="-120"/>
              </a:rPr>
              <a:t>1959 日産オースチン A50</a:t>
            </a:r>
            <a:endParaRPr lang="en-US" sz="850" dirty="0"/>
          </a:p>
        </p:txBody>
      </p:sp>
      <p:sp>
        <p:nvSpPr>
          <p:cNvPr id="26" name="Text 22"/>
          <p:cNvSpPr txBox="1"/>
          <p:nvPr/>
        </p:nvSpPr>
        <p:spPr>
          <a:xfrm>
            <a:off x="3447288" y="3785616"/>
            <a:ext cx="2231136" cy="219456"/>
          </a:xfrm>
          <a:prstGeom prst="rect">
            <a:avLst/>
          </a:prstGeom>
          <a:noFill/>
          <a:ln/>
        </p:spPr>
        <p:txBody>
          <a:bodyPr wrap="square" lIns="0" tIns="0" rIns="0" bIns="0" rtlCol="0" anchor="ctr"/>
          <a:lstStyle/>
          <a:p>
            <a:pPr algn="ctr" indent="0" marL="0">
              <a:buNone/>
            </a:pPr>
            <a:r>
              <a:rPr lang="en-US" sz="850" dirty="0">
                <a:solidFill>
                  <a:srgbClr val="6E6E76"/>
                </a:solidFill>
                <a:latin typeface="Yu Gothic" pitchFamily="34" charset="0"/>
                <a:ea typeface="Yu Gothic" pitchFamily="34" charset="-122"/>
                <a:cs typeface="Yu Gothic" pitchFamily="34" charset="-120"/>
              </a:rPr>
              <a:t>1986 トヨタ カローラ</a:t>
            </a:r>
            <a:endParaRPr lang="en-US" sz="850" dirty="0"/>
          </a:p>
        </p:txBody>
      </p:sp>
      <p:sp>
        <p:nvSpPr>
          <p:cNvPr id="27" name="Shape 23"/>
          <p:cNvSpPr/>
          <p:nvPr/>
        </p:nvSpPr>
        <p:spPr>
          <a:xfrm>
            <a:off x="5952744" y="2560320"/>
            <a:ext cx="5641848" cy="1444752"/>
          </a:xfrm>
          <a:prstGeom prst="rect">
            <a:avLst/>
          </a:prstGeom>
          <a:solidFill>
            <a:srgbClr val="FBF1F1"/>
          </a:solidFill>
          <a:ln/>
        </p:spPr>
      </p:sp>
      <p:sp>
        <p:nvSpPr>
          <p:cNvPr id="28" name="Shape 24"/>
          <p:cNvSpPr/>
          <p:nvPr/>
        </p:nvSpPr>
        <p:spPr>
          <a:xfrm>
            <a:off x="5952744" y="2560320"/>
            <a:ext cx="45720" cy="1444752"/>
          </a:xfrm>
          <a:prstGeom prst="rect">
            <a:avLst/>
          </a:prstGeom>
          <a:solidFill>
            <a:srgbClr val="B3121B"/>
          </a:solidFill>
          <a:ln/>
        </p:spPr>
      </p:sp>
      <p:sp>
        <p:nvSpPr>
          <p:cNvPr id="29" name="Text 25"/>
          <p:cNvSpPr txBox="1"/>
          <p:nvPr/>
        </p:nvSpPr>
        <p:spPr>
          <a:xfrm>
            <a:off x="6208776" y="2706624"/>
            <a:ext cx="5184648" cy="274320"/>
          </a:xfrm>
          <a:prstGeom prst="rect">
            <a:avLst/>
          </a:prstGeom>
          <a:noFill/>
          <a:ln/>
        </p:spPr>
        <p:txBody>
          <a:bodyPr wrap="square" lIns="0" tIns="0" rIns="0" bIns="0" rtlCol="0" anchor="ctr"/>
          <a:lstStyle/>
          <a:p>
            <a:pPr indent="0" marL="0">
              <a:buNone/>
            </a:pPr>
            <a:r>
              <a:rPr lang="en-US" sz="1200" b="1" dirty="0">
                <a:solidFill>
                  <a:srgbClr val="B3121B"/>
                </a:solidFill>
                <a:latin typeface="Yu Gothic" pitchFamily="34" charset="0"/>
                <a:ea typeface="Yu Gothic" pitchFamily="34" charset="-122"/>
                <a:cs typeface="Yu Gothic" pitchFamily="34" charset="-120"/>
              </a:rPr>
              <a:t>⚠ ポイントは国産化の速さではありません</a:t>
            </a:r>
            <a:endParaRPr lang="en-US" sz="1200" dirty="0"/>
          </a:p>
        </p:txBody>
      </p:sp>
      <p:sp>
        <p:nvSpPr>
          <p:cNvPr id="30" name="Text 26"/>
          <p:cNvSpPr txBox="1"/>
          <p:nvPr/>
        </p:nvSpPr>
        <p:spPr>
          <a:xfrm>
            <a:off x="6208776" y="3035808"/>
            <a:ext cx="5184648" cy="822960"/>
          </a:xfrm>
          <a:prstGeom prst="rect">
            <a:avLst/>
          </a:prstGeom>
          <a:noFill/>
          <a:ln/>
        </p:spPr>
        <p:txBody>
          <a:bodyPr wrap="square" lIns="0" tIns="0" rIns="0" bIns="0" rtlCol="0" anchor="t"/>
          <a:lstStyle/>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日産・トヨタは国産化をゴールにせず、以後20年以上かけて生産方式と品質管理を磨き続けました。</a:t>
            </a:r>
            <a:endParaRPr lang="en-US" sz="950" dirty="0"/>
          </a:p>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1980年代には米国メーカーが日本の生産方式を学びに来る側に回ります。</a:t>
            </a:r>
            <a:endParaRPr lang="en-US" sz="950" dirty="0"/>
          </a:p>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内製化（3年）は出発点にすぎません。制作データで改善を回し続けることが、模倣されない資産になります。</a:t>
            </a:r>
            <a:endParaRPr lang="en-US" sz="9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94360" y="4133088"/>
          <a:ext cx="11000232" cy="914400"/>
        </p:xfrm>
        <a:graphic>
          <a:graphicData uri="http://schemas.openxmlformats.org/drawingml/2006/table">
            <a:tbl>
              <a:tblPr/>
              <a:tblGrid>
                <a:gridCol w="1645920"/>
                <a:gridCol w="2651760"/>
                <a:gridCol w="914400"/>
                <a:gridCol w="2651760"/>
                <a:gridCol w="731520"/>
                <a:gridCol w="2404872"/>
              </a:tblGrid>
              <a:tr h="365760">
                <a:tc>
                  <a:txBody>
                    <a:bodyPr/>
                    <a:lstStyle/>
                    <a:p>
                      <a:pPr indent="0" marL="0">
                        <a:buNone/>
                      </a:pP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持っている側</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修得する側</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期間</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到達点</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r>
              <a:tr h="365760">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1952 → 1956</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オースチン（英）</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技術 →</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日産・日野・いすゞ</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4年</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完全国産化。ただしこれは入口</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365760">
                <a:tc>
                  <a:txBody>
                    <a:bodyPr/>
                    <a:lstStyle/>
                    <a:p>
                      <a:pPr indent="0" marL="0">
                        <a:buNone/>
                      </a:pPr>
                      <a:r>
                        <a:rPr lang="en-US" sz="950" b="1" dirty="0">
                          <a:solidFill>
                            <a:srgbClr val="B3121B"/>
                          </a:solidFill>
                          <a:latin typeface="Yu Gothic" pitchFamily="34" charset="0"/>
                          <a:ea typeface="Yu Gothic" pitchFamily="34" charset="-122"/>
                          <a:cs typeface="Yu Gothic" pitchFamily="34" charset="-120"/>
                        </a:rPr>
                        <a:t>2026 → 2029</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世界のAIクリエイター</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制作力 →</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b="1" dirty="0">
                          <a:solidFill>
                            <a:srgbClr val="3A3A42"/>
                          </a:solidFill>
                          <a:latin typeface="Yu Gothic" pitchFamily="34" charset="0"/>
                          <a:ea typeface="Yu Gothic" pitchFamily="34" charset="-122"/>
                          <a:cs typeface="Yu Gothic" pitchFamily="34" charset="-120"/>
                        </a:rPr>
                        <a:t>当社</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b="1" dirty="0">
                          <a:solidFill>
                            <a:srgbClr val="3A3A42"/>
                          </a:solidFill>
                          <a:latin typeface="Yu Gothic" pitchFamily="34" charset="0"/>
                          <a:ea typeface="Yu Gothic" pitchFamily="34" charset="-122"/>
                          <a:cs typeface="Yu Gothic" pitchFamily="34" charset="-120"/>
                        </a:rPr>
                        <a:t>3年</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b="1" dirty="0">
                          <a:solidFill>
                            <a:srgbClr val="3A3A42"/>
                          </a:solidFill>
                          <a:latin typeface="Yu Gothic" pitchFamily="34" charset="0"/>
                          <a:ea typeface="Yu Gothic" pitchFamily="34" charset="-122"/>
                          <a:cs typeface="Yu Gothic" pitchFamily="34" charset="-120"/>
                        </a:rPr>
                        <a:t>内製化。ここから改善を回す</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bl>
          </a:graphicData>
        </a:graphic>
      </p:graphicFrame>
      <p:sp>
        <p:nvSpPr>
          <p:cNvPr id="32" name="Text 27"/>
          <p:cNvSpPr txBox="1"/>
          <p:nvPr/>
        </p:nvSpPr>
        <p:spPr>
          <a:xfrm>
            <a:off x="594360" y="5358384"/>
            <a:ext cx="11000232" cy="310896"/>
          </a:xfrm>
          <a:prstGeom prst="rect">
            <a:avLst/>
          </a:prstGeom>
          <a:noFill/>
          <a:ln/>
        </p:spPr>
        <p:txBody>
          <a:bodyPr wrap="square" lIns="0" tIns="0" rIns="0" bIns="0" rtlCol="0" anchor="ctr"/>
          <a:lstStyle/>
          <a:p>
            <a:pPr indent="0" marL="0">
              <a:buNone/>
            </a:pPr>
            <a:r>
              <a:rPr lang="en-US" sz="1000" b="1" dirty="0">
                <a:solidFill>
                  <a:srgbClr val="B3121B"/>
                </a:solidFill>
                <a:latin typeface="Yu Gothic" pitchFamily="34" charset="0"/>
                <a:ea typeface="Yu Gothic" pitchFamily="34" charset="-122"/>
                <a:cs typeface="Yu Gothic" pitchFamily="34" charset="-120"/>
              </a:rPr>
              <a:t>⚠ 当時は政府の保護（輸入制限・関税）がありました。今のAI映像にはありません。だから改善のサイクルをより速く回す必要があります。</a:t>
            </a:r>
            <a:endParaRPr lang="en-US" sz="1000" dirty="0"/>
          </a:p>
        </p:txBody>
      </p:sp>
      <p:sp>
        <p:nvSpPr>
          <p:cNvPr id="33" name="Text 28"/>
          <p:cNvSpPr txBox="1"/>
          <p:nvPr/>
        </p:nvSpPr>
        <p:spPr>
          <a:xfrm>
            <a:off x="594360" y="6336792"/>
            <a:ext cx="9902952" cy="310896"/>
          </a:xfrm>
          <a:prstGeom prst="rect">
            <a:avLst/>
          </a:prstGeom>
          <a:noFill/>
          <a:ln/>
        </p:spPr>
        <p:txBody>
          <a:bodyPr wrap="square" lIns="0" tIns="0" rIns="0" bIns="0" rtlCol="0" anchor="ctr"/>
          <a:lstStyle/>
          <a:p>
            <a:pPr indent="0" marL="0">
              <a:buNone/>
            </a:pPr>
            <a:r>
              <a:rPr lang="en-US" sz="850" dirty="0">
                <a:solidFill>
                  <a:srgbClr val="6E6E76"/>
                </a:solidFill>
                <a:latin typeface="Yu Gothic" pitchFamily="34" charset="0"/>
                <a:ea typeface="Yu Gothic" pitchFamily="34" charset="-122"/>
                <a:cs typeface="Yu Gothic" pitchFamily="34" charset="-120"/>
              </a:rPr>
              <a:t>出所: 日産自動車 企業情報 ／ トヨタ博物館 ／ GAZOO「ノックダウン生産の時代」／ 日本科学技術連盟（QCサークル・デミング賞）。写真: 1959 Nissan Austin Cambridge Deluxe（CC0 / TTTNIS）、1986-1989 Toyota Corolla AE82（Public domain / OSX）いずれも Wikimedia Commons</a:t>
            </a:r>
            <a:endParaRPr lang="en-US" sz="850" dirty="0"/>
          </a:p>
        </p:txBody>
      </p:sp>
      <p:sp>
        <p:nvSpPr>
          <p:cNvPr id="34" name="Text 29"/>
          <p:cNvSpPr txBox="1"/>
          <p:nvPr/>
        </p:nvSpPr>
        <p:spPr>
          <a:xfrm>
            <a:off x="11228832" y="6336792"/>
            <a:ext cx="365760" cy="274320"/>
          </a:xfrm>
          <a:prstGeom prst="rect">
            <a:avLst/>
          </a:prstGeom>
          <a:noFill/>
          <a:ln/>
        </p:spPr>
        <p:txBody>
          <a:bodyPr wrap="square" lIns="0" tIns="0" rIns="0" bIns="0" rtlCol="0" anchor="ctr"/>
          <a:lstStyle/>
          <a:p>
            <a:pPr algn="r" indent="0" marL="0">
              <a:buNone/>
            </a:pPr>
            <a:r>
              <a:rPr lang="en-US" sz="900" dirty="0">
                <a:solidFill>
                  <a:srgbClr val="6E6E76"/>
                </a:solidFill>
                <a:latin typeface="Yu Gothic" pitchFamily="34" charset="0"/>
                <a:ea typeface="Yu Gothic" pitchFamily="34" charset="-122"/>
                <a:cs typeface="Yu Gothic" pitchFamily="34" charset="-120"/>
              </a:rPr>
              <a:t>26</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投資家向け企画書</dc:title>
  <dc:subject>PptxGenJS Presentation</dc:subject>
  <dc:creator>AI映像制作事業</dc:creator>
  <cp:lastModifiedBy>AI映像制作事業</cp:lastModifiedBy>
  <cp:revision>1</cp:revision>
  <dcterms:created xsi:type="dcterms:W3CDTF">2026-09-23T11:37:27Z</dcterms:created>
  <dcterms:modified xsi:type="dcterms:W3CDTF">2026-09-23T11:37:27Z</dcterms:modified>
</cp:coreProperties>
</file>