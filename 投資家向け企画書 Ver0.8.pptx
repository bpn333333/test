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350</c:v>
                </c:pt>
                <c:pt idx="2">
                  <c:v>2382</c:v>
                </c:pt>
                <c:pt idx="3">
                  <c:v>6643</c:v>
                </c:pt>
                <c:pt idx="4">
                  <c:v>11543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-101</c:v>
                </c:pt>
                <c:pt idx="1">
                  <c:v>-136</c:v>
                </c:pt>
                <c:pt idx="2">
                  <c:v>498</c:v>
                </c:pt>
                <c:pt idx="3">
                  <c:v>2214</c:v>
                </c:pt>
                <c:pt idx="4">
                  <c:v>4078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200"/>
          <c:min val="-4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image5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6576" y="0"/>
            <a:ext cx="12289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2578608"/>
            <a:ext cx="10881360" cy="138074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0392" y="2578608"/>
            <a:ext cx="1062532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次世代AI映像制作会社の設立投資案件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215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東アジアを21世紀のハリウッドにするためのAI映像制作ハブとするAI映像制作会社のシード投資のご案内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59253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6254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中華圏の最先端技術に日本のクオリティーコントロールとIPを融合させ、世界市場を取りに行く企業を設立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日本企業から映像制作を受注し、そこで溜まったデータを特許とモデルに変えて、世界へ売る。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5期の体制で、年商115.4億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売上/社員 5.25億。制作も開発も業務委託と自動化で回す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92%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人手に比例しない収益（5期）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ツール外販37.5億 ＋ ③ C2C 42.7億 ＋ ①のAXで比例が切れた分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追加はシリーズA 3億のみ。累計4.5億で上場まで届く設計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1000232" cy="841248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2104" y="37124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投資の期待値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" y="402336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シード1.42億 → 上場後持分14.5%（ESOP10%・シリーズA・IPO公募20%で希薄化後）。出資から約4.9年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45.9倍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24612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449億（ライン別・保守）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55.9倍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546億（ライン別）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82396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65.9倍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82396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644億（ライン別・強気）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816" y="48828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3272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1033272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日本企業から映像制作を受注し、中国を中心とする登録クリエイターに配分する。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溜まった制作データで特許を取得し、チェックポイント・LoRA・制作用ツールを外販する。国内と海外へ。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個人・中小の越境発注を、自動化したプラットフォームで受ける。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352544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48828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91456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791456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生成AIで制作原価は下がったが、日本企業の発注価格は下がっていない。この差が粗利。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日本企業は中華圏に直接発注しない。言語・商習慣・品質保証・契約が壁。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その壁を引き受けることが商品。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110728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8" name="Shape 36"/>
          <p:cNvSpPr/>
          <p:nvPr/>
        </p:nvSpPr>
        <p:spPr>
          <a:xfrm>
            <a:off x="8330184" y="48828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49640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549640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3期に黒字化、5年目に年商115.4億・営業利益40.8億（35.3%）。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①は東北新社の7%の規模にとどめ、②③で伸ばす。社員を増やさずに伸びる形をつくる。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収支は［仮置き］を含む計画値です。投資の期待値は計画達成時の試算であり、利回りの保証ではありません。倍率は市況で変動します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出遅れている日本、淘汰が始まった中国。そして優秀なAIクリエイターが行き場を失っている今がチャンス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映像制作の現場にAIはまだ入っていない。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AI映像の制作会社は2026年Q1に 1,216社→698社（−42%）。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約90%が赤字。最大コストは広告出稿で約70%。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制作力が余っている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中国PFは純AIコンテンツの分成を圧縮し、最低保証を廃止。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足りないのは「作る力」ではなく「売る力」。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当社が売る力になる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日本の発注を取り、要件定義・品質保証・契約・請求を引き受ける。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彼らは作るだけでよくなる。</a:t>
            </a:r>
            <a:endParaRPr lang="en-US" sz="900" dirty="0"/>
          </a:p>
        </p:txBody>
      </p:sp>
      <p:pic>
        <p:nvPicPr>
          <p:cNvPr id="22" name="Image 0" descr="asset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2880360"/>
            <a:ext cx="1856232" cy="1389888"/>
          </a:xfrm>
          <a:prstGeom prst="rect">
            <a:avLst/>
          </a:prstGeom>
        </p:spPr>
      </p:pic>
      <p:pic>
        <p:nvPicPr>
          <p:cNvPr id="23" name="Image 1" descr="assets/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07792"/>
            <a:ext cx="1856232" cy="1335024"/>
          </a:xfrm>
          <a:prstGeom prst="rect">
            <a:avLst/>
          </a:prstGeom>
        </p:spPr>
      </p:pic>
      <p:pic>
        <p:nvPicPr>
          <p:cNvPr id="24" name="Image 2" descr="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907792"/>
            <a:ext cx="2011680" cy="133502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94360" y="4425696"/>
            <a:ext cx="11000232" cy="15179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60120" y="4489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中国のAI映像制作会社数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6012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3337560" y="5148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6908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06908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22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544568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−42%。制作力が市場に溢れ出しています。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ただし淘汰されているのは、広告出稿で視聴者を取りに行った会社です。作る力そのものは市場に残っています。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当社が取るのは制作力であって、彼らが負けた土俵（視聴者獲得の消耗戦）には乗りません。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最終ゴール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日本に制作ハブを置き、中華圏の技術を束ねて世界市場を取りに行く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8988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AI映像制作ハブを日本に置く。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中華圏の最先端技術に、日本のクオリティーコントロールとIPを載せて世界へ出す。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" y="268833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3272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日本の企業案件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4,580億円の実測市場。法人が発注し、与信と請求が必要な領域。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個人クリエイターには越えられない壁を当社が引き受ける。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初日から現金を生む主軸。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2544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68833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91456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越境C2C発注プラットフォーム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日本・海外の個人と中小事業者が、中国のクリエイターに直接発注できる場。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言語・決済・品質保証・契約の壁を、システムで引き受ける。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6ヶ月目から。取引手数料で回収する。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0728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68833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日本の個人案件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ウエディング・終活など、個人が発注する領域。単価5〜20万。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法人案件の閑散期を埋める調整弁。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要求が定型的で件数が出るため、最良の学習データ源になる。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590288"/>
            <a:ext cx="1100023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" y="47365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3つとも「制作」が土台です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65776"/>
            <a:ext cx="105430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②のプラットフォームは、①③で積んだクリエイターが無ければ受け手がいません。プラットフォームが先ではなく、制作が先です。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そして①②③で溜まった制作データが、内製化・特許・モデル外販（P4）の原料になります。ここが企業価値の本体です。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市場規模の出所は次ページ以降。個人案件は「個人が発注する市場」であり、クリエイターエコノミー（個人が受け取る市場）とは別物です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本丸は国内の映像制作市場です。ここは推計ではなく実測値があります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国内 動画制作サービス市場（2025年度予測）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2024年度 4,238億円 → 2027年度 5,400億円【実測・矢野経済研究所】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6,300億円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動画コンテンツビジネス市場（2025年度予測）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動画編集ソフト・配信PF・ライブ配信・アニメ制作。①とは別枠。ツール外販が面する市場【実測・矢野経済研究所】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スキルシェア市場（2028年予測）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個人の発注が集まる場。C2Cが面する市場【推計・動画の内訳は非開示】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17520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280160"/>
                <a:gridCol w="1920240"/>
                <a:gridCol w="1463040"/>
                <a:gridCol w="3502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当社が取りに行く帯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なぜここか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フル生成AIが成立。撮影が消えて原価が半分以下になる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展示会・イベント映像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ループ素材は特に効く。閑散期を埋める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個人・中小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C2Cの主戦場。量産前提で件数が出る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映画・テレビCM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3〜5億／1,000万〜1億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▲20〜50%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桁は変わらない。当社は取りに行かない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動画広告市場は載せていません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広告の出稿額であって、映像制作の発注額ではありません。当社の対象市場ではないので外しました。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③のうち動画が何割かは、公表されていません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ココナラ・ランサーズとも、カテゴリ別の流通高を開示していません。6,800億円を当社の対象市場として使わないこと。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個人案件は件数と単価を1期に実測して置き換えます。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矢野経済研究所（動画コンテンツビジネスに関する調査2025。①のBtoB動画制作サービスは②の6,300億円に含まれません）／ Business Insider Japan（スキルシェア市場2028年予測）／ Vidico（米国の1分単価）。AI後の単価は工程別削減率からの当社試算です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誰と比べるか — 世界と日本の映像制作会社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日本は「広告・企業映像」が対象。世界で伸びているのはAI映像のツール側です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 — 上場企業の直近通期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737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1,853億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映画・映像製作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IMAGICA GROUP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約1,000億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ポスプロ・映像技術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東映アニメーション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AOI TYO Holdings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511億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IG Port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 — AI映像のツールが伸びている</a:t>
            </a:r>
            <a:endParaRPr lang="en-US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8288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HeyGen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約300億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8ヶ月で$100M→$200M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Synthesia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約210億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10ヶ月で$100M→$140M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Runway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評価額では首位級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WPP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40カ国・1万人超。2026年1月発足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Publicis全体で€17.39B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Technicolor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2025年に経営破綻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純粋な「映像制作会社」の世界ランキングは存在しません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専業の上場企業がほとんどなく、大手は広告持株会社の一部門になっているためです。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WPPは2026年1月にHogarthと各社の制作機能を統合し、生成AIを掲げています。当社と同じ方向です。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日本では、上場している映像制作会社が減っています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AOI TYOは2021年に非上場化、IMAGICA GROUPも2026年にTOBで非上場化が進行中。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人手に比例する事業のままでは上場を維持しにくい、ということです。だから当社は②③を持ちます。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" y="4956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当社の5期 115.4億が立つ位置（億円）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4360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東北新社（広告・企業映像）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3355848" y="5285232"/>
            <a:ext cx="165963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951476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477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94360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HeyGen（AI動画・ARR）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355848" y="5577840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51476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6368796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Synthesia（AI動画・ARR）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9130284" y="5285232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10725912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210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6368796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 5期（うち①制作は35.2）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9130284" y="5577840"/>
            <a:ext cx="401632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0725912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115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irbank（各社の直近通期）／ IMAGICA GROUP は第1四半期222億からの推計・TOBにより通期予想は非開示 ／ HeyGen公式・Upstarts Media・YipitData（ARR）／ WPP・Publicis 公式。為替は1ドル=150円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スキルシェア市場全体の2028年予測。動画がこのうち何割かは公表されていません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【推計・内訳は非開示】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5,000円〜100万円。簡易編集は1,000円台も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個人事業主・小規模店舗・YouTuber・配信者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主軸。当社が受注して配分する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第3の柱。自動化したPFで受ける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8046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8046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96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個人の発注市場は「小さい」のではなく「測られていない」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25312"/>
            <a:ext cx="10543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ココナラ・ランサーズとも、動画カテゴリの流通高を開示していません。6,800億円はスキルシェア全体の数字です。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だから売上の主軸は法人（①）に置き、個人（③）は自動化したPFで薄く広く取ります。件数と単価は1期に実測します。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どんな場面で発注が起きるのか — Where the demand comes from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法人と個人で、依頼される映像はまったく違います。単価も尺も頻度も違います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 — Corporate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82296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会社紹介  Company profile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2〜5分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数年に1回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  Recruiting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40〜120万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毎年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商品・サービス紹介  Product demo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展示会ループ  Trade show loop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20〜60万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30秒〜2分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催事ごと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社内研修・マニュアル  Training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20〜80万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IR・株主向け  Investor relations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50〜200万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3〜8分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個人案件｜個人・中小が発注する — Individual &amp; SMB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822960"/>
                <a:gridCol w="941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SNS広告・縦型  Social ads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15〜60秒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店舗紹介  Shop introduction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開業時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ウエディング  Wedding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3〜7分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終活・記念  Memorial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教材・オンライン講座  Course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5〜30分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講座ごと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クラウドファンディング  Crowdfunding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2〜4分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企画ごと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法人は「高く・少なく・止まらない」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単価が高く件数が少ない。稟議と検収があるぶん発注は途切れにくい。当社が受注して配分します。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個人は「安く・多く・波がある」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単価は低いが件数が出る。上限は100万円まで。人が介在すると採算が合わないので、自動化したPFで受けます。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94360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5"/>
          <p:cNvSpPr/>
          <p:nvPr/>
        </p:nvSpPr>
        <p:spPr>
          <a:xfrm>
            <a:off x="813816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1033272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共通するのは「尺が短い」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412998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19"/>
          <p:cNvSpPr/>
          <p:nvPr/>
        </p:nvSpPr>
        <p:spPr>
          <a:xfrm>
            <a:off x="3632454" y="537667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851910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実写が要らない場面が多い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3851910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231636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3"/>
          <p:cNvSpPr/>
          <p:nvPr/>
        </p:nvSpPr>
        <p:spPr>
          <a:xfrm>
            <a:off x="6451092" y="537667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670548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だからフル生成AIが効く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6670548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9050274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1" name="Shape 27"/>
          <p:cNvSpPr/>
          <p:nvPr/>
        </p:nvSpPr>
        <p:spPr>
          <a:xfrm>
            <a:off x="9269730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489186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修正のやり取りが資産になる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9489186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単価・尺・頻度は業界相場と公開単価からの［仮置き］です。1期に実測して差し替えます。出所: 動画幹事・ムビサク（法人相場）／ ココナラ・ランサーズ公開単価（個人相場）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削減が効くのは「人が動く工程」です。撮影・機材・出演で費用の55%。ここが1/5になると単価が根本から変わります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下3行がフル生成AIの成立帯です。当社が取りに行くのはこの帯です。映画・CMは部分適用にとどまり、桁は変わりません。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撮影38＋機材10＋出演7＝55%が 10.3 まで落ちます。編集と諸経費は残ります。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主軸は映像制作。そこで溜まるデータをツールに変え、余力を越境C2Cで受けます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200400"/>
                <a:gridCol w="2743200"/>
                <a:gridCol w="139903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当社が受注し、配分する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中国を中心に、案件で稼ぐ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①で溜まる制作データ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内製化してツール化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チェックポイント・LoRA・制作ツール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第2の柱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指示→初稿→修正→承認／検収通過率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工程の自動化・生成AI関連の特許取得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粗利率80%・人数に比例しない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日本・海外の個人と中小事業者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中国に直接発注しない／できない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②のツールをそのまま発注導線に使う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制作パートナー経由で受注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②と③は、同じシステムの内側と外側です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①の仲介で当社がやっている作業（要件定義・翻訳・自動チェック・決済）をツール化したものが②。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そのツールを外部の発注者に開放したものが③。先に①があるから、②も③も成立します。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お金の流れ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③の回収は Stripe。当社で資金を預からない収納代行型を前提としています。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中国のクリエイターへの支払いは、中国の映像制作パートナー企業を経由。第三者と同条件・証憑を残す運用です。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資金決済法の該当性は弁護士に確認中です。［確認事項］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13816" y="53400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アダルトは対象外です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受注する案件にも、③に載せる作品にも含めません。決済・法規制・ストア審査が理由です。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52544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0" y="53400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91456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差別化の核心は価格ではありません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791456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海外に安く出せること自体は誰でも知っています。やらない理由は「管理しきれないから」です。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10728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4" name="Shape 21"/>
          <p:cNvSpPr/>
          <p:nvPr/>
        </p:nvSpPr>
        <p:spPr>
          <a:xfrm>
            <a:off x="8330184" y="53400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49640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発注側の管理コストがゼロになる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日本語の要件定義・品質保証・契約・与信・請求。この一式を当社が引き受けます。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を参照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AXは、原価を下げる装置です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★4.0倍は現時点の仮置き。シード期間中に20案件で実測し、2027年6月に更新します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35024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AXは人を減らす装置ではなく、原価を下げる装置です。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そして浮いた分は、人件費の節約として持たずに研究開発へ戻します。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395728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1737360"/>
                <a:gridCol w="1463040"/>
                <a:gridCol w="164592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ディレクション費／本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1本あたり原価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制作の粗利率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5期の営業利益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営業利益率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1.0倍（AXなし）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31.0万（8時間相当）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55.0万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+32.1億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58.2%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+37.9億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3.0倍（ここでも成立）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10.3万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34.4万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63.6%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+39.8億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4.0倍（計画）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7.8万（2時間相当）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31.8万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66.4%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+40.8億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4360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0" name="Shape 7"/>
          <p:cNvSpPr/>
          <p:nvPr/>
        </p:nvSpPr>
        <p:spPr>
          <a:xfrm>
            <a:off x="594360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0392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★ 4.0倍は現時点の仮置きです。実測して更新します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50392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1期の最初の20案件で、着手から検収までのディレクション実工数を案件ごとに記録。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2027年6月までに実測値へ差し替えます。AXなし（1倍）でも営業利益率27.8%で成立する構造です。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31636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1636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87668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浮いた分は研究開発に戻します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87668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5期の研究開発費は16億、売上の13.9%。モデルが強くなる→AX倍率が上がる→原価が下がる→さらに戻せる。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この循環が、他社が同じ年数をかけないと追いつけない理由です。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54498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1本あたりの原価（単価94.5万・AX4倍・難度1.55）：クリエイター18.6万 ／ ディレクション7.8万 ／ ツール・バッファ5.4万 ＝ 31.8万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AX倍率は現時点で未実証の仮置きです。シード期間中（〜2027年6月）に20案件で実測し、以後は実測値で更新します。計測は案件管理台帳に工数を記録する方式（マイルストーン参照）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ユニットエコノミクス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売上115.4億が何の積み上げなのかを、1本・1契約・1取引あたりで示します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— 1本あたり（単価94.5万・AX4倍）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1907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誰が受け取るか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売上（企業の現行支払の50%）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4商品の加重平均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中国クリエイターへの支払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▲18.6万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業務委託（制作パートナー経由）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制作ディレクション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▲7.8万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業務委託。AXで8時間→2時間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ツール・素材・バッファ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▲5.4万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62.7万（66.4%）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社員は1人も原価に入らない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3,727本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35.2億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東北新社477億の7%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55080" y="13898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 — 1契約あたり</a:t>
            </a:r>
            <a:endParaRPr lang="en-US" sz="11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19072"/>
          <a:ext cx="523951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18872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5期の契約数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制作会社（法人）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578社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18.8億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14,180人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17.0億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個人セルフサーブ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月980円〜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有料4万人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売るもの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要件定義テンプレート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自動チェック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⚠ 国内だけでは届きません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海外展開が前提。Synthesia 210億の18%の規模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4360" y="3822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越境C2C発注 — 1取引あたり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513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発注者が支払う額（GMV）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14商品。1万円〜100万円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当社の取引手数料 30%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70%はクリエイターへ渡す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ToC・ToBとも上限成約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区分は買い手の違いを示すために残している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3.56万（79%）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決済・送金・システム原価を引いた後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年95,200件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42.7億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GMV 142.5億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355080" y="3822192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売上115.4億の内訳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355080" y="41696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C2C手数料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659368" y="4224528"/>
            <a:ext cx="2130552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0725912" y="416966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42.7億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6355080" y="4517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659368" y="4572000"/>
            <a:ext cx="1874886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725912" y="451713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37.5億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4864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3,727本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659368" y="4919472"/>
            <a:ext cx="174705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10725912" y="486460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35.2億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355080" y="5193792"/>
            <a:ext cx="5239512" cy="5120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18"/>
          <p:cNvSpPr/>
          <p:nvPr/>
        </p:nvSpPr>
        <p:spPr>
          <a:xfrm>
            <a:off x="6355080" y="5193792"/>
            <a:ext cx="45720" cy="5120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611112" y="534009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②③で売上の70%。①のAX分を足すと92%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611112" y="5669280"/>
            <a:ext cx="4782312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人を増やさずに伸ばせる収益が、5期で9割を超えます。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①の単価は企業の現行支払の50%。★③の価格は ToC・ToB とも上限成約（需要側の支払意思）を採用しています。本版の数値は上限成約のままです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主軸は①の映像制作。そこで溜まるデータが②になり、②を外に開いたものが③です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1097280"/>
                <a:gridCol w="1188720"/>
                <a:gridCol w="35021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AI映像制作の受注 → クリエイターへ配分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35.2億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粗利率66%。事業の主体。ここでデータが溜まる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特許・制作用ツールの外販（国内・海外）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チェックポイント・LoRA・工程ツール。粗利率80%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越境C2C発注の取引手数料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42.7億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手数料率30%。70%をクリエイターへ。②を外部に開放したもの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55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②で売るもの — ①の制作で溜まったデータから作る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6"/>
          <p:cNvSpPr/>
          <p:nvPr/>
        </p:nvSpPr>
        <p:spPr>
          <a:xfrm>
            <a:off x="81381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327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チェックポイント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日本市場の要求で追い込んだ基盤モデル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7472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0"/>
          <p:cNvSpPr/>
          <p:nvPr/>
        </p:nvSpPr>
        <p:spPr>
          <a:xfrm>
            <a:off x="369417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1363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LoRA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91363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用途別・画風別の追加学習データ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4"/>
          <p:cNvSpPr/>
          <p:nvPr/>
        </p:nvSpPr>
        <p:spPr>
          <a:xfrm>
            <a:off x="81381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要件定義テンプレート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日本語で答えるだけで発注仕様になる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7472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1" name="Shape 18"/>
          <p:cNvSpPr/>
          <p:nvPr/>
        </p:nvSpPr>
        <p:spPr>
          <a:xfrm>
            <a:off x="369417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1363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成果物の自動チェック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91363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尺・解像度・指示との整合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355080" y="3255264"/>
            <a:ext cx="5239512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3255264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34015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順番が大事です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3730752"/>
            <a:ext cx="4782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①の制作を数千本こなさないと、②で売れるチェックポイントもLoRAも育ちません。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制作が先、ツールが後。この順序だから、他社が同じものを作るには同じ年数がかかります。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6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①は規模を追いません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5期でも東北新社の7%。①は売上ではなく、②を育てるためのデータ源として持ちます。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ツールの契約数と単価、C2Cの手数料率・発注件数・平均単価は、すべて未実測の［仮置き］です。1期に実測して差し替えます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アニメ化されないマンガを動かす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中小出版社には「アニメ化したい作品」はあっても、1話3,000万円の制作費がありません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11000232" cy="106070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371600"/>
            <a:ext cx="45720" cy="106070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0392" y="151790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アニメ化の壁は、面白さではなく資金です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1847088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深夜アニメ1クール（12話）の制作費は一般に数億円規模とされ、製作委員会を組まないと着手できません。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だから中小出版社の既刊マンガは、評価されていても映像化されないまま眠っています。AIで作れるなら、この在庫が動きます。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578608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  <a:gridCol w="3291840"/>
                <a:gridCol w="1737360"/>
                <a:gridCol w="24048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なぜ映像化されてこなかったか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製作委員会を組める規模ではない。制作費が出ない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権利者が1人。映像化の話が来ない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他社PFの課金枠へ供給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予算が単発で、動かす発想がない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—（権利処理が不要）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他社PFに投入し、実績づくり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4360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0392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着手はDから。Aが本命です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D（版権ゼロ）で制作力を示し、他社PFでの再生数を実績にする。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その実績を持って中小出版社へ行き、Aの未映像化マンガをレベニューシェアでアニメ化する。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先方は制作費ゼロ、当社は版権コストほぼゼロ。噛み合います。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1636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1636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7668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87668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原作ファンの反発が、原作そのものの価値を毀損しかねません。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契約に「AI利用の可否と開示方法」を必ず明記します。JIAA調査でも受容条件1位は「AI利用が明記されている」37.6%。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この作品群の収益は5年計画に計上していません。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JIAA「2026年インターネット広告に関するユーザー意識調査」。アニメ1話あたりの制作費は業界で広く言及される水準で、当社の実測ではありません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pic>
        <p:nvPicPr>
          <p:cNvPr id="6" name="Image 0" descr="assets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155448"/>
            <a:ext cx="2203704" cy="1472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2544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90288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0728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48472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48472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31636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4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670548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5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補助金は資金計画に算入していません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いずれも後払い（精算払い）で、入金が1年以上先になります。資金繰りの当てにはできません。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取れた場合は上振れとして扱います。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なぜショートムービー配信プラットフォームをやらないのか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一度は検討しました。やらない理由を先に出します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先行が8社いる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BUMP（DL400万・国内1位）／POPCORN（累計120億再生）／FANY:D／FOD SHORT ほか。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中国発アプリがアプリ市場シェア9割超。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勝敗は広告費で決まる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視聴者獲得（流量投放）が総コストの約70%。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先に広告費を張れる側が勝つ消耗戦。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当社の強みが効かない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要件定義・品質保証・契約・与信は、視聴者には関係がない。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制作力で差がつかない土俵。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資金が足りない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1.5億では広告費を1年も張れない。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中国のAI制作会社の約90%が赤字なのはこれが理由。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907792"/>
            <a:ext cx="1100023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29077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305409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やらないと決めた代わりに、作った作品は他社のPFに載せます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3383280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自社で配信面を持たないので、視聴者獲得費はゼロです。日本IP（前ページ）で作った作品は YouTube・TikTok・ショートドラマ各社へ供給します。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配信は相手の土俵。当社は制作力とIPで取り分を得ます。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59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では当社の競合は誰か — 国内の映像制作市場です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43891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フリーランス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807208" y="4443984"/>
            <a:ext cx="49377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12080" y="4389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3〜30万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718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07208" y="4773168"/>
            <a:ext cx="1110996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212080" y="47183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40〜80万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50474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中小の制作会社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07208" y="5102352"/>
            <a:ext cx="1357884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212080" y="50474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10〜80万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53766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大手の制作会社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807208" y="5431536"/>
            <a:ext cx="246888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212080" y="53766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50〜300万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059936"/>
          <a:ext cx="52395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相手の強み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当社が勝てる点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国内の映像制作会社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品質・信用・実績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価格。原価が半分以下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国内フリーランス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品質保証と納期管理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中国へ直接発注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契約・与信・請求。個人に直接出せる企業はほぼいない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GOKKO ／ nowhere film ／ BUMP公式 ／ 36Kr Japan（中国発アプリの日本シェア）／ 第一財経・搜狐（中国AI短劇の淘汰）／ 動画幹事・ムビサク（制作費相場）。詳細は COMPETITORS.md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再生数に関係なく収入がある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大手PFには無い仕組みです。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当社が受注して配分するので、再生数に関係なく報酬が出ます。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①の越境発注が立てば、個人からの発注も同じ導線で受けられます。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2026年、中国PFは純AIコンテンツの分成を圧縮し、最低保証を廃止しました。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リソースは実写短劇へ移っています。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個人では越えられない壁を当社が代行します。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日本の発注は単価が高く、支払いが確実です。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474720"/>
            <a:ext cx="11000232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474720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6210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発注者側は、国内C2Cが開けていない市場です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9502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ココナラ・ランサーズ・クラウドワークスに、中国のクリエイターへ発注する導線はありません。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言語・決済・品質保証・契約の4つが壁で、個人同士の直接取引が成立しないからです。当社はその4つを機能として持ちます。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791456"/>
            <a:ext cx="11000232" cy="9144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791456"/>
            <a:ext cx="45720" cy="9144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4937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だから、発注者は「後から」取ります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526694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発注者の獲得は6ヶ月目のPF公開以降です。①②で取引のある相手から載せるので、広告費を先に張る必要がありません。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ココナラ・ランサーズ公開単価 ／ 36Kr Japan（中国発アプリの日本シェア）。詳細は COMPETITORS.md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最大の課題は両面市場のコールドスタート。②の企業案件が、この輪を回り始める前に断ちます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0664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発注がない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0712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分配の原資が出ない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58968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2" name="Shape 10"/>
          <p:cNvSpPr/>
          <p:nvPr/>
        </p:nvSpPr>
        <p:spPr>
          <a:xfrm>
            <a:off x="5934456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80760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クリエイターが去る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29016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604504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50808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供給が減る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67712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この輪が回り続けるのが、両面市場のコールドスタートです。② 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70048"/>
          <a:ext cx="1100023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074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残りの課題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分成率で大手に勝てない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発注者を集められない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PF公開（6ヶ月目）まで投下しない。①②で取引のある制作会社・クリエイターを先に載せ、供給がある状態で開く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中国本土から当社PFに接続できない可能性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投稿・決済の経路を設計段階で検証。国内向けミラーまたは提携PF経由の導線を用意する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成果物の品質が担保できない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審査基準に組み込み、品質判定の自動化を特許①として出願。検収通過率と修正回数のデータを学習側に回す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846320"/>
            <a:ext cx="11000232" cy="85953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846320"/>
            <a:ext cx="45720" cy="8595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926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受託制作のままでは上場しません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321808"/>
            <a:ext cx="10543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労働集約型の受託は、売上が人手に比例するため「規模の割に伸びない事業」と読まれます。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だから追うべき指標は売上ではなく、人手に比例しない収益（①②③）の比率です。5期で90%。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COMPETITORS ／ MOAT_TIMELINE ／ CHINA_SOURCING に記載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知財・法規制・リスク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他人の権利を使って作り、自分の権利を積む事業です。払う側・取る側・守る側を1枚で持ちます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35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知財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支払う側 — 他人の権利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フォント・音源・素材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商用ライセンス。許諾済みホワイトリストを工程ツールで自動チェック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コーデック特許プール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H.264/265。②のアプリ配布で台数課金。クラウド配信なら軽減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生成AIの商用利用条件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③は中国クリエイターの使用ツールまで管理。リスト外は受けない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31636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取る側 — 自分の権利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手段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③の機構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権利処理・決済・品質保証をビジネスモデル特許として出願検討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商標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日本・中国・台湾で先行取得。中国は先願主義のため優先度が高い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プロンプト・ワークフロー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特許化せず営業秘密。アクセス制限・秘密表示・NDAで管理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94360" y="32918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知財の帰属 … 代表個人が開発したプロンプト・ツール類は、設立時に会社へ譲渡または実施許諾する（上場審査で必ず確認される項目）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3621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法規制</a:t>
            </a:r>
            <a:endParaRPr lang="en-US" sz="1150" dirty="0"/>
          </a:p>
        </p:txBody>
      </p:sp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913632"/>
          <a:ext cx="1100023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035040"/>
                <a:gridCol w="23134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いつ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資金決済法上の位置づけ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③の仲介が収納代行で済むか、資金移動業の登録が必要か。登録要否で事業設計が変わる最重要論点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1年目に弁護士と確認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データの越境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中国のデータ越境規制と、日本の個人情報保護法への対応（越境移転の同意・委託先管理）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業務委託契約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偽装請負と読まれない設計（指揮命令をしない／成果物単位で発注する）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1年目に雛形を作成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594360" y="5266944"/>
            <a:ext cx="11000232" cy="89611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0"/>
          <p:cNvSpPr/>
          <p:nvPr/>
        </p:nvSpPr>
        <p:spPr>
          <a:xfrm>
            <a:off x="594360" y="5266944"/>
            <a:ext cx="45720" cy="89611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50392" y="541324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 リスク — 生成物の類似性、肖像・声の権利。③では一次責任が当社に来ます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50392" y="57424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当社が場を提供する以上、権利侵害の申立ては一次的に当社へ来ます。クリエイター任せにはできません。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対応：★賠償責任保険の付保と、★契約書での責任上限設定（当社が受領した手数料額を上限とする等）。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★は仮置きです。資金決済法の該当性・保険の料率と填補範囲・責任上限の水準は、いずれも1年目に弁護士および保険代理店と確定させます</a:t>
            </a:r>
            <a:endParaRPr lang="en-US" sz="850" dirty="0"/>
          </a:p>
        </p:txBody>
      </p:sp>
      <p:sp>
        <p:nvSpPr>
          <p:cNvPr id="19" name="Text 1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 — 社員は極小に保ちます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モデル開発と統括だけを社員に置き、制作は業務委託と自動化で回します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会社経営・コンサルティング経験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日本・中国・台湾をまたぐ越境実務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（詳細は［記入予定］）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CTO／モデル開発責任者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制作統括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26080"/>
          <a:ext cx="110002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1463040"/>
                <a:gridCol w="1490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社員（日本側）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うちモデル開発PM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うち経営・統括・管理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開発（ベトナム）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ディレクション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中国クリエイター（稼働）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681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売上／社員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3,889万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1.59億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3.32億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5.25億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社員はPM中心。開発も外に出します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5期22名のうちPMは4名。開発はベトナム19名、制作は28名の委託。人件費1.9億＋開発委託1.0億。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中国の制作パートナー ［記入予定］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発注・支払はパートナー経由。制作データと成果物の権利は契約により日本側に帰属させます。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業務委託が中心になるため、偽装請負にならない契約設計（指揮命令をしない／成果物単位で発注する）が必須です。契約書の雛形を1期に弁護士と作ります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2期まで赤字、3期に黒字化。上場申請は5期です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1〜2期 ― 仕組みを作る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制作60本→304本でデータを溜め、2期にツール外販を立ち上げ。研究開発に1.5億を先に入れます。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― ツールが立ち上がる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ツール外販5.6億・C2C7.9億。ここで黒字化します（＋5.0億・20.9%）。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3期に黒字化。5期に年商115.4億・営業利益40.8億（35.3%）。社員は22名にとどめます。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2743200"/>
                <a:gridCol w="25877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制作（本数）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ツール ／ ③ C2C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人手に比例しない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39（60本）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 ／ 6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230（304本）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 ／ 74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1,040（1,213本）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555 ／ 786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2,266（2,529本）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1,933 ／ 2,442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89%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3,522（3,727本）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3,746 ／ 4,274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92%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計画値。AX倍率・本数カーブ・ツールの契約数・③の価格と件数はすべて未実測の［仮置き］です。数字は 事業計画_Ver0.8.xlsx が計算しています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 2026/10-2027/9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・制作の受注開始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・PF開発と公開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・C2Cの手数料率を実測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927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068726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818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  2027/10-2028/9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8818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・制作体制の拡大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・ツール外販の初期契約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・シリーズA 3億／監査法人SR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0418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3637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309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  2028/10-2029/9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54309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・ツール外販の本格展開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5909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7578547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9800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  2029/10-2030/9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9800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・通期黒字化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14002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3458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2914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  2030/10-2031/9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2914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54096"/>
            <a:ext cx="5362956" cy="12984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" y="3566160"/>
            <a:ext cx="47045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3億（2期）。累計4.5億。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42%前後 を想定。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3054096"/>
            <a:ext cx="5362956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1636" y="3054096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87668" y="32004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5年で上場するための最初の関門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87668" y="3529584"/>
            <a:ext cx="49057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赤字が最大化する期に監査法人を確保できるかが関門です。シリーズAの契約書を持って臨みます。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" y="4535424"/>
            <a:ext cx="11000232" cy="11704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" y="4535424"/>
            <a:ext cx="45720" cy="11704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392" y="46817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" y="501091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グロースは2030年3月以降「上場5年経過後に時価総額100億円」の維持基準が新設されました。2031年上場なら2036年に100億円。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当社の想定時価総額は、保守的なライン別評価でも449億。維持基準100億に対して4.5倍のバッファがあります。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5期の売上115.4億・営業利益40.8億を前提に試算しています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449〜644億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ライン別に倍率を分けた場合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ツール6〜8倍＋C2C4〜6倍＋制作1.5〜2.5倍。証券会社が実際にやる見方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462〜577億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全社にPSR4〜5倍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人手に比例しない収益が92%であることを根拠にする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5.25億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売上／社員（5期）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社員22名で年商115.4億。国内SaaSの平均2,000〜4,000万に対して桁が違う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92608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シード投資家のリターン — 上場後持分 14.5%（ESOP10%・シリーズA・IPO公募20%で希薄化後）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218688"/>
          <a:ext cx="110002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  <a:gridCol w="219456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時価総額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根拠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シードの取り分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ツール6倍＋C2C4倍＋制作1.5倍（保守）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65.2億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45.9倍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546億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ツール7倍＋C2C5倍＋制作2.0倍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79.4億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55.9倍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ツール8倍＋C2C6倍＋制作2.5倍（強気）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93.6億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65.9倍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維持基準は大きく超えます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グロースの「上場5年経過後に時価総額100億円」に対し、保守的な449億でも4.5倍のバッファ。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上場時の創業者持分は42%前後、評価額は約189億（449億のとき）を想定しています。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31636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231636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87668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すべて「計画が達成された場合」の試算です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87668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②のツール外販37.5億は海外展開が前提で、Synthesia 210億の18%にあたる規模です。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2025年のグロースIPOは18社（前年34社から半減）。倍率は市況で変動し、利回りの保証ではありません。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EY Japan（2026年以降のIPO市場）／ FiNX（グロース維持基準の制度化）／ HeyGen公式・YipitData（AI映像のARR）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各フェーズは「ゲート条件」で区切ります。満たさない限り、次へは進みません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53309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◆ 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法人設立・中国パートナーとの契約・業務委託契約の雛形作成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パートナー契約の締結／弁護士の見解書（業務委託・資金決済法）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制作の受注開始／ツールの内部適用を開始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累計5本／★ AX倍率の実測を開始（案件ごとに工数記録）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C2C発注PFの公開（6ヶ月目）・D案IPの投入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AX倍率を20案件で確定（〜6月）／制作 1期60本／登録30名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制作304本・ツール外販の立ち上げ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1.5倍／ツール外販 法人15社／シリーズA 3億／監査法人SR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制作1,213本・黒字化・ツールの海外展開に着手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2.2倍／ツール5.6億／通期黒字／監査開始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制作2,529本・スケール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3.0倍／ツール19.3億／C2C 24.4億／流通株式25%の設計合意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制作3,727本・上場申請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4.0倍／年商115.4億・営業利益40.8億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553712"/>
            <a:ext cx="11000232" cy="115214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553712"/>
            <a:ext cx="45720" cy="115214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70001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最優先で実測するのは ③の成約価格です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029200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ToC・ToBとも上限成約で置いています。実際にどこで成約するかを1期から件数と単価の両方で実測します。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AX倍率は次点です。★20案件で実測し2027年6月に更新。4倍なら35.3%、1倍でも27.8%で成立します。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ゲート条件を満たさない場合は次フェーズに進まず、前提を引き直します。詳細は ROADMAP.md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12,000万）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373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人件費（社員6名）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721608" y="1792224"/>
            <a:ext cx="182880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0" y="17373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5300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研究開発（GPU・モデル・データ基盤）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21608" y="2157984"/>
            <a:ext cx="1035170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0" y="2103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4688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C2C発注PF 開発（初期版）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21608" y="2523744"/>
            <a:ext cx="276045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0" y="24688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834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獲得費（営業・マーケティング）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21608" y="2889504"/>
            <a:ext cx="20703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0" y="28346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2004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制作事業の運転資金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21608" y="3255264"/>
            <a:ext cx="20703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0" y="32004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5661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法務（業務委託契約・資金決済法）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21608" y="3621024"/>
            <a:ext cx="17252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5661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319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21608" y="3986784"/>
            <a:ext cx="138023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0" y="39319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2976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中国パートナー提携・渡航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21608" y="4352544"/>
            <a:ext cx="103517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0" y="4297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663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21608" y="4718304"/>
            <a:ext cx="103517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46634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0292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特許出願（2件）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721608" y="5084064"/>
            <a:ext cx="69011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0" y="50292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03720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700" dirty="0"/>
          </a:p>
        </p:txBody>
      </p:sp>
      <p:sp>
        <p:nvSpPr>
          <p:cNvPr id="39" name="Text 37"/>
          <p:cNvSpPr txBox="1"/>
          <p:nvPr/>
        </p:nvSpPr>
        <p:spPr>
          <a:xfrm>
            <a:off x="7141464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資本金（代表個人が直接出資）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141464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86316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24060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700" dirty="0"/>
          </a:p>
        </p:txBody>
      </p:sp>
      <p:sp>
        <p:nvSpPr>
          <p:cNvPr id="43" name="Text 41"/>
          <p:cNvSpPr txBox="1"/>
          <p:nvPr/>
        </p:nvSpPr>
        <p:spPr>
          <a:xfrm>
            <a:off x="9624060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24060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03720" y="3218688"/>
            <a:ext cx="4690872" cy="13898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6" name="Shape 44"/>
          <p:cNvSpPr/>
          <p:nvPr/>
        </p:nvSpPr>
        <p:spPr>
          <a:xfrm>
            <a:off x="6903720" y="3218688"/>
            <a:ext cx="45720" cy="13898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159752" y="33649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使途の4分の1が研究開発です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159752" y="3694176"/>
            <a:ext cx="42336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1年目に使うのは 1億2,000万。残り約3,000万は2期への持ち越しです。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最大の費目は人件費（社員6名・5,300万）、次が研究開発（3,000万）。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社員を増やす代わりにモデルへ入れる、という配分を初年度から取ります。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03720" y="4700016"/>
            <a:ext cx="469087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0" name="Shape 48"/>
          <p:cNvSpPr/>
          <p:nvPr/>
        </p:nvSpPr>
        <p:spPr>
          <a:xfrm>
            <a:off x="6903720" y="4700016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59752" y="484632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追加調達はシリーズA 3億のみ。累計4.5億です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159752" y="5175504"/>
            <a:ext cx="4233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社員を増やさずに伸びる設計なので、規模を追うための大型調達が要りません。シリーズB以降は想定していません。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" y="544982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［仮置き］AX倍率と業務委託単価が未実測のため、2期以降の原価の精度が最も低い数字です。1期に実測して増減させます。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融資は使いません。補助金は後払いのため資金繰りに算入していません。全額をエクイティで調達します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影響度と発生確率で並べています。上の2つが、この事業の生死を分けます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914400"/>
                <a:gridCol w="3108960"/>
                <a:gridCol w="56967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発生確率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②のツール外販が海外で売れない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5期37.5億の半分は海外。国内だけなら19億前後に落ちる。1期からSynthesia・HeyGenの価格と機能を追い、勝てる領域（日本語・日本市場の要求）に絞る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③が価格帯の上限で成約しない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★ToC・ToBとも上限で置いている。中点まで落ちると③は約6割になる。件数で補うのではなく②へ寄せる。件数と単価の両方を1期から実測する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業務委託が偽装請負と判定される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指揮命令をしない／成果物単位で発注する契約設計。1期に弁護士と雛形を作り、監査法人にも事前確認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③のC2CがGMV142.5億に届かない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年95,200件・月7,900件が必要。届かなければ②の法人向けに寄せる。①③を止めても②が残る構造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3億が入らない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ツール開発の投資を止めて制作に全振り。2期の赤字は▲1.4億→▲3,000万台まで縮む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①は規模を追わないので影響は限定的。3年の時限と見て②へ移す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中国の制作パートナーへの依存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支払いと品質保証を1社に依存しない。2社目の提携を2期までに確保する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資金決済法の該当性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収納代行型（当社で預からない）を前提にPF設計の前に弁護士へ確認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956048"/>
            <a:ext cx="11000232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5102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①の規模を追わないぶん、リスクは②に寄っています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431536"/>
            <a:ext cx="10543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制作を売上の30%に抑えた代わりに、②37.5億と③42.7億が計画の70%になりました。ここが最大の賭けです。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BUSINESS_PLAN ／ MOAT_TIMELINE ／ CHINA_SOURCING に記載しています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03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制作力が余っている場所と、発注が余っている場所をつなぐ。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中国では制作会社の42%が1四半期で消え、日本の映像制作市場は4,580億円で伸び続けています。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52544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制作単価が下がり切るまでの時限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10728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110728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00" dirty="0"/>
          </a:p>
        </p:txBody>
      </p:sp>
      <p:pic>
        <p:nvPicPr>
          <p:cNvPr id="22" name="Image 0" descr="assets/austin1959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60320"/>
            <a:ext cx="2231136" cy="118872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2935224" y="2990088"/>
            <a:ext cx="402336" cy="329184"/>
          </a:xfrm>
          <a:prstGeom prst="rightArrow">
            <a:avLst/>
          </a:prstGeom>
          <a:solidFill>
            <a:srgbClr val="DCD9D4"/>
          </a:solidFill>
          <a:ln/>
        </p:spPr>
      </p:sp>
      <p:pic>
        <p:nvPicPr>
          <p:cNvPr id="24" name="Image 1" descr="assets/corolla19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2560320"/>
            <a:ext cx="2231136" cy="11887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94360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1959 日産オースチン A50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3447288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 トヨタ カローラ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952744" y="2560320"/>
            <a:ext cx="5641848" cy="144475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4"/>
          <p:cNvSpPr/>
          <p:nvPr/>
        </p:nvSpPr>
        <p:spPr>
          <a:xfrm>
            <a:off x="5952744" y="2560320"/>
            <a:ext cx="45720" cy="144475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208776" y="2706624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208776" y="3035808"/>
            <a:ext cx="5184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1980年代には米国メーカーが日本の生産方式を学びに来る側に回ります。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内製化（3年）は出発点にすぎません。制作データで改善を回し続けることが、模倣されない資産になります。</a:t>
            </a:r>
            <a:endParaRPr lang="en-US" sz="9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33088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914400"/>
                <a:gridCol w="2651760"/>
                <a:gridCol w="73152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内製化。ここから改善を回す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7"/>
          <p:cNvSpPr txBox="1"/>
          <p:nvPr/>
        </p:nvSpPr>
        <p:spPr>
          <a:xfrm>
            <a:off x="594360" y="5358384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日本科学技術連盟（QCサークル・デミング賞）。写真: 1959 Nissan Austin Cambridge Deluxe（CC0 / TTTNIS）、1986-1989 Toyota Corolla AE82（Public domain / OSX）いずれも Wikimedia Commons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2026-09-23T15:03:06Z</dcterms:created>
  <dcterms:modified xsi:type="dcterms:W3CDTF">2026-09-23T15:03:06Z</dcterms:modified>
</cp:coreProperties>
</file>